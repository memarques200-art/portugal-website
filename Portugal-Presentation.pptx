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Lst>
  <p:notesMasterIdLst>
    <p:notesMasterId r:id="rId6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ccueil" id="{77959657-d4e4-0c03-10a8-3e546edade34}">
          <p14:sldIdLst>
            <p14:sldId id="256"/>
            <p14:sldId id="257"/>
            <p14:sldId id="258"/>
            <p14:sldId id="259"/>
            <p14:sldId id="260"/>
          </p14:sldIdLst>
        </p14:section>
        <p14:section name="01 Géographie" id="{d9102f02-a659-ff2c-d08a-9b17d43f2cc9}">
          <p14:sldIdLst>
            <p14:sldId id="261"/>
            <p14:sldId id="262"/>
            <p14:sldId id="263"/>
            <p14:sldId id="264"/>
            <p14:sldId id="265"/>
          </p14:sldIdLst>
        </p14:section>
        <p14:section name="02 Histoire" id="{4ac8cf11-e852-1afe-1184-f6db827a7b46}">
          <p14:sldIdLst>
            <p14:sldId id="266"/>
            <p14:sldId id="267"/>
            <p14:sldId id="268"/>
            <p14:sldId id="269"/>
            <p14:sldId id="270"/>
          </p14:sldIdLst>
        </p14:section>
        <p14:section name="02 Histoire · Institutions" id="{03025a3d-660a-3d7c-b603-85079ab4d0bf}">
          <p14:sldIdLst>
            <p14:sldId id="271"/>
            <p14:sldId id="272"/>
            <p14:sldId id="273"/>
            <p14:sldId id="274"/>
          </p14:sldIdLst>
        </p14:section>
        <p14:section name="03 Société" id="{e32586da-bc0f-4c08-6011-cd8a0833f930}">
          <p14:sldIdLst>
            <p14:sldId id="275"/>
            <p14:sldId id="276"/>
            <p14:sldId id="277"/>
            <p14:sldId id="278"/>
            <p14:sldId id="279"/>
          </p14:sldIdLst>
        </p14:section>
        <p14:section name="04 Culture" id="{7afeb728-585a-588e-8902-f819f015acb1}">
          <p14:sldIdLst>
            <p14:sldId id="280"/>
            <p14:sldId id="281"/>
            <p14:sldId id="282"/>
            <p14:sldId id="283"/>
            <p14:sldId id="284"/>
            <p14:sldId id="285"/>
          </p14:sldIdLst>
        </p14:section>
        <p14:section name="05 Sport" id="{24cf8735-78bf-ab57-1fa9-47c2b0322947}">
          <p14:sldIdLst>
            <p14:sldId id="286"/>
            <p14:sldId id="287"/>
            <p14:sldId id="288"/>
            <p14:sldId id="289"/>
            <p14:sldId id="290"/>
          </p14:sldIdLst>
        </p14:section>
        <p14:section name="06 Régions" id="{34702693-b9fb-ceee-83ed-fbbc1937ebd1}">
          <p14:sldIdLst>
            <p14:sldId id="291"/>
            <p14:sldId id="292"/>
            <p14:sldId id="293"/>
            <p14:sldId id="294"/>
            <p14:sldId id="295"/>
          </p14:sldIdLst>
        </p14:section>
        <p14:section name="07 Merveilles" id="{f25afae4-02b3-997d-cf3b-dbe56d8d0a48}">
          <p14:sldIdLst>
            <p14:sldId id="296"/>
            <p14:sldId id="297"/>
            <p14:sldId id="298"/>
            <p14:sldId id="299"/>
            <p14:sldId id="300"/>
            <p14:sldId id="301"/>
            <p14:sldId id="302"/>
            <p14:sldId id="303"/>
            <p14:sldId id="304"/>
            <p14:sldId id="305"/>
            <p14:sldId id="306"/>
            <p14:sldId id="307"/>
            <p14:sldId id="308"/>
          </p14:sldIdLst>
        </p14:section>
        <p14:section name="08 Conclusion" id="{f80f0a45-c629-df92-00ba-e8fe4961c5b7}">
          <p14:sldIdLst>
            <p14:sldId id="309"/>
            <p14:sldId id="310"/>
            <p14:sldId id="311"/>
            <p14:sldId id="312"/>
            <p14:sldId id="313"/>
            <p14:sldId id="314"/>
            <p14:sldId id="315"/>
          </p14:sldIdLst>
        </p14:section>
        <p14:section name="Crédits" id="{7849ef83-3dc4-9aa1-c37a-e0c6dcd37f94}">
          <p14:sldIdLst>
            <p14:sldId id="316"/>
            <p14:sldId id="317"/>
            <p14:sldId id="318"/>
            <p14:sldId id="31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notesMaster" Target="notesMasters/notesMaster1.xml"/><Relationship Id="rId67" Type="http://schemas.openxmlformats.org/officeDocument/2006/relationships/presProps" Target="presProps.xml"/><Relationship Id="rId68" Type="http://schemas.openxmlformats.org/officeDocument/2006/relationships/viewProps" Target="viewProps.xml"/><Relationship Id="rId69" Type="http://schemas.openxmlformats.org/officeDocument/2006/relationships/theme" Target="theme/theme1.xml"/><Relationship Id="rId7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Bienvenue. « Un petit pays au bord de l'Atlantique, avec une grande histoire, une culture riche et beaucoup de soleil.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 suis Luís Marques, originaire de Caramulo (Viseu). Arrivé en Suisse en 2013. Agent de sécurité privée, responsable du centre de sécurité.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Capitale Lisbonne, environ 10,6 millions d'habitants, 92 212 km², langue portugaise, euro, façade sur l'océan Atlantique.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Portugal, entre l'Europe et l'Atlantique. Un pays à la taille modeste, mais d'une richesse géographique exceptionnelle.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Portugal est situé sur la péninsule Ibérique, bordé à l'est et au nord par l'Espagne et à l'ouest et au sud par l'océan Atlantique.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climat du Portugal est influencé par le courant du Nord (océan Atlantique) et par les masses d'air chaudes venant du nord de l'Afrique.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peuple de navigateurs, une histoire de découvertes. Petite nation, grand destin : le Portugal a joué un rôle majeur dans l'histoire du monde, de la mer aux idées.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1143 : Traité de Zamora : le royaume de Portugal est reconnu. Dom Afonso Henriques devient son premier roi.
1415 : Prise de Ceuta : début de l'expansion maritime portugaise.
1494 : Traité de Tordesillas : le Portugal et l'Espagne se partagent les terres à découvrir.
1498 : Vasco de Gama atteint l'Inde par la mer en contournant l'Afrique.
1500 : Pedro Álvares Cabral arrive au Brésil.
1755 : Un tremblement de terre suivi d'un tsunami détruit Lisbonne. Le marquis de Pombal reconstruit la ville.
1910 : Fin de la monarchie : la République est proclamée le 5 octobre.
1974 : Révolution des Œillets (25 avril) : fin de la dictature de l'Estado Novo.
1986 : Le Portugal entre dans la Communauté européenne, l'actuelle Union européenne.
1999 : Macao est rendue à la Chine : fin de près de six siècles d'empire.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monde coupé en deux — En 1494, le Portugal et l'Espagne signent le traité de Tordesillas : une ligne imaginaire, tracée du nord au sud dans l'Atlantique, partage entre eux les terres à découvrir. C'est à cause de cette ligne qu'on parle aujourd'hui portugais au Brésil.
Les premiers Européens au Japon — En 1543, des marchands portugais débarquent sur l'île de Tanegashima : ce sont les premiers Européens à atteindre le Japon. Ils y apportent les armes à feu, le pain — en japonais, « pan » vient du portugais « pão » — et, selon une théorie répandue, l'idée de la tempura.
Le jour où Lisbonne a tremblé — Le 1er novembre 1755, un séisme suivi d'un tsunami et d'incendies détruit Lisbonne et fait des dizaines de milliers de morts. Le marquis de Pombal reconstruit la Baixa avec des rues droites et la « gaiola pombalina », une cage en bois qui protège les immeubles des secousses : l'une des premières constructions parasismiques au monde. Son enquête auprès des paroisses est considérée comme l'un des débuts de la sismologie moderne.
Un consul contre la dictature — En juin 1940, à Bordeaux, le consul Aristides de Sousa Mendes désobéit aux ordres de Salazar et délivre des visas à des milliers de réfugiés fuyant les nazis, dont de nombreux Juifs. Sanctionné et privé de sa carrière, il meurt dans la pauvreté en 1954. Il est reconnu « Juste parmi les nations » en 1966 et honoré au Panthéon national portugais en 2021.
48 ans de dictature — De 1926 à 1974, le Portugal vit sous une dictature, dirigée surtout par António de Oliveira Salazar : censure, police politique (la PIDE), prisonniers politiques. Le pays reste pauvre et isolé. Dans les années 1960, des centaines de milliers de Portugais émigrent, souvent clandestinement — « a salto » — vers la France.
La fin d'un empire — De 1961 à 1974, le Portugal mène une guerre en Angola, en Guinée-Bissau et au Mozambique pour garder ses colonies. Après la Révolution des Œillets, elles deviennent indépendantes et des centaines de milliers de « retornados » rentrent au Portugal. En 1999, la remise de Macao à la Chine met fin à près de six siècles d'empire.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Une république démocratique au cœur de l'Europe. Depuis la Révolution des Œillets de 1974, le Portugal est une démocratie stable, fondée sur la Constitution de 1976.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25 avril 1974, de jeunes officiers renversent presque sans violence la dictature de l'Estado Novo, au pouvoir depuis 48 ans. Le signal est donné par deux chansons à la radio : le 24 avril à 22 h 55, « E Depois do Adeus » de Paulo de Carvalho, sur les Emissores Associados de Lisboa, prévient les militaires de se préparer ; puis à 0 h 20, « Grândola, Vila Morena » de Zeca Afonso, sur Rádio Renascença, lance les opérations. La population offre des œillets rouges aux soldats, qui les glissent dans le canon de leurs fusils.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peuple chaleureux, ouvert sur le monde. Famille, accueil et saudade : les Portugais sont attachés à leurs traditions et présents sur tous les continents.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Environ 2 millions de personnes nées au Portugal vivent à l'étranger, sans compter leurs descendants. Les plus grandes communautés se trouvent notamment en France, en Suisse, au Royaume-Uni, en Espagne, aux États-Unis et au Brésil. Environ 250 000 Portugais vivent en Suisse : l'une des plus grandes communautés étrangères du pays. J'en fais partie depuis 2013.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Fado, azulejos et saveurs de l'Atlantique. Une culture façonnée par la mer, la musique et la table, transmise de génération en génération.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Bacalhau : La morue, plat national. On dit qu'il existe plus de 365 recettes : une pour chaque jour de l'année !
Pastel de nata : Petit flan à la crème dans une pâte feuilletée, né au monastère des Hiéronymites à Belém.
Francesinha : La spécialité de Porto : un sandwich généreux nappé de fromage fondu et d'une sauce épicée.
Sardinhas assadas : Sardines grillées, reines des fêtes populaires de juin.
Caldo verde : Soupe au chou vert, à la pomme de terre et au chouriço.
Leitão da Bairrada : Cochon de lait rôti, spécialité de la Bairrada, tout près de chez moi.
Polvo à lagareiro : Poulpe rôti au four avec beaucoup d'huile d'olive et d'ail, servi avec des pommes de terre « a murro », écrasées d'un coup de poing.
Cataplana : Fruits de mer cuits à l'étouffée dans une casserole en cuivre en forme de coquillage : la spécialité de l'Algarve.
Bifana : Petit pain garni de porc mariné à l'ail et au vin blanc : le casse-croûte préféré des Portugais.
Queijo da Serra : Fromage de brebis si crémeux qu'on le mange à la cuillère, fabriqué dans la région de la Serra da Estrela, voisine de Viseu.
Alheira : Saucisse à base de volaille et de pain. Selon la tradition, des Juifs l'auraient inventée sous l'Inquisition pour faire croire qu'ils mangeaient du porc.
Ovos moles : Douceur d'Aveiro au jaune d'œuf et au sucre. On raconte que beaucoup de desserts portugais sont nés dans les couvents, où les blancs d'œufs servaient à amidonner le linge.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Une passion nationale. Le football fait vibrer tout le pays, mais le Portugal brille aussi sur les vagues, sur roulettes et sur la piste.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 Minho à l'Algarve, jusqu'au milieu de l'Atlantique. Cinq régions sur le continent et deux archipels autonomes : sept visages d'un même pays.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Nord : Région verte et montagneuse. Guimarães est considérée comme le berceau du Portugal ; la vallée du Douro et ses vignes en terrasses sont classées à l'UNESCO.
Le Centre : Terre de contrastes : l'université de Coimbra (1290), Aveiro et ses canaux, la Serra da Estrela… et Caramulo, mon village !
Lisbonne : La capitale, ville aux sept collines au bord du Tage, avec ses trams jaunes, Belém et les palais romantiques de Sintra.
L'Alentejo : Vastes plaines dorées, oliviers et chênes-lièges : le Portugal produit environ la moitié du liège mondial. Évora est classée à l'UNESCO.
L'Algarve : Plages de sable doré, falaises spectaculaires et plus de 300 jours de soleil par an.
Les Açores : Neuf îles volcaniques au milieu de l'Atlantique : lacs de cratère, sources chaudes et le Pico, plus haut sommet du pays.
Madère : L'« île de l'éternel printemps » : levadas, fleurs, vin de Madère… et ville natale de Cristiano Ronaldo.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Chaque année début septembre, Caramulo devient la capitale portugaise du moteur. Organisé par le Musée du Caramulo, le Caramulo Motorfestival est la plus grande fête automobile du Portugal : la Rampa Histórica, une course de côte de voitures anciennes et de compétition sur les routes de la serra, des défilés, des expositions et même un air show. L'entrée est libre ! En 2026, plus de 60 000 personnes sont venues à Caramulo.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Santa Maria da Feira : Avant de partir pour la Suisse, j'ai vécu à Santa Maria da Feira, à une trentaine de kilomètres au sud de Porto. La ville est dominée par l'un des plus beaux châteaux médiévaux du Portugal. Chaque été depuis 1996, toute la ville remonte le temps pendant une douzaine de jours : tournois de chevaliers, spectacles, musique, fauconnerie et marchés d'époque. C'est la plus grande reconstitution médiévale de la péninsule Ibérique, avec des centaines de milliers de visiteurs.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trésors du Portugal, du nord au sud. Vignobles, monastères, palais, ponts et lacs : faites défiler la page et suivez la carte.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vallée du Douro. Pendant des siècles, les hommes ont taillé à la main des terrasses dans les collines de schiste pour y planter la vigne. C'est ici que naît le célèbre vin de Porto, transporté autrefois jusqu'à Porto sur les bateaux rabelos. Patrimoine mondial de l'UNESCO depuis 2001. Région viticole délimitée dès 1756, l'une des plus anciennes du monde.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Porto et le pont Dom Luís I. Inauguré en 1886, le pont Dom Luís I relie Porto à Vila Nova de Gaia par une arche de fer de 172 m. Il a été conçu par Théophile Seyrig, ancien associé de Gustave Eiffel. À ses pieds, les maisons colorées de la Ribeira se reflètent dans le Douro. Deux tabliers : le métro en haut, les voitures en bas. Centre historique classé à l'UNESCO en 1996.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Aveiro, la « Venise du Portugal ». Ses canaux sont parcourus par les moliceiros, des bateaux colorés qui servaient autrefois à récolter le moliço, une algue utilisée comme engrais. Autour de la ville, les salines produisent depuis des siècles un sel marin récolté à la main. Environ 2 600 hectares de salines dans la Ria. La fleur de sel : la fine couche de sel récoltée à la surface.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monastère de Batalha. Le roi Jean Ier le fait construire à partir de 1386 pour remercier la Vierge de la victoire d'Aljubarrota contre la Castille (1385), qui sauve l'indépendance du Portugal. Il y repose avec son épouse anglaise, Philippa de Lancastre, et leur fils, Henri le Navigateur. Patrimoine mondial de l'UNESCO depuis 1983. Plus d'un siècle de travaux, du gothique au manuélin.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palais de la Pena, Sintra. Perché au sommet de la serra, ce palais aux couleurs vives a été construit au XIXe siècle pour le roi Ferdinand II. Avec ses jardins, ses châteaux et ses forêts, Sintra ressemble à un conte de fées. Paysage culturel de Sintra : UNESCO depuis 1995. Chef-d'œuvre du romantisme en Europe.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tour de Belém. Construite de 1514 à 1519 sur le Tage, elle protégeait l'entrée de Lisbonne et saluait les navigateurs qui partaient vers l'Afrique, l'Inde et le Brésil. C'est l'un des symboles de l'époque des Découvertes. Patrimoine mondial de l'UNESCO depuis 1983. Chef-d'œuvre du style manuélin.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monastère des Hiéronymites. Commandé par le roi Manuel Ier au début du XVIe siècle et financé grâce au commerce des épices, il célèbre le voyage de Vasco de Gama. On y trouve les tombeaux de Vasco de Gama et du poète Luís de Camões. Et c'est de ses moines que vient la recette du pastel de nata ! Patrimoine mondial de l'UNESCO depuis 1983. Tombeaux de Vasco de Gama et de Camões.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pont Vasco de Gama et l'Expo 98. Inauguré le 29 mars 1998 pour l'Exposition universelle, 500 ans après l'arrivée de Vasco de Gama en Inde, ce pont à haubans traverse l'estuaire du Tage. L'Expo 98, sur le thème « Les océans, un patrimoine pour le futur », a accueilli plus de 10 millions de visiteurs et a transformé tout un quartier de Lisbonne. 17,2 km de long, dont 12,3 km au-dessus de l'eau. Le plus long pont d'Europe à son ouverture. Construit pour l'Expo 98, c'est l'un des plus grands aquariums d'Europe, avec un bassin central de 5 millions de litres. Les voyageurs de TripAdvisor l'ont élu meilleur aquarium du monde en 2015, 2017 et 2018.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lac d'Alqueva. Créé par le barrage d'Alqueva sur le Guadiana et rempli en 2010, ce lac immense irrigue l'Alentejo, produit de l'électricité et offre un ciel parmi les plus étoilés d'Europe. Le plus grand lac artificiel d'Europe occidentale : environ 250 km². Plus de 1 100 km de rives : plus que toute la côte du Portugal continental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grotte de Benagil. Creusée par la mer dans les falaises dorées de l'Algarve, cette grotte possède une ouverture dans son plafond : « l'œil », par où entre la lumière du soleil. On ne peut l'atteindre que par la mer, en bateau ou en kayak. Accessible uniquement par la mer. Parmi les grottes marines les plus célèbres du monde.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route N222. La route nationale 222 longe le Douro sur environ 226 km, de Vila Nova de Gaia jusqu'à Almendra, près de Vila Nova de Foz Côa. Son tronçon le plus célèbre, entre Peso da Régua et Pinhão, serpente au bord du fleuve, au milieu des vignobles en terrasses. En 2015, une étude du loueur de voitures Avis l'a classée meilleure route du monde à conduire.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 que le Portugal représente pour moi. Un voyage à travers un pays… et à travers mon histoire.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moto : Ma grande passion. Je roule en Suisse, dans le nord de l'Italie, en France et en Allemagne, à la recherche des plus belles routes de montagne.
La mécanique : J'adore modifier ma moto et la réparer moi-même : chaque détail compte !
Le parapente : Récemment, j'ai volé en parapente au-dessus du lac Léman. Une expérience inoubliable !
Les sorties : Découvrir de nouveaux endroits, comme le Jura, où je suis allé voir la course de côte automobile de Saint-Ursanne.
Le lac Léman : L'été, on profite du lac : kayak, baignade et détente.
Marcher et se balader : Randonnées et balades — « passear », comme on dit au Portugal —, par exemple jusqu'au lac de Tanay, au-dessus de Vouvry.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19088"/>
            <a:ext cx="5486400" cy="274320"/>
          </a:xfrm>
          <a:prstGeom prst="rect">
            <a:avLst/>
          </a:prstGeom>
          <a:noFill/>
          <a:ln/>
        </p:spPr>
        <p:txBody>
          <a:bodyPr wrap="square" rtlCol="0" anchor="ctr"/>
          <a:lstStyle/>
          <a:p>
            <a:pPr indent="0" marL="0">
              <a:buNone/>
            </a:pPr>
            <a:r>
              <a:rPr lang="en-US" sz="1000" spc="200" kern="0" dirty="0">
                <a:solidFill>
                  <a:srgbClr val="8A918D"/>
                </a:solidFill>
                <a:latin typeface="Calibri" pitchFamily="34" charset="0"/>
                <a:ea typeface="Calibri" pitchFamily="34" charset="-122"/>
                <a:cs typeface="Calibri" pitchFamily="34" charset="-120"/>
              </a:rPr>
              <a:t>PORTUGAL · Luís Marques</a:t>
            </a:r>
            <a:endParaRPr lang="en-US" sz="100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18D"/>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BLEED">
    <p:bg>
      <p:bgPr>
        <a:solidFill>
          <a:srgbClr val="0F2E25"/>
        </a:solidFill>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rgbClr val="174A3A"/>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9C9C1"/>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18D"/>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image" Target="../media/image-4-2.jpg"/><Relationship Id="rId3" Type="http://schemas.openxmlformats.org/officeDocument/2006/relationships/image" Target="../media/image-4-3.jpg"/><Relationship Id="rId4" Type="http://schemas.openxmlformats.org/officeDocument/2006/relationships/image" Target="../media/image-4-4.jpg"/><Relationship Id="rId5" Type="http://schemas.openxmlformats.org/officeDocument/2006/relationships/image" Target="../media/image-4-5.jpg"/><Relationship Id="rId6" Type="http://schemas.openxmlformats.org/officeDocument/2006/relationships/image" Target="../media/image-4-6.jpg"/><Relationship Id="rId7" Type="http://schemas.openxmlformats.org/officeDocument/2006/relationships/image" Target="../media/image-4-7.jpg"/><Relationship Id="rId8" Type="http://schemas.openxmlformats.org/officeDocument/2006/relationships/image" Target="../media/image-4-8.jpg"/><Relationship Id="rId9" Type="http://schemas.openxmlformats.org/officeDocument/2006/relationships/slideLayout" Target="../slideLayouts/slideLayout2.xml"/><Relationship Id="rId1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image" Target="../media/image-5-2.jpg"/><Relationship Id="rId3" Type="http://schemas.openxmlformats.org/officeDocument/2006/relationships/image" Target="../media/image-5-3.jpg"/><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image" Target="../media/image-8-2.jp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image" Target="../media/image-9-2.jpg"/><Relationship Id="rId3" Type="http://schemas.openxmlformats.org/officeDocument/2006/relationships/image" Target="../media/image-9-3.jpg"/><Relationship Id="rId4" Type="http://schemas.openxmlformats.org/officeDocument/2006/relationships/image" Target="../media/image-9-4.jpg"/><Relationship Id="rId5" Type="http://schemas.openxmlformats.org/officeDocument/2006/relationships/slideLayout" Target="../slideLayouts/slideLayout2.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image" Target="../media/image-12-2.jpg"/><Relationship Id="rId3" Type="http://schemas.openxmlformats.org/officeDocument/2006/relationships/image" Target="../media/image-12-3.jpg"/><Relationship Id="rId4" Type="http://schemas.openxmlformats.org/officeDocument/2006/relationships/image" Target="../media/image-12-4.jpg"/><Relationship Id="rId5" Type="http://schemas.openxmlformats.org/officeDocument/2006/relationships/slideLayout" Target="../slideLayouts/slideLayout2.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image" Target="../media/image-15-2.jpg"/><Relationship Id="rId3" Type="http://schemas.openxmlformats.org/officeDocument/2006/relationships/image" Target="../media/image-15-3.jpg"/><Relationship Id="rId4" Type="http://schemas.openxmlformats.org/officeDocument/2006/relationships/image" Target="../media/image-15-4.jpg"/><Relationship Id="rId5" Type="http://schemas.openxmlformats.org/officeDocument/2006/relationships/image" Target="../media/image-15-5.jpg"/><Relationship Id="rId6" Type="http://schemas.openxmlformats.org/officeDocument/2006/relationships/image" Target="../media/image-15-6.jpg"/><Relationship Id="rId7" Type="http://schemas.openxmlformats.org/officeDocument/2006/relationships/slideLayout" Target="../slideLayouts/slideLayout2.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image" Target="../media/image-17-2.jpg"/><Relationship Id="rId3" Type="http://schemas.openxmlformats.org/officeDocument/2006/relationships/image" Target="../media/image-17-3.jpg"/><Relationship Id="rId4" Type="http://schemas.openxmlformats.org/officeDocument/2006/relationships/image" Target="../media/image-17-4.jpg"/><Relationship Id="rId5" Type="http://schemas.openxmlformats.org/officeDocument/2006/relationships/slideLayout" Target="../slideLayouts/slideLayout2.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2" Type="http://schemas.openxmlformats.org/officeDocument/2006/relationships/hyperlink" Target="https://open.spotify.com/track/6ThJAONKSkyQxnfLmmtpIh" TargetMode="External"/><Relationship Id="rId3" Type="http://schemas.openxmlformats.org/officeDocument/2006/relationships/hyperlink" Target="https://open.spotify.com/track/7b0AYk76LUIOoE3IzbugaJ" TargetMode="External"/><Relationship Id="rId1" Type="http://schemas.openxmlformats.org/officeDocument/2006/relationships/image" Target="../media/image-19-1.jpg"/><Relationship Id="rId4" Type="http://schemas.openxmlformats.org/officeDocument/2006/relationships/slideLayout" Target="../slideLayouts/slideLayout4.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3.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image" Target="../media/image-21-2.jpg"/><Relationship Id="rId3" Type="http://schemas.openxmlformats.org/officeDocument/2006/relationships/slideLayout" Target="../slideLayouts/slideLayout2.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image" Target="../media/image-23-2.jpg"/><Relationship Id="rId3" Type="http://schemas.openxmlformats.org/officeDocument/2006/relationships/image" Target="../media/image-23-3.jpg"/><Relationship Id="rId4" Type="http://schemas.openxmlformats.org/officeDocument/2006/relationships/slideLayout" Target="../slideLayouts/slideLayout2.xml"/><Relationship Id="rId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3.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image" Target="../media/image-26-2.jpg"/><Relationship Id="rId3" Type="http://schemas.openxmlformats.org/officeDocument/2006/relationships/image" Target="../media/image-26-3.jpg"/><Relationship Id="rId4" Type="http://schemas.openxmlformats.org/officeDocument/2006/relationships/image" Target="../media/image-26-4.jpg"/><Relationship Id="rId5" Type="http://schemas.openxmlformats.org/officeDocument/2006/relationships/slideLayout" Target="../slideLayouts/slideLayout2.xml"/><Relationship Id="rId6"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image" Target="../media/image-27-2.jpg"/><Relationship Id="rId3" Type="http://schemas.openxmlformats.org/officeDocument/2006/relationships/image" Target="../media/image-27-3.jpg"/><Relationship Id="rId4" Type="http://schemas.openxmlformats.org/officeDocument/2006/relationships/image" Target="../media/image-27-4.jpg"/><Relationship Id="rId5" Type="http://schemas.openxmlformats.org/officeDocument/2006/relationships/slideLayout" Target="../slideLayouts/slideLayout2.xml"/><Relationship Id="rId6"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image" Target="../media/image-28-2.jpg"/><Relationship Id="rId3" Type="http://schemas.openxmlformats.org/officeDocument/2006/relationships/image" Target="../media/image-28-3.jpg"/><Relationship Id="rId4" Type="http://schemas.openxmlformats.org/officeDocument/2006/relationships/image" Target="../media/image-28-4.jpg"/><Relationship Id="rId5" Type="http://schemas.openxmlformats.org/officeDocument/2006/relationships/image" Target="../media/image-28-5.jpg"/><Relationship Id="rId6" Type="http://schemas.openxmlformats.org/officeDocument/2006/relationships/image" Target="../media/image-28-6.jpg"/><Relationship Id="rId7" Type="http://schemas.openxmlformats.org/officeDocument/2006/relationships/image" Target="../media/image-28-7.jpg"/><Relationship Id="rId8" Type="http://schemas.openxmlformats.org/officeDocument/2006/relationships/image" Target="../media/image-28-8.jpg"/><Relationship Id="rId9" Type="http://schemas.openxmlformats.org/officeDocument/2006/relationships/image" Target="../media/image-28-9.jpg"/><Relationship Id="rId10" Type="http://schemas.openxmlformats.org/officeDocument/2006/relationships/image" Target="../media/image-28-10.jpg"/><Relationship Id="rId11" Type="http://schemas.openxmlformats.org/officeDocument/2006/relationships/image" Target="../media/image-28-11.jpg"/><Relationship Id="rId12" Type="http://schemas.openxmlformats.org/officeDocument/2006/relationships/image" Target="../media/image-28-12.jpg"/><Relationship Id="rId13" Type="http://schemas.openxmlformats.org/officeDocument/2006/relationships/slideLayout" Target="../slideLayouts/slideLayout2.xml"/><Relationship Id="rId1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g"/><Relationship Id="rId2" Type="http://schemas.openxmlformats.org/officeDocument/2006/relationships/image" Target="../media/image-29-2.jpg"/><Relationship Id="rId3" Type="http://schemas.openxmlformats.org/officeDocument/2006/relationships/image" Target="../media/image-29-3.jpg"/><Relationship Id="rId4" Type="http://schemas.openxmlformats.org/officeDocument/2006/relationships/image" Target="../media/image-29-4.jpg"/><Relationship Id="rId5" Type="http://schemas.openxmlformats.org/officeDocument/2006/relationships/image" Target="../media/image-29-5.jpg"/><Relationship Id="rId6" Type="http://schemas.openxmlformats.org/officeDocument/2006/relationships/image" Target="../media/image-29-6.jpg"/><Relationship Id="rId7" Type="http://schemas.openxmlformats.org/officeDocument/2006/relationships/image" Target="../media/image-29-7.jpg"/><Relationship Id="rId8" Type="http://schemas.openxmlformats.org/officeDocument/2006/relationships/image" Target="../media/image-29-8.jpg"/><Relationship Id="rId9" Type="http://schemas.openxmlformats.org/officeDocument/2006/relationships/slideLayout" Target="../slideLayouts/slideLayout2.xml"/><Relationship Id="rId10"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image" Target="../media/image-30-2.jpg"/><Relationship Id="rId3" Type="http://schemas.openxmlformats.org/officeDocument/2006/relationships/image" Target="../media/image-30-3.jpg"/><Relationship Id="rId4" Type="http://schemas.openxmlformats.org/officeDocument/2006/relationships/slideLayout" Target="../slideLayouts/slideLayout2.xml"/><Relationship Id="rId5"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3.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jp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2" Type="http://schemas.openxmlformats.org/officeDocument/2006/relationships/hyperlink" Target="https://youtu.be/ZfLSN4mxY0E" TargetMode="External"/><Relationship Id="rId1" Type="http://schemas.openxmlformats.org/officeDocument/2006/relationships/image" Target="../media/image-33-1.jpg"/><Relationship Id="rId3" Type="http://schemas.openxmlformats.org/officeDocument/2006/relationships/image" Target="../media/image-33-2.jpg"/><Relationship Id="rId4" Type="http://schemas.openxmlformats.org/officeDocument/2006/relationships/slideLayout" Target="../slideLayouts/slideLayout2.xml"/><Relationship Id="rId5"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jp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jpg"/><Relationship Id="rId2" Type="http://schemas.openxmlformats.org/officeDocument/2006/relationships/slideLayout" Target="../slideLayouts/slideLayout3.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jpg"/><Relationship Id="rId2" Type="http://schemas.openxmlformats.org/officeDocument/2006/relationships/slideLayout" Target="../slideLayouts/slideLayout3.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jpg"/><Relationship Id="rId2" Type="http://schemas.openxmlformats.org/officeDocument/2006/relationships/image" Target="../media/image-37-2.jpg"/><Relationship Id="rId3" Type="http://schemas.openxmlformats.org/officeDocument/2006/relationships/image" Target="../media/image-37-3.jpg"/><Relationship Id="rId4" Type="http://schemas.openxmlformats.org/officeDocument/2006/relationships/image" Target="../media/image-37-4.jpg"/><Relationship Id="rId5" Type="http://schemas.openxmlformats.org/officeDocument/2006/relationships/image" Target="../media/image-37-5.jpg"/><Relationship Id="rId6" Type="http://schemas.openxmlformats.org/officeDocument/2006/relationships/image" Target="../media/image-37-6.jpg"/><Relationship Id="rId7" Type="http://schemas.openxmlformats.org/officeDocument/2006/relationships/image" Target="../media/image-37-7.jpg"/><Relationship Id="rId8" Type="http://schemas.openxmlformats.org/officeDocument/2006/relationships/slideLayout" Target="../slideLayouts/slideLayout2.xml"/><Relationship Id="rId9"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jpg"/><Relationship Id="rId2" Type="http://schemas.openxmlformats.org/officeDocument/2006/relationships/image" Target="../media/image-38-2.jpg"/><Relationship Id="rId3" Type="http://schemas.openxmlformats.org/officeDocument/2006/relationships/slideLayout" Target="../slideLayouts/slideLayout2.xml"/><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2" Type="http://schemas.openxmlformats.org/officeDocument/2006/relationships/hyperlink" Target="https://youtu.be/jJedre8t3Go" TargetMode="External"/><Relationship Id="rId1" Type="http://schemas.openxmlformats.org/officeDocument/2006/relationships/image" Target="../media/image-39-1.jpg"/><Relationship Id="rId3" Type="http://schemas.openxmlformats.org/officeDocument/2006/relationships/slideLayout" Target="../slideLayouts/slideLayout3.xml"/><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2" Type="http://schemas.openxmlformats.org/officeDocument/2006/relationships/hyperlink" Target="https://youtu.be/s8ip94klcQs" TargetMode="External"/><Relationship Id="rId1" Type="http://schemas.openxmlformats.org/officeDocument/2006/relationships/image" Target="../media/image-40-1.jpg"/><Relationship Id="rId3" Type="http://schemas.openxmlformats.org/officeDocument/2006/relationships/slideLayout" Target="../slideLayouts/slideLayout2.xml"/><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jpg"/><Relationship Id="rId2" Type="http://schemas.openxmlformats.org/officeDocument/2006/relationships/slideLayout" Target="../slideLayouts/slideLayout3.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2" Type="http://schemas.openxmlformats.org/officeDocument/2006/relationships/hyperlink" Target="https://youtu.be/zbUbmYi2fHk" TargetMode="External"/><Relationship Id="rId1" Type="http://schemas.openxmlformats.org/officeDocument/2006/relationships/image" Target="../media/image-43-1.jpg"/><Relationship Id="rId3" Type="http://schemas.openxmlformats.org/officeDocument/2006/relationships/slideLayout" Target="../slideLayouts/slideLayout2.xml"/><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jpg"/><Relationship Id="rId2" Type="http://schemas.openxmlformats.org/officeDocument/2006/relationships/image" Target="../media/image-44-2.jpg"/><Relationship Id="rId3" Type="http://schemas.openxmlformats.org/officeDocument/2006/relationships/slideLayout" Target="../slideLayouts/slideLayout2.xml"/><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jpg"/><Relationship Id="rId2" Type="http://schemas.openxmlformats.org/officeDocument/2006/relationships/image" Target="../media/image-45-2.jpg"/><Relationship Id="rId3" Type="http://schemas.openxmlformats.org/officeDocument/2006/relationships/slideLayout" Target="../slideLayouts/slideLayout2.xml"/><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jp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jp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jp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jp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jpg"/><Relationship Id="rId2" Type="http://schemas.openxmlformats.org/officeDocument/2006/relationships/image" Target="../media/image-50-2.jpg"/><Relationship Id="rId3" Type="http://schemas.openxmlformats.org/officeDocument/2006/relationships/slideLayout" Target="../slideLayouts/slideLayout2.xml"/><Relationship Id="rId4"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jp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jp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jpg"/><Relationship Id="rId2" Type="http://schemas.openxmlformats.org/officeDocument/2006/relationships/image" Target="../media/image-53-2.jpg"/><Relationship Id="rId3" Type="http://schemas.openxmlformats.org/officeDocument/2006/relationships/slideLayout" Target="../slideLayouts/slideLayout2.xml"/><Relationship Id="rId4"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jpg"/><Relationship Id="rId2" Type="http://schemas.openxmlformats.org/officeDocument/2006/relationships/slideLayout" Target="../slideLayouts/slideLayout3.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jpg"/><Relationship Id="rId2" Type="http://schemas.openxmlformats.org/officeDocument/2006/relationships/image" Target="../media/image-55-2.jpg"/><Relationship Id="rId3" Type="http://schemas.openxmlformats.org/officeDocument/2006/relationships/image" Target="../media/image-55-3.jpg"/><Relationship Id="rId4" Type="http://schemas.openxmlformats.org/officeDocument/2006/relationships/slideLayout" Target="../slideLayouts/slideLayout2.xml"/><Relationship Id="rId5"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jpg"/><Relationship Id="rId2" Type="http://schemas.openxmlformats.org/officeDocument/2006/relationships/image" Target="../media/image-56-2.jpg"/><Relationship Id="rId3" Type="http://schemas.openxmlformats.org/officeDocument/2006/relationships/image" Target="../media/image-56-3.jpg"/><Relationship Id="rId4" Type="http://schemas.openxmlformats.org/officeDocument/2006/relationships/image" Target="../media/image-56-4.jpg"/><Relationship Id="rId5" Type="http://schemas.openxmlformats.org/officeDocument/2006/relationships/image" Target="../media/image-56-5.jpg"/><Relationship Id="rId6" Type="http://schemas.openxmlformats.org/officeDocument/2006/relationships/image" Target="../media/image-56-6.jpg"/><Relationship Id="rId7" Type="http://schemas.openxmlformats.org/officeDocument/2006/relationships/slideLayout" Target="../slideLayouts/slideLayout2.xml"/><Relationship Id="rId8"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jpg"/><Relationship Id="rId2" Type="http://schemas.openxmlformats.org/officeDocument/2006/relationships/image" Target="../media/image-57-2.jpg"/><Relationship Id="rId3" Type="http://schemas.openxmlformats.org/officeDocument/2006/relationships/image" Target="../media/image-57-3.jpg"/><Relationship Id="rId4" Type="http://schemas.openxmlformats.org/officeDocument/2006/relationships/image" Target="../media/image-57-4.jpg"/><Relationship Id="rId5" Type="http://schemas.openxmlformats.org/officeDocument/2006/relationships/image" Target="../media/image-57-5.jpg"/><Relationship Id="rId6" Type="http://schemas.openxmlformats.org/officeDocument/2006/relationships/slideLayout" Target="../slideLayouts/slideLayout2.xml"/><Relationship Id="rId7"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2" Type="http://schemas.openxmlformats.org/officeDocument/2006/relationships/hyperlink" Target="https://www.loja-europeixe.ch/" TargetMode="External"/><Relationship Id="rId4" Type="http://schemas.openxmlformats.org/officeDocument/2006/relationships/hyperlink" Target="https://share.google/KC0aDwi6yydgWgbBS" TargetMode="External"/><Relationship Id="rId1" Type="http://schemas.openxmlformats.org/officeDocument/2006/relationships/image" Target="../media/image-59-1.jpg"/><Relationship Id="rId3" Type="http://schemas.openxmlformats.org/officeDocument/2006/relationships/image" Target="../media/image-59-2.jpg"/><Relationship Id="rId5" Type="http://schemas.openxmlformats.org/officeDocument/2006/relationships/slideLayout" Target="../slideLayouts/slideLayout2.xml"/><Relationship Id="rId6"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jpg"/><Relationship Id="rId2" Type="http://schemas.openxmlformats.org/officeDocument/2006/relationships/image" Target="../media/image-60-2.jpg"/><Relationship Id="rId3" Type="http://schemas.openxmlformats.org/officeDocument/2006/relationships/slideLayout" Target="../slideLayouts/slideLayout4.xml"/><Relationship Id="rId4"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home/user/Portugal-Website/images/photos/hero-home.jpg">    </p:cNvPr>
          <p:cNvPicPr>
            <a:picLocks noChangeAspect="1"/>
          </p:cNvPicPr>
          <p:nvPr/>
        </p:nvPicPr>
        <p:blipFill>
          <a:blip r:embed="rId1"/>
          <a:srcRect l="0" r="0" t="0" b="0"/>
          <a:stretch/>
        </p:blipFill>
        <p:spPr>
          <a:xfrm>
            <a:off x="0" y="0"/>
            <a:ext cx="12191695" cy="6858000"/>
          </a:xfrm>
          <a:prstGeom prst="rect">
            <a:avLst/>
          </a:prstGeom>
        </p:spPr>
      </p:pic>
      <p:sp>
        <p:nvSpPr>
          <p:cNvPr id="3" name="Shape 0"/>
          <p:cNvSpPr/>
          <p:nvPr/>
        </p:nvSpPr>
        <p:spPr>
          <a:xfrm>
            <a:off x="0" y="0"/>
            <a:ext cx="6949440" cy="6858000"/>
          </a:xfrm>
          <a:prstGeom prst="rect">
            <a:avLst/>
          </a:prstGeom>
          <a:solidFill>
            <a:srgbClr val="08140F">
              <a:alpha val="65000"/>
            </a:srgbClr>
          </a:solidFill>
          <a:ln w="12700">
            <a:solidFill>
              <a:srgbClr val="08140F">
                <a:alpha val="0"/>
              </a:srgbClr>
            </a:solidFill>
            <a:prstDash val="solid"/>
          </a:ln>
        </p:spPr>
      </p:sp>
      <p:sp>
        <p:nvSpPr>
          <p:cNvPr id="4" name="Text 1"/>
          <p:cNvSpPr txBox="1"/>
          <p:nvPr/>
        </p:nvSpPr>
        <p:spPr>
          <a:xfrm>
            <a:off x="822960" y="1737360"/>
            <a:ext cx="5486400" cy="365760"/>
          </a:xfrm>
          <a:prstGeom prst="rect">
            <a:avLst/>
          </a:prstGeom>
          <a:noFill/>
          <a:ln/>
        </p:spPr>
        <p:txBody>
          <a:bodyPr wrap="square" lIns="0" tIns="0" rIns="0" bIns="0" rtlCol="0" anchor="t"/>
          <a:lstStyle/>
          <a:p>
            <a:pPr indent="0" marL="0">
              <a:buNone/>
            </a:pPr>
            <a:r>
              <a:rPr lang="en-US" sz="1600" b="1" spc="400" kern="0" dirty="0">
                <a:solidFill>
                  <a:srgbClr val="F2C14E"/>
                </a:solidFill>
                <a:latin typeface="Calibri" pitchFamily="34" charset="0"/>
                <a:ea typeface="Calibri" pitchFamily="34" charset="-122"/>
                <a:cs typeface="Calibri" pitchFamily="34" charset="-120"/>
              </a:rPr>
              <a:t>BIENVENUE AU</a:t>
            </a:r>
            <a:endParaRPr lang="en-US" sz="1600" dirty="0"/>
          </a:p>
        </p:txBody>
      </p:sp>
      <p:sp>
        <p:nvSpPr>
          <p:cNvPr id="5" name="Text 2"/>
          <p:cNvSpPr txBox="1"/>
          <p:nvPr/>
        </p:nvSpPr>
        <p:spPr>
          <a:xfrm>
            <a:off x="822960" y="2103120"/>
            <a:ext cx="5943600" cy="1463040"/>
          </a:xfrm>
          <a:prstGeom prst="rect">
            <a:avLst/>
          </a:prstGeom>
          <a:noFill/>
          <a:ln/>
        </p:spPr>
        <p:txBody>
          <a:bodyPr wrap="square" lIns="0" tIns="0" rIns="0" bIns="0" rtlCol="0" anchor="t"/>
          <a:lstStyle/>
          <a:p>
            <a:pPr indent="0" marL="0">
              <a:buNone/>
            </a:pPr>
            <a:r>
              <a:rPr lang="en-US" sz="9600" b="1" dirty="0">
                <a:solidFill>
                  <a:srgbClr val="FFFFFF"/>
                </a:solidFill>
                <a:latin typeface="Cambria" pitchFamily="34" charset="0"/>
                <a:ea typeface="Cambria" pitchFamily="34" charset="-122"/>
                <a:cs typeface="Cambria" pitchFamily="34" charset="-120"/>
              </a:rPr>
              <a:t>Portugal</a:t>
            </a:r>
            <a:endParaRPr lang="en-US" sz="9600" dirty="0"/>
          </a:p>
        </p:txBody>
      </p:sp>
      <p:sp>
        <p:nvSpPr>
          <p:cNvPr id="6" name="Text 3"/>
          <p:cNvSpPr txBox="1"/>
          <p:nvPr/>
        </p:nvSpPr>
        <p:spPr>
          <a:xfrm>
            <a:off x="822960" y="3611880"/>
            <a:ext cx="5669280" cy="548640"/>
          </a:xfrm>
          <a:prstGeom prst="rect">
            <a:avLst/>
          </a:prstGeom>
          <a:noFill/>
          <a:ln/>
        </p:spPr>
        <p:txBody>
          <a:bodyPr wrap="square" lIns="0" tIns="0" rIns="0" bIns="0" rtlCol="0" anchor="t"/>
          <a:lstStyle/>
          <a:p>
            <a:pPr indent="0" marL="0">
              <a:buNone/>
            </a:pPr>
            <a:r>
              <a:rPr lang="en-US" sz="2600" dirty="0">
                <a:solidFill>
                  <a:srgbClr val="FFFFFF"/>
                </a:solidFill>
                <a:latin typeface="Cambria" pitchFamily="34" charset="0"/>
                <a:ea typeface="Cambria" pitchFamily="34" charset="-122"/>
                <a:cs typeface="Cambria" pitchFamily="34" charset="-120"/>
              </a:rPr>
              <a:t>Une présentation du Portugal</a:t>
            </a:r>
            <a:endParaRPr lang="en-US" sz="2600" dirty="0"/>
          </a:p>
        </p:txBody>
      </p:sp>
      <p:sp>
        <p:nvSpPr>
          <p:cNvPr id="7" name="Text 4"/>
          <p:cNvSpPr txBox="1"/>
          <p:nvPr/>
        </p:nvSpPr>
        <p:spPr>
          <a:xfrm>
            <a:off x="822960" y="4251960"/>
            <a:ext cx="5303520" cy="1097280"/>
          </a:xfrm>
          <a:prstGeom prst="rect">
            <a:avLst/>
          </a:prstGeom>
          <a:noFill/>
          <a:ln/>
        </p:spPr>
        <p:txBody>
          <a:bodyPr wrap="square" lIns="0" tIns="0" rIns="0" bIns="0" rtlCol="0" anchor="t"/>
          <a:lstStyle/>
          <a:p>
            <a:pPr indent="0" marL="0">
              <a:buNone/>
            </a:pPr>
            <a:r>
              <a:rPr lang="en-US" sz="1700" i="1" dirty="0">
                <a:solidFill>
                  <a:srgbClr val="E6ECE8"/>
                </a:solidFill>
                <a:latin typeface="Cambria" pitchFamily="34" charset="0"/>
                <a:ea typeface="Cambria" pitchFamily="34" charset="-122"/>
                <a:cs typeface="Cambria" pitchFamily="34" charset="-120"/>
              </a:rPr>
              <a:t>« Un petit pays au bord de l'Atlantique, avec une grande histoire, une culture riche et beaucoup de soleil. »</a:t>
            </a:r>
            <a:endParaRPr lang="en-US" sz="1700" dirty="0"/>
          </a:p>
        </p:txBody>
      </p:sp>
      <p:sp>
        <p:nvSpPr>
          <p:cNvPr id="8" name="Text 5"/>
          <p:cNvSpPr txBox="1"/>
          <p:nvPr/>
        </p:nvSpPr>
        <p:spPr>
          <a:xfrm>
            <a:off x="822960" y="5669280"/>
            <a:ext cx="4572000" cy="365760"/>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Luís Marques</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home/user/Portugal-Website/images/luis.jpg">    </p:cNvPr>
          <p:cNvPicPr>
            <a:picLocks noChangeAspect="1"/>
          </p:cNvPicPr>
          <p:nvPr/>
        </p:nvPicPr>
        <p:blipFill>
          <a:blip r:embed="rId1"/>
          <a:srcRect l="0" r="0" t="0" b="0"/>
          <a:stretch/>
        </p:blipFill>
        <p:spPr>
          <a:xfrm>
            <a:off x="548640" y="548640"/>
            <a:ext cx="3749040" cy="5669280"/>
          </a:xfrm>
          <a:prstGeom prst="rect">
            <a:avLst/>
          </a:prstGeom>
        </p:spPr>
      </p:pic>
      <p:sp>
        <p:nvSpPr>
          <p:cNvPr id="3" name="Text 0"/>
          <p:cNvSpPr txBox="1"/>
          <p:nvPr/>
        </p:nvSpPr>
        <p:spPr>
          <a:xfrm>
            <a:off x="4846320" y="640080"/>
            <a:ext cx="6400800" cy="274320"/>
          </a:xfrm>
          <a:prstGeom prst="rect">
            <a:avLst/>
          </a:prstGeom>
          <a:noFill/>
          <a:ln/>
        </p:spPr>
        <p:txBody>
          <a:bodyPr wrap="square" lIns="0" tIns="0" rIns="0" bIns="0" rtlCol="0" anchor="t"/>
          <a:lstStyle/>
          <a:p>
            <a:pPr indent="0" marL="0">
              <a:buNone/>
            </a:pPr>
            <a:r>
              <a:rPr lang="en-US" sz="1200" b="1" spc="300" kern="0" dirty="0">
                <a:solidFill>
                  <a:srgbClr val="A83232"/>
                </a:solidFill>
                <a:latin typeface="Calibri" pitchFamily="34" charset="0"/>
                <a:ea typeface="Calibri" pitchFamily="34" charset="-122"/>
                <a:cs typeface="Calibri" pitchFamily="34" charset="-120"/>
              </a:rPr>
              <a:t>QUI SUIS-JE ?</a:t>
            </a:r>
            <a:endParaRPr lang="en-US" sz="1200" dirty="0"/>
          </a:p>
        </p:txBody>
      </p:sp>
      <p:sp>
        <p:nvSpPr>
          <p:cNvPr id="4" name="Text 1"/>
          <p:cNvSpPr txBox="1"/>
          <p:nvPr/>
        </p:nvSpPr>
        <p:spPr>
          <a:xfrm>
            <a:off x="4846320" y="914400"/>
            <a:ext cx="6766560" cy="731520"/>
          </a:xfrm>
          <a:prstGeom prst="rect">
            <a:avLst/>
          </a:prstGeom>
          <a:noFill/>
          <a:ln/>
        </p:spPr>
        <p:txBody>
          <a:bodyPr wrap="square" lIns="0" tIns="0" rIns="0" bIns="0" rtlCol="0" anchor="t"/>
          <a:lstStyle/>
          <a:p>
            <a:pPr indent="0" marL="0">
              <a:buNone/>
            </a:pPr>
            <a:r>
              <a:rPr lang="en-US" sz="3800" b="1" dirty="0">
                <a:solidFill>
                  <a:srgbClr val="174A3A"/>
                </a:solidFill>
                <a:latin typeface="Cambria" pitchFamily="34" charset="0"/>
                <a:ea typeface="Cambria" pitchFamily="34" charset="-122"/>
                <a:cs typeface="Cambria" pitchFamily="34" charset="-120"/>
              </a:rPr>
              <a:t>Faisons connaissance</a:t>
            </a:r>
            <a:endParaRPr lang="en-US" sz="3800" dirty="0"/>
          </a:p>
        </p:txBody>
      </p:sp>
      <p:sp>
        <p:nvSpPr>
          <p:cNvPr id="5" name="Text 2"/>
          <p:cNvSpPr txBox="1"/>
          <p:nvPr/>
        </p:nvSpPr>
        <p:spPr>
          <a:xfrm>
            <a:off x="4846320" y="1645920"/>
            <a:ext cx="6400800" cy="457200"/>
          </a:xfrm>
          <a:prstGeom prst="rect">
            <a:avLst/>
          </a:prstGeom>
          <a:noFill/>
          <a:ln/>
        </p:spPr>
        <p:txBody>
          <a:bodyPr wrap="square" lIns="0" tIns="0" rIns="0" bIns="0" rtlCol="0" anchor="t"/>
          <a:lstStyle/>
          <a:p>
            <a:pPr indent="0" marL="0">
              <a:buNone/>
            </a:pPr>
            <a:r>
              <a:rPr lang="en-US" sz="2200" i="1" dirty="0">
                <a:solidFill>
                  <a:srgbClr val="B8955A"/>
                </a:solidFill>
                <a:latin typeface="Cambria" pitchFamily="34" charset="0"/>
                <a:ea typeface="Cambria" pitchFamily="34" charset="-122"/>
                <a:cs typeface="Cambria" pitchFamily="34" charset="-120"/>
              </a:rPr>
              <a:t>Je suis Luís Marques.</a:t>
            </a:r>
            <a:endParaRPr lang="en-US" sz="2200" dirty="0"/>
          </a:p>
        </p:txBody>
      </p:sp>
      <p:sp>
        <p:nvSpPr>
          <p:cNvPr id="6" name="Shape 3"/>
          <p:cNvSpPr/>
          <p:nvPr/>
        </p:nvSpPr>
        <p:spPr>
          <a:xfrm>
            <a:off x="4846320" y="2423160"/>
            <a:ext cx="3246120" cy="1645920"/>
          </a:xfrm>
          <a:prstGeom prst="roundRect">
            <a:avLst>
              <a:gd name="adj" fmla="val 4444"/>
            </a:avLst>
          </a:prstGeom>
          <a:solidFill>
            <a:srgbClr val="F1F4F2"/>
          </a:solidFill>
          <a:ln w="12700">
            <a:solidFill>
              <a:srgbClr val="F1F4F2"/>
            </a:solidFill>
            <a:prstDash val="solid"/>
          </a:ln>
          <a:effectLst>
            <a:outerShdw sx="100000" sy="100000" kx="0" ky="0" algn="bl" rotWithShape="0" blurRad="101600" dist="38100" dir="5400000">
              <a:srgbClr val="000000">
                <a:alpha val="18000"/>
              </a:srgbClr>
            </a:outerShdw>
          </a:effectLst>
        </p:spPr>
      </p:sp>
      <p:sp>
        <p:nvSpPr>
          <p:cNvPr id="7" name="Shape 4"/>
          <p:cNvSpPr/>
          <p:nvPr/>
        </p:nvSpPr>
        <p:spPr>
          <a:xfrm>
            <a:off x="5074920" y="2651760"/>
            <a:ext cx="457200" cy="457200"/>
          </a:xfrm>
          <a:prstGeom prst="ellipse">
            <a:avLst/>
          </a:prstGeom>
          <a:solidFill>
            <a:srgbClr val="174A3A"/>
          </a:solidFill>
          <a:ln w="12700">
            <a:solidFill>
              <a:srgbClr val="174A3A"/>
            </a:solidFill>
            <a:prstDash val="solid"/>
          </a:ln>
        </p:spPr>
      </p:sp>
      <p:sp>
        <p:nvSpPr>
          <p:cNvPr id="8" name="Text 5"/>
          <p:cNvSpPr txBox="1"/>
          <p:nvPr/>
        </p:nvSpPr>
        <p:spPr>
          <a:xfrm>
            <a:off x="5074920" y="3227832"/>
            <a:ext cx="2834640" cy="274320"/>
          </a:xfrm>
          <a:prstGeom prst="rect">
            <a:avLst/>
          </a:prstGeom>
          <a:noFill/>
          <a:ln/>
        </p:spPr>
        <p:txBody>
          <a:bodyPr wrap="square" lIns="0" tIns="0" rIns="0" bIns="0" rtlCol="0" anchor="t"/>
          <a:lstStyle/>
          <a:p>
            <a:pPr indent="0" marL="0">
              <a:buNone/>
            </a:pPr>
            <a:r>
              <a:rPr lang="en-US" sz="1200" b="1" spc="200" kern="0" dirty="0">
                <a:solidFill>
                  <a:srgbClr val="A83232"/>
                </a:solidFill>
                <a:latin typeface="Calibri" pitchFamily="34" charset="0"/>
                <a:ea typeface="Calibri" pitchFamily="34" charset="-122"/>
                <a:cs typeface="Calibri" pitchFamily="34" charset="-120"/>
              </a:rPr>
              <a:t>ORIGINAIRE DE</a:t>
            </a:r>
            <a:endParaRPr lang="en-US" sz="1200" dirty="0"/>
          </a:p>
        </p:txBody>
      </p:sp>
      <p:sp>
        <p:nvSpPr>
          <p:cNvPr id="9" name="Text 6"/>
          <p:cNvSpPr txBox="1"/>
          <p:nvPr/>
        </p:nvSpPr>
        <p:spPr>
          <a:xfrm>
            <a:off x="5074920" y="3502152"/>
            <a:ext cx="2834640" cy="502920"/>
          </a:xfrm>
          <a:prstGeom prst="rect">
            <a:avLst/>
          </a:prstGeom>
          <a:noFill/>
          <a:ln/>
        </p:spPr>
        <p:txBody>
          <a:bodyPr wrap="square" lIns="0" tIns="0" rIns="0" bIns="0" rtlCol="0" anchor="t"/>
          <a:lstStyle/>
          <a:p>
            <a:pPr indent="0" marL="0">
              <a:buNone/>
            </a:pPr>
            <a:r>
              <a:rPr lang="en-US" sz="1600" b="1" dirty="0">
                <a:solidFill>
                  <a:srgbClr val="17211D"/>
                </a:solidFill>
                <a:latin typeface="Calibri" pitchFamily="34" charset="0"/>
                <a:ea typeface="Calibri" pitchFamily="34" charset="-122"/>
                <a:cs typeface="Calibri" pitchFamily="34" charset="-120"/>
              </a:rPr>
              <a:t>Caramulo, Viseu</a:t>
            </a:r>
            <a:endParaRPr lang="en-US" sz="1600" dirty="0"/>
          </a:p>
        </p:txBody>
      </p:sp>
      <p:sp>
        <p:nvSpPr>
          <p:cNvPr id="10" name="Shape 7"/>
          <p:cNvSpPr/>
          <p:nvPr/>
        </p:nvSpPr>
        <p:spPr>
          <a:xfrm>
            <a:off x="8321040" y="2423160"/>
            <a:ext cx="3246120" cy="1645920"/>
          </a:xfrm>
          <a:prstGeom prst="roundRect">
            <a:avLst>
              <a:gd name="adj" fmla="val 4444"/>
            </a:avLst>
          </a:prstGeom>
          <a:solidFill>
            <a:srgbClr val="F1F4F2"/>
          </a:solidFill>
          <a:ln w="12700">
            <a:solidFill>
              <a:srgbClr val="F1F4F2"/>
            </a:solidFill>
            <a:prstDash val="solid"/>
          </a:ln>
          <a:effectLst>
            <a:outerShdw sx="100000" sy="100000" kx="0" ky="0" algn="bl" rotWithShape="0" blurRad="101600" dist="38100" dir="5400000">
              <a:srgbClr val="000000">
                <a:alpha val="18000"/>
              </a:srgbClr>
            </a:outerShdw>
          </a:effectLst>
        </p:spPr>
      </p:sp>
      <p:sp>
        <p:nvSpPr>
          <p:cNvPr id="11" name="Shape 8"/>
          <p:cNvSpPr/>
          <p:nvPr/>
        </p:nvSpPr>
        <p:spPr>
          <a:xfrm>
            <a:off x="8549640" y="2651760"/>
            <a:ext cx="457200" cy="457200"/>
          </a:xfrm>
          <a:prstGeom prst="ellipse">
            <a:avLst/>
          </a:prstGeom>
          <a:solidFill>
            <a:srgbClr val="A83232"/>
          </a:solidFill>
          <a:ln w="12700">
            <a:solidFill>
              <a:srgbClr val="A83232"/>
            </a:solidFill>
            <a:prstDash val="solid"/>
          </a:ln>
        </p:spPr>
      </p:sp>
      <p:sp>
        <p:nvSpPr>
          <p:cNvPr id="12" name="Text 9"/>
          <p:cNvSpPr txBox="1"/>
          <p:nvPr/>
        </p:nvSpPr>
        <p:spPr>
          <a:xfrm>
            <a:off x="8549640" y="3227832"/>
            <a:ext cx="2834640" cy="274320"/>
          </a:xfrm>
          <a:prstGeom prst="rect">
            <a:avLst/>
          </a:prstGeom>
          <a:noFill/>
          <a:ln/>
        </p:spPr>
        <p:txBody>
          <a:bodyPr wrap="square" lIns="0" tIns="0" rIns="0" bIns="0" rtlCol="0" anchor="t"/>
          <a:lstStyle/>
          <a:p>
            <a:pPr indent="0" marL="0">
              <a:buNone/>
            </a:pPr>
            <a:r>
              <a:rPr lang="en-US" sz="1200" b="1" spc="200" kern="0" dirty="0">
                <a:solidFill>
                  <a:srgbClr val="A83232"/>
                </a:solidFill>
                <a:latin typeface="Calibri" pitchFamily="34" charset="0"/>
                <a:ea typeface="Calibri" pitchFamily="34" charset="-122"/>
                <a:cs typeface="Calibri" pitchFamily="34" charset="-120"/>
              </a:rPr>
              <a:t>ARRIVÉ EN SUISSE</a:t>
            </a:r>
            <a:endParaRPr lang="en-US" sz="1200" dirty="0"/>
          </a:p>
        </p:txBody>
      </p:sp>
      <p:sp>
        <p:nvSpPr>
          <p:cNvPr id="13" name="Text 10"/>
          <p:cNvSpPr txBox="1"/>
          <p:nvPr/>
        </p:nvSpPr>
        <p:spPr>
          <a:xfrm>
            <a:off x="8549640" y="3502152"/>
            <a:ext cx="2834640" cy="502920"/>
          </a:xfrm>
          <a:prstGeom prst="rect">
            <a:avLst/>
          </a:prstGeom>
          <a:noFill/>
          <a:ln/>
        </p:spPr>
        <p:txBody>
          <a:bodyPr wrap="square" lIns="0" tIns="0" rIns="0" bIns="0" rtlCol="0" anchor="t"/>
          <a:lstStyle/>
          <a:p>
            <a:pPr indent="0" marL="0">
              <a:buNone/>
            </a:pPr>
            <a:r>
              <a:rPr lang="en-US" sz="1600" b="1" dirty="0">
                <a:solidFill>
                  <a:srgbClr val="17211D"/>
                </a:solidFill>
                <a:latin typeface="Calibri" pitchFamily="34" charset="0"/>
                <a:ea typeface="Calibri" pitchFamily="34" charset="-122"/>
                <a:cs typeface="Calibri" pitchFamily="34" charset="-120"/>
              </a:rPr>
              <a:t>2013 — Plus de 13 ans en Suisse</a:t>
            </a:r>
            <a:endParaRPr lang="en-US" sz="1600" dirty="0"/>
          </a:p>
        </p:txBody>
      </p:sp>
      <p:sp>
        <p:nvSpPr>
          <p:cNvPr id="14" name="Shape 11"/>
          <p:cNvSpPr/>
          <p:nvPr/>
        </p:nvSpPr>
        <p:spPr>
          <a:xfrm>
            <a:off x="4846320" y="4297680"/>
            <a:ext cx="3246120" cy="1645920"/>
          </a:xfrm>
          <a:prstGeom prst="roundRect">
            <a:avLst>
              <a:gd name="adj" fmla="val 4444"/>
            </a:avLst>
          </a:prstGeom>
          <a:solidFill>
            <a:srgbClr val="F1F4F2"/>
          </a:solidFill>
          <a:ln w="12700">
            <a:solidFill>
              <a:srgbClr val="F1F4F2"/>
            </a:solidFill>
            <a:prstDash val="solid"/>
          </a:ln>
          <a:effectLst>
            <a:outerShdw sx="100000" sy="100000" kx="0" ky="0" algn="bl" rotWithShape="0" blurRad="101600" dist="38100" dir="5400000">
              <a:srgbClr val="000000">
                <a:alpha val="18000"/>
              </a:srgbClr>
            </a:outerShdw>
          </a:effectLst>
        </p:spPr>
      </p:sp>
      <p:sp>
        <p:nvSpPr>
          <p:cNvPr id="15" name="Shape 12"/>
          <p:cNvSpPr/>
          <p:nvPr/>
        </p:nvSpPr>
        <p:spPr>
          <a:xfrm>
            <a:off x="5074920" y="4526280"/>
            <a:ext cx="457200" cy="457200"/>
          </a:xfrm>
          <a:prstGeom prst="ellipse">
            <a:avLst/>
          </a:prstGeom>
          <a:solidFill>
            <a:srgbClr val="1E4F8F"/>
          </a:solidFill>
          <a:ln w="12700">
            <a:solidFill>
              <a:srgbClr val="1E4F8F"/>
            </a:solidFill>
            <a:prstDash val="solid"/>
          </a:ln>
        </p:spPr>
      </p:sp>
      <p:sp>
        <p:nvSpPr>
          <p:cNvPr id="16" name="Text 13"/>
          <p:cNvSpPr txBox="1"/>
          <p:nvPr/>
        </p:nvSpPr>
        <p:spPr>
          <a:xfrm>
            <a:off x="5074920" y="5102352"/>
            <a:ext cx="2834640" cy="274320"/>
          </a:xfrm>
          <a:prstGeom prst="rect">
            <a:avLst/>
          </a:prstGeom>
          <a:noFill/>
          <a:ln/>
        </p:spPr>
        <p:txBody>
          <a:bodyPr wrap="square" lIns="0" tIns="0" rIns="0" bIns="0" rtlCol="0" anchor="t"/>
          <a:lstStyle/>
          <a:p>
            <a:pPr indent="0" marL="0">
              <a:buNone/>
            </a:pPr>
            <a:r>
              <a:rPr lang="en-US" sz="1200" b="1" spc="200" kern="0" dirty="0">
                <a:solidFill>
                  <a:srgbClr val="A83232"/>
                </a:solidFill>
                <a:latin typeface="Calibri" pitchFamily="34" charset="0"/>
                <a:ea typeface="Calibri" pitchFamily="34" charset="-122"/>
                <a:cs typeface="Calibri" pitchFamily="34" charset="-120"/>
              </a:rPr>
              <a:t>PROFESSION</a:t>
            </a:r>
            <a:endParaRPr lang="en-US" sz="1200" dirty="0"/>
          </a:p>
        </p:txBody>
      </p:sp>
      <p:sp>
        <p:nvSpPr>
          <p:cNvPr id="17" name="Text 14"/>
          <p:cNvSpPr txBox="1"/>
          <p:nvPr/>
        </p:nvSpPr>
        <p:spPr>
          <a:xfrm>
            <a:off x="5074920" y="5376672"/>
            <a:ext cx="2834640" cy="502920"/>
          </a:xfrm>
          <a:prstGeom prst="rect">
            <a:avLst/>
          </a:prstGeom>
          <a:noFill/>
          <a:ln/>
        </p:spPr>
        <p:txBody>
          <a:bodyPr wrap="square" lIns="0" tIns="0" rIns="0" bIns="0" rtlCol="0" anchor="t"/>
          <a:lstStyle/>
          <a:p>
            <a:pPr indent="0" marL="0">
              <a:buNone/>
            </a:pPr>
            <a:r>
              <a:rPr lang="en-US" sz="1600" b="1" dirty="0">
                <a:solidFill>
                  <a:srgbClr val="17211D"/>
                </a:solidFill>
                <a:latin typeface="Calibri" pitchFamily="34" charset="0"/>
                <a:ea typeface="Calibri" pitchFamily="34" charset="-122"/>
                <a:cs typeface="Calibri" pitchFamily="34" charset="-120"/>
              </a:rPr>
              <a:t>Agent de sécurité privée, responsable du centre de sécurité</a:t>
            </a:r>
            <a:endParaRPr lang="en-US" sz="1600" dirty="0"/>
          </a:p>
        </p:txBody>
      </p:sp>
      <p:sp>
        <p:nvSpPr>
          <p:cNvPr id="18" name="Shape 15"/>
          <p:cNvSpPr/>
          <p:nvPr/>
        </p:nvSpPr>
        <p:spPr>
          <a:xfrm>
            <a:off x="8321040" y="4297680"/>
            <a:ext cx="3246120" cy="1645920"/>
          </a:xfrm>
          <a:prstGeom prst="roundRect">
            <a:avLst>
              <a:gd name="adj" fmla="val 4444"/>
            </a:avLst>
          </a:prstGeom>
          <a:solidFill>
            <a:srgbClr val="F1F4F2"/>
          </a:solidFill>
          <a:ln w="12700">
            <a:solidFill>
              <a:srgbClr val="F1F4F2"/>
            </a:solidFill>
            <a:prstDash val="solid"/>
          </a:ln>
          <a:effectLst>
            <a:outerShdw sx="100000" sy="100000" kx="0" ky="0" algn="bl" rotWithShape="0" blurRad="101600" dist="38100" dir="5400000">
              <a:srgbClr val="000000">
                <a:alpha val="18000"/>
              </a:srgbClr>
            </a:outerShdw>
          </a:effectLst>
        </p:spPr>
      </p:sp>
      <p:sp>
        <p:nvSpPr>
          <p:cNvPr id="19" name="Shape 16"/>
          <p:cNvSpPr/>
          <p:nvPr/>
        </p:nvSpPr>
        <p:spPr>
          <a:xfrm>
            <a:off x="8549640" y="4526280"/>
            <a:ext cx="457200" cy="457200"/>
          </a:xfrm>
          <a:prstGeom prst="ellipse">
            <a:avLst/>
          </a:prstGeom>
          <a:solidFill>
            <a:srgbClr val="B8955A"/>
          </a:solidFill>
          <a:ln w="12700">
            <a:solidFill>
              <a:srgbClr val="B8955A"/>
            </a:solidFill>
            <a:prstDash val="solid"/>
          </a:ln>
        </p:spPr>
      </p:sp>
      <p:sp>
        <p:nvSpPr>
          <p:cNvPr id="20" name="Text 17"/>
          <p:cNvSpPr txBox="1"/>
          <p:nvPr/>
        </p:nvSpPr>
        <p:spPr>
          <a:xfrm>
            <a:off x="8549640" y="5102352"/>
            <a:ext cx="2834640" cy="274320"/>
          </a:xfrm>
          <a:prstGeom prst="rect">
            <a:avLst/>
          </a:prstGeom>
          <a:noFill/>
          <a:ln/>
        </p:spPr>
        <p:txBody>
          <a:bodyPr wrap="square" lIns="0" tIns="0" rIns="0" bIns="0" rtlCol="0" anchor="t"/>
          <a:lstStyle/>
          <a:p>
            <a:pPr indent="0" marL="0">
              <a:buNone/>
            </a:pPr>
            <a:r>
              <a:rPr lang="en-US" sz="1200" b="1" spc="200" kern="0" dirty="0">
                <a:solidFill>
                  <a:srgbClr val="A83232"/>
                </a:solidFill>
                <a:latin typeface="Calibri" pitchFamily="34" charset="0"/>
                <a:ea typeface="Calibri" pitchFamily="34" charset="-122"/>
                <a:cs typeface="Calibri" pitchFamily="34" charset="-120"/>
              </a:rPr>
              <a:t>CENTRES D'INTÉRÊT</a:t>
            </a:r>
            <a:endParaRPr lang="en-US" sz="1200" dirty="0"/>
          </a:p>
        </p:txBody>
      </p:sp>
      <p:sp>
        <p:nvSpPr>
          <p:cNvPr id="21" name="Text 18"/>
          <p:cNvSpPr txBox="1"/>
          <p:nvPr/>
        </p:nvSpPr>
        <p:spPr>
          <a:xfrm>
            <a:off x="8549640" y="5376672"/>
            <a:ext cx="2834640" cy="502920"/>
          </a:xfrm>
          <a:prstGeom prst="rect">
            <a:avLst/>
          </a:prstGeom>
          <a:noFill/>
          <a:ln/>
        </p:spPr>
        <p:txBody>
          <a:bodyPr wrap="square" lIns="0" tIns="0" rIns="0" bIns="0" rtlCol="0" anchor="t"/>
          <a:lstStyle/>
          <a:p>
            <a:pPr indent="0" marL="0">
              <a:buNone/>
            </a:pPr>
            <a:r>
              <a:rPr lang="en-US" sz="1600" b="1" dirty="0">
                <a:solidFill>
                  <a:srgbClr val="17211D"/>
                </a:solidFill>
                <a:latin typeface="Calibri" pitchFamily="34" charset="0"/>
                <a:ea typeface="Calibri" pitchFamily="34" charset="-122"/>
                <a:cs typeface="Calibri" pitchFamily="34" charset="-120"/>
              </a:rPr>
              <a:t>Voyages · Sport · Gastronomie · Culture</a:t>
            </a:r>
            <a:endParaRPr lang="en-US" sz="160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18D"/>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411480"/>
            <a:ext cx="10972800" cy="274320"/>
          </a:xfrm>
          <a:prstGeom prst="rect">
            <a:avLst/>
          </a:prstGeom>
          <a:noFill/>
          <a:ln/>
        </p:spPr>
        <p:txBody>
          <a:bodyPr wrap="square" lIns="0" tIns="0" rIns="0" bIns="0" rtlCol="0" anchor="t"/>
          <a:lstStyle/>
          <a:p>
            <a:pPr indent="0" marL="0">
              <a:buNone/>
            </a:pPr>
            <a:r>
              <a:rPr lang="en-US" sz="1200" b="1" spc="300" kern="0" dirty="0">
                <a:solidFill>
                  <a:srgbClr val="A83232"/>
                </a:solidFill>
                <a:latin typeface="Calibri" pitchFamily="34" charset="0"/>
                <a:ea typeface="Calibri" pitchFamily="34" charset="-122"/>
                <a:cs typeface="Calibri" pitchFamily="34" charset="-120"/>
              </a:rPr>
              <a:t>EN BREF</a:t>
            </a:r>
            <a:endParaRPr lang="en-US" sz="1200" dirty="0"/>
          </a:p>
        </p:txBody>
      </p:sp>
      <p:sp>
        <p:nvSpPr>
          <p:cNvPr id="3" name="Text 1"/>
          <p:cNvSpPr txBox="1"/>
          <p:nvPr/>
        </p:nvSpPr>
        <p:spPr>
          <a:xfrm>
            <a:off x="548640" y="685800"/>
            <a:ext cx="6949440" cy="685800"/>
          </a:xfrm>
          <a:prstGeom prst="rect">
            <a:avLst/>
          </a:prstGeom>
          <a:noFill/>
          <a:ln/>
        </p:spPr>
        <p:txBody>
          <a:bodyPr wrap="square" lIns="0" tIns="0" rIns="0" bIns="0" rtlCol="0" anchor="t"/>
          <a:lstStyle/>
          <a:p>
            <a:pPr indent="0" marL="0">
              <a:buNone/>
            </a:pPr>
            <a:r>
              <a:rPr lang="en-US" sz="3400" b="1" dirty="0">
                <a:solidFill>
                  <a:srgbClr val="174A3A"/>
                </a:solidFill>
                <a:latin typeface="Cambria" pitchFamily="34" charset="0"/>
                <a:ea typeface="Cambria" pitchFamily="34" charset="-122"/>
                <a:cs typeface="Cambria" pitchFamily="34" charset="-120"/>
              </a:rPr>
              <a:t>Le Portugal en un coup d'œil</a:t>
            </a:r>
            <a:endParaRPr lang="en-US" sz="3400" dirty="0"/>
          </a:p>
        </p:txBody>
      </p:sp>
      <p:sp>
        <p:nvSpPr>
          <p:cNvPr id="4" name="Shape 2"/>
          <p:cNvSpPr/>
          <p:nvPr/>
        </p:nvSpPr>
        <p:spPr>
          <a:xfrm>
            <a:off x="548640" y="1783080"/>
            <a:ext cx="2148840" cy="1920240"/>
          </a:xfrm>
          <a:prstGeom prst="roundRect">
            <a:avLst>
              <a:gd name="adj" fmla="val 3810"/>
            </a:avLst>
          </a:prstGeom>
          <a:solidFill>
            <a:srgbClr val="F1F4F2"/>
          </a:solidFill>
          <a:ln w="12700">
            <a:solidFill>
              <a:srgbClr val="F1F4F2"/>
            </a:solidFill>
            <a:prstDash val="solid"/>
          </a:ln>
          <a:effectLst>
            <a:outerShdw sx="100000" sy="100000" kx="0" ky="0" algn="bl" rotWithShape="0" blurRad="101600" dist="38100" dir="5400000">
              <a:srgbClr val="000000">
                <a:alpha val="18000"/>
              </a:srgbClr>
            </a:outerShdw>
          </a:effectLst>
        </p:spPr>
      </p:sp>
      <p:sp>
        <p:nvSpPr>
          <p:cNvPr id="5" name="Shape 3"/>
          <p:cNvSpPr/>
          <p:nvPr/>
        </p:nvSpPr>
        <p:spPr>
          <a:xfrm>
            <a:off x="777240" y="2011680"/>
            <a:ext cx="457200" cy="457200"/>
          </a:xfrm>
          <a:prstGeom prst="ellipse">
            <a:avLst/>
          </a:prstGeom>
          <a:solidFill>
            <a:srgbClr val="174A3A"/>
          </a:solidFill>
          <a:ln w="12700">
            <a:solidFill>
              <a:srgbClr val="174A3A"/>
            </a:solidFill>
            <a:prstDash val="solid"/>
          </a:ln>
        </p:spPr>
      </p:sp>
      <p:sp>
        <p:nvSpPr>
          <p:cNvPr id="6" name="Text 4"/>
          <p:cNvSpPr txBox="1"/>
          <p:nvPr/>
        </p:nvSpPr>
        <p:spPr>
          <a:xfrm>
            <a:off x="777240" y="2651760"/>
            <a:ext cx="1783080" cy="274320"/>
          </a:xfrm>
          <a:prstGeom prst="rect">
            <a:avLst/>
          </a:prstGeom>
          <a:noFill/>
          <a:ln/>
        </p:spPr>
        <p:txBody>
          <a:bodyPr wrap="square" lIns="0" tIns="0" rIns="0" bIns="0" rtlCol="0" anchor="t"/>
          <a:lstStyle/>
          <a:p>
            <a:pPr indent="0" marL="0">
              <a:buNone/>
            </a:pPr>
            <a:r>
              <a:rPr lang="en-US" sz="1300" dirty="0">
                <a:solidFill>
                  <a:srgbClr val="4A524E"/>
                </a:solidFill>
                <a:latin typeface="Calibri" pitchFamily="34" charset="0"/>
                <a:ea typeface="Calibri" pitchFamily="34" charset="-122"/>
                <a:cs typeface="Calibri" pitchFamily="34" charset="-120"/>
              </a:rPr>
              <a:t>Capitale</a:t>
            </a:r>
            <a:endParaRPr lang="en-US" sz="1300" dirty="0"/>
          </a:p>
        </p:txBody>
      </p:sp>
      <p:sp>
        <p:nvSpPr>
          <p:cNvPr id="7" name="Text 5"/>
          <p:cNvSpPr txBox="1"/>
          <p:nvPr/>
        </p:nvSpPr>
        <p:spPr>
          <a:xfrm>
            <a:off x="777240" y="2926080"/>
            <a:ext cx="1783080" cy="640080"/>
          </a:xfrm>
          <a:prstGeom prst="rect">
            <a:avLst/>
          </a:prstGeom>
          <a:noFill/>
          <a:ln/>
        </p:spPr>
        <p:txBody>
          <a:bodyPr wrap="square" lIns="0" tIns="0" rIns="0" bIns="0" rtlCol="0" anchor="t">
            <a:normAutofit/>
          </a:bodyPr>
          <a:lstStyle/>
          <a:p>
            <a:pPr indent="0" marL="0">
              <a:buNone/>
            </a:pPr>
            <a:r>
              <a:rPr lang="en-US" sz="1800" b="1" dirty="0">
                <a:solidFill>
                  <a:srgbClr val="17211D"/>
                </a:solidFill>
                <a:latin typeface="Calibri" pitchFamily="34" charset="0"/>
                <a:ea typeface="Calibri" pitchFamily="34" charset="-122"/>
                <a:cs typeface="Calibri" pitchFamily="34" charset="-120"/>
              </a:rPr>
              <a:t>Lisbonne</a:t>
            </a:r>
            <a:endParaRPr lang="en-US" sz="1800" dirty="0"/>
          </a:p>
        </p:txBody>
      </p:sp>
      <p:sp>
        <p:nvSpPr>
          <p:cNvPr id="8" name="Shape 6"/>
          <p:cNvSpPr/>
          <p:nvPr/>
        </p:nvSpPr>
        <p:spPr>
          <a:xfrm>
            <a:off x="2880360" y="1783080"/>
            <a:ext cx="2148840" cy="1920240"/>
          </a:xfrm>
          <a:prstGeom prst="roundRect">
            <a:avLst>
              <a:gd name="adj" fmla="val 3810"/>
            </a:avLst>
          </a:prstGeom>
          <a:solidFill>
            <a:srgbClr val="F1F4F2"/>
          </a:solidFill>
          <a:ln w="12700">
            <a:solidFill>
              <a:srgbClr val="F1F4F2"/>
            </a:solidFill>
            <a:prstDash val="solid"/>
          </a:ln>
          <a:effectLst>
            <a:outerShdw sx="100000" sy="100000" kx="0" ky="0" algn="bl" rotWithShape="0" blurRad="101600" dist="38100" dir="5400000">
              <a:srgbClr val="000000">
                <a:alpha val="18000"/>
              </a:srgbClr>
            </a:outerShdw>
          </a:effectLst>
        </p:spPr>
      </p:sp>
      <p:sp>
        <p:nvSpPr>
          <p:cNvPr id="9" name="Shape 7"/>
          <p:cNvSpPr/>
          <p:nvPr/>
        </p:nvSpPr>
        <p:spPr>
          <a:xfrm>
            <a:off x="3108960" y="2011680"/>
            <a:ext cx="457200" cy="457200"/>
          </a:xfrm>
          <a:prstGeom prst="ellipse">
            <a:avLst/>
          </a:prstGeom>
          <a:solidFill>
            <a:srgbClr val="A83232"/>
          </a:solidFill>
          <a:ln w="12700">
            <a:solidFill>
              <a:srgbClr val="A83232"/>
            </a:solidFill>
            <a:prstDash val="solid"/>
          </a:ln>
        </p:spPr>
      </p:sp>
      <p:sp>
        <p:nvSpPr>
          <p:cNvPr id="10" name="Text 8"/>
          <p:cNvSpPr txBox="1"/>
          <p:nvPr/>
        </p:nvSpPr>
        <p:spPr>
          <a:xfrm>
            <a:off x="3108960" y="2651760"/>
            <a:ext cx="1783080" cy="274320"/>
          </a:xfrm>
          <a:prstGeom prst="rect">
            <a:avLst/>
          </a:prstGeom>
          <a:noFill/>
          <a:ln/>
        </p:spPr>
        <p:txBody>
          <a:bodyPr wrap="square" lIns="0" tIns="0" rIns="0" bIns="0" rtlCol="0" anchor="t"/>
          <a:lstStyle/>
          <a:p>
            <a:pPr indent="0" marL="0">
              <a:buNone/>
            </a:pPr>
            <a:r>
              <a:rPr lang="en-US" sz="1300" dirty="0">
                <a:solidFill>
                  <a:srgbClr val="4A524E"/>
                </a:solidFill>
                <a:latin typeface="Calibri" pitchFamily="34" charset="0"/>
                <a:ea typeface="Calibri" pitchFamily="34" charset="-122"/>
                <a:cs typeface="Calibri" pitchFamily="34" charset="-120"/>
              </a:rPr>
              <a:t>Population</a:t>
            </a:r>
            <a:endParaRPr lang="en-US" sz="1300" dirty="0"/>
          </a:p>
        </p:txBody>
      </p:sp>
      <p:sp>
        <p:nvSpPr>
          <p:cNvPr id="11" name="Text 9"/>
          <p:cNvSpPr txBox="1"/>
          <p:nvPr/>
        </p:nvSpPr>
        <p:spPr>
          <a:xfrm>
            <a:off x="3108960" y="2926080"/>
            <a:ext cx="1783080" cy="640080"/>
          </a:xfrm>
          <a:prstGeom prst="rect">
            <a:avLst/>
          </a:prstGeom>
          <a:noFill/>
          <a:ln/>
        </p:spPr>
        <p:txBody>
          <a:bodyPr wrap="square" lIns="0" tIns="0" rIns="0" bIns="0" rtlCol="0" anchor="t">
            <a:normAutofit/>
          </a:bodyPr>
          <a:lstStyle/>
          <a:p>
            <a:pPr indent="0" marL="0">
              <a:buNone/>
            </a:pPr>
            <a:r>
              <a:rPr lang="en-US" sz="1800" b="1" dirty="0">
                <a:solidFill>
                  <a:srgbClr val="17211D"/>
                </a:solidFill>
                <a:latin typeface="Calibri" pitchFamily="34" charset="0"/>
                <a:ea typeface="Calibri" pitchFamily="34" charset="-122"/>
                <a:cs typeface="Calibri" pitchFamily="34" charset="-120"/>
              </a:rPr>
              <a:t>≈ 10,6 millions</a:t>
            </a:r>
            <a:endParaRPr lang="en-US" sz="1800" dirty="0"/>
          </a:p>
        </p:txBody>
      </p:sp>
      <p:sp>
        <p:nvSpPr>
          <p:cNvPr id="12" name="Shape 10"/>
          <p:cNvSpPr/>
          <p:nvPr/>
        </p:nvSpPr>
        <p:spPr>
          <a:xfrm>
            <a:off x="5212080" y="1783080"/>
            <a:ext cx="2148840" cy="1920240"/>
          </a:xfrm>
          <a:prstGeom prst="roundRect">
            <a:avLst>
              <a:gd name="adj" fmla="val 3810"/>
            </a:avLst>
          </a:prstGeom>
          <a:solidFill>
            <a:srgbClr val="F1F4F2"/>
          </a:solidFill>
          <a:ln w="12700">
            <a:solidFill>
              <a:srgbClr val="F1F4F2"/>
            </a:solidFill>
            <a:prstDash val="solid"/>
          </a:ln>
          <a:effectLst>
            <a:outerShdw sx="100000" sy="100000" kx="0" ky="0" algn="bl" rotWithShape="0" blurRad="101600" dist="38100" dir="5400000">
              <a:srgbClr val="000000">
                <a:alpha val="18000"/>
              </a:srgbClr>
            </a:outerShdw>
          </a:effectLst>
        </p:spPr>
      </p:sp>
      <p:sp>
        <p:nvSpPr>
          <p:cNvPr id="13" name="Shape 11"/>
          <p:cNvSpPr/>
          <p:nvPr/>
        </p:nvSpPr>
        <p:spPr>
          <a:xfrm>
            <a:off x="5440680" y="2011680"/>
            <a:ext cx="457200" cy="457200"/>
          </a:xfrm>
          <a:prstGeom prst="ellipse">
            <a:avLst/>
          </a:prstGeom>
          <a:solidFill>
            <a:srgbClr val="1E4F8F"/>
          </a:solidFill>
          <a:ln w="12700">
            <a:solidFill>
              <a:srgbClr val="1E4F8F"/>
            </a:solidFill>
            <a:prstDash val="solid"/>
          </a:ln>
        </p:spPr>
      </p:sp>
      <p:sp>
        <p:nvSpPr>
          <p:cNvPr id="14" name="Text 12"/>
          <p:cNvSpPr txBox="1"/>
          <p:nvPr/>
        </p:nvSpPr>
        <p:spPr>
          <a:xfrm>
            <a:off x="5440680" y="2651760"/>
            <a:ext cx="1783080" cy="274320"/>
          </a:xfrm>
          <a:prstGeom prst="rect">
            <a:avLst/>
          </a:prstGeom>
          <a:noFill/>
          <a:ln/>
        </p:spPr>
        <p:txBody>
          <a:bodyPr wrap="square" lIns="0" tIns="0" rIns="0" bIns="0" rtlCol="0" anchor="t"/>
          <a:lstStyle/>
          <a:p>
            <a:pPr indent="0" marL="0">
              <a:buNone/>
            </a:pPr>
            <a:r>
              <a:rPr lang="en-US" sz="1300" dirty="0">
                <a:solidFill>
                  <a:srgbClr val="4A524E"/>
                </a:solidFill>
                <a:latin typeface="Calibri" pitchFamily="34" charset="0"/>
                <a:ea typeface="Calibri" pitchFamily="34" charset="-122"/>
                <a:cs typeface="Calibri" pitchFamily="34" charset="-120"/>
              </a:rPr>
              <a:t>Superficie</a:t>
            </a:r>
            <a:endParaRPr lang="en-US" sz="1300" dirty="0"/>
          </a:p>
        </p:txBody>
      </p:sp>
      <p:sp>
        <p:nvSpPr>
          <p:cNvPr id="15" name="Text 13"/>
          <p:cNvSpPr txBox="1"/>
          <p:nvPr/>
        </p:nvSpPr>
        <p:spPr>
          <a:xfrm>
            <a:off x="5440680" y="2926080"/>
            <a:ext cx="1783080" cy="640080"/>
          </a:xfrm>
          <a:prstGeom prst="rect">
            <a:avLst/>
          </a:prstGeom>
          <a:noFill/>
          <a:ln/>
        </p:spPr>
        <p:txBody>
          <a:bodyPr wrap="square" lIns="0" tIns="0" rIns="0" bIns="0" rtlCol="0" anchor="t">
            <a:normAutofit/>
          </a:bodyPr>
          <a:lstStyle/>
          <a:p>
            <a:pPr indent="0" marL="0">
              <a:buNone/>
            </a:pPr>
            <a:r>
              <a:rPr lang="en-US" sz="1800" b="1" dirty="0">
                <a:solidFill>
                  <a:srgbClr val="17211D"/>
                </a:solidFill>
                <a:latin typeface="Calibri" pitchFamily="34" charset="0"/>
                <a:ea typeface="Calibri" pitchFamily="34" charset="-122"/>
                <a:cs typeface="Calibri" pitchFamily="34" charset="-120"/>
              </a:rPr>
              <a:t>92 212 km²</a:t>
            </a:r>
            <a:endParaRPr lang="en-US" sz="1800" dirty="0"/>
          </a:p>
        </p:txBody>
      </p:sp>
      <p:sp>
        <p:nvSpPr>
          <p:cNvPr id="16" name="Shape 14"/>
          <p:cNvSpPr/>
          <p:nvPr/>
        </p:nvSpPr>
        <p:spPr>
          <a:xfrm>
            <a:off x="548640" y="3931920"/>
            <a:ext cx="2148840" cy="1920240"/>
          </a:xfrm>
          <a:prstGeom prst="roundRect">
            <a:avLst>
              <a:gd name="adj" fmla="val 3810"/>
            </a:avLst>
          </a:prstGeom>
          <a:solidFill>
            <a:srgbClr val="F1F4F2"/>
          </a:solidFill>
          <a:ln w="12700">
            <a:solidFill>
              <a:srgbClr val="F1F4F2"/>
            </a:solidFill>
            <a:prstDash val="solid"/>
          </a:ln>
          <a:effectLst>
            <a:outerShdw sx="100000" sy="100000" kx="0" ky="0" algn="bl" rotWithShape="0" blurRad="101600" dist="38100" dir="5400000">
              <a:srgbClr val="000000">
                <a:alpha val="18000"/>
              </a:srgbClr>
            </a:outerShdw>
          </a:effectLst>
        </p:spPr>
      </p:sp>
      <p:sp>
        <p:nvSpPr>
          <p:cNvPr id="17" name="Shape 15"/>
          <p:cNvSpPr/>
          <p:nvPr/>
        </p:nvSpPr>
        <p:spPr>
          <a:xfrm>
            <a:off x="777240" y="4160520"/>
            <a:ext cx="457200" cy="457200"/>
          </a:xfrm>
          <a:prstGeom prst="ellipse">
            <a:avLst/>
          </a:prstGeom>
          <a:solidFill>
            <a:srgbClr val="B8955A"/>
          </a:solidFill>
          <a:ln w="12700">
            <a:solidFill>
              <a:srgbClr val="B8955A"/>
            </a:solidFill>
            <a:prstDash val="solid"/>
          </a:ln>
        </p:spPr>
      </p:sp>
      <p:sp>
        <p:nvSpPr>
          <p:cNvPr id="18" name="Text 16"/>
          <p:cNvSpPr txBox="1"/>
          <p:nvPr/>
        </p:nvSpPr>
        <p:spPr>
          <a:xfrm>
            <a:off x="777240" y="4800600"/>
            <a:ext cx="1783080" cy="274320"/>
          </a:xfrm>
          <a:prstGeom prst="rect">
            <a:avLst/>
          </a:prstGeom>
          <a:noFill/>
          <a:ln/>
        </p:spPr>
        <p:txBody>
          <a:bodyPr wrap="square" lIns="0" tIns="0" rIns="0" bIns="0" rtlCol="0" anchor="t"/>
          <a:lstStyle/>
          <a:p>
            <a:pPr indent="0" marL="0">
              <a:buNone/>
            </a:pPr>
            <a:r>
              <a:rPr lang="en-US" sz="1300" dirty="0">
                <a:solidFill>
                  <a:srgbClr val="4A524E"/>
                </a:solidFill>
                <a:latin typeface="Calibri" pitchFamily="34" charset="0"/>
                <a:ea typeface="Calibri" pitchFamily="34" charset="-122"/>
                <a:cs typeface="Calibri" pitchFamily="34" charset="-120"/>
              </a:rPr>
              <a:t>Langue officielle</a:t>
            </a:r>
            <a:endParaRPr lang="en-US" sz="1300" dirty="0"/>
          </a:p>
        </p:txBody>
      </p:sp>
      <p:sp>
        <p:nvSpPr>
          <p:cNvPr id="19" name="Text 17"/>
          <p:cNvSpPr txBox="1"/>
          <p:nvPr/>
        </p:nvSpPr>
        <p:spPr>
          <a:xfrm>
            <a:off x="777240" y="5074920"/>
            <a:ext cx="1783080" cy="640080"/>
          </a:xfrm>
          <a:prstGeom prst="rect">
            <a:avLst/>
          </a:prstGeom>
          <a:noFill/>
          <a:ln/>
        </p:spPr>
        <p:txBody>
          <a:bodyPr wrap="square" lIns="0" tIns="0" rIns="0" bIns="0" rtlCol="0" anchor="t">
            <a:normAutofit/>
          </a:bodyPr>
          <a:lstStyle/>
          <a:p>
            <a:pPr indent="0" marL="0">
              <a:buNone/>
            </a:pPr>
            <a:r>
              <a:rPr lang="en-US" sz="1800" b="1" dirty="0">
                <a:solidFill>
                  <a:srgbClr val="17211D"/>
                </a:solidFill>
                <a:latin typeface="Calibri" pitchFamily="34" charset="0"/>
                <a:ea typeface="Calibri" pitchFamily="34" charset="-122"/>
                <a:cs typeface="Calibri" pitchFamily="34" charset="-120"/>
              </a:rPr>
              <a:t>Portugais</a:t>
            </a:r>
            <a:endParaRPr lang="en-US" sz="1800" dirty="0"/>
          </a:p>
        </p:txBody>
      </p:sp>
      <p:sp>
        <p:nvSpPr>
          <p:cNvPr id="20" name="Shape 18"/>
          <p:cNvSpPr/>
          <p:nvPr/>
        </p:nvSpPr>
        <p:spPr>
          <a:xfrm>
            <a:off x="2880360" y="3931920"/>
            <a:ext cx="2148840" cy="1920240"/>
          </a:xfrm>
          <a:prstGeom prst="roundRect">
            <a:avLst>
              <a:gd name="adj" fmla="val 3810"/>
            </a:avLst>
          </a:prstGeom>
          <a:solidFill>
            <a:srgbClr val="F1F4F2"/>
          </a:solidFill>
          <a:ln w="12700">
            <a:solidFill>
              <a:srgbClr val="F1F4F2"/>
            </a:solidFill>
            <a:prstDash val="solid"/>
          </a:ln>
          <a:effectLst>
            <a:outerShdw sx="100000" sy="100000" kx="0" ky="0" algn="bl" rotWithShape="0" blurRad="101600" dist="38100" dir="5400000">
              <a:srgbClr val="000000">
                <a:alpha val="18000"/>
              </a:srgbClr>
            </a:outerShdw>
          </a:effectLst>
        </p:spPr>
      </p:sp>
      <p:sp>
        <p:nvSpPr>
          <p:cNvPr id="21" name="Shape 19"/>
          <p:cNvSpPr/>
          <p:nvPr/>
        </p:nvSpPr>
        <p:spPr>
          <a:xfrm>
            <a:off x="3108960" y="4160520"/>
            <a:ext cx="457200" cy="457200"/>
          </a:xfrm>
          <a:prstGeom prst="ellipse">
            <a:avLst/>
          </a:prstGeom>
          <a:solidFill>
            <a:srgbClr val="174A3A"/>
          </a:solidFill>
          <a:ln w="12700">
            <a:solidFill>
              <a:srgbClr val="174A3A"/>
            </a:solidFill>
            <a:prstDash val="solid"/>
          </a:ln>
        </p:spPr>
      </p:sp>
      <p:sp>
        <p:nvSpPr>
          <p:cNvPr id="22" name="Text 20"/>
          <p:cNvSpPr txBox="1"/>
          <p:nvPr/>
        </p:nvSpPr>
        <p:spPr>
          <a:xfrm>
            <a:off x="3108960" y="4800600"/>
            <a:ext cx="1783080" cy="274320"/>
          </a:xfrm>
          <a:prstGeom prst="rect">
            <a:avLst/>
          </a:prstGeom>
          <a:noFill/>
          <a:ln/>
        </p:spPr>
        <p:txBody>
          <a:bodyPr wrap="square" lIns="0" tIns="0" rIns="0" bIns="0" rtlCol="0" anchor="t"/>
          <a:lstStyle/>
          <a:p>
            <a:pPr indent="0" marL="0">
              <a:buNone/>
            </a:pPr>
            <a:r>
              <a:rPr lang="en-US" sz="1300" dirty="0">
                <a:solidFill>
                  <a:srgbClr val="4A524E"/>
                </a:solidFill>
                <a:latin typeface="Calibri" pitchFamily="34" charset="0"/>
                <a:ea typeface="Calibri" pitchFamily="34" charset="-122"/>
                <a:cs typeface="Calibri" pitchFamily="34" charset="-120"/>
              </a:rPr>
              <a:t>Monnaie</a:t>
            </a:r>
            <a:endParaRPr lang="en-US" sz="1300" dirty="0"/>
          </a:p>
        </p:txBody>
      </p:sp>
      <p:sp>
        <p:nvSpPr>
          <p:cNvPr id="23" name="Text 21"/>
          <p:cNvSpPr txBox="1"/>
          <p:nvPr/>
        </p:nvSpPr>
        <p:spPr>
          <a:xfrm>
            <a:off x="3108960" y="5074920"/>
            <a:ext cx="1783080" cy="640080"/>
          </a:xfrm>
          <a:prstGeom prst="rect">
            <a:avLst/>
          </a:prstGeom>
          <a:noFill/>
          <a:ln/>
        </p:spPr>
        <p:txBody>
          <a:bodyPr wrap="square" lIns="0" tIns="0" rIns="0" bIns="0" rtlCol="0" anchor="t">
            <a:normAutofit/>
          </a:bodyPr>
          <a:lstStyle/>
          <a:p>
            <a:pPr indent="0" marL="0">
              <a:buNone/>
            </a:pPr>
            <a:r>
              <a:rPr lang="en-US" sz="1800" b="1" dirty="0">
                <a:solidFill>
                  <a:srgbClr val="17211D"/>
                </a:solidFill>
                <a:latin typeface="Calibri" pitchFamily="34" charset="0"/>
                <a:ea typeface="Calibri" pitchFamily="34" charset="-122"/>
                <a:cs typeface="Calibri" pitchFamily="34" charset="-120"/>
              </a:rPr>
              <a:t>Euro (€)</a:t>
            </a:r>
            <a:endParaRPr lang="en-US" sz="1800" dirty="0"/>
          </a:p>
        </p:txBody>
      </p:sp>
      <p:sp>
        <p:nvSpPr>
          <p:cNvPr id="24" name="Shape 22"/>
          <p:cNvSpPr/>
          <p:nvPr/>
        </p:nvSpPr>
        <p:spPr>
          <a:xfrm>
            <a:off x="5212080" y="3931920"/>
            <a:ext cx="2148840" cy="1920240"/>
          </a:xfrm>
          <a:prstGeom prst="roundRect">
            <a:avLst>
              <a:gd name="adj" fmla="val 3810"/>
            </a:avLst>
          </a:prstGeom>
          <a:solidFill>
            <a:srgbClr val="F1F4F2"/>
          </a:solidFill>
          <a:ln w="12700">
            <a:solidFill>
              <a:srgbClr val="F1F4F2"/>
            </a:solidFill>
            <a:prstDash val="solid"/>
          </a:ln>
          <a:effectLst>
            <a:outerShdw sx="100000" sy="100000" kx="0" ky="0" algn="bl" rotWithShape="0" blurRad="101600" dist="38100" dir="5400000">
              <a:srgbClr val="000000">
                <a:alpha val="18000"/>
              </a:srgbClr>
            </a:outerShdw>
          </a:effectLst>
        </p:spPr>
      </p:sp>
      <p:sp>
        <p:nvSpPr>
          <p:cNvPr id="25" name="Shape 23"/>
          <p:cNvSpPr/>
          <p:nvPr/>
        </p:nvSpPr>
        <p:spPr>
          <a:xfrm>
            <a:off x="5440680" y="4160520"/>
            <a:ext cx="457200" cy="457200"/>
          </a:xfrm>
          <a:prstGeom prst="ellipse">
            <a:avLst/>
          </a:prstGeom>
          <a:solidFill>
            <a:srgbClr val="A83232"/>
          </a:solidFill>
          <a:ln w="12700">
            <a:solidFill>
              <a:srgbClr val="A83232"/>
            </a:solidFill>
            <a:prstDash val="solid"/>
          </a:ln>
        </p:spPr>
      </p:sp>
      <p:sp>
        <p:nvSpPr>
          <p:cNvPr id="26" name="Text 24"/>
          <p:cNvSpPr txBox="1"/>
          <p:nvPr/>
        </p:nvSpPr>
        <p:spPr>
          <a:xfrm>
            <a:off x="5440680" y="4800600"/>
            <a:ext cx="1783080" cy="274320"/>
          </a:xfrm>
          <a:prstGeom prst="rect">
            <a:avLst/>
          </a:prstGeom>
          <a:noFill/>
          <a:ln/>
        </p:spPr>
        <p:txBody>
          <a:bodyPr wrap="square" lIns="0" tIns="0" rIns="0" bIns="0" rtlCol="0" anchor="t"/>
          <a:lstStyle/>
          <a:p>
            <a:pPr indent="0" marL="0">
              <a:buNone/>
            </a:pPr>
            <a:r>
              <a:rPr lang="en-US" sz="1300" dirty="0">
                <a:solidFill>
                  <a:srgbClr val="4A524E"/>
                </a:solidFill>
                <a:latin typeface="Calibri" pitchFamily="34" charset="0"/>
                <a:ea typeface="Calibri" pitchFamily="34" charset="-122"/>
                <a:cs typeface="Calibri" pitchFamily="34" charset="-120"/>
              </a:rPr>
              <a:t>Façade maritime</a:t>
            </a:r>
            <a:endParaRPr lang="en-US" sz="1300" dirty="0"/>
          </a:p>
        </p:txBody>
      </p:sp>
      <p:sp>
        <p:nvSpPr>
          <p:cNvPr id="27" name="Text 25"/>
          <p:cNvSpPr txBox="1"/>
          <p:nvPr/>
        </p:nvSpPr>
        <p:spPr>
          <a:xfrm>
            <a:off x="5440680" y="5074920"/>
            <a:ext cx="1783080" cy="640080"/>
          </a:xfrm>
          <a:prstGeom prst="rect">
            <a:avLst/>
          </a:prstGeom>
          <a:noFill/>
          <a:ln/>
        </p:spPr>
        <p:txBody>
          <a:bodyPr wrap="square" lIns="0" tIns="0" rIns="0" bIns="0" rtlCol="0" anchor="t">
            <a:normAutofit/>
          </a:bodyPr>
          <a:lstStyle/>
          <a:p>
            <a:pPr indent="0" marL="0">
              <a:buNone/>
            </a:pPr>
            <a:r>
              <a:rPr lang="en-US" sz="1800" b="1" dirty="0">
                <a:solidFill>
                  <a:srgbClr val="17211D"/>
                </a:solidFill>
                <a:latin typeface="Calibri" pitchFamily="34" charset="0"/>
                <a:ea typeface="Calibri" pitchFamily="34" charset="-122"/>
                <a:cs typeface="Calibri" pitchFamily="34" charset="-120"/>
              </a:rPr>
              <a:t>Océan Atlantique</a:t>
            </a:r>
            <a:endParaRPr lang="en-US" sz="1800" dirty="0"/>
          </a:p>
        </p:txBody>
      </p:sp>
      <p:pic>
        <p:nvPicPr>
          <p:cNvPr id="28" name="Image 0" descr="/home/user/Portugal-Website/images/photos/j-geo.jpg">    </p:cNvPr>
          <p:cNvPicPr>
            <a:picLocks noChangeAspect="1"/>
          </p:cNvPicPr>
          <p:nvPr/>
        </p:nvPicPr>
        <p:blipFill>
          <a:blip r:embed="rId1"/>
          <a:srcRect l="0" r="0" t="0" b="0"/>
          <a:stretch/>
        </p:blipFill>
        <p:spPr>
          <a:xfrm>
            <a:off x="7863840" y="548640"/>
            <a:ext cx="3776472" cy="5669280"/>
          </a:xfrm>
          <a:prstGeom prst="rect">
            <a:avLst/>
          </a:prstGeom>
        </p:spPr>
      </p:pic>
      <p:sp>
        <p:nvSpPr>
          <p:cNvPr id="29" name="Shape 26"/>
          <p:cNvSpPr/>
          <p:nvPr/>
        </p:nvSpPr>
        <p:spPr>
          <a:xfrm>
            <a:off x="7863840" y="5833872"/>
            <a:ext cx="3776472" cy="384048"/>
          </a:xfrm>
          <a:prstGeom prst="rect">
            <a:avLst/>
          </a:prstGeom>
          <a:solidFill>
            <a:srgbClr val="000000">
              <a:alpha val="55000"/>
            </a:srgbClr>
          </a:solidFill>
          <a:ln w="12700">
            <a:solidFill>
              <a:srgbClr val="000000">
                <a:alpha val="0"/>
              </a:srgbClr>
            </a:solidFill>
            <a:prstDash val="solid"/>
          </a:ln>
        </p:spPr>
      </p:sp>
      <p:sp>
        <p:nvSpPr>
          <p:cNvPr id="30" name="Text 27"/>
          <p:cNvSpPr txBox="1"/>
          <p:nvPr/>
        </p:nvSpPr>
        <p:spPr>
          <a:xfrm>
            <a:off x="7973568" y="5870448"/>
            <a:ext cx="3557016" cy="31089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Ponta da Piedade, Algarve</a:t>
            </a:r>
            <a:endParaRPr lang="en-US" sz="110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18D"/>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411480"/>
            <a:ext cx="10972800" cy="274320"/>
          </a:xfrm>
          <a:prstGeom prst="rect">
            <a:avLst/>
          </a:prstGeom>
          <a:noFill/>
          <a:ln/>
        </p:spPr>
        <p:txBody>
          <a:bodyPr wrap="square" lIns="0" tIns="0" rIns="0" bIns="0" rtlCol="0" anchor="t"/>
          <a:lstStyle/>
          <a:p>
            <a:pPr indent="0" marL="0">
              <a:buNone/>
            </a:pPr>
            <a:r>
              <a:rPr lang="en-US" sz="1200" b="1" spc="300" kern="0" dirty="0">
                <a:solidFill>
                  <a:srgbClr val="A83232"/>
                </a:solidFill>
                <a:latin typeface="Calibri" pitchFamily="34" charset="0"/>
                <a:ea typeface="Calibri" pitchFamily="34" charset="-122"/>
                <a:cs typeface="Calibri" pitchFamily="34" charset="-120"/>
              </a:rPr>
              <a:t>PROGRAMME</a:t>
            </a:r>
            <a:endParaRPr lang="en-US" sz="1200" dirty="0"/>
          </a:p>
        </p:txBody>
      </p:sp>
      <p:sp>
        <p:nvSpPr>
          <p:cNvPr id="3" name="Text 1"/>
          <p:cNvSpPr txBox="1"/>
          <p:nvPr/>
        </p:nvSpPr>
        <p:spPr>
          <a:xfrm>
            <a:off x="548640" y="685800"/>
            <a:ext cx="10972800" cy="685800"/>
          </a:xfrm>
          <a:prstGeom prst="rect">
            <a:avLst/>
          </a:prstGeom>
          <a:noFill/>
          <a:ln/>
        </p:spPr>
        <p:txBody>
          <a:bodyPr wrap="square" lIns="0" tIns="0" rIns="0" bIns="0" rtlCol="0" anchor="t"/>
          <a:lstStyle/>
          <a:p>
            <a:pPr indent="0" marL="0">
              <a:buNone/>
            </a:pPr>
            <a:r>
              <a:rPr lang="en-US" sz="3400" b="1" dirty="0">
                <a:solidFill>
                  <a:srgbClr val="174A3A"/>
                </a:solidFill>
                <a:latin typeface="Cambria" pitchFamily="34" charset="0"/>
                <a:ea typeface="Cambria" pitchFamily="34" charset="-122"/>
                <a:cs typeface="Cambria" pitchFamily="34" charset="-120"/>
              </a:rPr>
              <a:t>Au fil de cette présentation</a:t>
            </a:r>
            <a:endParaRPr lang="en-US" sz="3400" dirty="0"/>
          </a:p>
        </p:txBody>
      </p:sp>
      <p:pic>
        <p:nvPicPr>
          <p:cNvPr id="4" name="Image 0" descr="/home/user/Portugal-Website/images/photos/j-geo.jpg">    </p:cNvPr>
          <p:cNvPicPr>
            <a:picLocks noChangeAspect="1"/>
          </p:cNvPicPr>
          <p:nvPr/>
        </p:nvPicPr>
        <p:blipFill>
          <a:blip r:embed="rId1"/>
          <a:srcRect l="0" r="0" t="0" b="0"/>
          <a:stretch/>
        </p:blipFill>
        <p:spPr>
          <a:xfrm>
            <a:off x="548640" y="1691640"/>
            <a:ext cx="2624328" cy="2103120"/>
          </a:xfrm>
          <a:prstGeom prst="rect">
            <a:avLst/>
          </a:prstGeom>
        </p:spPr>
      </p:pic>
      <p:sp>
        <p:nvSpPr>
          <p:cNvPr id="5" name="Shape 2"/>
          <p:cNvSpPr/>
          <p:nvPr/>
        </p:nvSpPr>
        <p:spPr>
          <a:xfrm>
            <a:off x="548640" y="3017520"/>
            <a:ext cx="2624328" cy="777240"/>
          </a:xfrm>
          <a:prstGeom prst="rect">
            <a:avLst/>
          </a:prstGeom>
          <a:solidFill>
            <a:srgbClr val="000000">
              <a:alpha val="60000"/>
            </a:srgbClr>
          </a:solidFill>
          <a:ln w="12700">
            <a:solidFill>
              <a:srgbClr val="000000">
                <a:alpha val="0"/>
              </a:srgbClr>
            </a:solidFill>
            <a:prstDash val="solid"/>
          </a:ln>
        </p:spPr>
      </p:sp>
      <p:sp>
        <p:nvSpPr>
          <p:cNvPr id="6" name="Text 3"/>
          <p:cNvSpPr txBox="1"/>
          <p:nvPr/>
        </p:nvSpPr>
        <p:spPr>
          <a:xfrm>
            <a:off x="713232" y="3063240"/>
            <a:ext cx="914400" cy="274320"/>
          </a:xfrm>
          <a:prstGeom prst="rect">
            <a:avLst/>
          </a:prstGeom>
          <a:noFill/>
          <a:ln/>
        </p:spPr>
        <p:txBody>
          <a:bodyPr wrap="square" lIns="0" tIns="0" rIns="0" bIns="0" rtlCol="0" anchor="t"/>
          <a:lstStyle/>
          <a:p>
            <a:pPr indent="0" marL="0">
              <a:buNone/>
            </a:pPr>
            <a:r>
              <a:rPr lang="en-US" sz="1300" b="1" dirty="0">
                <a:solidFill>
                  <a:srgbClr val="F2C14E"/>
                </a:solidFill>
                <a:latin typeface="Cambria" pitchFamily="34" charset="0"/>
                <a:ea typeface="Cambria" pitchFamily="34" charset="-122"/>
                <a:cs typeface="Cambria" pitchFamily="34" charset="-120"/>
              </a:rPr>
              <a:t>01</a:t>
            </a:r>
            <a:endParaRPr lang="en-US" sz="1300" dirty="0"/>
          </a:p>
        </p:txBody>
      </p:sp>
      <p:sp>
        <p:nvSpPr>
          <p:cNvPr id="7" name="Text 4"/>
          <p:cNvSpPr txBox="1"/>
          <p:nvPr/>
        </p:nvSpPr>
        <p:spPr>
          <a:xfrm>
            <a:off x="713232" y="3337560"/>
            <a:ext cx="2377440" cy="365760"/>
          </a:xfrm>
          <a:prstGeom prst="rect">
            <a:avLst/>
          </a:prstGeom>
          <a:noFill/>
          <a:ln/>
        </p:spPr>
        <p:txBody>
          <a:bodyPr wrap="square" lIns="0" tIns="0" rIns="0" bIns="0" rtlCol="0" anchor="t"/>
          <a:lstStyle/>
          <a:p>
            <a:pPr indent="0" marL="0">
              <a:buNone/>
            </a:pPr>
            <a:r>
              <a:rPr lang="en-US" sz="1800" b="1" dirty="0">
                <a:solidFill>
                  <a:srgbClr val="FFFFFF"/>
                </a:solidFill>
                <a:latin typeface="Cambria" pitchFamily="34" charset="0"/>
                <a:ea typeface="Cambria" pitchFamily="34" charset="-122"/>
                <a:cs typeface="Cambria" pitchFamily="34" charset="-120"/>
              </a:rPr>
              <a:t>Géographie</a:t>
            </a:r>
            <a:endParaRPr lang="en-US" sz="1800" dirty="0"/>
          </a:p>
        </p:txBody>
      </p:sp>
      <p:pic>
        <p:nvPicPr>
          <p:cNvPr id="8" name="Image 1" descr="/home/user/Portugal-Website/images/photos/j-hist.jpg">    </p:cNvPr>
          <p:cNvPicPr>
            <a:picLocks noChangeAspect="1"/>
          </p:cNvPicPr>
          <p:nvPr/>
        </p:nvPicPr>
        <p:blipFill>
          <a:blip r:embed="rId2"/>
          <a:srcRect l="0" r="0" t="0" b="0"/>
          <a:stretch/>
        </p:blipFill>
        <p:spPr>
          <a:xfrm>
            <a:off x="3355848" y="1691640"/>
            <a:ext cx="2624328" cy="2103120"/>
          </a:xfrm>
          <a:prstGeom prst="rect">
            <a:avLst/>
          </a:prstGeom>
        </p:spPr>
      </p:pic>
      <p:sp>
        <p:nvSpPr>
          <p:cNvPr id="9" name="Shape 5"/>
          <p:cNvSpPr/>
          <p:nvPr/>
        </p:nvSpPr>
        <p:spPr>
          <a:xfrm>
            <a:off x="3355848" y="3017520"/>
            <a:ext cx="2624328" cy="777240"/>
          </a:xfrm>
          <a:prstGeom prst="rect">
            <a:avLst/>
          </a:prstGeom>
          <a:solidFill>
            <a:srgbClr val="000000">
              <a:alpha val="60000"/>
            </a:srgbClr>
          </a:solidFill>
          <a:ln w="12700">
            <a:solidFill>
              <a:srgbClr val="000000">
                <a:alpha val="0"/>
              </a:srgbClr>
            </a:solidFill>
            <a:prstDash val="solid"/>
          </a:ln>
        </p:spPr>
      </p:sp>
      <p:sp>
        <p:nvSpPr>
          <p:cNvPr id="10" name="Text 6"/>
          <p:cNvSpPr txBox="1"/>
          <p:nvPr/>
        </p:nvSpPr>
        <p:spPr>
          <a:xfrm>
            <a:off x="3520440" y="3063240"/>
            <a:ext cx="914400" cy="274320"/>
          </a:xfrm>
          <a:prstGeom prst="rect">
            <a:avLst/>
          </a:prstGeom>
          <a:noFill/>
          <a:ln/>
        </p:spPr>
        <p:txBody>
          <a:bodyPr wrap="square" lIns="0" tIns="0" rIns="0" bIns="0" rtlCol="0" anchor="t"/>
          <a:lstStyle/>
          <a:p>
            <a:pPr indent="0" marL="0">
              <a:buNone/>
            </a:pPr>
            <a:r>
              <a:rPr lang="en-US" sz="1300" b="1" dirty="0">
                <a:solidFill>
                  <a:srgbClr val="F2C14E"/>
                </a:solidFill>
                <a:latin typeface="Cambria" pitchFamily="34" charset="0"/>
                <a:ea typeface="Cambria" pitchFamily="34" charset="-122"/>
                <a:cs typeface="Cambria" pitchFamily="34" charset="-120"/>
              </a:rPr>
              <a:t>02</a:t>
            </a:r>
            <a:endParaRPr lang="en-US" sz="1300" dirty="0"/>
          </a:p>
        </p:txBody>
      </p:sp>
      <p:sp>
        <p:nvSpPr>
          <p:cNvPr id="11" name="Text 7"/>
          <p:cNvSpPr txBox="1"/>
          <p:nvPr/>
        </p:nvSpPr>
        <p:spPr>
          <a:xfrm>
            <a:off x="3520440" y="3337560"/>
            <a:ext cx="2377440" cy="365760"/>
          </a:xfrm>
          <a:prstGeom prst="rect">
            <a:avLst/>
          </a:prstGeom>
          <a:noFill/>
          <a:ln/>
        </p:spPr>
        <p:txBody>
          <a:bodyPr wrap="square" lIns="0" tIns="0" rIns="0" bIns="0" rtlCol="0" anchor="t"/>
          <a:lstStyle/>
          <a:p>
            <a:pPr indent="0" marL="0">
              <a:buNone/>
            </a:pPr>
            <a:r>
              <a:rPr lang="en-US" sz="1800" b="1" dirty="0">
                <a:solidFill>
                  <a:srgbClr val="FFFFFF"/>
                </a:solidFill>
                <a:latin typeface="Cambria" pitchFamily="34" charset="0"/>
                <a:ea typeface="Cambria" pitchFamily="34" charset="-122"/>
                <a:cs typeface="Cambria" pitchFamily="34" charset="-120"/>
              </a:rPr>
              <a:t>Histoire</a:t>
            </a:r>
            <a:endParaRPr lang="en-US" sz="1800" dirty="0"/>
          </a:p>
        </p:txBody>
      </p:sp>
      <p:pic>
        <p:nvPicPr>
          <p:cNvPr id="12" name="Image 2" descr="/home/user/Portugal-Website/images/photos/j-soc.jpg">    </p:cNvPr>
          <p:cNvPicPr>
            <a:picLocks noChangeAspect="1"/>
          </p:cNvPicPr>
          <p:nvPr/>
        </p:nvPicPr>
        <p:blipFill>
          <a:blip r:embed="rId3"/>
          <a:srcRect l="0" r="0" t="0" b="0"/>
          <a:stretch/>
        </p:blipFill>
        <p:spPr>
          <a:xfrm>
            <a:off x="6163056" y="1691640"/>
            <a:ext cx="2624328" cy="2103120"/>
          </a:xfrm>
          <a:prstGeom prst="rect">
            <a:avLst/>
          </a:prstGeom>
        </p:spPr>
      </p:pic>
      <p:sp>
        <p:nvSpPr>
          <p:cNvPr id="13" name="Shape 8"/>
          <p:cNvSpPr/>
          <p:nvPr/>
        </p:nvSpPr>
        <p:spPr>
          <a:xfrm>
            <a:off x="6163056" y="3017520"/>
            <a:ext cx="2624328" cy="777240"/>
          </a:xfrm>
          <a:prstGeom prst="rect">
            <a:avLst/>
          </a:prstGeom>
          <a:solidFill>
            <a:srgbClr val="000000">
              <a:alpha val="60000"/>
            </a:srgbClr>
          </a:solidFill>
          <a:ln w="12700">
            <a:solidFill>
              <a:srgbClr val="000000">
                <a:alpha val="0"/>
              </a:srgbClr>
            </a:solidFill>
            <a:prstDash val="solid"/>
          </a:ln>
        </p:spPr>
      </p:sp>
      <p:sp>
        <p:nvSpPr>
          <p:cNvPr id="14" name="Text 9"/>
          <p:cNvSpPr txBox="1"/>
          <p:nvPr/>
        </p:nvSpPr>
        <p:spPr>
          <a:xfrm>
            <a:off x="6327648" y="3063240"/>
            <a:ext cx="914400" cy="274320"/>
          </a:xfrm>
          <a:prstGeom prst="rect">
            <a:avLst/>
          </a:prstGeom>
          <a:noFill/>
          <a:ln/>
        </p:spPr>
        <p:txBody>
          <a:bodyPr wrap="square" lIns="0" tIns="0" rIns="0" bIns="0" rtlCol="0" anchor="t"/>
          <a:lstStyle/>
          <a:p>
            <a:pPr indent="0" marL="0">
              <a:buNone/>
            </a:pPr>
            <a:r>
              <a:rPr lang="en-US" sz="1300" b="1" dirty="0">
                <a:solidFill>
                  <a:srgbClr val="F2C14E"/>
                </a:solidFill>
                <a:latin typeface="Cambria" pitchFamily="34" charset="0"/>
                <a:ea typeface="Cambria" pitchFamily="34" charset="-122"/>
                <a:cs typeface="Cambria" pitchFamily="34" charset="-120"/>
              </a:rPr>
              <a:t>03</a:t>
            </a:r>
            <a:endParaRPr lang="en-US" sz="1300" dirty="0"/>
          </a:p>
        </p:txBody>
      </p:sp>
      <p:sp>
        <p:nvSpPr>
          <p:cNvPr id="15" name="Text 10"/>
          <p:cNvSpPr txBox="1"/>
          <p:nvPr/>
        </p:nvSpPr>
        <p:spPr>
          <a:xfrm>
            <a:off x="6327648" y="3337560"/>
            <a:ext cx="2377440" cy="365760"/>
          </a:xfrm>
          <a:prstGeom prst="rect">
            <a:avLst/>
          </a:prstGeom>
          <a:noFill/>
          <a:ln/>
        </p:spPr>
        <p:txBody>
          <a:bodyPr wrap="square" lIns="0" tIns="0" rIns="0" bIns="0" rtlCol="0" anchor="t"/>
          <a:lstStyle/>
          <a:p>
            <a:pPr indent="0" marL="0">
              <a:buNone/>
            </a:pPr>
            <a:r>
              <a:rPr lang="en-US" sz="1800" b="1" dirty="0">
                <a:solidFill>
                  <a:srgbClr val="FFFFFF"/>
                </a:solidFill>
                <a:latin typeface="Cambria" pitchFamily="34" charset="0"/>
                <a:ea typeface="Cambria" pitchFamily="34" charset="-122"/>
                <a:cs typeface="Cambria" pitchFamily="34" charset="-120"/>
              </a:rPr>
              <a:t>Société</a:t>
            </a:r>
            <a:endParaRPr lang="en-US" sz="1800" dirty="0"/>
          </a:p>
        </p:txBody>
      </p:sp>
      <p:pic>
        <p:nvPicPr>
          <p:cNvPr id="16" name="Image 3" descr="/home/user/Portugal-Website/images/photos/j-cult.jpg">    </p:cNvPr>
          <p:cNvPicPr>
            <a:picLocks noChangeAspect="1"/>
          </p:cNvPicPr>
          <p:nvPr/>
        </p:nvPicPr>
        <p:blipFill>
          <a:blip r:embed="rId4"/>
          <a:srcRect l="0" r="0" t="0" b="0"/>
          <a:stretch/>
        </p:blipFill>
        <p:spPr>
          <a:xfrm>
            <a:off x="8970264" y="1691640"/>
            <a:ext cx="2624328" cy="2103120"/>
          </a:xfrm>
          <a:prstGeom prst="rect">
            <a:avLst/>
          </a:prstGeom>
        </p:spPr>
      </p:pic>
      <p:sp>
        <p:nvSpPr>
          <p:cNvPr id="17" name="Shape 11"/>
          <p:cNvSpPr/>
          <p:nvPr/>
        </p:nvSpPr>
        <p:spPr>
          <a:xfrm>
            <a:off x="8970264" y="3017520"/>
            <a:ext cx="2624328" cy="777240"/>
          </a:xfrm>
          <a:prstGeom prst="rect">
            <a:avLst/>
          </a:prstGeom>
          <a:solidFill>
            <a:srgbClr val="000000">
              <a:alpha val="60000"/>
            </a:srgbClr>
          </a:solidFill>
          <a:ln w="12700">
            <a:solidFill>
              <a:srgbClr val="000000">
                <a:alpha val="0"/>
              </a:srgbClr>
            </a:solidFill>
            <a:prstDash val="solid"/>
          </a:ln>
        </p:spPr>
      </p:sp>
      <p:sp>
        <p:nvSpPr>
          <p:cNvPr id="18" name="Text 12"/>
          <p:cNvSpPr txBox="1"/>
          <p:nvPr/>
        </p:nvSpPr>
        <p:spPr>
          <a:xfrm>
            <a:off x="9134856" y="3063240"/>
            <a:ext cx="914400" cy="274320"/>
          </a:xfrm>
          <a:prstGeom prst="rect">
            <a:avLst/>
          </a:prstGeom>
          <a:noFill/>
          <a:ln/>
        </p:spPr>
        <p:txBody>
          <a:bodyPr wrap="square" lIns="0" tIns="0" rIns="0" bIns="0" rtlCol="0" anchor="t"/>
          <a:lstStyle/>
          <a:p>
            <a:pPr indent="0" marL="0">
              <a:buNone/>
            </a:pPr>
            <a:r>
              <a:rPr lang="en-US" sz="1300" b="1" dirty="0">
                <a:solidFill>
                  <a:srgbClr val="F2C14E"/>
                </a:solidFill>
                <a:latin typeface="Cambria" pitchFamily="34" charset="0"/>
                <a:ea typeface="Cambria" pitchFamily="34" charset="-122"/>
                <a:cs typeface="Cambria" pitchFamily="34" charset="-120"/>
              </a:rPr>
              <a:t>04</a:t>
            </a:r>
            <a:endParaRPr lang="en-US" sz="1300" dirty="0"/>
          </a:p>
        </p:txBody>
      </p:sp>
      <p:sp>
        <p:nvSpPr>
          <p:cNvPr id="19" name="Text 13"/>
          <p:cNvSpPr txBox="1"/>
          <p:nvPr/>
        </p:nvSpPr>
        <p:spPr>
          <a:xfrm>
            <a:off x="9134856" y="3337560"/>
            <a:ext cx="2377440" cy="365760"/>
          </a:xfrm>
          <a:prstGeom prst="rect">
            <a:avLst/>
          </a:prstGeom>
          <a:noFill/>
          <a:ln/>
        </p:spPr>
        <p:txBody>
          <a:bodyPr wrap="square" lIns="0" tIns="0" rIns="0" bIns="0" rtlCol="0" anchor="t"/>
          <a:lstStyle/>
          <a:p>
            <a:pPr indent="0" marL="0">
              <a:buNone/>
            </a:pPr>
            <a:r>
              <a:rPr lang="en-US" sz="1800" b="1" dirty="0">
                <a:solidFill>
                  <a:srgbClr val="FFFFFF"/>
                </a:solidFill>
                <a:latin typeface="Cambria" pitchFamily="34" charset="0"/>
                <a:ea typeface="Cambria" pitchFamily="34" charset="-122"/>
                <a:cs typeface="Cambria" pitchFamily="34" charset="-120"/>
              </a:rPr>
              <a:t>Culture &amp; gastronomie</a:t>
            </a:r>
            <a:endParaRPr lang="en-US" sz="1800" dirty="0"/>
          </a:p>
        </p:txBody>
      </p:sp>
      <p:pic>
        <p:nvPicPr>
          <p:cNvPr id="20" name="Image 4" descr="/home/user/Portugal-Website/images/photos/hero-sport.jpg">    </p:cNvPr>
          <p:cNvPicPr>
            <a:picLocks noChangeAspect="1"/>
          </p:cNvPicPr>
          <p:nvPr/>
        </p:nvPicPr>
        <p:blipFill>
          <a:blip r:embed="rId5"/>
          <a:srcRect l="0" r="0" t="0" b="0"/>
          <a:stretch/>
        </p:blipFill>
        <p:spPr>
          <a:xfrm>
            <a:off x="548640" y="4023360"/>
            <a:ext cx="2624328" cy="2103120"/>
          </a:xfrm>
          <a:prstGeom prst="rect">
            <a:avLst/>
          </a:prstGeom>
        </p:spPr>
      </p:pic>
      <p:sp>
        <p:nvSpPr>
          <p:cNvPr id="21" name="Shape 14"/>
          <p:cNvSpPr/>
          <p:nvPr/>
        </p:nvSpPr>
        <p:spPr>
          <a:xfrm>
            <a:off x="548640" y="5349240"/>
            <a:ext cx="2624328" cy="777240"/>
          </a:xfrm>
          <a:prstGeom prst="rect">
            <a:avLst/>
          </a:prstGeom>
          <a:solidFill>
            <a:srgbClr val="000000">
              <a:alpha val="60000"/>
            </a:srgbClr>
          </a:solidFill>
          <a:ln w="12700">
            <a:solidFill>
              <a:srgbClr val="000000">
                <a:alpha val="0"/>
              </a:srgbClr>
            </a:solidFill>
            <a:prstDash val="solid"/>
          </a:ln>
        </p:spPr>
      </p:sp>
      <p:sp>
        <p:nvSpPr>
          <p:cNvPr id="22" name="Text 15"/>
          <p:cNvSpPr txBox="1"/>
          <p:nvPr/>
        </p:nvSpPr>
        <p:spPr>
          <a:xfrm>
            <a:off x="713232" y="5394960"/>
            <a:ext cx="914400" cy="274320"/>
          </a:xfrm>
          <a:prstGeom prst="rect">
            <a:avLst/>
          </a:prstGeom>
          <a:noFill/>
          <a:ln/>
        </p:spPr>
        <p:txBody>
          <a:bodyPr wrap="square" lIns="0" tIns="0" rIns="0" bIns="0" rtlCol="0" anchor="t"/>
          <a:lstStyle/>
          <a:p>
            <a:pPr indent="0" marL="0">
              <a:buNone/>
            </a:pPr>
            <a:r>
              <a:rPr lang="en-US" sz="1300" b="1" dirty="0">
                <a:solidFill>
                  <a:srgbClr val="F2C14E"/>
                </a:solidFill>
                <a:latin typeface="Cambria" pitchFamily="34" charset="0"/>
                <a:ea typeface="Cambria" pitchFamily="34" charset="-122"/>
                <a:cs typeface="Cambria" pitchFamily="34" charset="-120"/>
              </a:rPr>
              <a:t>05</a:t>
            </a:r>
            <a:endParaRPr lang="en-US" sz="1300" dirty="0"/>
          </a:p>
        </p:txBody>
      </p:sp>
      <p:sp>
        <p:nvSpPr>
          <p:cNvPr id="23" name="Text 16"/>
          <p:cNvSpPr txBox="1"/>
          <p:nvPr/>
        </p:nvSpPr>
        <p:spPr>
          <a:xfrm>
            <a:off x="713232" y="5669280"/>
            <a:ext cx="2377440" cy="365760"/>
          </a:xfrm>
          <a:prstGeom prst="rect">
            <a:avLst/>
          </a:prstGeom>
          <a:noFill/>
          <a:ln/>
        </p:spPr>
        <p:txBody>
          <a:bodyPr wrap="square" lIns="0" tIns="0" rIns="0" bIns="0" rtlCol="0" anchor="t"/>
          <a:lstStyle/>
          <a:p>
            <a:pPr indent="0" marL="0">
              <a:buNone/>
            </a:pPr>
            <a:r>
              <a:rPr lang="en-US" sz="1800" b="1" dirty="0">
                <a:solidFill>
                  <a:srgbClr val="FFFFFF"/>
                </a:solidFill>
                <a:latin typeface="Cambria" pitchFamily="34" charset="0"/>
                <a:ea typeface="Cambria" pitchFamily="34" charset="-122"/>
                <a:cs typeface="Cambria" pitchFamily="34" charset="-120"/>
              </a:rPr>
              <a:t>Sport</a:t>
            </a:r>
            <a:endParaRPr lang="en-US" sz="1800" dirty="0"/>
          </a:p>
        </p:txBody>
      </p:sp>
      <p:pic>
        <p:nvPicPr>
          <p:cNvPr id="24" name="Image 5" descr="/home/user/Portugal-Website/images/photos/r-douro.jpg">    </p:cNvPr>
          <p:cNvPicPr>
            <a:picLocks noChangeAspect="1"/>
          </p:cNvPicPr>
          <p:nvPr/>
        </p:nvPicPr>
        <p:blipFill>
          <a:blip r:embed="rId6"/>
          <a:srcRect l="0" r="0" t="0" b="0"/>
          <a:stretch/>
        </p:blipFill>
        <p:spPr>
          <a:xfrm>
            <a:off x="3355848" y="4023360"/>
            <a:ext cx="2624328" cy="2103120"/>
          </a:xfrm>
          <a:prstGeom prst="rect">
            <a:avLst/>
          </a:prstGeom>
        </p:spPr>
      </p:pic>
      <p:sp>
        <p:nvSpPr>
          <p:cNvPr id="25" name="Shape 17"/>
          <p:cNvSpPr/>
          <p:nvPr/>
        </p:nvSpPr>
        <p:spPr>
          <a:xfrm>
            <a:off x="3355848" y="5349240"/>
            <a:ext cx="2624328" cy="777240"/>
          </a:xfrm>
          <a:prstGeom prst="rect">
            <a:avLst/>
          </a:prstGeom>
          <a:solidFill>
            <a:srgbClr val="000000">
              <a:alpha val="60000"/>
            </a:srgbClr>
          </a:solidFill>
          <a:ln w="12700">
            <a:solidFill>
              <a:srgbClr val="000000">
                <a:alpha val="0"/>
              </a:srgbClr>
            </a:solidFill>
            <a:prstDash val="solid"/>
          </a:ln>
        </p:spPr>
      </p:sp>
      <p:sp>
        <p:nvSpPr>
          <p:cNvPr id="26" name="Text 18"/>
          <p:cNvSpPr txBox="1"/>
          <p:nvPr/>
        </p:nvSpPr>
        <p:spPr>
          <a:xfrm>
            <a:off x="3520440" y="5394960"/>
            <a:ext cx="914400" cy="274320"/>
          </a:xfrm>
          <a:prstGeom prst="rect">
            <a:avLst/>
          </a:prstGeom>
          <a:noFill/>
          <a:ln/>
        </p:spPr>
        <p:txBody>
          <a:bodyPr wrap="square" lIns="0" tIns="0" rIns="0" bIns="0" rtlCol="0" anchor="t"/>
          <a:lstStyle/>
          <a:p>
            <a:pPr indent="0" marL="0">
              <a:buNone/>
            </a:pPr>
            <a:r>
              <a:rPr lang="en-US" sz="1300" b="1" dirty="0">
                <a:solidFill>
                  <a:srgbClr val="F2C14E"/>
                </a:solidFill>
                <a:latin typeface="Cambria" pitchFamily="34" charset="0"/>
                <a:ea typeface="Cambria" pitchFamily="34" charset="-122"/>
                <a:cs typeface="Cambria" pitchFamily="34" charset="-120"/>
              </a:rPr>
              <a:t>06</a:t>
            </a:r>
            <a:endParaRPr lang="en-US" sz="1300" dirty="0"/>
          </a:p>
        </p:txBody>
      </p:sp>
      <p:sp>
        <p:nvSpPr>
          <p:cNvPr id="27" name="Text 19"/>
          <p:cNvSpPr txBox="1"/>
          <p:nvPr/>
        </p:nvSpPr>
        <p:spPr>
          <a:xfrm>
            <a:off x="3520440" y="5669280"/>
            <a:ext cx="2377440" cy="365760"/>
          </a:xfrm>
          <a:prstGeom prst="rect">
            <a:avLst/>
          </a:prstGeom>
          <a:noFill/>
          <a:ln/>
        </p:spPr>
        <p:txBody>
          <a:bodyPr wrap="square" lIns="0" tIns="0" rIns="0" bIns="0" rtlCol="0" anchor="t"/>
          <a:lstStyle/>
          <a:p>
            <a:pPr indent="0" marL="0">
              <a:buNone/>
            </a:pPr>
            <a:r>
              <a:rPr lang="en-US" sz="1800" b="1" dirty="0">
                <a:solidFill>
                  <a:srgbClr val="FFFFFF"/>
                </a:solidFill>
                <a:latin typeface="Cambria" pitchFamily="34" charset="0"/>
                <a:ea typeface="Cambria" pitchFamily="34" charset="-122"/>
                <a:cs typeface="Cambria" pitchFamily="34" charset="-120"/>
              </a:rPr>
              <a:t>Régions</a:t>
            </a:r>
            <a:endParaRPr lang="en-US" sz="1800" dirty="0"/>
          </a:p>
        </p:txBody>
      </p:sp>
      <p:pic>
        <p:nvPicPr>
          <p:cNvPr id="28" name="Image 6" descr="/home/user/Portugal-Website/images/photos/hero-merv.jpg">    </p:cNvPr>
          <p:cNvPicPr>
            <a:picLocks noChangeAspect="1"/>
          </p:cNvPicPr>
          <p:nvPr/>
        </p:nvPicPr>
        <p:blipFill>
          <a:blip r:embed="rId7"/>
          <a:srcRect l="0" r="0" t="0" b="0"/>
          <a:stretch/>
        </p:blipFill>
        <p:spPr>
          <a:xfrm>
            <a:off x="6163056" y="4023360"/>
            <a:ext cx="2624328" cy="2103120"/>
          </a:xfrm>
          <a:prstGeom prst="rect">
            <a:avLst/>
          </a:prstGeom>
        </p:spPr>
      </p:pic>
      <p:sp>
        <p:nvSpPr>
          <p:cNvPr id="29" name="Shape 20"/>
          <p:cNvSpPr/>
          <p:nvPr/>
        </p:nvSpPr>
        <p:spPr>
          <a:xfrm>
            <a:off x="6163056" y="5349240"/>
            <a:ext cx="2624328" cy="777240"/>
          </a:xfrm>
          <a:prstGeom prst="rect">
            <a:avLst/>
          </a:prstGeom>
          <a:solidFill>
            <a:srgbClr val="000000">
              <a:alpha val="60000"/>
            </a:srgbClr>
          </a:solidFill>
          <a:ln w="12700">
            <a:solidFill>
              <a:srgbClr val="000000">
                <a:alpha val="0"/>
              </a:srgbClr>
            </a:solidFill>
            <a:prstDash val="solid"/>
          </a:ln>
        </p:spPr>
      </p:sp>
      <p:sp>
        <p:nvSpPr>
          <p:cNvPr id="30" name="Text 21"/>
          <p:cNvSpPr txBox="1"/>
          <p:nvPr/>
        </p:nvSpPr>
        <p:spPr>
          <a:xfrm>
            <a:off x="6327648" y="5394960"/>
            <a:ext cx="914400" cy="274320"/>
          </a:xfrm>
          <a:prstGeom prst="rect">
            <a:avLst/>
          </a:prstGeom>
          <a:noFill/>
          <a:ln/>
        </p:spPr>
        <p:txBody>
          <a:bodyPr wrap="square" lIns="0" tIns="0" rIns="0" bIns="0" rtlCol="0" anchor="t"/>
          <a:lstStyle/>
          <a:p>
            <a:pPr indent="0" marL="0">
              <a:buNone/>
            </a:pPr>
            <a:r>
              <a:rPr lang="en-US" sz="1300" b="1" dirty="0">
                <a:solidFill>
                  <a:srgbClr val="F2C14E"/>
                </a:solidFill>
                <a:latin typeface="Cambria" pitchFamily="34" charset="0"/>
                <a:ea typeface="Cambria" pitchFamily="34" charset="-122"/>
                <a:cs typeface="Cambria" pitchFamily="34" charset="-120"/>
              </a:rPr>
              <a:t>07</a:t>
            </a:r>
            <a:endParaRPr lang="en-US" sz="1300" dirty="0"/>
          </a:p>
        </p:txBody>
      </p:sp>
      <p:sp>
        <p:nvSpPr>
          <p:cNvPr id="31" name="Text 22"/>
          <p:cNvSpPr txBox="1"/>
          <p:nvPr/>
        </p:nvSpPr>
        <p:spPr>
          <a:xfrm>
            <a:off x="6327648" y="5669280"/>
            <a:ext cx="2377440" cy="365760"/>
          </a:xfrm>
          <a:prstGeom prst="rect">
            <a:avLst/>
          </a:prstGeom>
          <a:noFill/>
          <a:ln/>
        </p:spPr>
        <p:txBody>
          <a:bodyPr wrap="square" lIns="0" tIns="0" rIns="0" bIns="0" rtlCol="0" anchor="t"/>
          <a:lstStyle/>
          <a:p>
            <a:pPr indent="0" marL="0">
              <a:buNone/>
            </a:pPr>
            <a:r>
              <a:rPr lang="en-US" sz="1800" b="1" dirty="0">
                <a:solidFill>
                  <a:srgbClr val="FFFFFF"/>
                </a:solidFill>
                <a:latin typeface="Cambria" pitchFamily="34" charset="0"/>
                <a:ea typeface="Cambria" pitchFamily="34" charset="-122"/>
                <a:cs typeface="Cambria" pitchFamily="34" charset="-120"/>
              </a:rPr>
              <a:t>Merveilles</a:t>
            </a:r>
            <a:endParaRPr lang="en-US" sz="1800" dirty="0"/>
          </a:p>
        </p:txBody>
      </p:sp>
      <p:pic>
        <p:nvPicPr>
          <p:cNvPr id="32" name="Image 7" descr="/home/user/Portugal-Website/images/luis/caramulo-vue.jpg">    </p:cNvPr>
          <p:cNvPicPr>
            <a:picLocks noChangeAspect="1"/>
          </p:cNvPicPr>
          <p:nvPr/>
        </p:nvPicPr>
        <p:blipFill>
          <a:blip r:embed="rId8"/>
          <a:srcRect l="0" r="0" t="0" b="0"/>
          <a:stretch/>
        </p:blipFill>
        <p:spPr>
          <a:xfrm>
            <a:off x="8970264" y="4023360"/>
            <a:ext cx="2624328" cy="2103120"/>
          </a:xfrm>
          <a:prstGeom prst="rect">
            <a:avLst/>
          </a:prstGeom>
        </p:spPr>
      </p:pic>
      <p:sp>
        <p:nvSpPr>
          <p:cNvPr id="33" name="Shape 23"/>
          <p:cNvSpPr/>
          <p:nvPr/>
        </p:nvSpPr>
        <p:spPr>
          <a:xfrm>
            <a:off x="8970264" y="5349240"/>
            <a:ext cx="2624328" cy="777240"/>
          </a:xfrm>
          <a:prstGeom prst="rect">
            <a:avLst/>
          </a:prstGeom>
          <a:solidFill>
            <a:srgbClr val="000000">
              <a:alpha val="60000"/>
            </a:srgbClr>
          </a:solidFill>
          <a:ln w="12700">
            <a:solidFill>
              <a:srgbClr val="000000">
                <a:alpha val="0"/>
              </a:srgbClr>
            </a:solidFill>
            <a:prstDash val="solid"/>
          </a:ln>
        </p:spPr>
      </p:sp>
      <p:sp>
        <p:nvSpPr>
          <p:cNvPr id="34" name="Text 24"/>
          <p:cNvSpPr txBox="1"/>
          <p:nvPr/>
        </p:nvSpPr>
        <p:spPr>
          <a:xfrm>
            <a:off x="9134856" y="5394960"/>
            <a:ext cx="914400" cy="274320"/>
          </a:xfrm>
          <a:prstGeom prst="rect">
            <a:avLst/>
          </a:prstGeom>
          <a:noFill/>
          <a:ln/>
        </p:spPr>
        <p:txBody>
          <a:bodyPr wrap="square" lIns="0" tIns="0" rIns="0" bIns="0" rtlCol="0" anchor="t"/>
          <a:lstStyle/>
          <a:p>
            <a:pPr indent="0" marL="0">
              <a:buNone/>
            </a:pPr>
            <a:r>
              <a:rPr lang="en-US" sz="1300" b="1" dirty="0">
                <a:solidFill>
                  <a:srgbClr val="F2C14E"/>
                </a:solidFill>
                <a:latin typeface="Cambria" pitchFamily="34" charset="0"/>
                <a:ea typeface="Cambria" pitchFamily="34" charset="-122"/>
                <a:cs typeface="Cambria" pitchFamily="34" charset="-120"/>
              </a:rPr>
              <a:t>08</a:t>
            </a:r>
            <a:endParaRPr lang="en-US" sz="1300" dirty="0"/>
          </a:p>
        </p:txBody>
      </p:sp>
      <p:sp>
        <p:nvSpPr>
          <p:cNvPr id="35" name="Text 25"/>
          <p:cNvSpPr txBox="1"/>
          <p:nvPr/>
        </p:nvSpPr>
        <p:spPr>
          <a:xfrm>
            <a:off x="9134856" y="5669280"/>
            <a:ext cx="2377440" cy="365760"/>
          </a:xfrm>
          <a:prstGeom prst="rect">
            <a:avLst/>
          </a:prstGeom>
          <a:noFill/>
          <a:ln/>
        </p:spPr>
        <p:txBody>
          <a:bodyPr wrap="square" lIns="0" tIns="0" rIns="0" bIns="0" rtlCol="0" anchor="t"/>
          <a:lstStyle/>
          <a:p>
            <a:pPr indent="0" marL="0">
              <a:buNone/>
            </a:pPr>
            <a:r>
              <a:rPr lang="en-US" sz="1800" b="1" dirty="0">
                <a:solidFill>
                  <a:srgbClr val="FFFFFF"/>
                </a:solidFill>
                <a:latin typeface="Cambria" pitchFamily="34" charset="0"/>
                <a:ea typeface="Cambria" pitchFamily="34" charset="-122"/>
                <a:cs typeface="Cambria" pitchFamily="34" charset="-120"/>
              </a:rPr>
              <a:t>Conclusion</a:t>
            </a:r>
            <a:endParaRPr lang="en-US" sz="180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18D"/>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home/user/Portugal-Website/images/photos/bridge-alps.jpg">    </p:cNvPr>
          <p:cNvPicPr>
            <a:picLocks noChangeAspect="1"/>
          </p:cNvPicPr>
          <p:nvPr/>
        </p:nvPicPr>
        <p:blipFill>
          <a:blip r:embed="rId1"/>
          <a:srcRect l="0" r="0" t="0" b="0"/>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8140F">
              <a:alpha val="55000"/>
            </a:srgbClr>
          </a:solidFill>
          <a:ln w="12700">
            <a:solidFill>
              <a:srgbClr val="08140F">
                <a:alpha val="0"/>
              </a:srgbClr>
            </a:solidFill>
            <a:prstDash val="solid"/>
          </a:ln>
        </p:spPr>
      </p:sp>
      <p:pic>
        <p:nvPicPr>
          <p:cNvPr id="4" name="Image 1" descr="/home/user/Portugal-Website/images/flag-pt.jpg">    </p:cNvPr>
          <p:cNvPicPr>
            <a:picLocks noChangeAspect="1"/>
          </p:cNvPicPr>
          <p:nvPr/>
        </p:nvPicPr>
        <p:blipFill>
          <a:blip r:embed="rId2"/>
          <a:srcRect l="0" r="0" t="0" b="0"/>
          <a:stretch/>
        </p:blipFill>
        <p:spPr>
          <a:xfrm>
            <a:off x="4206240" y="1828800"/>
            <a:ext cx="731520" cy="731520"/>
          </a:xfrm>
          <a:prstGeom prst="ellipse">
            <a:avLst/>
          </a:prstGeom>
        </p:spPr>
      </p:pic>
      <p:pic>
        <p:nvPicPr>
          <p:cNvPr id="5" name="Image 2" descr="/home/user/Portugal-Website/images/flag-ch.jpg">    </p:cNvPr>
          <p:cNvPicPr>
            <a:picLocks noChangeAspect="1"/>
          </p:cNvPicPr>
          <p:nvPr/>
        </p:nvPicPr>
        <p:blipFill>
          <a:blip r:embed="rId3"/>
          <a:srcRect l="0" r="0" t="0" b="0"/>
          <a:stretch/>
        </p:blipFill>
        <p:spPr>
          <a:xfrm>
            <a:off x="7251192" y="1828800"/>
            <a:ext cx="731520" cy="731520"/>
          </a:xfrm>
          <a:prstGeom prst="ellipse">
            <a:avLst/>
          </a:prstGeom>
        </p:spPr>
      </p:pic>
      <p:sp>
        <p:nvSpPr>
          <p:cNvPr id="6" name="Text 1"/>
          <p:cNvSpPr txBox="1"/>
          <p:nvPr/>
        </p:nvSpPr>
        <p:spPr>
          <a:xfrm>
            <a:off x="914400" y="2651760"/>
            <a:ext cx="10362895" cy="822960"/>
          </a:xfrm>
          <a:prstGeom prst="rect">
            <a:avLst/>
          </a:prstGeom>
          <a:noFill/>
          <a:ln/>
        </p:spPr>
        <p:txBody>
          <a:bodyPr wrap="square" lIns="0" tIns="0" rIns="0" bIns="0" rtlCol="0" anchor="t"/>
          <a:lstStyle/>
          <a:p>
            <a:pPr algn="ctr" indent="0" marL="0">
              <a:buNone/>
            </a:pPr>
            <a:r>
              <a:rPr lang="en-US" sz="4400" b="1" dirty="0">
                <a:solidFill>
                  <a:srgbClr val="FFFFFF"/>
                </a:solidFill>
                <a:latin typeface="Cambria" pitchFamily="34" charset="0"/>
                <a:ea typeface="Cambria" pitchFamily="34" charset="-122"/>
                <a:cs typeface="Cambria" pitchFamily="34" charset="-120"/>
              </a:rPr>
              <a:t>Portugal  —  Suisse</a:t>
            </a:r>
            <a:endParaRPr lang="en-US" sz="4400" dirty="0"/>
          </a:p>
        </p:txBody>
      </p:sp>
      <p:sp>
        <p:nvSpPr>
          <p:cNvPr id="7" name="Text 2"/>
          <p:cNvSpPr txBox="1"/>
          <p:nvPr/>
        </p:nvSpPr>
        <p:spPr>
          <a:xfrm>
            <a:off x="914400" y="3520440"/>
            <a:ext cx="10362895" cy="548640"/>
          </a:xfrm>
          <a:prstGeom prst="rect">
            <a:avLst/>
          </a:prstGeom>
          <a:noFill/>
          <a:ln/>
        </p:spPr>
        <p:txBody>
          <a:bodyPr wrap="square" lIns="0" tIns="0" rIns="0" bIns="0" rtlCol="0" anchor="t"/>
          <a:lstStyle/>
          <a:p>
            <a:pPr algn="ctr" indent="0" marL="0">
              <a:buNone/>
            </a:pPr>
            <a:r>
              <a:rPr lang="en-US" sz="2400" i="1" dirty="0">
                <a:solidFill>
                  <a:srgbClr val="F2C14E"/>
                </a:solidFill>
                <a:latin typeface="Cambria" pitchFamily="34" charset="0"/>
                <a:ea typeface="Cambria" pitchFamily="34" charset="-122"/>
                <a:cs typeface="Cambria" pitchFamily="34" charset="-120"/>
              </a:rPr>
              <a:t>Deux pays, deux cultures, un parcours.</a:t>
            </a:r>
            <a:endParaRPr lang="en-US" sz="2400" dirty="0"/>
          </a:p>
        </p:txBody>
      </p:sp>
      <p:sp>
        <p:nvSpPr>
          <p:cNvPr id="8" name="Text 3"/>
          <p:cNvSpPr txBox="1"/>
          <p:nvPr/>
        </p:nvSpPr>
        <p:spPr>
          <a:xfrm>
            <a:off x="2194560" y="4206240"/>
            <a:ext cx="7802575" cy="1097280"/>
          </a:xfrm>
          <a:prstGeom prst="rect">
            <a:avLst/>
          </a:prstGeom>
          <a:noFill/>
          <a:ln/>
        </p:spPr>
        <p:txBody>
          <a:bodyPr wrap="square" lIns="0" tIns="0" rIns="0" bIns="0" rtlCol="0" anchor="t"/>
          <a:lstStyle/>
          <a:p>
            <a:pPr algn="ctr" indent="0" marL="0">
              <a:buNone/>
            </a:pPr>
            <a:r>
              <a:rPr lang="en-US" sz="1800" dirty="0">
                <a:solidFill>
                  <a:srgbClr val="FFFFFF"/>
                </a:solidFill>
                <a:latin typeface="Calibri" pitchFamily="34" charset="0"/>
                <a:ea typeface="Calibri" pitchFamily="34" charset="-122"/>
                <a:cs typeface="Calibri" pitchFamily="34" charset="-120"/>
              </a:rPr>
              <a:t>Le Portugal est mes racines. La Suisse est aujourd'hui le pays où je construis mon avenir. Cette présentation est le pont entre ces deux parties de ma vie.</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home/user/Portugal-Website/images/photos/hero-geo.jpg">    </p:cNvPr>
          <p:cNvPicPr>
            <a:picLocks noChangeAspect="1"/>
          </p:cNvPicPr>
          <p:nvPr/>
        </p:nvPicPr>
        <p:blipFill>
          <a:blip r:embed="rId1"/>
          <a:srcRect l="0" r="0" t="0" b="0"/>
          <a:stretch/>
        </p:blipFill>
        <p:spPr>
          <a:xfrm>
            <a:off x="0" y="0"/>
            <a:ext cx="12191695" cy="6858000"/>
          </a:xfrm>
          <a:prstGeom prst="rect">
            <a:avLst/>
          </a:prstGeom>
        </p:spPr>
      </p:pic>
      <p:sp>
        <p:nvSpPr>
          <p:cNvPr id="3" name="Shape 0"/>
          <p:cNvSpPr/>
          <p:nvPr/>
        </p:nvSpPr>
        <p:spPr>
          <a:xfrm>
            <a:off x="0" y="0"/>
            <a:ext cx="6766560" cy="6858000"/>
          </a:xfrm>
          <a:prstGeom prst="rect">
            <a:avLst/>
          </a:prstGeom>
          <a:solidFill>
            <a:srgbClr val="08140F">
              <a:alpha val="70000"/>
            </a:srgbClr>
          </a:solidFill>
          <a:ln w="12700">
            <a:solidFill>
              <a:srgbClr val="08140F">
                <a:alpha val="0"/>
              </a:srgbClr>
            </a:solidFill>
            <a:prstDash val="solid"/>
          </a:ln>
        </p:spPr>
      </p:sp>
      <p:sp>
        <p:nvSpPr>
          <p:cNvPr id="4" name="Text 1"/>
          <p:cNvSpPr txBox="1"/>
          <p:nvPr/>
        </p:nvSpPr>
        <p:spPr>
          <a:xfrm>
            <a:off x="822960" y="1828800"/>
            <a:ext cx="4572000" cy="365760"/>
          </a:xfrm>
          <a:prstGeom prst="rect">
            <a:avLst/>
          </a:prstGeom>
          <a:noFill/>
          <a:ln/>
        </p:spPr>
        <p:txBody>
          <a:bodyPr wrap="square" lIns="0" tIns="0" rIns="0" bIns="0" rtlCol="0" anchor="t"/>
          <a:lstStyle/>
          <a:p>
            <a:pPr indent="0" marL="0">
              <a:buNone/>
            </a:pPr>
            <a:r>
              <a:rPr lang="en-US" sz="1600" b="1" spc="300" kern="0" dirty="0">
                <a:solidFill>
                  <a:srgbClr val="F2C14E"/>
                </a:solidFill>
                <a:latin typeface="Calibri" pitchFamily="34" charset="0"/>
                <a:ea typeface="Calibri" pitchFamily="34" charset="-122"/>
                <a:cs typeface="Calibri" pitchFamily="34" charset="-120"/>
              </a:rPr>
              <a:t>01 / 08</a:t>
            </a:r>
            <a:endParaRPr lang="en-US" sz="1600" dirty="0"/>
          </a:p>
        </p:txBody>
      </p:sp>
      <p:sp>
        <p:nvSpPr>
          <p:cNvPr id="5" name="Text 2"/>
          <p:cNvSpPr txBox="1"/>
          <p:nvPr/>
        </p:nvSpPr>
        <p:spPr>
          <a:xfrm>
            <a:off x="822960" y="2240280"/>
            <a:ext cx="5760720" cy="1280160"/>
          </a:xfrm>
          <a:prstGeom prst="rect">
            <a:avLst/>
          </a:prstGeom>
          <a:noFill/>
          <a:ln/>
        </p:spPr>
        <p:txBody>
          <a:bodyPr wrap="square" lIns="0" tIns="0" rIns="0" bIns="0" rtlCol="0" anchor="t">
            <a:normAutofit/>
          </a:bodyPr>
          <a:lstStyle/>
          <a:p>
            <a:pPr indent="0" marL="0">
              <a:buNone/>
            </a:pPr>
            <a:r>
              <a:rPr lang="en-US" sz="6000" b="1" dirty="0">
                <a:solidFill>
                  <a:srgbClr val="FFFFFF"/>
                </a:solidFill>
                <a:latin typeface="Cambria" pitchFamily="34" charset="0"/>
                <a:ea typeface="Cambria" pitchFamily="34" charset="-122"/>
                <a:cs typeface="Cambria" pitchFamily="34" charset="-120"/>
              </a:rPr>
              <a:t>Géographie</a:t>
            </a:r>
            <a:endParaRPr lang="en-US" sz="6000" dirty="0"/>
          </a:p>
        </p:txBody>
      </p:sp>
      <p:sp>
        <p:nvSpPr>
          <p:cNvPr id="6" name="Text 3"/>
          <p:cNvSpPr txBox="1"/>
          <p:nvPr/>
        </p:nvSpPr>
        <p:spPr>
          <a:xfrm>
            <a:off x="822960" y="3611880"/>
            <a:ext cx="5486400" cy="914400"/>
          </a:xfrm>
          <a:prstGeom prst="rect">
            <a:avLst/>
          </a:prstGeom>
          <a:noFill/>
          <a:ln/>
        </p:spPr>
        <p:txBody>
          <a:bodyPr wrap="square" lIns="0" tIns="0" rIns="0" bIns="0" rtlCol="0" anchor="t"/>
          <a:lstStyle/>
          <a:p>
            <a:pPr indent="0" marL="0">
              <a:buNone/>
            </a:pPr>
            <a:r>
              <a:rPr lang="en-US" sz="2400" i="1" dirty="0">
                <a:solidFill>
                  <a:srgbClr val="FFFFFF"/>
                </a:solidFill>
                <a:latin typeface="Cambria" pitchFamily="34" charset="0"/>
                <a:ea typeface="Cambria" pitchFamily="34" charset="-122"/>
                <a:cs typeface="Cambria" pitchFamily="34" charset="-120"/>
              </a:rPr>
              <a:t>Le Portugal, entre l'Europe et l'Atlantique</a:t>
            </a:r>
            <a:endParaRPr lang="en-US" sz="2400" dirty="0"/>
          </a:p>
        </p:txBody>
      </p:sp>
      <p:sp>
        <p:nvSpPr>
          <p:cNvPr id="7" name="Text 4"/>
          <p:cNvSpPr txBox="1"/>
          <p:nvPr/>
        </p:nvSpPr>
        <p:spPr>
          <a:xfrm>
            <a:off x="822960" y="4572000"/>
            <a:ext cx="5120640" cy="1005840"/>
          </a:xfrm>
          <a:prstGeom prst="rect">
            <a:avLst/>
          </a:prstGeom>
          <a:noFill/>
          <a:ln/>
        </p:spPr>
        <p:txBody>
          <a:bodyPr wrap="square" lIns="0" tIns="0" rIns="0" bIns="0" rtlCol="0" anchor="t"/>
          <a:lstStyle/>
          <a:p>
            <a:pPr indent="0" marL="0">
              <a:buNone/>
            </a:pPr>
            <a:r>
              <a:rPr lang="en-US" sz="1500" dirty="0">
                <a:solidFill>
                  <a:srgbClr val="E6ECE8"/>
                </a:solidFill>
                <a:latin typeface="Calibri" pitchFamily="34" charset="0"/>
                <a:ea typeface="Calibri" pitchFamily="34" charset="-122"/>
                <a:cs typeface="Calibri" pitchFamily="34" charset="-120"/>
              </a:rPr>
              <a:t>Un pays à la taille modeste, mais d'une richesse géographique exceptionnelle.</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411480"/>
            <a:ext cx="10972800" cy="274320"/>
          </a:xfrm>
          <a:prstGeom prst="rect">
            <a:avLst/>
          </a:prstGeom>
          <a:noFill/>
          <a:ln/>
        </p:spPr>
        <p:txBody>
          <a:bodyPr wrap="square" lIns="0" tIns="0" rIns="0" bIns="0" rtlCol="0" anchor="t"/>
          <a:lstStyle/>
          <a:p>
            <a:pPr indent="0" marL="0">
              <a:buNone/>
            </a:pPr>
            <a:r>
              <a:rPr lang="en-US" sz="1200" b="1" spc="300" kern="0" dirty="0">
                <a:solidFill>
                  <a:srgbClr val="A83232"/>
                </a:solidFill>
                <a:latin typeface="Calibri" pitchFamily="34" charset="0"/>
                <a:ea typeface="Calibri" pitchFamily="34" charset="-122"/>
                <a:cs typeface="Calibri" pitchFamily="34" charset="-120"/>
              </a:rPr>
              <a:t>OÙ SE TROUVE LE PORTUGAL ?</a:t>
            </a:r>
            <a:endParaRPr lang="en-US" sz="1200" dirty="0"/>
          </a:p>
        </p:txBody>
      </p:sp>
      <p:sp>
        <p:nvSpPr>
          <p:cNvPr id="3" name="Text 1"/>
          <p:cNvSpPr txBox="1"/>
          <p:nvPr/>
        </p:nvSpPr>
        <p:spPr>
          <a:xfrm>
            <a:off x="548640" y="685800"/>
            <a:ext cx="5852160" cy="685800"/>
          </a:xfrm>
          <a:prstGeom prst="rect">
            <a:avLst/>
          </a:prstGeom>
          <a:noFill/>
          <a:ln/>
        </p:spPr>
        <p:txBody>
          <a:bodyPr wrap="square" lIns="0" tIns="0" rIns="0" bIns="0" rtlCol="0" anchor="t"/>
          <a:lstStyle/>
          <a:p>
            <a:pPr indent="0" marL="0">
              <a:buNone/>
            </a:pPr>
            <a:r>
              <a:rPr lang="en-US" sz="2600" b="1" dirty="0">
                <a:solidFill>
                  <a:srgbClr val="174A3A"/>
                </a:solidFill>
                <a:latin typeface="Cambria" pitchFamily="34" charset="0"/>
                <a:ea typeface="Cambria" pitchFamily="34" charset="-122"/>
                <a:cs typeface="Cambria" pitchFamily="34" charset="-120"/>
              </a:rPr>
              <a:t>À l'extrémité sud-ouest de l'Europe</a:t>
            </a:r>
            <a:endParaRPr lang="en-US" sz="2600" dirty="0"/>
          </a:p>
        </p:txBody>
      </p:sp>
      <p:pic>
        <p:nvPicPr>
          <p:cNvPr id="4" name="Image 0" descr="/home/user/Portugal-Website/images/geo-map-europe.jpg">    </p:cNvPr>
          <p:cNvPicPr>
            <a:picLocks noChangeAspect="1"/>
          </p:cNvPicPr>
          <p:nvPr/>
        </p:nvPicPr>
        <p:blipFill>
          <a:blip r:embed="rId1"/>
          <a:srcRect l="0" r="0" t="0" b="0"/>
          <a:stretch/>
        </p:blipFill>
        <p:spPr>
          <a:xfrm>
            <a:off x="6492240" y="548640"/>
            <a:ext cx="5148072" cy="5669280"/>
          </a:xfrm>
          <a:prstGeom prst="rect">
            <a:avLst/>
          </a:prstGeom>
        </p:spPr>
      </p:pic>
      <p:sp>
        <p:nvSpPr>
          <p:cNvPr id="5" name="Text 2"/>
          <p:cNvSpPr txBox="1"/>
          <p:nvPr/>
        </p:nvSpPr>
        <p:spPr>
          <a:xfrm>
            <a:off x="548640" y="1554480"/>
            <a:ext cx="5486400" cy="1005840"/>
          </a:xfrm>
          <a:prstGeom prst="rect">
            <a:avLst/>
          </a:prstGeom>
          <a:noFill/>
          <a:ln/>
        </p:spPr>
        <p:txBody>
          <a:bodyPr wrap="square" lIns="0" tIns="0" rIns="0" bIns="0" rtlCol="0" anchor="t"/>
          <a:lstStyle/>
          <a:p>
            <a:pPr indent="0" marL="0">
              <a:buNone/>
            </a:pPr>
            <a:r>
              <a:rPr lang="en-US" sz="1600" dirty="0">
                <a:solidFill>
                  <a:srgbClr val="17211D"/>
                </a:solidFill>
                <a:latin typeface="Calibri" pitchFamily="34" charset="0"/>
                <a:ea typeface="Calibri" pitchFamily="34" charset="-122"/>
                <a:cs typeface="Calibri" pitchFamily="34" charset="-120"/>
              </a:rPr>
              <a:t>Le Portugal est situé sur la péninsule Ibérique, bordé à l'est et au nord par l'Espagne et à l'ouest et au sud par l'océan Atlantique.</a:t>
            </a:r>
            <a:endParaRPr lang="en-US" sz="1600" dirty="0"/>
          </a:p>
        </p:txBody>
      </p:sp>
      <p:sp>
        <p:nvSpPr>
          <p:cNvPr id="6" name="Text 3"/>
          <p:cNvSpPr txBox="1"/>
          <p:nvPr/>
        </p:nvSpPr>
        <p:spPr>
          <a:xfrm>
            <a:off x="548640" y="2880360"/>
            <a:ext cx="1783080" cy="685800"/>
          </a:xfrm>
          <a:prstGeom prst="rect">
            <a:avLst/>
          </a:prstGeom>
          <a:noFill/>
          <a:ln/>
        </p:spPr>
        <p:txBody>
          <a:bodyPr wrap="square" lIns="0" tIns="0" rIns="0" bIns="0" rtlCol="0" anchor="t"/>
          <a:lstStyle/>
          <a:p>
            <a:pPr indent="0" marL="0">
              <a:buNone/>
            </a:pPr>
            <a:r>
              <a:rPr lang="en-US" sz="3600" b="1" dirty="0">
                <a:solidFill>
                  <a:srgbClr val="174A3A"/>
                </a:solidFill>
                <a:latin typeface="Cambria" pitchFamily="34" charset="0"/>
                <a:ea typeface="Cambria" pitchFamily="34" charset="-122"/>
                <a:cs typeface="Cambria" pitchFamily="34" charset="-120"/>
              </a:rPr>
              <a:t>561 km</a:t>
            </a:r>
            <a:endParaRPr lang="en-US" sz="3600" dirty="0"/>
          </a:p>
        </p:txBody>
      </p:sp>
      <p:sp>
        <p:nvSpPr>
          <p:cNvPr id="7" name="Text 4"/>
          <p:cNvSpPr txBox="1"/>
          <p:nvPr/>
        </p:nvSpPr>
        <p:spPr>
          <a:xfrm>
            <a:off x="548640" y="3566160"/>
            <a:ext cx="1783080" cy="548640"/>
          </a:xfrm>
          <a:prstGeom prst="rect">
            <a:avLst/>
          </a:prstGeom>
          <a:noFill/>
          <a:ln/>
        </p:spPr>
        <p:txBody>
          <a:bodyPr wrap="square" lIns="0" tIns="0" rIns="0" bIns="0" rtlCol="0" anchor="t"/>
          <a:lstStyle/>
          <a:p>
            <a:pPr indent="0" marL="0">
              <a:buNone/>
            </a:pPr>
            <a:r>
              <a:rPr lang="en-US" sz="1300" b="1" dirty="0">
                <a:solidFill>
                  <a:srgbClr val="4A524E"/>
                </a:solidFill>
                <a:latin typeface="Calibri" pitchFamily="34" charset="0"/>
                <a:ea typeface="Calibri" pitchFamily="34" charset="-122"/>
                <a:cs typeface="Calibri" pitchFamily="34" charset="-120"/>
              </a:rPr>
              <a:t>du nord au sud</a:t>
            </a:r>
            <a:endParaRPr lang="en-US" sz="1300" dirty="0"/>
          </a:p>
        </p:txBody>
      </p:sp>
      <p:sp>
        <p:nvSpPr>
          <p:cNvPr id="8" name="Text 5"/>
          <p:cNvSpPr txBox="1"/>
          <p:nvPr/>
        </p:nvSpPr>
        <p:spPr>
          <a:xfrm>
            <a:off x="2423160" y="2880360"/>
            <a:ext cx="1783080" cy="685800"/>
          </a:xfrm>
          <a:prstGeom prst="rect">
            <a:avLst/>
          </a:prstGeom>
          <a:noFill/>
          <a:ln/>
        </p:spPr>
        <p:txBody>
          <a:bodyPr wrap="square" lIns="0" tIns="0" rIns="0" bIns="0" rtlCol="0" anchor="t"/>
          <a:lstStyle/>
          <a:p>
            <a:pPr indent="0" marL="0">
              <a:buNone/>
            </a:pPr>
            <a:r>
              <a:rPr lang="en-US" sz="3600" b="1" dirty="0">
                <a:solidFill>
                  <a:srgbClr val="A83232"/>
                </a:solidFill>
                <a:latin typeface="Cambria" pitchFamily="34" charset="0"/>
                <a:ea typeface="Cambria" pitchFamily="34" charset="-122"/>
                <a:cs typeface="Cambria" pitchFamily="34" charset="-120"/>
              </a:rPr>
              <a:t>218 km</a:t>
            </a:r>
            <a:endParaRPr lang="en-US" sz="3600" dirty="0"/>
          </a:p>
        </p:txBody>
      </p:sp>
      <p:sp>
        <p:nvSpPr>
          <p:cNvPr id="9" name="Text 6"/>
          <p:cNvSpPr txBox="1"/>
          <p:nvPr/>
        </p:nvSpPr>
        <p:spPr>
          <a:xfrm>
            <a:off x="2423160" y="3566160"/>
            <a:ext cx="1783080" cy="548640"/>
          </a:xfrm>
          <a:prstGeom prst="rect">
            <a:avLst/>
          </a:prstGeom>
          <a:noFill/>
          <a:ln/>
        </p:spPr>
        <p:txBody>
          <a:bodyPr wrap="square" lIns="0" tIns="0" rIns="0" bIns="0" rtlCol="0" anchor="t"/>
          <a:lstStyle/>
          <a:p>
            <a:pPr indent="0" marL="0">
              <a:buNone/>
            </a:pPr>
            <a:r>
              <a:rPr lang="en-US" sz="1300" b="1" dirty="0">
                <a:solidFill>
                  <a:srgbClr val="4A524E"/>
                </a:solidFill>
                <a:latin typeface="Calibri" pitchFamily="34" charset="0"/>
                <a:ea typeface="Calibri" pitchFamily="34" charset="-122"/>
                <a:cs typeface="Calibri" pitchFamily="34" charset="-120"/>
              </a:rPr>
              <a:t>d'est en ouest</a:t>
            </a:r>
            <a:endParaRPr lang="en-US" sz="1300" dirty="0"/>
          </a:p>
        </p:txBody>
      </p:sp>
      <p:sp>
        <p:nvSpPr>
          <p:cNvPr id="10" name="Text 7"/>
          <p:cNvSpPr txBox="1"/>
          <p:nvPr/>
        </p:nvSpPr>
        <p:spPr>
          <a:xfrm>
            <a:off x="4297680" y="2880360"/>
            <a:ext cx="1783080" cy="685800"/>
          </a:xfrm>
          <a:prstGeom prst="rect">
            <a:avLst/>
          </a:prstGeom>
          <a:noFill/>
          <a:ln/>
        </p:spPr>
        <p:txBody>
          <a:bodyPr wrap="square" lIns="0" tIns="0" rIns="0" bIns="0" rtlCol="0" anchor="t"/>
          <a:lstStyle/>
          <a:p>
            <a:pPr indent="0" marL="0">
              <a:buNone/>
            </a:pPr>
            <a:r>
              <a:rPr lang="en-US" sz="3600" b="1" dirty="0">
                <a:solidFill>
                  <a:srgbClr val="1E4F8F"/>
                </a:solidFill>
                <a:latin typeface="Cambria" pitchFamily="34" charset="0"/>
                <a:ea typeface="Cambria" pitchFamily="34" charset="-122"/>
                <a:cs typeface="Cambria" pitchFamily="34" charset="-120"/>
              </a:rPr>
              <a:t>832 km</a:t>
            </a:r>
            <a:endParaRPr lang="en-US" sz="3600" dirty="0"/>
          </a:p>
        </p:txBody>
      </p:sp>
      <p:sp>
        <p:nvSpPr>
          <p:cNvPr id="11" name="Text 8"/>
          <p:cNvSpPr txBox="1"/>
          <p:nvPr/>
        </p:nvSpPr>
        <p:spPr>
          <a:xfrm>
            <a:off x="4297680" y="3566160"/>
            <a:ext cx="1783080" cy="548640"/>
          </a:xfrm>
          <a:prstGeom prst="rect">
            <a:avLst/>
          </a:prstGeom>
          <a:noFill/>
          <a:ln/>
        </p:spPr>
        <p:txBody>
          <a:bodyPr wrap="square" lIns="0" tIns="0" rIns="0" bIns="0" rtlCol="0" anchor="t"/>
          <a:lstStyle/>
          <a:p>
            <a:pPr indent="0" marL="0">
              <a:buNone/>
            </a:pPr>
            <a:r>
              <a:rPr lang="en-US" sz="1300" b="1" dirty="0">
                <a:solidFill>
                  <a:srgbClr val="4A524E"/>
                </a:solidFill>
                <a:latin typeface="Calibri" pitchFamily="34" charset="0"/>
                <a:ea typeface="Calibri" pitchFamily="34" charset="-122"/>
                <a:cs typeface="Calibri" pitchFamily="34" charset="-120"/>
              </a:rPr>
              <a:t>de côte atlantique</a:t>
            </a:r>
            <a:endParaRPr lang="en-US" sz="1300" dirty="0"/>
          </a:p>
        </p:txBody>
      </p:sp>
      <p:sp>
        <p:nvSpPr>
          <p:cNvPr id="12" name="Text 9"/>
          <p:cNvSpPr txBox="1"/>
          <p:nvPr/>
        </p:nvSpPr>
        <p:spPr>
          <a:xfrm>
            <a:off x="548640" y="4480560"/>
            <a:ext cx="1783080" cy="685800"/>
          </a:xfrm>
          <a:prstGeom prst="rect">
            <a:avLst/>
          </a:prstGeom>
          <a:noFill/>
          <a:ln/>
        </p:spPr>
        <p:txBody>
          <a:bodyPr wrap="square" lIns="0" tIns="0" rIns="0" bIns="0" rtlCol="0" anchor="t"/>
          <a:lstStyle/>
          <a:p>
            <a:pPr indent="0" marL="0">
              <a:buNone/>
            </a:pPr>
            <a:r>
              <a:rPr lang="en-US" sz="3600" b="1" dirty="0">
                <a:solidFill>
                  <a:srgbClr val="B8955A"/>
                </a:solidFill>
                <a:latin typeface="Cambria" pitchFamily="34" charset="0"/>
                <a:ea typeface="Cambria" pitchFamily="34" charset="-122"/>
                <a:cs typeface="Cambria" pitchFamily="34" charset="-120"/>
              </a:rPr>
              <a:t>1 993 m</a:t>
            </a:r>
            <a:endParaRPr lang="en-US" sz="3600" dirty="0"/>
          </a:p>
        </p:txBody>
      </p:sp>
      <p:sp>
        <p:nvSpPr>
          <p:cNvPr id="13" name="Text 10"/>
          <p:cNvSpPr txBox="1"/>
          <p:nvPr/>
        </p:nvSpPr>
        <p:spPr>
          <a:xfrm>
            <a:off x="548640" y="5166360"/>
            <a:ext cx="1783080" cy="548640"/>
          </a:xfrm>
          <a:prstGeom prst="rect">
            <a:avLst/>
          </a:prstGeom>
          <a:noFill/>
          <a:ln/>
        </p:spPr>
        <p:txBody>
          <a:bodyPr wrap="square" lIns="0" tIns="0" rIns="0" bIns="0" rtlCol="0" anchor="t"/>
          <a:lstStyle/>
          <a:p>
            <a:pPr indent="0" marL="0">
              <a:buNone/>
            </a:pPr>
            <a:r>
              <a:rPr lang="en-US" sz="1300" b="1" dirty="0">
                <a:solidFill>
                  <a:srgbClr val="4A524E"/>
                </a:solidFill>
                <a:latin typeface="Calibri" pitchFamily="34" charset="0"/>
                <a:ea typeface="Calibri" pitchFamily="34" charset="-122"/>
                <a:cs typeface="Calibri" pitchFamily="34" charset="-120"/>
              </a:rPr>
              <a:t>Serra da Estrela, point culminant du continent</a:t>
            </a:r>
            <a:endParaRPr lang="en-US" sz="1300" dirty="0"/>
          </a:p>
        </p:txBody>
      </p:sp>
      <p:sp>
        <p:nvSpPr>
          <p:cNvPr id="14" name="Text 11"/>
          <p:cNvSpPr txBox="1"/>
          <p:nvPr/>
        </p:nvSpPr>
        <p:spPr>
          <a:xfrm>
            <a:off x="2423160" y="4480560"/>
            <a:ext cx="1783080" cy="685800"/>
          </a:xfrm>
          <a:prstGeom prst="rect">
            <a:avLst/>
          </a:prstGeom>
          <a:noFill/>
          <a:ln/>
        </p:spPr>
        <p:txBody>
          <a:bodyPr wrap="square" lIns="0" tIns="0" rIns="0" bIns="0" rtlCol="0" anchor="t"/>
          <a:lstStyle/>
          <a:p>
            <a:pPr indent="0" marL="0">
              <a:buNone/>
            </a:pPr>
            <a:r>
              <a:rPr lang="en-US" sz="3600" b="1" dirty="0">
                <a:solidFill>
                  <a:srgbClr val="174A3A"/>
                </a:solidFill>
                <a:latin typeface="Cambria" pitchFamily="34" charset="0"/>
                <a:ea typeface="Cambria" pitchFamily="34" charset="-122"/>
                <a:cs typeface="Cambria" pitchFamily="34" charset="-120"/>
              </a:rPr>
              <a:t>2 351 m</a:t>
            </a:r>
            <a:endParaRPr lang="en-US" sz="3600" dirty="0"/>
          </a:p>
        </p:txBody>
      </p:sp>
      <p:sp>
        <p:nvSpPr>
          <p:cNvPr id="15" name="Text 12"/>
          <p:cNvSpPr txBox="1"/>
          <p:nvPr/>
        </p:nvSpPr>
        <p:spPr>
          <a:xfrm>
            <a:off x="2423160" y="5166360"/>
            <a:ext cx="1783080" cy="548640"/>
          </a:xfrm>
          <a:prstGeom prst="rect">
            <a:avLst/>
          </a:prstGeom>
          <a:noFill/>
          <a:ln/>
        </p:spPr>
        <p:txBody>
          <a:bodyPr wrap="square" lIns="0" tIns="0" rIns="0" bIns="0" rtlCol="0" anchor="t"/>
          <a:lstStyle/>
          <a:p>
            <a:pPr indent="0" marL="0">
              <a:buNone/>
            </a:pPr>
            <a:r>
              <a:rPr lang="en-US" sz="1300" b="1" dirty="0">
                <a:solidFill>
                  <a:srgbClr val="4A524E"/>
                </a:solidFill>
                <a:latin typeface="Calibri" pitchFamily="34" charset="0"/>
                <a:ea typeface="Calibri" pitchFamily="34" charset="-122"/>
                <a:cs typeface="Calibri" pitchFamily="34" charset="-120"/>
              </a:rPr>
              <a:t>Pico (Açores), point culminant du pays</a:t>
            </a:r>
            <a:endParaRPr lang="en-US" sz="130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18D"/>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411480"/>
            <a:ext cx="10972800" cy="274320"/>
          </a:xfrm>
          <a:prstGeom prst="rect">
            <a:avLst/>
          </a:prstGeom>
          <a:noFill/>
          <a:ln/>
        </p:spPr>
        <p:txBody>
          <a:bodyPr wrap="square" lIns="0" tIns="0" rIns="0" bIns="0" rtlCol="0" anchor="t"/>
          <a:lstStyle/>
          <a:p>
            <a:pPr indent="0" marL="0">
              <a:buNone/>
            </a:pPr>
            <a:r>
              <a:rPr lang="en-US" sz="1200" b="1" spc="300" kern="0" dirty="0">
                <a:solidFill>
                  <a:srgbClr val="A83232"/>
                </a:solidFill>
                <a:latin typeface="Calibri" pitchFamily="34" charset="0"/>
                <a:ea typeface="Calibri" pitchFamily="34" charset="-122"/>
                <a:cs typeface="Calibri" pitchFamily="34" charset="-120"/>
              </a:rPr>
              <a:t>PETIT PAYS, GRANDE DIVERSITÉ</a:t>
            </a:r>
            <a:endParaRPr lang="en-US" sz="1200" dirty="0"/>
          </a:p>
        </p:txBody>
      </p:sp>
      <p:sp>
        <p:nvSpPr>
          <p:cNvPr id="3" name="Text 1"/>
          <p:cNvSpPr txBox="1"/>
          <p:nvPr/>
        </p:nvSpPr>
        <p:spPr>
          <a:xfrm>
            <a:off x="548640" y="685800"/>
            <a:ext cx="10972800" cy="685800"/>
          </a:xfrm>
          <a:prstGeom prst="rect">
            <a:avLst/>
          </a:prstGeom>
          <a:noFill/>
          <a:ln/>
        </p:spPr>
        <p:txBody>
          <a:bodyPr wrap="square" lIns="0" tIns="0" rIns="0" bIns="0" rtlCol="0" anchor="t"/>
          <a:lstStyle/>
          <a:p>
            <a:pPr indent="0" marL="0">
              <a:buNone/>
            </a:pPr>
            <a:r>
              <a:rPr lang="en-US" sz="3400" b="1" dirty="0">
                <a:solidFill>
                  <a:srgbClr val="174A3A"/>
                </a:solidFill>
                <a:latin typeface="Cambria" pitchFamily="34" charset="0"/>
                <a:ea typeface="Cambria" pitchFamily="34" charset="-122"/>
                <a:cs typeface="Cambria" pitchFamily="34" charset="-120"/>
              </a:rPr>
              <a:t>Deux visages, un même pays</a:t>
            </a:r>
            <a:endParaRPr lang="en-US" sz="3400" dirty="0"/>
          </a:p>
        </p:txBody>
      </p:sp>
      <p:pic>
        <p:nvPicPr>
          <p:cNvPr id="4" name="Image 0" descr="/home/user/Portugal-Website/images/luis/douro-train.jpg">    </p:cNvPr>
          <p:cNvPicPr>
            <a:picLocks noChangeAspect="1"/>
          </p:cNvPicPr>
          <p:nvPr/>
        </p:nvPicPr>
        <p:blipFill>
          <a:blip r:embed="rId1"/>
          <a:srcRect l="0" r="0" t="0" b="0"/>
          <a:stretch/>
        </p:blipFill>
        <p:spPr>
          <a:xfrm>
            <a:off x="548640" y="1600200"/>
            <a:ext cx="5486400" cy="2743200"/>
          </a:xfrm>
          <a:prstGeom prst="rect">
            <a:avLst/>
          </a:prstGeom>
        </p:spPr>
      </p:pic>
      <p:sp>
        <p:nvSpPr>
          <p:cNvPr id="5" name="Shape 2"/>
          <p:cNvSpPr/>
          <p:nvPr/>
        </p:nvSpPr>
        <p:spPr>
          <a:xfrm>
            <a:off x="548640" y="3959352"/>
            <a:ext cx="5486400" cy="384048"/>
          </a:xfrm>
          <a:prstGeom prst="rect">
            <a:avLst/>
          </a:prstGeom>
          <a:solidFill>
            <a:srgbClr val="000000">
              <a:alpha val="55000"/>
            </a:srgbClr>
          </a:solidFill>
          <a:ln w="12700">
            <a:solidFill>
              <a:srgbClr val="000000">
                <a:alpha val="0"/>
              </a:srgbClr>
            </a:solidFill>
            <a:prstDash val="solid"/>
          </a:ln>
        </p:spPr>
      </p:sp>
      <p:sp>
        <p:nvSpPr>
          <p:cNvPr id="6" name="Text 3"/>
          <p:cNvSpPr txBox="1"/>
          <p:nvPr/>
        </p:nvSpPr>
        <p:spPr>
          <a:xfrm>
            <a:off x="658368" y="3995928"/>
            <a:ext cx="5266944" cy="31089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NORD : MONTAGNEUX</a:t>
            </a:r>
            <a:endParaRPr lang="en-US" sz="1100" dirty="0"/>
          </a:p>
        </p:txBody>
      </p:sp>
      <p:pic>
        <p:nvPicPr>
          <p:cNvPr id="7" name="Image 1" descr="/home/user/Portugal-Website/images/photos/geo-south.jpg">    </p:cNvPr>
          <p:cNvPicPr>
            <a:picLocks noChangeAspect="1"/>
          </p:cNvPicPr>
          <p:nvPr/>
        </p:nvPicPr>
        <p:blipFill>
          <a:blip r:embed="rId2"/>
          <a:srcRect l="0" r="0" t="0" b="0"/>
          <a:stretch/>
        </p:blipFill>
        <p:spPr>
          <a:xfrm>
            <a:off x="6153912" y="1600200"/>
            <a:ext cx="5486400" cy="2743200"/>
          </a:xfrm>
          <a:prstGeom prst="rect">
            <a:avLst/>
          </a:prstGeom>
        </p:spPr>
      </p:pic>
      <p:sp>
        <p:nvSpPr>
          <p:cNvPr id="8" name="Shape 4"/>
          <p:cNvSpPr/>
          <p:nvPr/>
        </p:nvSpPr>
        <p:spPr>
          <a:xfrm>
            <a:off x="6153912" y="3959352"/>
            <a:ext cx="5486400" cy="384048"/>
          </a:xfrm>
          <a:prstGeom prst="rect">
            <a:avLst/>
          </a:prstGeom>
          <a:solidFill>
            <a:srgbClr val="000000">
              <a:alpha val="55000"/>
            </a:srgbClr>
          </a:solidFill>
          <a:ln w="12700">
            <a:solidFill>
              <a:srgbClr val="000000">
                <a:alpha val="0"/>
              </a:srgbClr>
            </a:solidFill>
            <a:prstDash val="solid"/>
          </a:ln>
        </p:spPr>
      </p:sp>
      <p:sp>
        <p:nvSpPr>
          <p:cNvPr id="9" name="Text 5"/>
          <p:cNvSpPr txBox="1"/>
          <p:nvPr/>
        </p:nvSpPr>
        <p:spPr>
          <a:xfrm>
            <a:off x="6263640" y="3995928"/>
            <a:ext cx="5266944" cy="31089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SUD : PLAINE</a:t>
            </a:r>
            <a:endParaRPr lang="en-US" sz="1100" dirty="0"/>
          </a:p>
        </p:txBody>
      </p:sp>
      <p:sp>
        <p:nvSpPr>
          <p:cNvPr id="10" name="Text 6"/>
          <p:cNvSpPr txBox="1"/>
          <p:nvPr/>
        </p:nvSpPr>
        <p:spPr>
          <a:xfrm>
            <a:off x="548640" y="4572000"/>
            <a:ext cx="5486400" cy="822960"/>
          </a:xfrm>
          <a:prstGeom prst="rect">
            <a:avLst/>
          </a:prstGeom>
          <a:noFill/>
          <a:ln/>
        </p:spPr>
        <p:txBody>
          <a:bodyPr wrap="square" lIns="0" tIns="0" rIns="0" bIns="0" rtlCol="0" anchor="t"/>
          <a:lstStyle/>
          <a:p>
            <a:pPr indent="0" marL="0">
              <a:buNone/>
            </a:pPr>
            <a:r>
              <a:rPr lang="en-US" sz="1500" dirty="0">
                <a:solidFill>
                  <a:srgbClr val="17211D"/>
                </a:solidFill>
                <a:latin typeface="Calibri" pitchFamily="34" charset="0"/>
                <a:ea typeface="Calibri" pitchFamily="34" charset="-122"/>
                <a:cs typeface="Calibri" pitchFamily="34" charset="-120"/>
              </a:rPr>
              <a:t>Relief marqué, collines, vallées verdoyantes et villages traditionnels.  Hivers plus froids et pluvieux, étés doux.</a:t>
            </a:r>
            <a:endParaRPr lang="en-US" sz="1500" dirty="0"/>
          </a:p>
        </p:txBody>
      </p:sp>
      <p:sp>
        <p:nvSpPr>
          <p:cNvPr id="11" name="Text 7"/>
          <p:cNvSpPr txBox="1"/>
          <p:nvPr/>
        </p:nvSpPr>
        <p:spPr>
          <a:xfrm>
            <a:off x="6153912" y="4572000"/>
            <a:ext cx="5486400" cy="822960"/>
          </a:xfrm>
          <a:prstGeom prst="rect">
            <a:avLst/>
          </a:prstGeom>
          <a:noFill/>
          <a:ln/>
        </p:spPr>
        <p:txBody>
          <a:bodyPr wrap="square" lIns="0" tIns="0" rIns="0" bIns="0" rtlCol="0" anchor="t"/>
          <a:lstStyle/>
          <a:p>
            <a:pPr indent="0" marL="0">
              <a:buNone/>
            </a:pPr>
            <a:r>
              <a:rPr lang="en-US" sz="1500" dirty="0">
                <a:solidFill>
                  <a:srgbClr val="17211D"/>
                </a:solidFill>
                <a:latin typeface="Calibri" pitchFamily="34" charset="0"/>
                <a:ea typeface="Calibri" pitchFamily="34" charset="-122"/>
                <a:cs typeface="Calibri" pitchFamily="34" charset="-120"/>
              </a:rPr>
              <a:t>Grands espaces ouverts, paysages doux et lumières intenses.  Hivers doux et ensoleillés, étés chauds et secs.</a:t>
            </a:r>
            <a:endParaRPr lang="en-US" sz="1500" dirty="0"/>
          </a:p>
        </p:txBody>
      </p:sp>
      <p:sp>
        <p:nvSpPr>
          <p:cNvPr id="12" name="Text 8"/>
          <p:cNvSpPr txBox="1"/>
          <p:nvPr/>
        </p:nvSpPr>
        <p:spPr>
          <a:xfrm>
            <a:off x="548640" y="5532120"/>
            <a:ext cx="11064240" cy="640080"/>
          </a:xfrm>
          <a:prstGeom prst="rect">
            <a:avLst/>
          </a:prstGeom>
          <a:noFill/>
          <a:ln/>
        </p:spPr>
        <p:txBody>
          <a:bodyPr wrap="square" lIns="0" tIns="0" rIns="0" bIns="0" rtlCol="0" anchor="t"/>
          <a:lstStyle/>
          <a:p>
            <a:pPr indent="0" marL="0">
              <a:buNone/>
            </a:pPr>
            <a:r>
              <a:rPr lang="en-US" sz="1400" i="1" dirty="0">
                <a:solidFill>
                  <a:srgbClr val="4A524E"/>
                </a:solidFill>
                <a:latin typeface="Calibri" pitchFamily="34" charset="0"/>
                <a:ea typeface="Calibri" pitchFamily="34" charset="-122"/>
                <a:cs typeface="Calibri" pitchFamily="34" charset="-120"/>
              </a:rPr>
              <a:t>Le climat du Portugal est influencé par le courant du Nord (océan Atlantique) et par les masses d'air chaudes venant du nord de l'Afrique.</a:t>
            </a:r>
            <a:endParaRPr lang="en-US" sz="140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18D"/>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411480"/>
            <a:ext cx="10972800" cy="274320"/>
          </a:xfrm>
          <a:prstGeom prst="rect">
            <a:avLst/>
          </a:prstGeom>
          <a:noFill/>
          <a:ln/>
        </p:spPr>
        <p:txBody>
          <a:bodyPr wrap="square" lIns="0" tIns="0" rIns="0" bIns="0" rtlCol="0" anchor="t"/>
          <a:lstStyle/>
          <a:p>
            <a:pPr indent="0" marL="0">
              <a:buNone/>
            </a:pPr>
            <a:r>
              <a:rPr lang="en-US" sz="1200" b="1" spc="300" kern="0" dirty="0">
                <a:solidFill>
                  <a:srgbClr val="A83232"/>
                </a:solidFill>
                <a:latin typeface="Calibri" pitchFamily="34" charset="0"/>
                <a:ea typeface="Calibri" pitchFamily="34" charset="-122"/>
                <a:cs typeface="Calibri" pitchFamily="34" charset="-120"/>
              </a:rPr>
              <a:t>LES ÎLES DU PORTUGAL</a:t>
            </a:r>
            <a:endParaRPr lang="en-US" sz="1200" dirty="0"/>
          </a:p>
        </p:txBody>
      </p:sp>
      <p:sp>
        <p:nvSpPr>
          <p:cNvPr id="3" name="Text 1"/>
          <p:cNvSpPr txBox="1"/>
          <p:nvPr/>
        </p:nvSpPr>
        <p:spPr>
          <a:xfrm>
            <a:off x="548640" y="685800"/>
            <a:ext cx="10972800" cy="685800"/>
          </a:xfrm>
          <a:prstGeom prst="rect">
            <a:avLst/>
          </a:prstGeom>
          <a:noFill/>
          <a:ln/>
        </p:spPr>
        <p:txBody>
          <a:bodyPr wrap="square" lIns="0" tIns="0" rIns="0" bIns="0" rtlCol="0" anchor="t"/>
          <a:lstStyle/>
          <a:p>
            <a:pPr indent="0" marL="0">
              <a:buNone/>
            </a:pPr>
            <a:r>
              <a:rPr lang="en-US" sz="3400" b="1" dirty="0">
                <a:solidFill>
                  <a:srgbClr val="174A3A"/>
                </a:solidFill>
                <a:latin typeface="Cambria" pitchFamily="34" charset="0"/>
                <a:ea typeface="Cambria" pitchFamily="34" charset="-122"/>
                <a:cs typeface="Cambria" pitchFamily="34" charset="-120"/>
              </a:rPr>
              <a:t>Madère et les Açores</a:t>
            </a:r>
            <a:endParaRPr lang="en-US" sz="3400" dirty="0"/>
          </a:p>
        </p:txBody>
      </p:sp>
      <p:sp>
        <p:nvSpPr>
          <p:cNvPr id="4" name="Text 2"/>
          <p:cNvSpPr txBox="1"/>
          <p:nvPr/>
        </p:nvSpPr>
        <p:spPr>
          <a:xfrm>
            <a:off x="548640" y="1371600"/>
            <a:ext cx="10972800" cy="594360"/>
          </a:xfrm>
          <a:prstGeom prst="rect">
            <a:avLst/>
          </a:prstGeom>
          <a:noFill/>
          <a:ln/>
        </p:spPr>
        <p:txBody>
          <a:bodyPr wrap="square" lIns="0" tIns="0" rIns="0" bIns="0" rtlCol="0" anchor="t"/>
          <a:lstStyle/>
          <a:p>
            <a:pPr indent="0" marL="0">
              <a:buNone/>
            </a:pPr>
            <a:r>
              <a:rPr lang="en-US" sz="1400" dirty="0">
                <a:solidFill>
                  <a:srgbClr val="17211D"/>
                </a:solidFill>
                <a:latin typeface="Calibri" pitchFamily="34" charset="0"/>
                <a:ea typeface="Calibri" pitchFamily="34" charset="-122"/>
                <a:cs typeface="Calibri" pitchFamily="34" charset="-120"/>
              </a:rPr>
              <a:t>Les deux archipels sont nés de volcans au milieu de l'Atlantique : les Açores à environ 1 400 km de Lisbonne, Madère à près de 1 000 km. Ce sont aujourd'hui deux régions autonomes du Portugal.</a:t>
            </a:r>
            <a:endParaRPr lang="en-US" sz="1400" dirty="0"/>
          </a:p>
        </p:txBody>
      </p:sp>
      <p:pic>
        <p:nvPicPr>
          <p:cNvPr id="5" name="Image 0" descr="/home/user/Portugal-Website/images/luis/sete-cidades.jpg">    </p:cNvPr>
          <p:cNvPicPr>
            <a:picLocks noChangeAspect="1"/>
          </p:cNvPicPr>
          <p:nvPr/>
        </p:nvPicPr>
        <p:blipFill>
          <a:blip r:embed="rId1"/>
          <a:srcRect l="0" r="0" t="0" b="0"/>
          <a:stretch/>
        </p:blipFill>
        <p:spPr>
          <a:xfrm>
            <a:off x="548640" y="2057400"/>
            <a:ext cx="3108960" cy="2103120"/>
          </a:xfrm>
          <a:prstGeom prst="rect">
            <a:avLst/>
          </a:prstGeom>
        </p:spPr>
      </p:pic>
      <p:pic>
        <p:nvPicPr>
          <p:cNvPr id="6" name="Image 1" descr="/home/user/Portugal-Website/images/photos/x-acores2.jpg">    </p:cNvPr>
          <p:cNvPicPr>
            <a:picLocks noChangeAspect="1"/>
          </p:cNvPicPr>
          <p:nvPr/>
        </p:nvPicPr>
        <p:blipFill>
          <a:blip r:embed="rId2"/>
          <a:srcRect l="0" r="0" t="0" b="0"/>
          <a:stretch/>
        </p:blipFill>
        <p:spPr>
          <a:xfrm>
            <a:off x="3749040" y="2057400"/>
            <a:ext cx="2194560" cy="2103120"/>
          </a:xfrm>
          <a:prstGeom prst="rect">
            <a:avLst/>
          </a:prstGeom>
        </p:spPr>
      </p:pic>
      <p:sp>
        <p:nvSpPr>
          <p:cNvPr id="7" name="Text 3"/>
          <p:cNvSpPr txBox="1"/>
          <p:nvPr/>
        </p:nvSpPr>
        <p:spPr>
          <a:xfrm>
            <a:off x="548640" y="4297680"/>
            <a:ext cx="5394960" cy="274320"/>
          </a:xfrm>
          <a:prstGeom prst="rect">
            <a:avLst/>
          </a:prstGeom>
          <a:noFill/>
          <a:ln/>
        </p:spPr>
        <p:txBody>
          <a:bodyPr wrap="square" lIns="0" tIns="0" rIns="0" bIns="0" rtlCol="0" anchor="t"/>
          <a:lstStyle/>
          <a:p>
            <a:pPr indent="0" marL="0">
              <a:buNone/>
            </a:pPr>
            <a:r>
              <a:rPr lang="en-US" sz="1300" b="1" spc="200" kern="0" dirty="0">
                <a:solidFill>
                  <a:srgbClr val="A83232"/>
                </a:solidFill>
                <a:latin typeface="Calibri" pitchFamily="34" charset="0"/>
                <a:ea typeface="Calibri" pitchFamily="34" charset="-122"/>
                <a:cs typeface="Calibri" pitchFamily="34" charset="-120"/>
              </a:rPr>
              <a:t>AÇORES</a:t>
            </a:r>
            <a:endParaRPr lang="en-US" sz="1300" dirty="0"/>
          </a:p>
        </p:txBody>
      </p:sp>
      <p:sp>
        <p:nvSpPr>
          <p:cNvPr id="8" name="Text 4"/>
          <p:cNvSpPr txBox="1"/>
          <p:nvPr/>
        </p:nvSpPr>
        <p:spPr>
          <a:xfrm>
            <a:off x="548640" y="4572000"/>
            <a:ext cx="5394960" cy="1234440"/>
          </a:xfrm>
          <a:prstGeom prst="rect">
            <a:avLst/>
          </a:prstGeom>
          <a:noFill/>
          <a:ln/>
        </p:spPr>
        <p:txBody>
          <a:bodyPr wrap="square" lIns="0" tIns="0" rIns="0" bIns="0" rtlCol="0" anchor="t">
            <a:normAutofit/>
          </a:bodyPr>
          <a:lstStyle/>
          <a:p>
            <a:pPr indent="0" marL="0">
              <a:buNone/>
            </a:pPr>
            <a:r>
              <a:rPr lang="en-US" sz="1150" dirty="0">
                <a:solidFill>
                  <a:srgbClr val="17211D"/>
                </a:solidFill>
                <a:latin typeface="Calibri" pitchFamily="34" charset="0"/>
                <a:ea typeface="Calibri" pitchFamily="34" charset="-122"/>
                <a:cs typeface="Calibri" pitchFamily="34" charset="-120"/>
              </a:rPr>
              <a:t>Neuf îles réparties sur plus de 600 km. Les navigateurs portugais découvrent les premières vers 1427 et les peuplent à partir des années 1430 ; Flores et Corvo, les plus à l'ouest, ne sont atteintes qu'en 1452. Lacs de cratère, sources chaudes, baleines et hortensias.</a:t>
            </a:r>
            <a:endParaRPr lang="en-US" sz="1150" dirty="0"/>
          </a:p>
        </p:txBody>
      </p:sp>
      <p:sp>
        <p:nvSpPr>
          <p:cNvPr id="9" name="Text 5"/>
          <p:cNvSpPr txBox="1"/>
          <p:nvPr/>
        </p:nvSpPr>
        <p:spPr>
          <a:xfrm>
            <a:off x="548640" y="5852160"/>
            <a:ext cx="1737360" cy="365760"/>
          </a:xfrm>
          <a:prstGeom prst="rect">
            <a:avLst/>
          </a:prstGeom>
          <a:noFill/>
          <a:ln/>
        </p:spPr>
        <p:txBody>
          <a:bodyPr wrap="square" lIns="0" tIns="0" rIns="0" bIns="0" rtlCol="0" anchor="t"/>
          <a:lstStyle/>
          <a:p>
            <a:pPr indent="0" marL="0">
              <a:buNone/>
            </a:pPr>
            <a:r>
              <a:rPr lang="en-US" sz="1800" b="1" dirty="0">
                <a:solidFill>
                  <a:srgbClr val="174A3A"/>
                </a:solidFill>
                <a:latin typeface="Cambria" pitchFamily="34" charset="0"/>
                <a:ea typeface="Cambria" pitchFamily="34" charset="-122"/>
                <a:cs typeface="Cambria" pitchFamily="34" charset="-120"/>
              </a:rPr>
              <a:t>9</a:t>
            </a:r>
            <a:endParaRPr lang="en-US" sz="1800" dirty="0"/>
          </a:p>
        </p:txBody>
      </p:sp>
      <p:sp>
        <p:nvSpPr>
          <p:cNvPr id="10" name="Text 6"/>
          <p:cNvSpPr txBox="1"/>
          <p:nvPr/>
        </p:nvSpPr>
        <p:spPr>
          <a:xfrm>
            <a:off x="548640" y="6217920"/>
            <a:ext cx="1737360" cy="365760"/>
          </a:xfrm>
          <a:prstGeom prst="rect">
            <a:avLst/>
          </a:prstGeom>
          <a:noFill/>
          <a:ln/>
        </p:spPr>
        <p:txBody>
          <a:bodyPr wrap="square" lIns="0" tIns="0" rIns="0" bIns="0" rtlCol="0" anchor="t"/>
          <a:lstStyle/>
          <a:p>
            <a:pPr indent="0" marL="0">
              <a:buNone/>
            </a:pPr>
            <a:r>
              <a:rPr lang="en-US" sz="850" b="1" dirty="0">
                <a:solidFill>
                  <a:srgbClr val="4A524E"/>
                </a:solidFill>
                <a:latin typeface="Calibri" pitchFamily="34" charset="0"/>
                <a:ea typeface="Calibri" pitchFamily="34" charset="-122"/>
                <a:cs typeface="Calibri" pitchFamily="34" charset="-120"/>
              </a:rPr>
              <a:t>ÎLES</a:t>
            </a:r>
            <a:endParaRPr lang="en-US" sz="850" dirty="0"/>
          </a:p>
        </p:txBody>
      </p:sp>
      <p:sp>
        <p:nvSpPr>
          <p:cNvPr id="11" name="Text 7"/>
          <p:cNvSpPr txBox="1"/>
          <p:nvPr/>
        </p:nvSpPr>
        <p:spPr>
          <a:xfrm>
            <a:off x="2377440" y="5852160"/>
            <a:ext cx="1737360" cy="365760"/>
          </a:xfrm>
          <a:prstGeom prst="rect">
            <a:avLst/>
          </a:prstGeom>
          <a:noFill/>
          <a:ln/>
        </p:spPr>
        <p:txBody>
          <a:bodyPr wrap="square" lIns="0" tIns="0" rIns="0" bIns="0" rtlCol="0" anchor="t"/>
          <a:lstStyle/>
          <a:p>
            <a:pPr indent="0" marL="0">
              <a:buNone/>
            </a:pPr>
            <a:r>
              <a:rPr lang="en-US" sz="1800" b="1" dirty="0">
                <a:solidFill>
                  <a:srgbClr val="174A3A"/>
                </a:solidFill>
                <a:latin typeface="Cambria" pitchFamily="34" charset="0"/>
                <a:ea typeface="Cambria" pitchFamily="34" charset="-122"/>
                <a:cs typeface="Cambria" pitchFamily="34" charset="-120"/>
              </a:rPr>
              <a:t>1427</a:t>
            </a:r>
            <a:endParaRPr lang="en-US" sz="1800" dirty="0"/>
          </a:p>
        </p:txBody>
      </p:sp>
      <p:sp>
        <p:nvSpPr>
          <p:cNvPr id="12" name="Text 8"/>
          <p:cNvSpPr txBox="1"/>
          <p:nvPr/>
        </p:nvSpPr>
        <p:spPr>
          <a:xfrm>
            <a:off x="2377440" y="6217920"/>
            <a:ext cx="1737360" cy="365760"/>
          </a:xfrm>
          <a:prstGeom prst="rect">
            <a:avLst/>
          </a:prstGeom>
          <a:noFill/>
          <a:ln/>
        </p:spPr>
        <p:txBody>
          <a:bodyPr wrap="square" lIns="0" tIns="0" rIns="0" bIns="0" rtlCol="0" anchor="t"/>
          <a:lstStyle/>
          <a:p>
            <a:pPr indent="0" marL="0">
              <a:buNone/>
            </a:pPr>
            <a:r>
              <a:rPr lang="en-US" sz="850" b="1" dirty="0">
                <a:solidFill>
                  <a:srgbClr val="4A524E"/>
                </a:solidFill>
                <a:latin typeface="Calibri" pitchFamily="34" charset="0"/>
                <a:ea typeface="Calibri" pitchFamily="34" charset="-122"/>
                <a:cs typeface="Calibri" pitchFamily="34" charset="-120"/>
              </a:rPr>
              <a:t>DÉCOUVERTE DES PREMIÈRES ÎLES</a:t>
            </a:r>
            <a:endParaRPr lang="en-US" sz="850" dirty="0"/>
          </a:p>
        </p:txBody>
      </p:sp>
      <p:sp>
        <p:nvSpPr>
          <p:cNvPr id="13" name="Text 9"/>
          <p:cNvSpPr txBox="1"/>
          <p:nvPr/>
        </p:nvSpPr>
        <p:spPr>
          <a:xfrm>
            <a:off x="4206240" y="5852160"/>
            <a:ext cx="1737360" cy="365760"/>
          </a:xfrm>
          <a:prstGeom prst="rect">
            <a:avLst/>
          </a:prstGeom>
          <a:noFill/>
          <a:ln/>
        </p:spPr>
        <p:txBody>
          <a:bodyPr wrap="square" lIns="0" tIns="0" rIns="0" bIns="0" rtlCol="0" anchor="t"/>
          <a:lstStyle/>
          <a:p>
            <a:pPr indent="0" marL="0">
              <a:buNone/>
            </a:pPr>
            <a:r>
              <a:rPr lang="en-US" sz="1800" b="1" dirty="0">
                <a:solidFill>
                  <a:srgbClr val="174A3A"/>
                </a:solidFill>
                <a:latin typeface="Cambria" pitchFamily="34" charset="0"/>
                <a:ea typeface="Cambria" pitchFamily="34" charset="-122"/>
                <a:cs typeface="Cambria" pitchFamily="34" charset="-120"/>
              </a:rPr>
              <a:t>2 351 m</a:t>
            </a:r>
            <a:endParaRPr lang="en-US" sz="1800" dirty="0"/>
          </a:p>
        </p:txBody>
      </p:sp>
      <p:sp>
        <p:nvSpPr>
          <p:cNvPr id="14" name="Text 10"/>
          <p:cNvSpPr txBox="1"/>
          <p:nvPr/>
        </p:nvSpPr>
        <p:spPr>
          <a:xfrm>
            <a:off x="4206240" y="6217920"/>
            <a:ext cx="1737360" cy="365760"/>
          </a:xfrm>
          <a:prstGeom prst="rect">
            <a:avLst/>
          </a:prstGeom>
          <a:noFill/>
          <a:ln/>
        </p:spPr>
        <p:txBody>
          <a:bodyPr wrap="square" lIns="0" tIns="0" rIns="0" bIns="0" rtlCol="0" anchor="t"/>
          <a:lstStyle/>
          <a:p>
            <a:pPr indent="0" marL="0">
              <a:buNone/>
            </a:pPr>
            <a:r>
              <a:rPr lang="en-US" sz="850" b="1" dirty="0">
                <a:solidFill>
                  <a:srgbClr val="4A524E"/>
                </a:solidFill>
                <a:latin typeface="Calibri" pitchFamily="34" charset="0"/>
                <a:ea typeface="Calibri" pitchFamily="34" charset="-122"/>
                <a:cs typeface="Calibri" pitchFamily="34" charset="-120"/>
              </a:rPr>
              <a:t>PICO</a:t>
            </a:r>
            <a:endParaRPr lang="en-US" sz="850" dirty="0"/>
          </a:p>
        </p:txBody>
      </p:sp>
      <p:pic>
        <p:nvPicPr>
          <p:cNvPr id="15" name="Image 2" descr="/home/user/Portugal-Website/images/photos/x-madeira1.jpg">    </p:cNvPr>
          <p:cNvPicPr>
            <a:picLocks noChangeAspect="1"/>
          </p:cNvPicPr>
          <p:nvPr/>
        </p:nvPicPr>
        <p:blipFill>
          <a:blip r:embed="rId3"/>
          <a:srcRect l="0" r="0" t="0" b="0"/>
          <a:stretch/>
        </p:blipFill>
        <p:spPr>
          <a:xfrm>
            <a:off x="6217920" y="2057400"/>
            <a:ext cx="3108960" cy="2103120"/>
          </a:xfrm>
          <a:prstGeom prst="rect">
            <a:avLst/>
          </a:prstGeom>
        </p:spPr>
      </p:pic>
      <p:pic>
        <p:nvPicPr>
          <p:cNvPr id="16" name="Image 3" descr="/home/user/Portugal-Website/images/photos/x-madeira2.jpg">    </p:cNvPr>
          <p:cNvPicPr>
            <a:picLocks noChangeAspect="1"/>
          </p:cNvPicPr>
          <p:nvPr/>
        </p:nvPicPr>
        <p:blipFill>
          <a:blip r:embed="rId4"/>
          <a:srcRect l="0" r="0" t="0" b="0"/>
          <a:stretch/>
        </p:blipFill>
        <p:spPr>
          <a:xfrm>
            <a:off x="9418320" y="2057400"/>
            <a:ext cx="2194560" cy="2103120"/>
          </a:xfrm>
          <a:prstGeom prst="rect">
            <a:avLst/>
          </a:prstGeom>
        </p:spPr>
      </p:pic>
      <p:sp>
        <p:nvSpPr>
          <p:cNvPr id="17" name="Text 11"/>
          <p:cNvSpPr txBox="1"/>
          <p:nvPr/>
        </p:nvSpPr>
        <p:spPr>
          <a:xfrm>
            <a:off x="6217920" y="4297680"/>
            <a:ext cx="5394960" cy="274320"/>
          </a:xfrm>
          <a:prstGeom prst="rect">
            <a:avLst/>
          </a:prstGeom>
          <a:noFill/>
          <a:ln/>
        </p:spPr>
        <p:txBody>
          <a:bodyPr wrap="square" lIns="0" tIns="0" rIns="0" bIns="0" rtlCol="0" anchor="t"/>
          <a:lstStyle/>
          <a:p>
            <a:pPr indent="0" marL="0">
              <a:buNone/>
            </a:pPr>
            <a:r>
              <a:rPr lang="en-US" sz="1300" b="1" spc="200" kern="0" dirty="0">
                <a:solidFill>
                  <a:srgbClr val="A83232"/>
                </a:solidFill>
                <a:latin typeface="Calibri" pitchFamily="34" charset="0"/>
                <a:ea typeface="Calibri" pitchFamily="34" charset="-122"/>
                <a:cs typeface="Calibri" pitchFamily="34" charset="-120"/>
              </a:rPr>
              <a:t>MADÈRE</a:t>
            </a:r>
            <a:endParaRPr lang="en-US" sz="1300" dirty="0"/>
          </a:p>
        </p:txBody>
      </p:sp>
      <p:sp>
        <p:nvSpPr>
          <p:cNvPr id="18" name="Text 12"/>
          <p:cNvSpPr txBox="1"/>
          <p:nvPr/>
        </p:nvSpPr>
        <p:spPr>
          <a:xfrm>
            <a:off x="6217920" y="4572000"/>
            <a:ext cx="5394960" cy="1234440"/>
          </a:xfrm>
          <a:prstGeom prst="rect">
            <a:avLst/>
          </a:prstGeom>
          <a:noFill/>
          <a:ln/>
        </p:spPr>
        <p:txBody>
          <a:bodyPr wrap="square" lIns="0" tIns="0" rIns="0" bIns="0" rtlCol="0" anchor="t">
            <a:normAutofit/>
          </a:bodyPr>
          <a:lstStyle/>
          <a:p>
            <a:pPr indent="0" marL="0">
              <a:buNone/>
            </a:pPr>
            <a:r>
              <a:rPr lang="en-US" sz="1150" dirty="0">
                <a:solidFill>
                  <a:srgbClr val="17211D"/>
                </a:solidFill>
                <a:latin typeface="Calibri" pitchFamily="34" charset="0"/>
                <a:ea typeface="Calibri" pitchFamily="34" charset="-122"/>
                <a:cs typeface="Calibri" pitchFamily="34" charset="-120"/>
              </a:rPr>
              <a:t>Deux îles habitées : Madère et Porto Santo (les îles Desertas et Selvagens, elles, sont inhabitées). João Gonçalves Zarco et Tristão Vaz Teixeira découvrent Porto Santo en 1418, puis Madère en 1419. Falaises vertigineuses, levadas et douceur toute l'année.</a:t>
            </a:r>
            <a:endParaRPr lang="en-US" sz="1150" dirty="0"/>
          </a:p>
        </p:txBody>
      </p:sp>
      <p:sp>
        <p:nvSpPr>
          <p:cNvPr id="19" name="Text 13"/>
          <p:cNvSpPr txBox="1"/>
          <p:nvPr/>
        </p:nvSpPr>
        <p:spPr>
          <a:xfrm>
            <a:off x="6217920" y="5852160"/>
            <a:ext cx="1737360" cy="365760"/>
          </a:xfrm>
          <a:prstGeom prst="rect">
            <a:avLst/>
          </a:prstGeom>
          <a:noFill/>
          <a:ln/>
        </p:spPr>
        <p:txBody>
          <a:bodyPr wrap="square" lIns="0" tIns="0" rIns="0" bIns="0" rtlCol="0" anchor="t"/>
          <a:lstStyle/>
          <a:p>
            <a:pPr indent="0" marL="0">
              <a:buNone/>
            </a:pPr>
            <a:r>
              <a:rPr lang="en-US" sz="1800" b="1" dirty="0">
                <a:solidFill>
                  <a:srgbClr val="174A3A"/>
                </a:solidFill>
                <a:latin typeface="Cambria" pitchFamily="34" charset="0"/>
                <a:ea typeface="Cambria" pitchFamily="34" charset="-122"/>
                <a:cs typeface="Cambria" pitchFamily="34" charset="-120"/>
              </a:rPr>
              <a:t>2</a:t>
            </a:r>
            <a:endParaRPr lang="en-US" sz="1800" dirty="0"/>
          </a:p>
        </p:txBody>
      </p:sp>
      <p:sp>
        <p:nvSpPr>
          <p:cNvPr id="20" name="Text 14"/>
          <p:cNvSpPr txBox="1"/>
          <p:nvPr/>
        </p:nvSpPr>
        <p:spPr>
          <a:xfrm>
            <a:off x="6217920" y="6217920"/>
            <a:ext cx="1737360" cy="365760"/>
          </a:xfrm>
          <a:prstGeom prst="rect">
            <a:avLst/>
          </a:prstGeom>
          <a:noFill/>
          <a:ln/>
        </p:spPr>
        <p:txBody>
          <a:bodyPr wrap="square" lIns="0" tIns="0" rIns="0" bIns="0" rtlCol="0" anchor="t"/>
          <a:lstStyle/>
          <a:p>
            <a:pPr indent="0" marL="0">
              <a:buNone/>
            </a:pPr>
            <a:r>
              <a:rPr lang="en-US" sz="850" b="1" dirty="0">
                <a:solidFill>
                  <a:srgbClr val="4A524E"/>
                </a:solidFill>
                <a:latin typeface="Calibri" pitchFamily="34" charset="0"/>
                <a:ea typeface="Calibri" pitchFamily="34" charset="-122"/>
                <a:cs typeface="Calibri" pitchFamily="34" charset="-120"/>
              </a:rPr>
              <a:t>ÎLES HABITÉES</a:t>
            </a:r>
            <a:endParaRPr lang="en-US" sz="850" dirty="0"/>
          </a:p>
        </p:txBody>
      </p:sp>
      <p:sp>
        <p:nvSpPr>
          <p:cNvPr id="21" name="Text 15"/>
          <p:cNvSpPr txBox="1"/>
          <p:nvPr/>
        </p:nvSpPr>
        <p:spPr>
          <a:xfrm>
            <a:off x="8046720" y="5852160"/>
            <a:ext cx="1737360" cy="365760"/>
          </a:xfrm>
          <a:prstGeom prst="rect">
            <a:avLst/>
          </a:prstGeom>
          <a:noFill/>
          <a:ln/>
        </p:spPr>
        <p:txBody>
          <a:bodyPr wrap="square" lIns="0" tIns="0" rIns="0" bIns="0" rtlCol="0" anchor="t"/>
          <a:lstStyle/>
          <a:p>
            <a:pPr indent="0" marL="0">
              <a:buNone/>
            </a:pPr>
            <a:r>
              <a:rPr lang="en-US" sz="1800" b="1" dirty="0">
                <a:solidFill>
                  <a:srgbClr val="174A3A"/>
                </a:solidFill>
                <a:latin typeface="Cambria" pitchFamily="34" charset="0"/>
                <a:ea typeface="Cambria" pitchFamily="34" charset="-122"/>
                <a:cs typeface="Cambria" pitchFamily="34" charset="-120"/>
              </a:rPr>
              <a:t>1419</a:t>
            </a:r>
            <a:endParaRPr lang="en-US" sz="1800" dirty="0"/>
          </a:p>
        </p:txBody>
      </p:sp>
      <p:sp>
        <p:nvSpPr>
          <p:cNvPr id="22" name="Text 16"/>
          <p:cNvSpPr txBox="1"/>
          <p:nvPr/>
        </p:nvSpPr>
        <p:spPr>
          <a:xfrm>
            <a:off x="8046720" y="6217920"/>
            <a:ext cx="1737360" cy="365760"/>
          </a:xfrm>
          <a:prstGeom prst="rect">
            <a:avLst/>
          </a:prstGeom>
          <a:noFill/>
          <a:ln/>
        </p:spPr>
        <p:txBody>
          <a:bodyPr wrap="square" lIns="0" tIns="0" rIns="0" bIns="0" rtlCol="0" anchor="t"/>
          <a:lstStyle/>
          <a:p>
            <a:pPr indent="0" marL="0">
              <a:buNone/>
            </a:pPr>
            <a:r>
              <a:rPr lang="en-US" sz="850" b="1" dirty="0">
                <a:solidFill>
                  <a:srgbClr val="4A524E"/>
                </a:solidFill>
                <a:latin typeface="Calibri" pitchFamily="34" charset="0"/>
                <a:ea typeface="Calibri" pitchFamily="34" charset="-122"/>
                <a:cs typeface="Calibri" pitchFamily="34" charset="-120"/>
              </a:rPr>
              <a:t>DÉCOUVERTE DE MADÈRE</a:t>
            </a:r>
            <a:endParaRPr lang="en-US" sz="850" dirty="0"/>
          </a:p>
        </p:txBody>
      </p:sp>
      <p:sp>
        <p:nvSpPr>
          <p:cNvPr id="23" name="Text 17"/>
          <p:cNvSpPr txBox="1"/>
          <p:nvPr/>
        </p:nvSpPr>
        <p:spPr>
          <a:xfrm>
            <a:off x="9875520" y="5852160"/>
            <a:ext cx="1737360" cy="365760"/>
          </a:xfrm>
          <a:prstGeom prst="rect">
            <a:avLst/>
          </a:prstGeom>
          <a:noFill/>
          <a:ln/>
        </p:spPr>
        <p:txBody>
          <a:bodyPr wrap="square" lIns="0" tIns="0" rIns="0" bIns="0" rtlCol="0" anchor="t"/>
          <a:lstStyle/>
          <a:p>
            <a:pPr indent="0" marL="0">
              <a:buNone/>
            </a:pPr>
            <a:r>
              <a:rPr lang="en-US" sz="1800" b="1" dirty="0">
                <a:solidFill>
                  <a:srgbClr val="174A3A"/>
                </a:solidFill>
                <a:latin typeface="Cambria" pitchFamily="34" charset="0"/>
                <a:ea typeface="Cambria" pitchFamily="34" charset="-122"/>
                <a:cs typeface="Cambria" pitchFamily="34" charset="-120"/>
              </a:rPr>
              <a:t>1976</a:t>
            </a:r>
            <a:endParaRPr lang="en-US" sz="1800" dirty="0"/>
          </a:p>
        </p:txBody>
      </p:sp>
      <p:sp>
        <p:nvSpPr>
          <p:cNvPr id="24" name="Text 18"/>
          <p:cNvSpPr txBox="1"/>
          <p:nvPr/>
        </p:nvSpPr>
        <p:spPr>
          <a:xfrm>
            <a:off x="9875520" y="6217920"/>
            <a:ext cx="1737360" cy="365760"/>
          </a:xfrm>
          <a:prstGeom prst="rect">
            <a:avLst/>
          </a:prstGeom>
          <a:noFill/>
          <a:ln/>
        </p:spPr>
        <p:txBody>
          <a:bodyPr wrap="square" lIns="0" tIns="0" rIns="0" bIns="0" rtlCol="0" anchor="t"/>
          <a:lstStyle/>
          <a:p>
            <a:pPr indent="0" marL="0">
              <a:buNone/>
            </a:pPr>
            <a:r>
              <a:rPr lang="en-US" sz="850" b="1" dirty="0">
                <a:solidFill>
                  <a:srgbClr val="4A524E"/>
                </a:solidFill>
                <a:latin typeface="Calibri" pitchFamily="34" charset="0"/>
                <a:ea typeface="Calibri" pitchFamily="34" charset="-122"/>
                <a:cs typeface="Calibri" pitchFamily="34" charset="-120"/>
              </a:rPr>
              <a:t>AUTONOMIE</a:t>
            </a:r>
            <a:endParaRPr lang="en-US" sz="85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18D"/>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411480"/>
            <a:ext cx="10972800" cy="274320"/>
          </a:xfrm>
          <a:prstGeom prst="rect">
            <a:avLst/>
          </a:prstGeom>
          <a:noFill/>
          <a:ln/>
        </p:spPr>
        <p:txBody>
          <a:bodyPr wrap="square" lIns="0" tIns="0" rIns="0" bIns="0" rtlCol="0" anchor="t"/>
          <a:lstStyle/>
          <a:p>
            <a:pPr indent="0" marL="0">
              <a:buNone/>
            </a:pPr>
            <a:r>
              <a:rPr lang="en-US" sz="1200" b="1" spc="300" kern="0" dirty="0">
                <a:solidFill>
                  <a:srgbClr val="A83232"/>
                </a:solidFill>
                <a:latin typeface="Calibri" pitchFamily="34" charset="0"/>
                <a:ea typeface="Calibri" pitchFamily="34" charset="-122"/>
                <a:cs typeface="Calibri" pitchFamily="34" charset="-120"/>
              </a:rPr>
              <a:t>LE SAVIEZ-VOUS ?</a:t>
            </a:r>
            <a:endParaRPr lang="en-US" sz="1200" dirty="0"/>
          </a:p>
        </p:txBody>
      </p:sp>
      <p:sp>
        <p:nvSpPr>
          <p:cNvPr id="3" name="Text 1"/>
          <p:cNvSpPr txBox="1"/>
          <p:nvPr/>
        </p:nvSpPr>
        <p:spPr>
          <a:xfrm>
            <a:off x="548640" y="685800"/>
            <a:ext cx="6583680" cy="685800"/>
          </a:xfrm>
          <a:prstGeom prst="rect">
            <a:avLst/>
          </a:prstGeom>
          <a:noFill/>
          <a:ln/>
        </p:spPr>
        <p:txBody>
          <a:bodyPr wrap="square" lIns="0" tIns="0" rIns="0" bIns="0" rtlCol="0" anchor="t"/>
          <a:lstStyle/>
          <a:p>
            <a:pPr indent="0" marL="0">
              <a:buNone/>
            </a:pPr>
            <a:r>
              <a:rPr lang="en-US" sz="3400" b="1" dirty="0">
                <a:solidFill>
                  <a:srgbClr val="174A3A"/>
                </a:solidFill>
                <a:latin typeface="Cambria" pitchFamily="34" charset="0"/>
                <a:ea typeface="Cambria" pitchFamily="34" charset="-122"/>
                <a:cs typeface="Cambria" pitchFamily="34" charset="-120"/>
              </a:rPr>
              <a:t>Petits faits étonnants</a:t>
            </a:r>
            <a:endParaRPr lang="en-US" sz="3400" dirty="0"/>
          </a:p>
        </p:txBody>
      </p:sp>
      <p:sp>
        <p:nvSpPr>
          <p:cNvPr id="4" name="Shape 2"/>
          <p:cNvSpPr/>
          <p:nvPr/>
        </p:nvSpPr>
        <p:spPr>
          <a:xfrm>
            <a:off x="548640" y="1691640"/>
            <a:ext cx="457200" cy="457200"/>
          </a:xfrm>
          <a:prstGeom prst="ellipse">
            <a:avLst/>
          </a:prstGeom>
          <a:solidFill>
            <a:srgbClr val="174A3A"/>
          </a:solidFill>
          <a:ln w="12700">
            <a:solidFill>
              <a:srgbClr val="174A3A"/>
            </a:solidFill>
            <a:prstDash val="solid"/>
          </a:ln>
        </p:spPr>
      </p:sp>
      <p:sp>
        <p:nvSpPr>
          <p:cNvPr id="5" name="Text 3"/>
          <p:cNvSpPr txBox="1"/>
          <p:nvPr/>
        </p:nvSpPr>
        <p:spPr>
          <a:xfrm>
            <a:off x="548640" y="16916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6" name="Text 4"/>
          <p:cNvSpPr txBox="1"/>
          <p:nvPr/>
        </p:nvSpPr>
        <p:spPr>
          <a:xfrm>
            <a:off x="1234440" y="1645920"/>
            <a:ext cx="5669280" cy="914400"/>
          </a:xfrm>
          <a:prstGeom prst="rect">
            <a:avLst/>
          </a:prstGeom>
          <a:noFill/>
          <a:ln/>
        </p:spPr>
        <p:txBody>
          <a:bodyPr wrap="square" lIns="0" tIns="0" rIns="0" bIns="0" rtlCol="0" anchor="t"/>
          <a:lstStyle/>
          <a:p>
            <a:pPr indent="0" marL="0">
              <a:buNone/>
            </a:pPr>
            <a:r>
              <a:rPr lang="en-US" sz="1600" dirty="0">
                <a:solidFill>
                  <a:srgbClr val="17211D"/>
                </a:solidFill>
                <a:latin typeface="Calibri" pitchFamily="34" charset="0"/>
                <a:ea typeface="Calibri" pitchFamily="34" charset="-122"/>
                <a:cs typeface="Calibri" pitchFamily="34" charset="-120"/>
              </a:rPr>
              <a:t>Le point culminant du pays se trouve aux Açores (Pico, 2 351 m). Sur le continent, c'est la Serra da Estrela (1 993 m).</a:t>
            </a:r>
            <a:endParaRPr lang="en-US" sz="1600" dirty="0"/>
          </a:p>
        </p:txBody>
      </p:sp>
      <p:sp>
        <p:nvSpPr>
          <p:cNvPr id="7" name="Shape 5"/>
          <p:cNvSpPr/>
          <p:nvPr/>
        </p:nvSpPr>
        <p:spPr>
          <a:xfrm>
            <a:off x="548640" y="2788920"/>
            <a:ext cx="457200" cy="457200"/>
          </a:xfrm>
          <a:prstGeom prst="ellipse">
            <a:avLst/>
          </a:prstGeom>
          <a:solidFill>
            <a:srgbClr val="A83232"/>
          </a:solidFill>
          <a:ln w="12700">
            <a:solidFill>
              <a:srgbClr val="A83232"/>
            </a:solidFill>
            <a:prstDash val="solid"/>
          </a:ln>
        </p:spPr>
      </p:sp>
      <p:sp>
        <p:nvSpPr>
          <p:cNvPr id="8" name="Text 6"/>
          <p:cNvSpPr txBox="1"/>
          <p:nvPr/>
        </p:nvSpPr>
        <p:spPr>
          <a:xfrm>
            <a:off x="548640" y="27889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9" name="Text 7"/>
          <p:cNvSpPr txBox="1"/>
          <p:nvPr/>
        </p:nvSpPr>
        <p:spPr>
          <a:xfrm>
            <a:off x="1234440" y="2743200"/>
            <a:ext cx="5669280" cy="914400"/>
          </a:xfrm>
          <a:prstGeom prst="rect">
            <a:avLst/>
          </a:prstGeom>
          <a:noFill/>
          <a:ln/>
        </p:spPr>
        <p:txBody>
          <a:bodyPr wrap="square" lIns="0" tIns="0" rIns="0" bIns="0" rtlCol="0" anchor="t"/>
          <a:lstStyle/>
          <a:p>
            <a:pPr indent="0" marL="0">
              <a:buNone/>
            </a:pPr>
            <a:r>
              <a:rPr lang="en-US" sz="1600" dirty="0">
                <a:solidFill>
                  <a:srgbClr val="17211D"/>
                </a:solidFill>
                <a:latin typeface="Calibri" pitchFamily="34" charset="0"/>
                <a:ea typeface="Calibri" pitchFamily="34" charset="-122"/>
                <a:cs typeface="Calibri" pitchFamily="34" charset="-120"/>
              </a:rPr>
              <a:t>Le Portugal n'a qu'un seul voisin terrestre : l'Espagne.</a:t>
            </a:r>
            <a:endParaRPr lang="en-US" sz="1600" dirty="0"/>
          </a:p>
        </p:txBody>
      </p:sp>
      <p:sp>
        <p:nvSpPr>
          <p:cNvPr id="10" name="Shape 8"/>
          <p:cNvSpPr/>
          <p:nvPr/>
        </p:nvSpPr>
        <p:spPr>
          <a:xfrm>
            <a:off x="548640" y="3886200"/>
            <a:ext cx="457200" cy="457200"/>
          </a:xfrm>
          <a:prstGeom prst="ellipse">
            <a:avLst/>
          </a:prstGeom>
          <a:solidFill>
            <a:srgbClr val="1E4F8F"/>
          </a:solidFill>
          <a:ln w="12700">
            <a:solidFill>
              <a:srgbClr val="1E4F8F"/>
            </a:solidFill>
            <a:prstDash val="solid"/>
          </a:ln>
        </p:spPr>
      </p:sp>
      <p:sp>
        <p:nvSpPr>
          <p:cNvPr id="11" name="Text 9"/>
          <p:cNvSpPr txBox="1"/>
          <p:nvPr/>
        </p:nvSpPr>
        <p:spPr>
          <a:xfrm>
            <a:off x="548640" y="3886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2" name="Text 10"/>
          <p:cNvSpPr txBox="1"/>
          <p:nvPr/>
        </p:nvSpPr>
        <p:spPr>
          <a:xfrm>
            <a:off x="1234440" y="3840480"/>
            <a:ext cx="5669280" cy="914400"/>
          </a:xfrm>
          <a:prstGeom prst="rect">
            <a:avLst/>
          </a:prstGeom>
          <a:noFill/>
          <a:ln/>
        </p:spPr>
        <p:txBody>
          <a:bodyPr wrap="square" lIns="0" tIns="0" rIns="0" bIns="0" rtlCol="0" anchor="t"/>
          <a:lstStyle/>
          <a:p>
            <a:pPr indent="0" marL="0">
              <a:buNone/>
            </a:pPr>
            <a:r>
              <a:rPr lang="en-US" sz="1600" dirty="0">
                <a:solidFill>
                  <a:srgbClr val="17211D"/>
                </a:solidFill>
                <a:latin typeface="Calibri" pitchFamily="34" charset="0"/>
                <a:ea typeface="Calibri" pitchFamily="34" charset="-122"/>
                <a:cs typeface="Calibri" pitchFamily="34" charset="-120"/>
              </a:rPr>
              <a:t>Il y a des empreintes de dinosaures vieilles de 175 millions d'années, près de Fátima (Pedreira do Galinha) ! Et dans la vallée du Côa (Douro), des gravures préhistoriques de plus de 20 000 ans.</a:t>
            </a:r>
            <a:endParaRPr lang="en-US" sz="1600" dirty="0"/>
          </a:p>
        </p:txBody>
      </p:sp>
      <p:sp>
        <p:nvSpPr>
          <p:cNvPr id="13" name="Shape 11"/>
          <p:cNvSpPr/>
          <p:nvPr/>
        </p:nvSpPr>
        <p:spPr>
          <a:xfrm>
            <a:off x="548640" y="4983480"/>
            <a:ext cx="457200" cy="457200"/>
          </a:xfrm>
          <a:prstGeom prst="ellipse">
            <a:avLst/>
          </a:prstGeom>
          <a:solidFill>
            <a:srgbClr val="B8955A"/>
          </a:solidFill>
          <a:ln w="12700">
            <a:solidFill>
              <a:srgbClr val="B8955A"/>
            </a:solidFill>
            <a:prstDash val="solid"/>
          </a:ln>
        </p:spPr>
      </p:sp>
      <p:sp>
        <p:nvSpPr>
          <p:cNvPr id="14" name="Text 12"/>
          <p:cNvSpPr txBox="1"/>
          <p:nvPr/>
        </p:nvSpPr>
        <p:spPr>
          <a:xfrm>
            <a:off x="548640" y="4983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5" name="Text 13"/>
          <p:cNvSpPr txBox="1"/>
          <p:nvPr/>
        </p:nvSpPr>
        <p:spPr>
          <a:xfrm>
            <a:off x="1234440" y="4937760"/>
            <a:ext cx="5669280" cy="914400"/>
          </a:xfrm>
          <a:prstGeom prst="rect">
            <a:avLst/>
          </a:prstGeom>
          <a:noFill/>
          <a:ln/>
        </p:spPr>
        <p:txBody>
          <a:bodyPr wrap="square" lIns="0" tIns="0" rIns="0" bIns="0" rtlCol="0" anchor="t"/>
          <a:lstStyle/>
          <a:p>
            <a:pPr indent="0" marL="0">
              <a:buNone/>
            </a:pPr>
            <a:r>
              <a:rPr lang="en-US" sz="1600" dirty="0">
                <a:solidFill>
                  <a:srgbClr val="17211D"/>
                </a:solidFill>
                <a:latin typeface="Calibri" pitchFamily="34" charset="0"/>
                <a:ea typeface="Calibri" pitchFamily="34" charset="-122"/>
                <a:cs typeface="Calibri" pitchFamily="34" charset="-120"/>
              </a:rPr>
              <a:t>Le cabo da Roca est le point le plus occidental de l'Europe continentale : « là où la terre finit et où la mer commence » (Camões).</a:t>
            </a:r>
            <a:endParaRPr lang="en-US" sz="1600" dirty="0"/>
          </a:p>
        </p:txBody>
      </p:sp>
      <p:sp>
        <p:nvSpPr>
          <p:cNvPr id="16" name="Shape 14"/>
          <p:cNvSpPr/>
          <p:nvPr/>
        </p:nvSpPr>
        <p:spPr>
          <a:xfrm>
            <a:off x="7406640" y="548640"/>
            <a:ext cx="4233672" cy="5669280"/>
          </a:xfrm>
          <a:prstGeom prst="roundRect">
            <a:avLst>
              <a:gd name="adj" fmla="val 1728"/>
            </a:avLst>
          </a:prstGeom>
          <a:solidFill>
            <a:srgbClr val="EAF0F8"/>
          </a:solidFill>
          <a:ln w="12700">
            <a:solidFill>
              <a:srgbClr val="EAF0F8"/>
            </a:solidFill>
            <a:prstDash val="solid"/>
          </a:ln>
          <a:effectLst>
            <a:outerShdw sx="100000" sy="100000" kx="0" ky="0" algn="bl" rotWithShape="0" blurRad="101600" dist="38100" dir="5400000">
              <a:srgbClr val="000000">
                <a:alpha val="18000"/>
              </a:srgbClr>
            </a:outerShdw>
          </a:effectLst>
        </p:spPr>
      </p:sp>
      <p:sp>
        <p:nvSpPr>
          <p:cNvPr id="17" name="Text 15"/>
          <p:cNvSpPr txBox="1"/>
          <p:nvPr/>
        </p:nvSpPr>
        <p:spPr>
          <a:xfrm>
            <a:off x="7680960" y="777240"/>
            <a:ext cx="3749040" cy="274320"/>
          </a:xfrm>
          <a:prstGeom prst="rect">
            <a:avLst/>
          </a:prstGeom>
          <a:noFill/>
          <a:ln/>
        </p:spPr>
        <p:txBody>
          <a:bodyPr wrap="square" lIns="0" tIns="0" rIns="0" bIns="0" rtlCol="0" anchor="t"/>
          <a:lstStyle/>
          <a:p>
            <a:pPr indent="0" marL="0">
              <a:buNone/>
            </a:pPr>
            <a:r>
              <a:rPr lang="en-US" sz="1100" b="1" spc="200" kern="0" dirty="0">
                <a:solidFill>
                  <a:srgbClr val="1E4F8F"/>
                </a:solidFill>
                <a:latin typeface="Calibri" pitchFamily="34" charset="0"/>
                <a:ea typeface="Calibri" pitchFamily="34" charset="-122"/>
                <a:cs typeface="Calibri" pitchFamily="34" charset="-120"/>
              </a:rPr>
              <a:t>CARAMULO, VISEU — CHEZ LUÍS</a:t>
            </a:r>
            <a:endParaRPr lang="en-US" sz="1100" dirty="0"/>
          </a:p>
        </p:txBody>
      </p:sp>
      <p:sp>
        <p:nvSpPr>
          <p:cNvPr id="18" name="Text 16"/>
          <p:cNvSpPr txBox="1"/>
          <p:nvPr/>
        </p:nvSpPr>
        <p:spPr>
          <a:xfrm>
            <a:off x="7680960" y="1051560"/>
            <a:ext cx="3749040" cy="457200"/>
          </a:xfrm>
          <a:prstGeom prst="rect">
            <a:avLst/>
          </a:prstGeom>
          <a:noFill/>
          <a:ln/>
        </p:spPr>
        <p:txBody>
          <a:bodyPr wrap="square" lIns="0" tIns="0" rIns="0" bIns="0" rtlCol="0" anchor="t"/>
          <a:lstStyle/>
          <a:p>
            <a:pPr indent="0" marL="0">
              <a:buNone/>
            </a:pPr>
            <a:r>
              <a:rPr lang="en-US" sz="2200" b="1" dirty="0">
                <a:solidFill>
                  <a:srgbClr val="17211D"/>
                </a:solidFill>
                <a:latin typeface="Cambria" pitchFamily="34" charset="0"/>
                <a:ea typeface="Cambria" pitchFamily="34" charset="-122"/>
                <a:cs typeface="Cambria" pitchFamily="34" charset="-120"/>
              </a:rPr>
              <a:t>Ma ville, mon origine</a:t>
            </a:r>
            <a:endParaRPr lang="en-US" sz="2200" dirty="0"/>
          </a:p>
        </p:txBody>
      </p:sp>
      <p:sp>
        <p:nvSpPr>
          <p:cNvPr id="19" name="Text 17"/>
          <p:cNvSpPr txBox="1"/>
          <p:nvPr/>
        </p:nvSpPr>
        <p:spPr>
          <a:xfrm>
            <a:off x="7680960" y="1554480"/>
            <a:ext cx="3749040" cy="822960"/>
          </a:xfrm>
          <a:prstGeom prst="rect">
            <a:avLst/>
          </a:prstGeom>
          <a:noFill/>
          <a:ln/>
        </p:spPr>
        <p:txBody>
          <a:bodyPr wrap="square" lIns="0" tIns="0" rIns="0" bIns="0" rtlCol="0" anchor="t"/>
          <a:lstStyle/>
          <a:p>
            <a:pPr indent="0" marL="0">
              <a:buNone/>
            </a:pPr>
            <a:r>
              <a:rPr lang="en-US" sz="1400" dirty="0">
                <a:solidFill>
                  <a:srgbClr val="17211D"/>
                </a:solidFill>
                <a:latin typeface="Calibri" pitchFamily="34" charset="0"/>
                <a:ea typeface="Calibri" pitchFamily="34" charset="-122"/>
                <a:cs typeface="Calibri" pitchFamily="34" charset="-120"/>
              </a:rPr>
              <a:t>Caramulo est un village de montagne au centre du Portugal, terre du peuple lusitanien.</a:t>
            </a:r>
            <a:endParaRPr lang="en-US" sz="1400" dirty="0"/>
          </a:p>
        </p:txBody>
      </p:sp>
      <p:pic>
        <p:nvPicPr>
          <p:cNvPr id="20" name="Image 0" descr="/home/user/Portugal-Website/images/asterix.jpg">    </p:cNvPr>
          <p:cNvPicPr>
            <a:picLocks noChangeAspect="1"/>
          </p:cNvPicPr>
          <p:nvPr/>
        </p:nvPicPr>
        <p:blipFill>
          <a:blip r:embed="rId1"/>
          <a:srcRect l="0" r="0" t="0" b="0"/>
          <a:stretch/>
        </p:blipFill>
        <p:spPr>
          <a:xfrm>
            <a:off x="8732520" y="2468880"/>
            <a:ext cx="1600200" cy="2130552"/>
          </a:xfrm>
          <a:prstGeom prst="rect">
            <a:avLst/>
          </a:prstGeom>
        </p:spPr>
      </p:pic>
      <p:sp>
        <p:nvSpPr>
          <p:cNvPr id="21" name="Text 18"/>
          <p:cNvSpPr txBox="1"/>
          <p:nvPr/>
        </p:nvSpPr>
        <p:spPr>
          <a:xfrm>
            <a:off x="7680960" y="4800600"/>
            <a:ext cx="3749040" cy="548640"/>
          </a:xfrm>
          <a:prstGeom prst="rect">
            <a:avLst/>
          </a:prstGeom>
          <a:noFill/>
          <a:ln/>
        </p:spPr>
        <p:txBody>
          <a:bodyPr wrap="square" lIns="0" tIns="0" rIns="0" bIns="0" rtlCol="0" anchor="t"/>
          <a:lstStyle/>
          <a:p>
            <a:pPr algn="ctr" indent="0" marL="0">
              <a:buNone/>
            </a:pPr>
            <a:r>
              <a:rPr lang="en-US" sz="1300" i="1" dirty="0">
                <a:solidFill>
                  <a:srgbClr val="4A524E"/>
                </a:solidFill>
                <a:latin typeface="Cambria" pitchFamily="34" charset="0"/>
                <a:ea typeface="Cambria" pitchFamily="34" charset="-122"/>
                <a:cs typeface="Cambria" pitchFamily="34" charset="-120"/>
              </a:rPr>
              <a:t>Le peuple lusitanien, même dans Astérix !</a:t>
            </a:r>
            <a:endParaRPr lang="en-US" sz="130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18D"/>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home/user/Portugal-Website/images/photos/hero-hist.jpg">    </p:cNvPr>
          <p:cNvPicPr>
            <a:picLocks noChangeAspect="1"/>
          </p:cNvPicPr>
          <p:nvPr/>
        </p:nvPicPr>
        <p:blipFill>
          <a:blip r:embed="rId1"/>
          <a:srcRect l="0" r="0" t="0" b="0"/>
          <a:stretch/>
        </p:blipFill>
        <p:spPr>
          <a:xfrm>
            <a:off x="0" y="0"/>
            <a:ext cx="12191695" cy="6858000"/>
          </a:xfrm>
          <a:prstGeom prst="rect">
            <a:avLst/>
          </a:prstGeom>
        </p:spPr>
      </p:pic>
      <p:sp>
        <p:nvSpPr>
          <p:cNvPr id="3" name="Shape 0"/>
          <p:cNvSpPr/>
          <p:nvPr/>
        </p:nvSpPr>
        <p:spPr>
          <a:xfrm>
            <a:off x="0" y="0"/>
            <a:ext cx="6766560" cy="6858000"/>
          </a:xfrm>
          <a:prstGeom prst="rect">
            <a:avLst/>
          </a:prstGeom>
          <a:solidFill>
            <a:srgbClr val="08140F">
              <a:alpha val="70000"/>
            </a:srgbClr>
          </a:solidFill>
          <a:ln w="12700">
            <a:solidFill>
              <a:srgbClr val="08140F">
                <a:alpha val="0"/>
              </a:srgbClr>
            </a:solidFill>
            <a:prstDash val="solid"/>
          </a:ln>
        </p:spPr>
      </p:sp>
      <p:sp>
        <p:nvSpPr>
          <p:cNvPr id="4" name="Text 1"/>
          <p:cNvSpPr txBox="1"/>
          <p:nvPr/>
        </p:nvSpPr>
        <p:spPr>
          <a:xfrm>
            <a:off x="822960" y="1828800"/>
            <a:ext cx="4572000" cy="365760"/>
          </a:xfrm>
          <a:prstGeom prst="rect">
            <a:avLst/>
          </a:prstGeom>
          <a:noFill/>
          <a:ln/>
        </p:spPr>
        <p:txBody>
          <a:bodyPr wrap="square" lIns="0" tIns="0" rIns="0" bIns="0" rtlCol="0" anchor="t"/>
          <a:lstStyle/>
          <a:p>
            <a:pPr indent="0" marL="0">
              <a:buNone/>
            </a:pPr>
            <a:r>
              <a:rPr lang="en-US" sz="1600" b="1" spc="300" kern="0" dirty="0">
                <a:solidFill>
                  <a:srgbClr val="F2C14E"/>
                </a:solidFill>
                <a:latin typeface="Calibri" pitchFamily="34" charset="0"/>
                <a:ea typeface="Calibri" pitchFamily="34" charset="-122"/>
                <a:cs typeface="Calibri" pitchFamily="34" charset="-120"/>
              </a:rPr>
              <a:t>02 / 08</a:t>
            </a:r>
            <a:endParaRPr lang="en-US" sz="1600" dirty="0"/>
          </a:p>
        </p:txBody>
      </p:sp>
      <p:sp>
        <p:nvSpPr>
          <p:cNvPr id="5" name="Text 2"/>
          <p:cNvSpPr txBox="1"/>
          <p:nvPr/>
        </p:nvSpPr>
        <p:spPr>
          <a:xfrm>
            <a:off x="822960" y="2240280"/>
            <a:ext cx="5760720" cy="1280160"/>
          </a:xfrm>
          <a:prstGeom prst="rect">
            <a:avLst/>
          </a:prstGeom>
          <a:noFill/>
          <a:ln/>
        </p:spPr>
        <p:txBody>
          <a:bodyPr wrap="square" lIns="0" tIns="0" rIns="0" bIns="0" rtlCol="0" anchor="t">
            <a:normAutofit/>
          </a:bodyPr>
          <a:lstStyle/>
          <a:p>
            <a:pPr indent="0" marL="0">
              <a:buNone/>
            </a:pPr>
            <a:r>
              <a:rPr lang="en-US" sz="6000" b="1" dirty="0">
                <a:solidFill>
                  <a:srgbClr val="FFFFFF"/>
                </a:solidFill>
                <a:latin typeface="Cambria" pitchFamily="34" charset="0"/>
                <a:ea typeface="Cambria" pitchFamily="34" charset="-122"/>
                <a:cs typeface="Cambria" pitchFamily="34" charset="-120"/>
              </a:rPr>
              <a:t>Histoire</a:t>
            </a:r>
            <a:endParaRPr lang="en-US" sz="6000" dirty="0"/>
          </a:p>
        </p:txBody>
      </p:sp>
      <p:sp>
        <p:nvSpPr>
          <p:cNvPr id="6" name="Text 3"/>
          <p:cNvSpPr txBox="1"/>
          <p:nvPr/>
        </p:nvSpPr>
        <p:spPr>
          <a:xfrm>
            <a:off x="822960" y="3611880"/>
            <a:ext cx="5486400" cy="914400"/>
          </a:xfrm>
          <a:prstGeom prst="rect">
            <a:avLst/>
          </a:prstGeom>
          <a:noFill/>
          <a:ln/>
        </p:spPr>
        <p:txBody>
          <a:bodyPr wrap="square" lIns="0" tIns="0" rIns="0" bIns="0" rtlCol="0" anchor="t"/>
          <a:lstStyle/>
          <a:p>
            <a:pPr indent="0" marL="0">
              <a:buNone/>
            </a:pPr>
            <a:r>
              <a:rPr lang="en-US" sz="2400" i="1" dirty="0">
                <a:solidFill>
                  <a:srgbClr val="FFFFFF"/>
                </a:solidFill>
                <a:latin typeface="Cambria" pitchFamily="34" charset="0"/>
                <a:ea typeface="Cambria" pitchFamily="34" charset="-122"/>
                <a:cs typeface="Cambria" pitchFamily="34" charset="-120"/>
              </a:rPr>
              <a:t>Un peuple de navigateurs, une histoire de découvertes</a:t>
            </a:r>
            <a:endParaRPr lang="en-US" sz="2400" dirty="0"/>
          </a:p>
        </p:txBody>
      </p:sp>
      <p:sp>
        <p:nvSpPr>
          <p:cNvPr id="7" name="Text 4"/>
          <p:cNvSpPr txBox="1"/>
          <p:nvPr/>
        </p:nvSpPr>
        <p:spPr>
          <a:xfrm>
            <a:off x="822960" y="4572000"/>
            <a:ext cx="5120640" cy="1005840"/>
          </a:xfrm>
          <a:prstGeom prst="rect">
            <a:avLst/>
          </a:prstGeom>
          <a:noFill/>
          <a:ln/>
        </p:spPr>
        <p:txBody>
          <a:bodyPr wrap="square" lIns="0" tIns="0" rIns="0" bIns="0" rtlCol="0" anchor="t"/>
          <a:lstStyle/>
          <a:p>
            <a:pPr indent="0" marL="0">
              <a:buNone/>
            </a:pPr>
            <a:r>
              <a:rPr lang="en-US" sz="1500" dirty="0">
                <a:solidFill>
                  <a:srgbClr val="E6ECE8"/>
                </a:solidFill>
                <a:latin typeface="Calibri" pitchFamily="34" charset="0"/>
                <a:ea typeface="Calibri" pitchFamily="34" charset="-122"/>
                <a:cs typeface="Calibri" pitchFamily="34" charset="-120"/>
              </a:rPr>
              <a:t>Petite nation, grand destin : le Portugal a joué un rôle majeur dans l'histoire du monde, de la mer aux idées.</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411480"/>
            <a:ext cx="10972800" cy="274320"/>
          </a:xfrm>
          <a:prstGeom prst="rect">
            <a:avLst/>
          </a:prstGeom>
          <a:noFill/>
          <a:ln/>
        </p:spPr>
        <p:txBody>
          <a:bodyPr wrap="square" lIns="0" tIns="0" rIns="0" bIns="0" rtlCol="0" anchor="t"/>
          <a:lstStyle/>
          <a:p>
            <a:pPr indent="0" marL="0">
              <a:buNone/>
            </a:pPr>
            <a:r>
              <a:rPr lang="en-US" sz="1200" b="1" spc="300" kern="0" dirty="0">
                <a:solidFill>
                  <a:srgbClr val="A83232"/>
                </a:solidFill>
                <a:latin typeface="Calibri" pitchFamily="34" charset="0"/>
                <a:ea typeface="Calibri" pitchFamily="34" charset="-122"/>
                <a:cs typeface="Calibri" pitchFamily="34" charset="-120"/>
              </a:rPr>
              <a:t>SYMBOLES &amp; ALLIANCES</a:t>
            </a:r>
            <a:endParaRPr lang="en-US" sz="1200" dirty="0"/>
          </a:p>
        </p:txBody>
      </p:sp>
      <p:sp>
        <p:nvSpPr>
          <p:cNvPr id="3" name="Text 1"/>
          <p:cNvSpPr txBox="1"/>
          <p:nvPr/>
        </p:nvSpPr>
        <p:spPr>
          <a:xfrm>
            <a:off x="548640" y="685800"/>
            <a:ext cx="10972800" cy="685800"/>
          </a:xfrm>
          <a:prstGeom prst="rect">
            <a:avLst/>
          </a:prstGeom>
          <a:noFill/>
          <a:ln/>
        </p:spPr>
        <p:txBody>
          <a:bodyPr wrap="square" lIns="0" tIns="0" rIns="0" bIns="0" rtlCol="0" anchor="t"/>
          <a:lstStyle/>
          <a:p>
            <a:pPr indent="0" marL="0">
              <a:buNone/>
            </a:pPr>
            <a:r>
              <a:rPr lang="en-US" sz="3400" b="1" dirty="0">
                <a:solidFill>
                  <a:srgbClr val="174A3A"/>
                </a:solidFill>
                <a:latin typeface="Cambria" pitchFamily="34" charset="0"/>
                <a:ea typeface="Cambria" pitchFamily="34" charset="-122"/>
                <a:cs typeface="Cambria" pitchFamily="34" charset="-120"/>
              </a:rPr>
              <a:t>Une identité forgée au fil des siècles</a:t>
            </a:r>
            <a:endParaRPr lang="en-US" sz="3400" dirty="0"/>
          </a:p>
        </p:txBody>
      </p:sp>
      <p:sp>
        <p:nvSpPr>
          <p:cNvPr id="4" name="Shape 2"/>
          <p:cNvSpPr/>
          <p:nvPr/>
        </p:nvSpPr>
        <p:spPr>
          <a:xfrm>
            <a:off x="548640" y="1600200"/>
            <a:ext cx="2624328" cy="4617720"/>
          </a:xfrm>
          <a:prstGeom prst="roundRect">
            <a:avLst>
              <a:gd name="adj" fmla="val 2787"/>
            </a:avLst>
          </a:prstGeom>
          <a:solidFill>
            <a:srgbClr val="FFFFFF"/>
          </a:solidFill>
          <a:ln w="12700">
            <a:solidFill>
              <a:srgbClr val="FFFFFF"/>
            </a:solidFill>
            <a:prstDash val="solid"/>
          </a:ln>
          <a:effectLst>
            <a:outerShdw sx="100000" sy="100000" kx="0" ky="0" algn="bl" rotWithShape="0" blurRad="101600" dist="38100" dir="5400000">
              <a:srgbClr val="000000">
                <a:alpha val="18000"/>
              </a:srgbClr>
            </a:outerShdw>
          </a:effectLst>
        </p:spPr>
      </p:sp>
      <p:pic>
        <p:nvPicPr>
          <p:cNvPr id="5" name="Image 0" descr="/home/user/Portugal-Website/images/photos/hist-flag.jpg">    </p:cNvPr>
          <p:cNvPicPr>
            <a:picLocks noChangeAspect="1"/>
          </p:cNvPicPr>
          <p:nvPr/>
        </p:nvPicPr>
        <p:blipFill>
          <a:blip r:embed="rId1"/>
          <a:srcRect l="0" r="0" t="0" b="0"/>
          <a:stretch/>
        </p:blipFill>
        <p:spPr>
          <a:xfrm>
            <a:off x="548640" y="1600200"/>
            <a:ext cx="2624328" cy="1828800"/>
          </a:xfrm>
          <a:prstGeom prst="rect">
            <a:avLst/>
          </a:prstGeom>
        </p:spPr>
      </p:pic>
      <p:sp>
        <p:nvSpPr>
          <p:cNvPr id="6" name="Text 3"/>
          <p:cNvSpPr txBox="1"/>
          <p:nvPr/>
        </p:nvSpPr>
        <p:spPr>
          <a:xfrm>
            <a:off x="731520" y="3566160"/>
            <a:ext cx="2286000" cy="594360"/>
          </a:xfrm>
          <a:prstGeom prst="rect">
            <a:avLst/>
          </a:prstGeom>
          <a:noFill/>
          <a:ln/>
        </p:spPr>
        <p:txBody>
          <a:bodyPr wrap="square" lIns="0" tIns="0" rIns="0" bIns="0" rtlCol="0" anchor="t"/>
          <a:lstStyle/>
          <a:p>
            <a:pPr indent="0" marL="0">
              <a:buNone/>
            </a:pPr>
            <a:r>
              <a:rPr lang="en-US" sz="1800" b="1" dirty="0">
                <a:solidFill>
                  <a:srgbClr val="174A3A"/>
                </a:solidFill>
                <a:latin typeface="Cambria" pitchFamily="34" charset="0"/>
                <a:ea typeface="Cambria" pitchFamily="34" charset="-122"/>
                <a:cs typeface="Cambria" pitchFamily="34" charset="-120"/>
              </a:rPr>
              <a:t>Le drapeau portugais</a:t>
            </a:r>
            <a:endParaRPr lang="en-US" sz="1800" dirty="0"/>
          </a:p>
        </p:txBody>
      </p:sp>
      <p:sp>
        <p:nvSpPr>
          <p:cNvPr id="7" name="Text 4"/>
          <p:cNvSpPr txBox="1"/>
          <p:nvPr/>
        </p:nvSpPr>
        <p:spPr>
          <a:xfrm>
            <a:off x="731520" y="4206240"/>
            <a:ext cx="2286000" cy="1920240"/>
          </a:xfrm>
          <a:prstGeom prst="rect">
            <a:avLst/>
          </a:prstGeom>
          <a:noFill/>
          <a:ln/>
        </p:spPr>
        <p:txBody>
          <a:bodyPr wrap="square" lIns="0" tIns="0" rIns="0" bIns="0" rtlCol="0" anchor="t">
            <a:normAutofit/>
          </a:bodyPr>
          <a:lstStyle/>
          <a:p>
            <a:pPr indent="0" marL="0">
              <a:buNone/>
            </a:pPr>
            <a:r>
              <a:rPr lang="en-US" sz="1300" dirty="0">
                <a:solidFill>
                  <a:srgbClr val="17211D"/>
                </a:solidFill>
                <a:latin typeface="Calibri" pitchFamily="34" charset="0"/>
                <a:ea typeface="Calibri" pitchFamily="34" charset="-122"/>
                <a:cs typeface="Calibri" pitchFamily="34" charset="-120"/>
              </a:rPr>
              <a:t>Le vert symbolise l'espoir et le rouge le sang versé pour la nation. Au centre, la sphère armillaire, un instrument d'astronomie utilisé par les navigateurs, célèbre les grandes découvertes maritimes des XVe et XVIe siècles.</a:t>
            </a:r>
            <a:endParaRPr lang="en-US" sz="1300" dirty="0"/>
          </a:p>
        </p:txBody>
      </p:sp>
      <p:sp>
        <p:nvSpPr>
          <p:cNvPr id="8" name="Shape 5"/>
          <p:cNvSpPr/>
          <p:nvPr/>
        </p:nvSpPr>
        <p:spPr>
          <a:xfrm>
            <a:off x="3355848" y="1600200"/>
            <a:ext cx="2624328" cy="4617720"/>
          </a:xfrm>
          <a:prstGeom prst="roundRect">
            <a:avLst>
              <a:gd name="adj" fmla="val 2787"/>
            </a:avLst>
          </a:prstGeom>
          <a:solidFill>
            <a:srgbClr val="FFFFFF"/>
          </a:solidFill>
          <a:ln w="12700">
            <a:solidFill>
              <a:srgbClr val="FFFFFF"/>
            </a:solidFill>
            <a:prstDash val="solid"/>
          </a:ln>
          <a:effectLst>
            <a:outerShdw sx="100000" sy="100000" kx="0" ky="0" algn="bl" rotWithShape="0" blurRad="101600" dist="38100" dir="5400000">
              <a:srgbClr val="000000">
                <a:alpha val="18000"/>
              </a:srgbClr>
            </a:outerShdw>
          </a:effectLst>
        </p:spPr>
      </p:sp>
      <p:pic>
        <p:nvPicPr>
          <p:cNvPr id="9" name="Image 1" descr="/home/user/Portugal-Website/images/photos/x-afonso.jpg">    </p:cNvPr>
          <p:cNvPicPr>
            <a:picLocks noChangeAspect="1"/>
          </p:cNvPicPr>
          <p:nvPr/>
        </p:nvPicPr>
        <p:blipFill>
          <a:blip r:embed="rId2"/>
          <a:srcRect l="0" r="0" t="0" b="0"/>
          <a:stretch/>
        </p:blipFill>
        <p:spPr>
          <a:xfrm>
            <a:off x="3355848" y="1600200"/>
            <a:ext cx="2624328" cy="1828800"/>
          </a:xfrm>
          <a:prstGeom prst="rect">
            <a:avLst/>
          </a:prstGeom>
        </p:spPr>
      </p:pic>
      <p:sp>
        <p:nvSpPr>
          <p:cNvPr id="10" name="Text 6"/>
          <p:cNvSpPr txBox="1"/>
          <p:nvPr/>
        </p:nvSpPr>
        <p:spPr>
          <a:xfrm>
            <a:off x="3538728" y="3566160"/>
            <a:ext cx="2286000" cy="594360"/>
          </a:xfrm>
          <a:prstGeom prst="rect">
            <a:avLst/>
          </a:prstGeom>
          <a:noFill/>
          <a:ln/>
        </p:spPr>
        <p:txBody>
          <a:bodyPr wrap="square" lIns="0" tIns="0" rIns="0" bIns="0" rtlCol="0" anchor="t"/>
          <a:lstStyle/>
          <a:p>
            <a:pPr indent="0" marL="0">
              <a:buNone/>
            </a:pPr>
            <a:r>
              <a:rPr lang="en-US" sz="1800" b="1" dirty="0">
                <a:solidFill>
                  <a:srgbClr val="174A3A"/>
                </a:solidFill>
                <a:latin typeface="Cambria" pitchFamily="34" charset="0"/>
                <a:ea typeface="Cambria" pitchFamily="34" charset="-122"/>
                <a:cs typeface="Cambria" pitchFamily="34" charset="-120"/>
              </a:rPr>
              <a:t>La construction du Portugal</a:t>
            </a:r>
            <a:endParaRPr lang="en-US" sz="1800" dirty="0"/>
          </a:p>
        </p:txBody>
      </p:sp>
      <p:sp>
        <p:nvSpPr>
          <p:cNvPr id="11" name="Text 7"/>
          <p:cNvSpPr txBox="1"/>
          <p:nvPr/>
        </p:nvSpPr>
        <p:spPr>
          <a:xfrm>
            <a:off x="3538728" y="4206240"/>
            <a:ext cx="2286000" cy="1920240"/>
          </a:xfrm>
          <a:prstGeom prst="rect">
            <a:avLst/>
          </a:prstGeom>
          <a:noFill/>
          <a:ln/>
        </p:spPr>
        <p:txBody>
          <a:bodyPr wrap="square" lIns="0" tIns="0" rIns="0" bIns="0" rtlCol="0" anchor="t">
            <a:normAutofit/>
          </a:bodyPr>
          <a:lstStyle/>
          <a:p>
            <a:pPr indent="0" marL="0">
              <a:buNone/>
            </a:pPr>
            <a:r>
              <a:rPr lang="en-US" sz="1300" dirty="0">
                <a:solidFill>
                  <a:srgbClr val="17211D"/>
                </a:solidFill>
                <a:latin typeface="Calibri" pitchFamily="34" charset="0"/>
                <a:ea typeface="Calibri" pitchFamily="34" charset="-122"/>
                <a:cs typeface="Calibri" pitchFamily="34" charset="-120"/>
              </a:rPr>
              <a:t>24 juin 1128 : à la bataille de São Mamede, Afonso Henriques prend le contrôle du Comté de Portugal. 1143 : par le traité de Zamora, Alphonse VII de León et de Castille reconnaît l'indépendance du Portugal.</a:t>
            </a:r>
            <a:endParaRPr lang="en-US" sz="1300" dirty="0"/>
          </a:p>
        </p:txBody>
      </p:sp>
      <p:sp>
        <p:nvSpPr>
          <p:cNvPr id="12" name="Shape 8"/>
          <p:cNvSpPr/>
          <p:nvPr/>
        </p:nvSpPr>
        <p:spPr>
          <a:xfrm>
            <a:off x="6163056" y="1600200"/>
            <a:ext cx="2624328" cy="4617720"/>
          </a:xfrm>
          <a:prstGeom prst="roundRect">
            <a:avLst>
              <a:gd name="adj" fmla="val 2787"/>
            </a:avLst>
          </a:prstGeom>
          <a:solidFill>
            <a:srgbClr val="FFFFFF"/>
          </a:solidFill>
          <a:ln w="12700">
            <a:solidFill>
              <a:srgbClr val="FFFFFF"/>
            </a:solidFill>
            <a:prstDash val="solid"/>
          </a:ln>
          <a:effectLst>
            <a:outerShdw sx="100000" sy="100000" kx="0" ky="0" algn="bl" rotWithShape="0" blurRad="101600" dist="38100" dir="5400000">
              <a:srgbClr val="000000">
                <a:alpha val="18000"/>
              </a:srgbClr>
            </a:outerShdw>
          </a:effectLst>
        </p:spPr>
      </p:sp>
      <p:pic>
        <p:nvPicPr>
          <p:cNvPr id="13" name="Image 2" descr="/home/user/Portugal-Website/images/photos/hist-windsor.jpg">    </p:cNvPr>
          <p:cNvPicPr>
            <a:picLocks noChangeAspect="1"/>
          </p:cNvPicPr>
          <p:nvPr/>
        </p:nvPicPr>
        <p:blipFill>
          <a:blip r:embed="rId3"/>
          <a:srcRect l="0" r="0" t="0" b="0"/>
          <a:stretch/>
        </p:blipFill>
        <p:spPr>
          <a:xfrm>
            <a:off x="6163056" y="1600200"/>
            <a:ext cx="2624328" cy="1828800"/>
          </a:xfrm>
          <a:prstGeom prst="rect">
            <a:avLst/>
          </a:prstGeom>
        </p:spPr>
      </p:pic>
      <p:sp>
        <p:nvSpPr>
          <p:cNvPr id="14" name="Text 9"/>
          <p:cNvSpPr txBox="1"/>
          <p:nvPr/>
        </p:nvSpPr>
        <p:spPr>
          <a:xfrm>
            <a:off x="6345936" y="3566160"/>
            <a:ext cx="2286000" cy="594360"/>
          </a:xfrm>
          <a:prstGeom prst="rect">
            <a:avLst/>
          </a:prstGeom>
          <a:noFill/>
          <a:ln/>
        </p:spPr>
        <p:txBody>
          <a:bodyPr wrap="square" lIns="0" tIns="0" rIns="0" bIns="0" rtlCol="0" anchor="t"/>
          <a:lstStyle/>
          <a:p>
            <a:pPr indent="0" marL="0">
              <a:buNone/>
            </a:pPr>
            <a:r>
              <a:rPr lang="en-US" sz="1800" b="1" dirty="0">
                <a:solidFill>
                  <a:srgbClr val="174A3A"/>
                </a:solidFill>
                <a:latin typeface="Cambria" pitchFamily="34" charset="0"/>
                <a:ea typeface="Cambria" pitchFamily="34" charset="-122"/>
                <a:cs typeface="Cambria" pitchFamily="34" charset="-120"/>
              </a:rPr>
              <a:t>Traité de Windsor (1386)</a:t>
            </a:r>
            <a:endParaRPr lang="en-US" sz="1800" dirty="0"/>
          </a:p>
        </p:txBody>
      </p:sp>
      <p:sp>
        <p:nvSpPr>
          <p:cNvPr id="15" name="Text 10"/>
          <p:cNvSpPr txBox="1"/>
          <p:nvPr/>
        </p:nvSpPr>
        <p:spPr>
          <a:xfrm>
            <a:off x="6345936" y="4206240"/>
            <a:ext cx="2286000" cy="1920240"/>
          </a:xfrm>
          <a:prstGeom prst="rect">
            <a:avLst/>
          </a:prstGeom>
          <a:noFill/>
          <a:ln/>
        </p:spPr>
        <p:txBody>
          <a:bodyPr wrap="square" lIns="0" tIns="0" rIns="0" bIns="0" rtlCol="0" anchor="t">
            <a:normAutofit/>
          </a:bodyPr>
          <a:lstStyle/>
          <a:p>
            <a:pPr indent="0" marL="0">
              <a:buNone/>
            </a:pPr>
            <a:r>
              <a:rPr lang="en-US" sz="1300" dirty="0">
                <a:solidFill>
                  <a:srgbClr val="17211D"/>
                </a:solidFill>
                <a:latin typeface="Calibri" pitchFamily="34" charset="0"/>
                <a:ea typeface="Calibri" pitchFamily="34" charset="-122"/>
                <a:cs typeface="Calibri" pitchFamily="34" charset="-120"/>
              </a:rPr>
              <a:t>Le plus ancien traité toujours en vigueur. Alliance avec l'Angleterre qui a résisté à deux invasions de Napoléon.</a:t>
            </a:r>
            <a:endParaRPr lang="en-US" sz="1300" dirty="0"/>
          </a:p>
        </p:txBody>
      </p:sp>
      <p:sp>
        <p:nvSpPr>
          <p:cNvPr id="16" name="Shape 11"/>
          <p:cNvSpPr/>
          <p:nvPr/>
        </p:nvSpPr>
        <p:spPr>
          <a:xfrm>
            <a:off x="8970264" y="1600200"/>
            <a:ext cx="2624328" cy="4617720"/>
          </a:xfrm>
          <a:prstGeom prst="roundRect">
            <a:avLst>
              <a:gd name="adj" fmla="val 2787"/>
            </a:avLst>
          </a:prstGeom>
          <a:solidFill>
            <a:srgbClr val="FFFFFF"/>
          </a:solidFill>
          <a:ln w="12700">
            <a:solidFill>
              <a:srgbClr val="FFFFFF"/>
            </a:solidFill>
            <a:prstDash val="solid"/>
          </a:ln>
          <a:effectLst>
            <a:outerShdw sx="100000" sy="100000" kx="0" ky="0" algn="bl" rotWithShape="0" blurRad="101600" dist="38100" dir="5400000">
              <a:srgbClr val="000000">
                <a:alpha val="18000"/>
              </a:srgbClr>
            </a:outerShdw>
          </a:effectLst>
        </p:spPr>
      </p:sp>
      <p:pic>
        <p:nvPicPr>
          <p:cNvPr id="17" name="Image 3" descr="/home/user/Portugal-Website/images/photos/hist-tea.jpg">    </p:cNvPr>
          <p:cNvPicPr>
            <a:picLocks noChangeAspect="1"/>
          </p:cNvPicPr>
          <p:nvPr/>
        </p:nvPicPr>
        <p:blipFill>
          <a:blip r:embed="rId4"/>
          <a:srcRect l="0" r="0" t="0" b="0"/>
          <a:stretch/>
        </p:blipFill>
        <p:spPr>
          <a:xfrm>
            <a:off x="8970264" y="1600200"/>
            <a:ext cx="2624328" cy="1828800"/>
          </a:xfrm>
          <a:prstGeom prst="rect">
            <a:avLst/>
          </a:prstGeom>
        </p:spPr>
      </p:pic>
      <p:sp>
        <p:nvSpPr>
          <p:cNvPr id="18" name="Text 12"/>
          <p:cNvSpPr txBox="1"/>
          <p:nvPr/>
        </p:nvSpPr>
        <p:spPr>
          <a:xfrm>
            <a:off x="9153144" y="3566160"/>
            <a:ext cx="2286000" cy="594360"/>
          </a:xfrm>
          <a:prstGeom prst="rect">
            <a:avLst/>
          </a:prstGeom>
          <a:noFill/>
          <a:ln/>
        </p:spPr>
        <p:txBody>
          <a:bodyPr wrap="square" lIns="0" tIns="0" rIns="0" bIns="0" rtlCol="0" anchor="t"/>
          <a:lstStyle/>
          <a:p>
            <a:pPr indent="0" marL="0">
              <a:buNone/>
            </a:pPr>
            <a:r>
              <a:rPr lang="en-US" sz="1800" b="1" dirty="0">
                <a:solidFill>
                  <a:srgbClr val="174A3A"/>
                </a:solidFill>
                <a:latin typeface="Cambria" pitchFamily="34" charset="0"/>
                <a:ea typeface="Cambria" pitchFamily="34" charset="-122"/>
                <a:cs typeface="Cambria" pitchFamily="34" charset="-120"/>
              </a:rPr>
              <a:t>Le thé en Angleterre</a:t>
            </a:r>
            <a:endParaRPr lang="en-US" sz="1800" dirty="0"/>
          </a:p>
        </p:txBody>
      </p:sp>
      <p:sp>
        <p:nvSpPr>
          <p:cNvPr id="19" name="Text 13"/>
          <p:cNvSpPr txBox="1"/>
          <p:nvPr/>
        </p:nvSpPr>
        <p:spPr>
          <a:xfrm>
            <a:off x="9153144" y="4206240"/>
            <a:ext cx="2286000" cy="1920240"/>
          </a:xfrm>
          <a:prstGeom prst="rect">
            <a:avLst/>
          </a:prstGeom>
          <a:noFill/>
          <a:ln/>
        </p:spPr>
        <p:txBody>
          <a:bodyPr wrap="square" lIns="0" tIns="0" rIns="0" bIns="0" rtlCol="0" anchor="t">
            <a:normAutofit/>
          </a:bodyPr>
          <a:lstStyle/>
          <a:p>
            <a:pPr indent="0" marL="0">
              <a:buNone/>
            </a:pPr>
            <a:r>
              <a:rPr lang="en-US" sz="1300" dirty="0">
                <a:solidFill>
                  <a:srgbClr val="17211D"/>
                </a:solidFill>
                <a:latin typeface="Calibri" pitchFamily="34" charset="0"/>
                <a:ea typeface="Calibri" pitchFamily="34" charset="-122"/>
                <a:cs typeface="Calibri" pitchFamily="34" charset="-120"/>
              </a:rPr>
              <a:t>Popularisé en Angleterre par la reine portugaise Catherine de Bragance. Une légende raconte que le mot « Tea » viendrait de « Tem ervas aromáticas ? », écrit sur les caisses.</a:t>
            </a:r>
            <a:endParaRPr lang="en-US" sz="130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18D"/>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home/user/Portugal-Website/images/photos/hist-routes.png">    </p:cNvPr>
          <p:cNvPicPr>
            <a:picLocks noChangeAspect="1"/>
          </p:cNvPicPr>
          <p:nvPr/>
        </p:nvPicPr>
        <p:blipFill>
          <a:blip r:embed="rId1"/>
          <a:srcRect l="0" r="0" t="0" b="0"/>
          <a:stretch/>
        </p:blipFill>
        <p:spPr>
          <a:xfrm>
            <a:off x="4206240" y="548640"/>
            <a:ext cx="7434072" cy="5669280"/>
          </a:xfrm>
          <a:prstGeom prst="rect">
            <a:avLst/>
          </a:prstGeom>
        </p:spPr>
      </p:pic>
      <p:sp>
        <p:nvSpPr>
          <p:cNvPr id="3" name="Text 0"/>
          <p:cNvSpPr txBox="1"/>
          <p:nvPr/>
        </p:nvSpPr>
        <p:spPr>
          <a:xfrm>
            <a:off x="548640" y="411480"/>
            <a:ext cx="10972800" cy="274320"/>
          </a:xfrm>
          <a:prstGeom prst="rect">
            <a:avLst/>
          </a:prstGeom>
          <a:noFill/>
          <a:ln/>
        </p:spPr>
        <p:txBody>
          <a:bodyPr wrap="square" lIns="0" tIns="0" rIns="0" bIns="0" rtlCol="0" anchor="t"/>
          <a:lstStyle/>
          <a:p>
            <a:pPr indent="0" marL="0">
              <a:buNone/>
            </a:pPr>
            <a:r>
              <a:rPr lang="en-US" sz="1200" b="1" spc="300" kern="0" dirty="0">
                <a:solidFill>
                  <a:srgbClr val="A83232"/>
                </a:solidFill>
                <a:latin typeface="Calibri" pitchFamily="34" charset="0"/>
                <a:ea typeface="Calibri" pitchFamily="34" charset="-122"/>
                <a:cs typeface="Calibri" pitchFamily="34" charset="-120"/>
              </a:rPr>
              <a:t>LES DÉCOUVERTES</a:t>
            </a:r>
            <a:endParaRPr lang="en-US" sz="1200" dirty="0"/>
          </a:p>
        </p:txBody>
      </p:sp>
      <p:sp>
        <p:nvSpPr>
          <p:cNvPr id="4" name="Text 1"/>
          <p:cNvSpPr txBox="1"/>
          <p:nvPr/>
        </p:nvSpPr>
        <p:spPr>
          <a:xfrm>
            <a:off x="548640" y="685800"/>
            <a:ext cx="3840480" cy="685800"/>
          </a:xfrm>
          <a:prstGeom prst="rect">
            <a:avLst/>
          </a:prstGeom>
          <a:noFill/>
          <a:ln/>
        </p:spPr>
        <p:txBody>
          <a:bodyPr wrap="square" lIns="0" tIns="0" rIns="0" bIns="0" rtlCol="0" anchor="t"/>
          <a:lstStyle/>
          <a:p>
            <a:pPr indent="0" marL="0">
              <a:buNone/>
            </a:pPr>
            <a:r>
              <a:rPr lang="en-US" sz="3400" b="1" dirty="0">
                <a:solidFill>
                  <a:srgbClr val="174A3A"/>
                </a:solidFill>
                <a:latin typeface="Cambria" pitchFamily="34" charset="0"/>
                <a:ea typeface="Cambria" pitchFamily="34" charset="-122"/>
                <a:cs typeface="Cambria" pitchFamily="34" charset="-120"/>
              </a:rPr>
              <a:t>Un empire de routes maritimes</a:t>
            </a:r>
            <a:endParaRPr lang="en-US" sz="3400" dirty="0"/>
          </a:p>
        </p:txBody>
      </p:sp>
      <p:sp>
        <p:nvSpPr>
          <p:cNvPr id="5" name="Text 2"/>
          <p:cNvSpPr txBox="1"/>
          <p:nvPr/>
        </p:nvSpPr>
        <p:spPr>
          <a:xfrm>
            <a:off x="548640" y="2194560"/>
            <a:ext cx="3474720" cy="914400"/>
          </a:xfrm>
          <a:prstGeom prst="rect">
            <a:avLst/>
          </a:prstGeom>
          <a:noFill/>
          <a:ln/>
        </p:spPr>
        <p:txBody>
          <a:bodyPr wrap="square" lIns="0" tIns="0" rIns="0" bIns="0" rtlCol="0" anchor="t"/>
          <a:lstStyle/>
          <a:p>
            <a:pPr indent="0" marL="0">
              <a:buNone/>
            </a:pPr>
            <a:r>
              <a:rPr lang="en-US" sz="1600" dirty="0">
                <a:solidFill>
                  <a:srgbClr val="17211D"/>
                </a:solidFill>
                <a:latin typeface="Calibri" pitchFamily="34" charset="0"/>
                <a:ea typeface="Calibri" pitchFamily="34" charset="-122"/>
                <a:cs typeface="Calibri" pitchFamily="34" charset="-120"/>
              </a:rPr>
              <a:t>Les navigateurs portugais ont ouvert des routes commerciales vers le monde entier.</a:t>
            </a:r>
            <a:endParaRPr lang="en-US" sz="1600" dirty="0"/>
          </a:p>
        </p:txBody>
      </p:sp>
      <p:sp>
        <p:nvSpPr>
          <p:cNvPr id="6" name="Shape 3"/>
          <p:cNvSpPr/>
          <p:nvPr/>
        </p:nvSpPr>
        <p:spPr>
          <a:xfrm>
            <a:off x="548640" y="3291840"/>
            <a:ext cx="457200" cy="457200"/>
          </a:xfrm>
          <a:prstGeom prst="ellipse">
            <a:avLst/>
          </a:prstGeom>
          <a:solidFill>
            <a:srgbClr val="174A3A"/>
          </a:solidFill>
          <a:ln w="12700">
            <a:solidFill>
              <a:srgbClr val="174A3A"/>
            </a:solidFill>
            <a:prstDash val="solid"/>
          </a:ln>
        </p:spPr>
      </p:sp>
      <p:sp>
        <p:nvSpPr>
          <p:cNvPr id="7" name="Text 4"/>
          <p:cNvSpPr txBox="1"/>
          <p:nvPr/>
        </p:nvSpPr>
        <p:spPr>
          <a:xfrm>
            <a:off x="1188720" y="3291840"/>
            <a:ext cx="2743200" cy="457200"/>
          </a:xfrm>
          <a:prstGeom prst="rect">
            <a:avLst/>
          </a:prstGeom>
          <a:noFill/>
          <a:ln/>
        </p:spPr>
        <p:txBody>
          <a:bodyPr wrap="square" lIns="0" tIns="0" rIns="0" bIns="0" rtlCol="0" anchor="ctr"/>
          <a:lstStyle/>
          <a:p>
            <a:pPr indent="0" marL="0">
              <a:buNone/>
            </a:pPr>
            <a:r>
              <a:rPr lang="en-US" sz="1700" b="1" dirty="0">
                <a:solidFill>
                  <a:srgbClr val="17211D"/>
                </a:solidFill>
                <a:latin typeface="Calibri" pitchFamily="34" charset="0"/>
                <a:ea typeface="Calibri" pitchFamily="34" charset="-122"/>
                <a:cs typeface="Calibri" pitchFamily="34" charset="-120"/>
              </a:rPr>
              <a:t>Afrique</a:t>
            </a:r>
            <a:endParaRPr lang="en-US" sz="1700" dirty="0"/>
          </a:p>
        </p:txBody>
      </p:sp>
      <p:sp>
        <p:nvSpPr>
          <p:cNvPr id="8" name="Shape 5"/>
          <p:cNvSpPr/>
          <p:nvPr/>
        </p:nvSpPr>
        <p:spPr>
          <a:xfrm>
            <a:off x="548640" y="3840480"/>
            <a:ext cx="457200" cy="457200"/>
          </a:xfrm>
          <a:prstGeom prst="ellipse">
            <a:avLst/>
          </a:prstGeom>
          <a:solidFill>
            <a:srgbClr val="A83232"/>
          </a:solidFill>
          <a:ln w="12700">
            <a:solidFill>
              <a:srgbClr val="A83232"/>
            </a:solidFill>
            <a:prstDash val="solid"/>
          </a:ln>
        </p:spPr>
      </p:sp>
      <p:sp>
        <p:nvSpPr>
          <p:cNvPr id="9" name="Text 6"/>
          <p:cNvSpPr txBox="1"/>
          <p:nvPr/>
        </p:nvSpPr>
        <p:spPr>
          <a:xfrm>
            <a:off x="1188720" y="3840480"/>
            <a:ext cx="2743200" cy="457200"/>
          </a:xfrm>
          <a:prstGeom prst="rect">
            <a:avLst/>
          </a:prstGeom>
          <a:noFill/>
          <a:ln/>
        </p:spPr>
        <p:txBody>
          <a:bodyPr wrap="square" lIns="0" tIns="0" rIns="0" bIns="0" rtlCol="0" anchor="ctr"/>
          <a:lstStyle/>
          <a:p>
            <a:pPr indent="0" marL="0">
              <a:buNone/>
            </a:pPr>
            <a:r>
              <a:rPr lang="en-US" sz="1700" b="1" dirty="0">
                <a:solidFill>
                  <a:srgbClr val="17211D"/>
                </a:solidFill>
                <a:latin typeface="Calibri" pitchFamily="34" charset="0"/>
                <a:ea typeface="Calibri" pitchFamily="34" charset="-122"/>
                <a:cs typeface="Calibri" pitchFamily="34" charset="-120"/>
              </a:rPr>
              <a:t>Inde</a:t>
            </a:r>
            <a:endParaRPr lang="en-US" sz="1700" dirty="0"/>
          </a:p>
        </p:txBody>
      </p:sp>
      <p:sp>
        <p:nvSpPr>
          <p:cNvPr id="10" name="Shape 7"/>
          <p:cNvSpPr/>
          <p:nvPr/>
        </p:nvSpPr>
        <p:spPr>
          <a:xfrm>
            <a:off x="548640" y="4389120"/>
            <a:ext cx="457200" cy="457200"/>
          </a:xfrm>
          <a:prstGeom prst="ellipse">
            <a:avLst/>
          </a:prstGeom>
          <a:solidFill>
            <a:srgbClr val="1E4F8F"/>
          </a:solidFill>
          <a:ln w="12700">
            <a:solidFill>
              <a:srgbClr val="1E4F8F"/>
            </a:solidFill>
            <a:prstDash val="solid"/>
          </a:ln>
        </p:spPr>
      </p:sp>
      <p:sp>
        <p:nvSpPr>
          <p:cNvPr id="11" name="Text 8"/>
          <p:cNvSpPr txBox="1"/>
          <p:nvPr/>
        </p:nvSpPr>
        <p:spPr>
          <a:xfrm>
            <a:off x="1188720" y="4389120"/>
            <a:ext cx="2743200" cy="457200"/>
          </a:xfrm>
          <a:prstGeom prst="rect">
            <a:avLst/>
          </a:prstGeom>
          <a:noFill/>
          <a:ln/>
        </p:spPr>
        <p:txBody>
          <a:bodyPr wrap="square" lIns="0" tIns="0" rIns="0" bIns="0" rtlCol="0" anchor="ctr"/>
          <a:lstStyle/>
          <a:p>
            <a:pPr indent="0" marL="0">
              <a:buNone/>
            </a:pPr>
            <a:r>
              <a:rPr lang="en-US" sz="1700" b="1" dirty="0">
                <a:solidFill>
                  <a:srgbClr val="17211D"/>
                </a:solidFill>
                <a:latin typeface="Calibri" pitchFamily="34" charset="0"/>
                <a:ea typeface="Calibri" pitchFamily="34" charset="-122"/>
                <a:cs typeface="Calibri" pitchFamily="34" charset="-120"/>
              </a:rPr>
              <a:t>Brésil</a:t>
            </a:r>
            <a:endParaRPr lang="en-US" sz="1700" dirty="0"/>
          </a:p>
        </p:txBody>
      </p:sp>
      <p:sp>
        <p:nvSpPr>
          <p:cNvPr id="12" name="Shape 9"/>
          <p:cNvSpPr/>
          <p:nvPr/>
        </p:nvSpPr>
        <p:spPr>
          <a:xfrm>
            <a:off x="548640" y="4937760"/>
            <a:ext cx="457200" cy="457200"/>
          </a:xfrm>
          <a:prstGeom prst="ellipse">
            <a:avLst/>
          </a:prstGeom>
          <a:solidFill>
            <a:srgbClr val="B8955A"/>
          </a:solidFill>
          <a:ln w="12700">
            <a:solidFill>
              <a:srgbClr val="B8955A"/>
            </a:solidFill>
            <a:prstDash val="solid"/>
          </a:ln>
        </p:spPr>
      </p:sp>
      <p:sp>
        <p:nvSpPr>
          <p:cNvPr id="13" name="Text 10"/>
          <p:cNvSpPr txBox="1"/>
          <p:nvPr/>
        </p:nvSpPr>
        <p:spPr>
          <a:xfrm>
            <a:off x="1188720" y="4937760"/>
            <a:ext cx="2743200" cy="457200"/>
          </a:xfrm>
          <a:prstGeom prst="rect">
            <a:avLst/>
          </a:prstGeom>
          <a:noFill/>
          <a:ln/>
        </p:spPr>
        <p:txBody>
          <a:bodyPr wrap="square" lIns="0" tIns="0" rIns="0" bIns="0" rtlCol="0" anchor="ctr"/>
          <a:lstStyle/>
          <a:p>
            <a:pPr indent="0" marL="0">
              <a:buNone/>
            </a:pPr>
            <a:r>
              <a:rPr lang="en-US" sz="1700" b="1" dirty="0">
                <a:solidFill>
                  <a:srgbClr val="17211D"/>
                </a:solidFill>
                <a:latin typeface="Calibri" pitchFamily="34" charset="0"/>
                <a:ea typeface="Calibri" pitchFamily="34" charset="-122"/>
                <a:cs typeface="Calibri" pitchFamily="34" charset="-120"/>
              </a:rPr>
              <a:t>Chine</a:t>
            </a:r>
            <a:endParaRPr lang="en-US" sz="1700" dirty="0"/>
          </a:p>
        </p:txBody>
      </p:sp>
      <p:sp>
        <p:nvSpPr>
          <p:cNvPr id="14" name="Shape 11"/>
          <p:cNvSpPr/>
          <p:nvPr/>
        </p:nvSpPr>
        <p:spPr>
          <a:xfrm>
            <a:off x="548640" y="5486400"/>
            <a:ext cx="457200" cy="457200"/>
          </a:xfrm>
          <a:prstGeom prst="ellipse">
            <a:avLst/>
          </a:prstGeom>
          <a:solidFill>
            <a:srgbClr val="174A3A"/>
          </a:solidFill>
          <a:ln w="12700">
            <a:solidFill>
              <a:srgbClr val="174A3A"/>
            </a:solidFill>
            <a:prstDash val="solid"/>
          </a:ln>
        </p:spPr>
      </p:sp>
      <p:sp>
        <p:nvSpPr>
          <p:cNvPr id="15" name="Text 12"/>
          <p:cNvSpPr txBox="1"/>
          <p:nvPr/>
        </p:nvSpPr>
        <p:spPr>
          <a:xfrm>
            <a:off x="1188720" y="5486400"/>
            <a:ext cx="2743200" cy="457200"/>
          </a:xfrm>
          <a:prstGeom prst="rect">
            <a:avLst/>
          </a:prstGeom>
          <a:noFill/>
          <a:ln/>
        </p:spPr>
        <p:txBody>
          <a:bodyPr wrap="square" lIns="0" tIns="0" rIns="0" bIns="0" rtlCol="0" anchor="ctr"/>
          <a:lstStyle/>
          <a:p>
            <a:pPr indent="0" marL="0">
              <a:buNone/>
            </a:pPr>
            <a:r>
              <a:rPr lang="en-US" sz="1700" b="1" dirty="0">
                <a:solidFill>
                  <a:srgbClr val="17211D"/>
                </a:solidFill>
                <a:latin typeface="Calibri" pitchFamily="34" charset="0"/>
                <a:ea typeface="Calibri" pitchFamily="34" charset="-122"/>
                <a:cs typeface="Calibri" pitchFamily="34" charset="-120"/>
              </a:rPr>
              <a:t>Japon</a:t>
            </a:r>
            <a:endParaRPr lang="en-US" sz="170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18D"/>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411480"/>
            <a:ext cx="10972800" cy="274320"/>
          </a:xfrm>
          <a:prstGeom prst="rect">
            <a:avLst/>
          </a:prstGeom>
          <a:noFill/>
          <a:ln/>
        </p:spPr>
        <p:txBody>
          <a:bodyPr wrap="square" lIns="0" tIns="0" rIns="0" bIns="0" rtlCol="0" anchor="t"/>
          <a:lstStyle/>
          <a:p>
            <a:pPr indent="0" marL="0">
              <a:buNone/>
            </a:pPr>
            <a:r>
              <a:rPr lang="en-US" sz="1200" b="1" spc="300" kern="0" dirty="0">
                <a:solidFill>
                  <a:srgbClr val="A83232"/>
                </a:solidFill>
                <a:latin typeface="Calibri" pitchFamily="34" charset="0"/>
                <a:ea typeface="Calibri" pitchFamily="34" charset="-122"/>
                <a:cs typeface="Calibri" pitchFamily="34" charset="-120"/>
              </a:rPr>
              <a:t>LES GRANDES DATES</a:t>
            </a:r>
            <a:endParaRPr lang="en-US" sz="1200" dirty="0"/>
          </a:p>
        </p:txBody>
      </p:sp>
      <p:sp>
        <p:nvSpPr>
          <p:cNvPr id="3" name="Text 1"/>
          <p:cNvSpPr txBox="1"/>
          <p:nvPr/>
        </p:nvSpPr>
        <p:spPr>
          <a:xfrm>
            <a:off x="548640" y="685800"/>
            <a:ext cx="10972800" cy="685800"/>
          </a:xfrm>
          <a:prstGeom prst="rect">
            <a:avLst/>
          </a:prstGeom>
          <a:noFill/>
          <a:ln/>
        </p:spPr>
        <p:txBody>
          <a:bodyPr wrap="square" lIns="0" tIns="0" rIns="0" bIns="0" rtlCol="0" anchor="t"/>
          <a:lstStyle/>
          <a:p>
            <a:pPr indent="0" marL="0">
              <a:buNone/>
            </a:pPr>
            <a:r>
              <a:rPr lang="en-US" sz="3400" b="1" dirty="0">
                <a:solidFill>
                  <a:srgbClr val="174A3A"/>
                </a:solidFill>
                <a:latin typeface="Cambria" pitchFamily="34" charset="0"/>
                <a:ea typeface="Cambria" pitchFamily="34" charset="-122"/>
                <a:cs typeface="Cambria" pitchFamily="34" charset="-120"/>
              </a:rPr>
              <a:t>Neuf siècles d'histoire</a:t>
            </a:r>
            <a:endParaRPr lang="en-US" sz="3400" dirty="0"/>
          </a:p>
        </p:txBody>
      </p:sp>
      <p:sp>
        <p:nvSpPr>
          <p:cNvPr id="4" name="Shape 2"/>
          <p:cNvSpPr/>
          <p:nvPr/>
        </p:nvSpPr>
        <p:spPr>
          <a:xfrm>
            <a:off x="548640" y="2148840"/>
            <a:ext cx="11064240" cy="0"/>
          </a:xfrm>
          <a:prstGeom prst="line">
            <a:avLst/>
          </a:prstGeom>
          <a:noFill/>
          <a:ln w="25400">
            <a:solidFill>
              <a:srgbClr val="C9CFCB"/>
            </a:solidFill>
            <a:prstDash val="solid"/>
          </a:ln>
        </p:spPr>
      </p:sp>
      <p:sp>
        <p:nvSpPr>
          <p:cNvPr id="5" name="Shape 3"/>
          <p:cNvSpPr/>
          <p:nvPr/>
        </p:nvSpPr>
        <p:spPr>
          <a:xfrm>
            <a:off x="594360" y="2011680"/>
            <a:ext cx="274320" cy="274320"/>
          </a:xfrm>
          <a:prstGeom prst="ellipse">
            <a:avLst/>
          </a:prstGeom>
          <a:solidFill>
            <a:srgbClr val="A83232"/>
          </a:solidFill>
          <a:ln w="31750">
            <a:solidFill>
              <a:srgbClr val="A83232"/>
            </a:solidFill>
            <a:prstDash val="solid"/>
          </a:ln>
        </p:spPr>
      </p:sp>
      <p:sp>
        <p:nvSpPr>
          <p:cNvPr id="6" name="Text 4"/>
          <p:cNvSpPr txBox="1"/>
          <p:nvPr/>
        </p:nvSpPr>
        <p:spPr>
          <a:xfrm>
            <a:off x="548640" y="2377440"/>
            <a:ext cx="2103120" cy="502920"/>
          </a:xfrm>
          <a:prstGeom prst="rect">
            <a:avLst/>
          </a:prstGeom>
          <a:noFill/>
          <a:ln/>
        </p:spPr>
        <p:txBody>
          <a:bodyPr wrap="square" lIns="0" tIns="0" rIns="0" bIns="0" rtlCol="0" anchor="t"/>
          <a:lstStyle/>
          <a:p>
            <a:pPr indent="0" marL="0">
              <a:buNone/>
            </a:pPr>
            <a:r>
              <a:rPr lang="en-US" sz="2600" b="1" dirty="0">
                <a:solidFill>
                  <a:srgbClr val="A83232"/>
                </a:solidFill>
                <a:latin typeface="Cambria" pitchFamily="34" charset="0"/>
                <a:ea typeface="Cambria" pitchFamily="34" charset="-122"/>
                <a:cs typeface="Cambria" pitchFamily="34" charset="-120"/>
              </a:rPr>
              <a:t>1143</a:t>
            </a:r>
            <a:endParaRPr lang="en-US" sz="2600" dirty="0"/>
          </a:p>
        </p:txBody>
      </p:sp>
      <p:sp>
        <p:nvSpPr>
          <p:cNvPr id="7" name="Text 5"/>
          <p:cNvSpPr txBox="1"/>
          <p:nvPr/>
        </p:nvSpPr>
        <p:spPr>
          <a:xfrm>
            <a:off x="548640" y="2880360"/>
            <a:ext cx="2057400" cy="1097280"/>
          </a:xfrm>
          <a:prstGeom prst="rect">
            <a:avLst/>
          </a:prstGeom>
          <a:noFill/>
          <a:ln/>
        </p:spPr>
        <p:txBody>
          <a:bodyPr wrap="square" lIns="0" tIns="0" rIns="0" bIns="0" rtlCol="0" anchor="t"/>
          <a:lstStyle/>
          <a:p>
            <a:pPr indent="0" marL="0">
              <a:buNone/>
            </a:pPr>
            <a:r>
              <a:rPr lang="en-US" sz="1200" dirty="0">
                <a:solidFill>
                  <a:srgbClr val="17211D"/>
                </a:solidFill>
                <a:latin typeface="Calibri" pitchFamily="34" charset="0"/>
                <a:ea typeface="Calibri" pitchFamily="34" charset="-122"/>
                <a:cs typeface="Calibri" pitchFamily="34" charset="-120"/>
              </a:rPr>
              <a:t>Traité de Zamora : le royaume de Portugal est reconnu. Dom Afonso Henriques devient son premier roi.</a:t>
            </a:r>
            <a:endParaRPr lang="en-US" sz="1200" dirty="0"/>
          </a:p>
        </p:txBody>
      </p:sp>
      <p:sp>
        <p:nvSpPr>
          <p:cNvPr id="8" name="Shape 6"/>
          <p:cNvSpPr/>
          <p:nvPr/>
        </p:nvSpPr>
        <p:spPr>
          <a:xfrm>
            <a:off x="2834640" y="2011680"/>
            <a:ext cx="274320" cy="274320"/>
          </a:xfrm>
          <a:prstGeom prst="ellipse">
            <a:avLst/>
          </a:prstGeom>
          <a:solidFill>
            <a:srgbClr val="FFFFFF"/>
          </a:solidFill>
          <a:ln w="31750">
            <a:solidFill>
              <a:srgbClr val="B8955A"/>
            </a:solidFill>
            <a:prstDash val="solid"/>
          </a:ln>
        </p:spPr>
      </p:sp>
      <p:sp>
        <p:nvSpPr>
          <p:cNvPr id="9" name="Text 7"/>
          <p:cNvSpPr txBox="1"/>
          <p:nvPr/>
        </p:nvSpPr>
        <p:spPr>
          <a:xfrm>
            <a:off x="2788920" y="2377440"/>
            <a:ext cx="2103120" cy="502920"/>
          </a:xfrm>
          <a:prstGeom prst="rect">
            <a:avLst/>
          </a:prstGeom>
          <a:noFill/>
          <a:ln/>
        </p:spPr>
        <p:txBody>
          <a:bodyPr wrap="square" lIns="0" tIns="0" rIns="0" bIns="0" rtlCol="0" anchor="t"/>
          <a:lstStyle/>
          <a:p>
            <a:pPr indent="0" marL="0">
              <a:buNone/>
            </a:pPr>
            <a:r>
              <a:rPr lang="en-US" sz="2600" b="1" dirty="0">
                <a:solidFill>
                  <a:srgbClr val="1E4F8F"/>
                </a:solidFill>
                <a:latin typeface="Cambria" pitchFamily="34" charset="0"/>
                <a:ea typeface="Cambria" pitchFamily="34" charset="-122"/>
                <a:cs typeface="Cambria" pitchFamily="34" charset="-120"/>
              </a:rPr>
              <a:t>1415</a:t>
            </a:r>
            <a:endParaRPr lang="en-US" sz="2600" dirty="0"/>
          </a:p>
        </p:txBody>
      </p:sp>
      <p:sp>
        <p:nvSpPr>
          <p:cNvPr id="10" name="Text 8"/>
          <p:cNvSpPr txBox="1"/>
          <p:nvPr/>
        </p:nvSpPr>
        <p:spPr>
          <a:xfrm>
            <a:off x="2788920" y="2880360"/>
            <a:ext cx="2057400" cy="1097280"/>
          </a:xfrm>
          <a:prstGeom prst="rect">
            <a:avLst/>
          </a:prstGeom>
          <a:noFill/>
          <a:ln/>
        </p:spPr>
        <p:txBody>
          <a:bodyPr wrap="square" lIns="0" tIns="0" rIns="0" bIns="0" rtlCol="0" anchor="t"/>
          <a:lstStyle/>
          <a:p>
            <a:pPr indent="0" marL="0">
              <a:buNone/>
            </a:pPr>
            <a:r>
              <a:rPr lang="en-US" sz="1200" dirty="0">
                <a:solidFill>
                  <a:srgbClr val="17211D"/>
                </a:solidFill>
                <a:latin typeface="Calibri" pitchFamily="34" charset="0"/>
                <a:ea typeface="Calibri" pitchFamily="34" charset="-122"/>
                <a:cs typeface="Calibri" pitchFamily="34" charset="-120"/>
              </a:rPr>
              <a:t>Prise de Ceuta : début de l'expansion maritime portugaise.</a:t>
            </a:r>
            <a:endParaRPr lang="en-US" sz="1200" dirty="0"/>
          </a:p>
        </p:txBody>
      </p:sp>
      <p:sp>
        <p:nvSpPr>
          <p:cNvPr id="11" name="Shape 9"/>
          <p:cNvSpPr/>
          <p:nvPr/>
        </p:nvSpPr>
        <p:spPr>
          <a:xfrm>
            <a:off x="5074920" y="2011680"/>
            <a:ext cx="274320" cy="274320"/>
          </a:xfrm>
          <a:prstGeom prst="ellipse">
            <a:avLst/>
          </a:prstGeom>
          <a:solidFill>
            <a:srgbClr val="FFFFFF"/>
          </a:solidFill>
          <a:ln w="31750">
            <a:solidFill>
              <a:srgbClr val="B8955A"/>
            </a:solidFill>
            <a:prstDash val="solid"/>
          </a:ln>
        </p:spPr>
      </p:sp>
      <p:sp>
        <p:nvSpPr>
          <p:cNvPr id="12" name="Text 10"/>
          <p:cNvSpPr txBox="1"/>
          <p:nvPr/>
        </p:nvSpPr>
        <p:spPr>
          <a:xfrm>
            <a:off x="5029200" y="2377440"/>
            <a:ext cx="2103120" cy="502920"/>
          </a:xfrm>
          <a:prstGeom prst="rect">
            <a:avLst/>
          </a:prstGeom>
          <a:noFill/>
          <a:ln/>
        </p:spPr>
        <p:txBody>
          <a:bodyPr wrap="square" lIns="0" tIns="0" rIns="0" bIns="0" rtlCol="0" anchor="t"/>
          <a:lstStyle/>
          <a:p>
            <a:pPr indent="0" marL="0">
              <a:buNone/>
            </a:pPr>
            <a:r>
              <a:rPr lang="en-US" sz="2600" b="1" dirty="0">
                <a:solidFill>
                  <a:srgbClr val="1E4F8F"/>
                </a:solidFill>
                <a:latin typeface="Cambria" pitchFamily="34" charset="0"/>
                <a:ea typeface="Cambria" pitchFamily="34" charset="-122"/>
                <a:cs typeface="Cambria" pitchFamily="34" charset="-120"/>
              </a:rPr>
              <a:t>1494</a:t>
            </a:r>
            <a:endParaRPr lang="en-US" sz="2600" dirty="0"/>
          </a:p>
        </p:txBody>
      </p:sp>
      <p:sp>
        <p:nvSpPr>
          <p:cNvPr id="13" name="Text 11"/>
          <p:cNvSpPr txBox="1"/>
          <p:nvPr/>
        </p:nvSpPr>
        <p:spPr>
          <a:xfrm>
            <a:off x="5029200" y="2880360"/>
            <a:ext cx="2057400" cy="1097280"/>
          </a:xfrm>
          <a:prstGeom prst="rect">
            <a:avLst/>
          </a:prstGeom>
          <a:noFill/>
          <a:ln/>
        </p:spPr>
        <p:txBody>
          <a:bodyPr wrap="square" lIns="0" tIns="0" rIns="0" bIns="0" rtlCol="0" anchor="t"/>
          <a:lstStyle/>
          <a:p>
            <a:pPr indent="0" marL="0">
              <a:buNone/>
            </a:pPr>
            <a:r>
              <a:rPr lang="en-US" sz="1200" dirty="0">
                <a:solidFill>
                  <a:srgbClr val="17211D"/>
                </a:solidFill>
                <a:latin typeface="Calibri" pitchFamily="34" charset="0"/>
                <a:ea typeface="Calibri" pitchFamily="34" charset="-122"/>
                <a:cs typeface="Calibri" pitchFamily="34" charset="-120"/>
              </a:rPr>
              <a:t>Traité de Tordesillas : le Portugal et l'Espagne se partagent les terres à découvrir.</a:t>
            </a:r>
            <a:endParaRPr lang="en-US" sz="1200" dirty="0"/>
          </a:p>
        </p:txBody>
      </p:sp>
      <p:sp>
        <p:nvSpPr>
          <p:cNvPr id="14" name="Shape 12"/>
          <p:cNvSpPr/>
          <p:nvPr/>
        </p:nvSpPr>
        <p:spPr>
          <a:xfrm>
            <a:off x="7315200" y="2011680"/>
            <a:ext cx="274320" cy="274320"/>
          </a:xfrm>
          <a:prstGeom prst="ellipse">
            <a:avLst/>
          </a:prstGeom>
          <a:solidFill>
            <a:srgbClr val="FFFFFF"/>
          </a:solidFill>
          <a:ln w="31750">
            <a:solidFill>
              <a:srgbClr val="B8955A"/>
            </a:solidFill>
            <a:prstDash val="solid"/>
          </a:ln>
        </p:spPr>
      </p:sp>
      <p:sp>
        <p:nvSpPr>
          <p:cNvPr id="15" name="Text 13"/>
          <p:cNvSpPr txBox="1"/>
          <p:nvPr/>
        </p:nvSpPr>
        <p:spPr>
          <a:xfrm>
            <a:off x="7269480" y="2377440"/>
            <a:ext cx="2103120" cy="502920"/>
          </a:xfrm>
          <a:prstGeom prst="rect">
            <a:avLst/>
          </a:prstGeom>
          <a:noFill/>
          <a:ln/>
        </p:spPr>
        <p:txBody>
          <a:bodyPr wrap="square" lIns="0" tIns="0" rIns="0" bIns="0" rtlCol="0" anchor="t"/>
          <a:lstStyle/>
          <a:p>
            <a:pPr indent="0" marL="0">
              <a:buNone/>
            </a:pPr>
            <a:r>
              <a:rPr lang="en-US" sz="2600" b="1" dirty="0">
                <a:solidFill>
                  <a:srgbClr val="1E4F8F"/>
                </a:solidFill>
                <a:latin typeface="Cambria" pitchFamily="34" charset="0"/>
                <a:ea typeface="Cambria" pitchFamily="34" charset="-122"/>
                <a:cs typeface="Cambria" pitchFamily="34" charset="-120"/>
              </a:rPr>
              <a:t>1498</a:t>
            </a:r>
            <a:endParaRPr lang="en-US" sz="2600" dirty="0"/>
          </a:p>
        </p:txBody>
      </p:sp>
      <p:sp>
        <p:nvSpPr>
          <p:cNvPr id="16" name="Text 14"/>
          <p:cNvSpPr txBox="1"/>
          <p:nvPr/>
        </p:nvSpPr>
        <p:spPr>
          <a:xfrm>
            <a:off x="7269480" y="2880360"/>
            <a:ext cx="2057400" cy="1097280"/>
          </a:xfrm>
          <a:prstGeom prst="rect">
            <a:avLst/>
          </a:prstGeom>
          <a:noFill/>
          <a:ln/>
        </p:spPr>
        <p:txBody>
          <a:bodyPr wrap="square" lIns="0" tIns="0" rIns="0" bIns="0" rtlCol="0" anchor="t"/>
          <a:lstStyle/>
          <a:p>
            <a:pPr indent="0" marL="0">
              <a:buNone/>
            </a:pPr>
            <a:r>
              <a:rPr lang="en-US" sz="1200" dirty="0">
                <a:solidFill>
                  <a:srgbClr val="17211D"/>
                </a:solidFill>
                <a:latin typeface="Calibri" pitchFamily="34" charset="0"/>
                <a:ea typeface="Calibri" pitchFamily="34" charset="-122"/>
                <a:cs typeface="Calibri" pitchFamily="34" charset="-120"/>
              </a:rPr>
              <a:t>Vasco de Gama atteint l'Inde par la mer en contournant l'Afrique.</a:t>
            </a:r>
            <a:endParaRPr lang="en-US" sz="1200" dirty="0"/>
          </a:p>
        </p:txBody>
      </p:sp>
      <p:sp>
        <p:nvSpPr>
          <p:cNvPr id="17" name="Shape 15"/>
          <p:cNvSpPr/>
          <p:nvPr/>
        </p:nvSpPr>
        <p:spPr>
          <a:xfrm>
            <a:off x="9555480" y="2011680"/>
            <a:ext cx="274320" cy="274320"/>
          </a:xfrm>
          <a:prstGeom prst="ellipse">
            <a:avLst/>
          </a:prstGeom>
          <a:solidFill>
            <a:srgbClr val="FFFFFF"/>
          </a:solidFill>
          <a:ln w="31750">
            <a:solidFill>
              <a:srgbClr val="B8955A"/>
            </a:solidFill>
            <a:prstDash val="solid"/>
          </a:ln>
        </p:spPr>
      </p:sp>
      <p:sp>
        <p:nvSpPr>
          <p:cNvPr id="18" name="Text 16"/>
          <p:cNvSpPr txBox="1"/>
          <p:nvPr/>
        </p:nvSpPr>
        <p:spPr>
          <a:xfrm>
            <a:off x="9509760" y="2377440"/>
            <a:ext cx="2103120" cy="502920"/>
          </a:xfrm>
          <a:prstGeom prst="rect">
            <a:avLst/>
          </a:prstGeom>
          <a:noFill/>
          <a:ln/>
        </p:spPr>
        <p:txBody>
          <a:bodyPr wrap="square" lIns="0" tIns="0" rIns="0" bIns="0" rtlCol="0" anchor="t"/>
          <a:lstStyle/>
          <a:p>
            <a:pPr indent="0" marL="0">
              <a:buNone/>
            </a:pPr>
            <a:r>
              <a:rPr lang="en-US" sz="2600" b="1" dirty="0">
                <a:solidFill>
                  <a:srgbClr val="1E4F8F"/>
                </a:solidFill>
                <a:latin typeface="Cambria" pitchFamily="34" charset="0"/>
                <a:ea typeface="Cambria" pitchFamily="34" charset="-122"/>
                <a:cs typeface="Cambria" pitchFamily="34" charset="-120"/>
              </a:rPr>
              <a:t>1500</a:t>
            </a:r>
            <a:endParaRPr lang="en-US" sz="2600" dirty="0"/>
          </a:p>
        </p:txBody>
      </p:sp>
      <p:sp>
        <p:nvSpPr>
          <p:cNvPr id="19" name="Text 17"/>
          <p:cNvSpPr txBox="1"/>
          <p:nvPr/>
        </p:nvSpPr>
        <p:spPr>
          <a:xfrm>
            <a:off x="9509760" y="2880360"/>
            <a:ext cx="2057400" cy="1097280"/>
          </a:xfrm>
          <a:prstGeom prst="rect">
            <a:avLst/>
          </a:prstGeom>
          <a:noFill/>
          <a:ln/>
        </p:spPr>
        <p:txBody>
          <a:bodyPr wrap="square" lIns="0" tIns="0" rIns="0" bIns="0" rtlCol="0" anchor="t"/>
          <a:lstStyle/>
          <a:p>
            <a:pPr indent="0" marL="0">
              <a:buNone/>
            </a:pPr>
            <a:r>
              <a:rPr lang="en-US" sz="1200" dirty="0">
                <a:solidFill>
                  <a:srgbClr val="17211D"/>
                </a:solidFill>
                <a:latin typeface="Calibri" pitchFamily="34" charset="0"/>
                <a:ea typeface="Calibri" pitchFamily="34" charset="-122"/>
                <a:cs typeface="Calibri" pitchFamily="34" charset="-120"/>
              </a:rPr>
              <a:t>Pedro Álvares Cabral arrive au Brésil.</a:t>
            </a:r>
            <a:endParaRPr lang="en-US" sz="1200" dirty="0"/>
          </a:p>
        </p:txBody>
      </p:sp>
      <p:sp>
        <p:nvSpPr>
          <p:cNvPr id="20" name="Shape 18"/>
          <p:cNvSpPr/>
          <p:nvPr/>
        </p:nvSpPr>
        <p:spPr>
          <a:xfrm>
            <a:off x="548640" y="4389120"/>
            <a:ext cx="11064240" cy="0"/>
          </a:xfrm>
          <a:prstGeom prst="line">
            <a:avLst/>
          </a:prstGeom>
          <a:noFill/>
          <a:ln w="25400">
            <a:solidFill>
              <a:srgbClr val="C9CFCB"/>
            </a:solidFill>
            <a:prstDash val="solid"/>
          </a:ln>
        </p:spPr>
      </p:sp>
      <p:sp>
        <p:nvSpPr>
          <p:cNvPr id="21" name="Shape 19"/>
          <p:cNvSpPr/>
          <p:nvPr/>
        </p:nvSpPr>
        <p:spPr>
          <a:xfrm>
            <a:off x="594360" y="4251960"/>
            <a:ext cx="274320" cy="274320"/>
          </a:xfrm>
          <a:prstGeom prst="ellipse">
            <a:avLst/>
          </a:prstGeom>
          <a:solidFill>
            <a:srgbClr val="FFFFFF"/>
          </a:solidFill>
          <a:ln w="31750">
            <a:solidFill>
              <a:srgbClr val="B8955A"/>
            </a:solidFill>
            <a:prstDash val="solid"/>
          </a:ln>
        </p:spPr>
      </p:sp>
      <p:sp>
        <p:nvSpPr>
          <p:cNvPr id="22" name="Text 20"/>
          <p:cNvSpPr txBox="1"/>
          <p:nvPr/>
        </p:nvSpPr>
        <p:spPr>
          <a:xfrm>
            <a:off x="548640" y="4617720"/>
            <a:ext cx="2103120" cy="502920"/>
          </a:xfrm>
          <a:prstGeom prst="rect">
            <a:avLst/>
          </a:prstGeom>
          <a:noFill/>
          <a:ln/>
        </p:spPr>
        <p:txBody>
          <a:bodyPr wrap="square" lIns="0" tIns="0" rIns="0" bIns="0" rtlCol="0" anchor="t"/>
          <a:lstStyle/>
          <a:p>
            <a:pPr indent="0" marL="0">
              <a:buNone/>
            </a:pPr>
            <a:r>
              <a:rPr lang="en-US" sz="2600" b="1" dirty="0">
                <a:solidFill>
                  <a:srgbClr val="1E4F8F"/>
                </a:solidFill>
                <a:latin typeface="Cambria" pitchFamily="34" charset="0"/>
                <a:ea typeface="Cambria" pitchFamily="34" charset="-122"/>
                <a:cs typeface="Cambria" pitchFamily="34" charset="-120"/>
              </a:rPr>
              <a:t>1755</a:t>
            </a:r>
            <a:endParaRPr lang="en-US" sz="2600" dirty="0"/>
          </a:p>
        </p:txBody>
      </p:sp>
      <p:sp>
        <p:nvSpPr>
          <p:cNvPr id="23" name="Text 21"/>
          <p:cNvSpPr txBox="1"/>
          <p:nvPr/>
        </p:nvSpPr>
        <p:spPr>
          <a:xfrm>
            <a:off x="548640" y="5120640"/>
            <a:ext cx="2057400" cy="1097280"/>
          </a:xfrm>
          <a:prstGeom prst="rect">
            <a:avLst/>
          </a:prstGeom>
          <a:noFill/>
          <a:ln/>
        </p:spPr>
        <p:txBody>
          <a:bodyPr wrap="square" lIns="0" tIns="0" rIns="0" bIns="0" rtlCol="0" anchor="t"/>
          <a:lstStyle/>
          <a:p>
            <a:pPr indent="0" marL="0">
              <a:buNone/>
            </a:pPr>
            <a:r>
              <a:rPr lang="en-US" sz="1200" dirty="0">
                <a:solidFill>
                  <a:srgbClr val="17211D"/>
                </a:solidFill>
                <a:latin typeface="Calibri" pitchFamily="34" charset="0"/>
                <a:ea typeface="Calibri" pitchFamily="34" charset="-122"/>
                <a:cs typeface="Calibri" pitchFamily="34" charset="-120"/>
              </a:rPr>
              <a:t>Un tremblement de terre suivi d'un tsunami détruit Lisbonne. Le marquis de Pombal reconstruit la ville.</a:t>
            </a:r>
            <a:endParaRPr lang="en-US" sz="1200" dirty="0"/>
          </a:p>
        </p:txBody>
      </p:sp>
      <p:sp>
        <p:nvSpPr>
          <p:cNvPr id="24" name="Shape 22"/>
          <p:cNvSpPr/>
          <p:nvPr/>
        </p:nvSpPr>
        <p:spPr>
          <a:xfrm>
            <a:off x="2834640" y="4251960"/>
            <a:ext cx="274320" cy="274320"/>
          </a:xfrm>
          <a:prstGeom prst="ellipse">
            <a:avLst/>
          </a:prstGeom>
          <a:solidFill>
            <a:srgbClr val="FFFFFF"/>
          </a:solidFill>
          <a:ln w="31750">
            <a:solidFill>
              <a:srgbClr val="B8955A"/>
            </a:solidFill>
            <a:prstDash val="solid"/>
          </a:ln>
        </p:spPr>
      </p:sp>
      <p:sp>
        <p:nvSpPr>
          <p:cNvPr id="25" name="Text 23"/>
          <p:cNvSpPr txBox="1"/>
          <p:nvPr/>
        </p:nvSpPr>
        <p:spPr>
          <a:xfrm>
            <a:off x="2788920" y="4617720"/>
            <a:ext cx="2103120" cy="502920"/>
          </a:xfrm>
          <a:prstGeom prst="rect">
            <a:avLst/>
          </a:prstGeom>
          <a:noFill/>
          <a:ln/>
        </p:spPr>
        <p:txBody>
          <a:bodyPr wrap="square" lIns="0" tIns="0" rIns="0" bIns="0" rtlCol="0" anchor="t"/>
          <a:lstStyle/>
          <a:p>
            <a:pPr indent="0" marL="0">
              <a:buNone/>
            </a:pPr>
            <a:r>
              <a:rPr lang="en-US" sz="2600" b="1" dirty="0">
                <a:solidFill>
                  <a:srgbClr val="1E4F8F"/>
                </a:solidFill>
                <a:latin typeface="Cambria" pitchFamily="34" charset="0"/>
                <a:ea typeface="Cambria" pitchFamily="34" charset="-122"/>
                <a:cs typeface="Cambria" pitchFamily="34" charset="-120"/>
              </a:rPr>
              <a:t>1910</a:t>
            </a:r>
            <a:endParaRPr lang="en-US" sz="2600" dirty="0"/>
          </a:p>
        </p:txBody>
      </p:sp>
      <p:sp>
        <p:nvSpPr>
          <p:cNvPr id="26" name="Text 24"/>
          <p:cNvSpPr txBox="1"/>
          <p:nvPr/>
        </p:nvSpPr>
        <p:spPr>
          <a:xfrm>
            <a:off x="2788920" y="5120640"/>
            <a:ext cx="2057400" cy="1097280"/>
          </a:xfrm>
          <a:prstGeom prst="rect">
            <a:avLst/>
          </a:prstGeom>
          <a:noFill/>
          <a:ln/>
        </p:spPr>
        <p:txBody>
          <a:bodyPr wrap="square" lIns="0" tIns="0" rIns="0" bIns="0" rtlCol="0" anchor="t"/>
          <a:lstStyle/>
          <a:p>
            <a:pPr indent="0" marL="0">
              <a:buNone/>
            </a:pPr>
            <a:r>
              <a:rPr lang="en-US" sz="1200" dirty="0">
                <a:solidFill>
                  <a:srgbClr val="17211D"/>
                </a:solidFill>
                <a:latin typeface="Calibri" pitchFamily="34" charset="0"/>
                <a:ea typeface="Calibri" pitchFamily="34" charset="-122"/>
                <a:cs typeface="Calibri" pitchFamily="34" charset="-120"/>
              </a:rPr>
              <a:t>Fin de la monarchie : la République est proclamée le 5 octobre.</a:t>
            </a:r>
            <a:endParaRPr lang="en-US" sz="1200" dirty="0"/>
          </a:p>
        </p:txBody>
      </p:sp>
      <p:sp>
        <p:nvSpPr>
          <p:cNvPr id="27" name="Shape 25"/>
          <p:cNvSpPr/>
          <p:nvPr/>
        </p:nvSpPr>
        <p:spPr>
          <a:xfrm>
            <a:off x="5074920" y="4251960"/>
            <a:ext cx="274320" cy="274320"/>
          </a:xfrm>
          <a:prstGeom prst="ellipse">
            <a:avLst/>
          </a:prstGeom>
          <a:solidFill>
            <a:srgbClr val="A83232"/>
          </a:solidFill>
          <a:ln w="31750">
            <a:solidFill>
              <a:srgbClr val="A83232"/>
            </a:solidFill>
            <a:prstDash val="solid"/>
          </a:ln>
        </p:spPr>
      </p:sp>
      <p:sp>
        <p:nvSpPr>
          <p:cNvPr id="28" name="Text 26"/>
          <p:cNvSpPr txBox="1"/>
          <p:nvPr/>
        </p:nvSpPr>
        <p:spPr>
          <a:xfrm>
            <a:off x="5029200" y="4617720"/>
            <a:ext cx="2103120" cy="502920"/>
          </a:xfrm>
          <a:prstGeom prst="rect">
            <a:avLst/>
          </a:prstGeom>
          <a:noFill/>
          <a:ln/>
        </p:spPr>
        <p:txBody>
          <a:bodyPr wrap="square" lIns="0" tIns="0" rIns="0" bIns="0" rtlCol="0" anchor="t"/>
          <a:lstStyle/>
          <a:p>
            <a:pPr indent="0" marL="0">
              <a:buNone/>
            </a:pPr>
            <a:r>
              <a:rPr lang="en-US" sz="2600" b="1" dirty="0">
                <a:solidFill>
                  <a:srgbClr val="A83232"/>
                </a:solidFill>
                <a:latin typeface="Cambria" pitchFamily="34" charset="0"/>
                <a:ea typeface="Cambria" pitchFamily="34" charset="-122"/>
                <a:cs typeface="Cambria" pitchFamily="34" charset="-120"/>
              </a:rPr>
              <a:t>1974</a:t>
            </a:r>
            <a:endParaRPr lang="en-US" sz="2600" dirty="0"/>
          </a:p>
        </p:txBody>
      </p:sp>
      <p:sp>
        <p:nvSpPr>
          <p:cNvPr id="29" name="Text 27"/>
          <p:cNvSpPr txBox="1"/>
          <p:nvPr/>
        </p:nvSpPr>
        <p:spPr>
          <a:xfrm>
            <a:off x="5029200" y="5120640"/>
            <a:ext cx="2057400" cy="1097280"/>
          </a:xfrm>
          <a:prstGeom prst="rect">
            <a:avLst/>
          </a:prstGeom>
          <a:noFill/>
          <a:ln/>
        </p:spPr>
        <p:txBody>
          <a:bodyPr wrap="square" lIns="0" tIns="0" rIns="0" bIns="0" rtlCol="0" anchor="t"/>
          <a:lstStyle/>
          <a:p>
            <a:pPr indent="0" marL="0">
              <a:buNone/>
            </a:pPr>
            <a:r>
              <a:rPr lang="en-US" sz="1200" dirty="0">
                <a:solidFill>
                  <a:srgbClr val="17211D"/>
                </a:solidFill>
                <a:latin typeface="Calibri" pitchFamily="34" charset="0"/>
                <a:ea typeface="Calibri" pitchFamily="34" charset="-122"/>
                <a:cs typeface="Calibri" pitchFamily="34" charset="-120"/>
              </a:rPr>
              <a:t>Révolution des Œillets (25 avril) : fin de la dictature de l'Estado Novo.</a:t>
            </a:r>
            <a:endParaRPr lang="en-US" sz="1200" dirty="0"/>
          </a:p>
        </p:txBody>
      </p:sp>
      <p:sp>
        <p:nvSpPr>
          <p:cNvPr id="30" name="Shape 28"/>
          <p:cNvSpPr/>
          <p:nvPr/>
        </p:nvSpPr>
        <p:spPr>
          <a:xfrm>
            <a:off x="7315200" y="4251960"/>
            <a:ext cx="274320" cy="274320"/>
          </a:xfrm>
          <a:prstGeom prst="ellipse">
            <a:avLst/>
          </a:prstGeom>
          <a:solidFill>
            <a:srgbClr val="FFFFFF"/>
          </a:solidFill>
          <a:ln w="31750">
            <a:solidFill>
              <a:srgbClr val="B8955A"/>
            </a:solidFill>
            <a:prstDash val="solid"/>
          </a:ln>
        </p:spPr>
      </p:sp>
      <p:sp>
        <p:nvSpPr>
          <p:cNvPr id="31" name="Text 29"/>
          <p:cNvSpPr txBox="1"/>
          <p:nvPr/>
        </p:nvSpPr>
        <p:spPr>
          <a:xfrm>
            <a:off x="7269480" y="4617720"/>
            <a:ext cx="2103120" cy="502920"/>
          </a:xfrm>
          <a:prstGeom prst="rect">
            <a:avLst/>
          </a:prstGeom>
          <a:noFill/>
          <a:ln/>
        </p:spPr>
        <p:txBody>
          <a:bodyPr wrap="square" lIns="0" tIns="0" rIns="0" bIns="0" rtlCol="0" anchor="t"/>
          <a:lstStyle/>
          <a:p>
            <a:pPr indent="0" marL="0">
              <a:buNone/>
            </a:pPr>
            <a:r>
              <a:rPr lang="en-US" sz="2600" b="1" dirty="0">
                <a:solidFill>
                  <a:srgbClr val="1E4F8F"/>
                </a:solidFill>
                <a:latin typeface="Cambria" pitchFamily="34" charset="0"/>
                <a:ea typeface="Cambria" pitchFamily="34" charset="-122"/>
                <a:cs typeface="Cambria" pitchFamily="34" charset="-120"/>
              </a:rPr>
              <a:t>1986</a:t>
            </a:r>
            <a:endParaRPr lang="en-US" sz="2600" dirty="0"/>
          </a:p>
        </p:txBody>
      </p:sp>
      <p:sp>
        <p:nvSpPr>
          <p:cNvPr id="32" name="Text 30"/>
          <p:cNvSpPr txBox="1"/>
          <p:nvPr/>
        </p:nvSpPr>
        <p:spPr>
          <a:xfrm>
            <a:off x="7269480" y="5120640"/>
            <a:ext cx="2057400" cy="1097280"/>
          </a:xfrm>
          <a:prstGeom prst="rect">
            <a:avLst/>
          </a:prstGeom>
          <a:noFill/>
          <a:ln/>
        </p:spPr>
        <p:txBody>
          <a:bodyPr wrap="square" lIns="0" tIns="0" rIns="0" bIns="0" rtlCol="0" anchor="t"/>
          <a:lstStyle/>
          <a:p>
            <a:pPr indent="0" marL="0">
              <a:buNone/>
            </a:pPr>
            <a:r>
              <a:rPr lang="en-US" sz="1200" dirty="0">
                <a:solidFill>
                  <a:srgbClr val="17211D"/>
                </a:solidFill>
                <a:latin typeface="Calibri" pitchFamily="34" charset="0"/>
                <a:ea typeface="Calibri" pitchFamily="34" charset="-122"/>
                <a:cs typeface="Calibri" pitchFamily="34" charset="-120"/>
              </a:rPr>
              <a:t>Le Portugal entre dans la Communauté européenne, l'actuelle Union européenne.</a:t>
            </a:r>
            <a:endParaRPr lang="en-US" sz="1200" dirty="0"/>
          </a:p>
        </p:txBody>
      </p:sp>
      <p:sp>
        <p:nvSpPr>
          <p:cNvPr id="33" name="Shape 31"/>
          <p:cNvSpPr/>
          <p:nvPr/>
        </p:nvSpPr>
        <p:spPr>
          <a:xfrm>
            <a:off x="9555480" y="4251960"/>
            <a:ext cx="274320" cy="274320"/>
          </a:xfrm>
          <a:prstGeom prst="ellipse">
            <a:avLst/>
          </a:prstGeom>
          <a:solidFill>
            <a:srgbClr val="FFFFFF"/>
          </a:solidFill>
          <a:ln w="31750">
            <a:solidFill>
              <a:srgbClr val="B8955A"/>
            </a:solidFill>
            <a:prstDash val="solid"/>
          </a:ln>
        </p:spPr>
      </p:sp>
      <p:sp>
        <p:nvSpPr>
          <p:cNvPr id="34" name="Text 32"/>
          <p:cNvSpPr txBox="1"/>
          <p:nvPr/>
        </p:nvSpPr>
        <p:spPr>
          <a:xfrm>
            <a:off x="9509760" y="4617720"/>
            <a:ext cx="2103120" cy="502920"/>
          </a:xfrm>
          <a:prstGeom prst="rect">
            <a:avLst/>
          </a:prstGeom>
          <a:noFill/>
          <a:ln/>
        </p:spPr>
        <p:txBody>
          <a:bodyPr wrap="square" lIns="0" tIns="0" rIns="0" bIns="0" rtlCol="0" anchor="t"/>
          <a:lstStyle/>
          <a:p>
            <a:pPr indent="0" marL="0">
              <a:buNone/>
            </a:pPr>
            <a:r>
              <a:rPr lang="en-US" sz="2600" b="1" dirty="0">
                <a:solidFill>
                  <a:srgbClr val="1E4F8F"/>
                </a:solidFill>
                <a:latin typeface="Cambria" pitchFamily="34" charset="0"/>
                <a:ea typeface="Cambria" pitchFamily="34" charset="-122"/>
                <a:cs typeface="Cambria" pitchFamily="34" charset="-120"/>
              </a:rPr>
              <a:t>1999</a:t>
            </a:r>
            <a:endParaRPr lang="en-US" sz="2600" dirty="0"/>
          </a:p>
        </p:txBody>
      </p:sp>
      <p:sp>
        <p:nvSpPr>
          <p:cNvPr id="35" name="Text 33"/>
          <p:cNvSpPr txBox="1"/>
          <p:nvPr/>
        </p:nvSpPr>
        <p:spPr>
          <a:xfrm>
            <a:off x="9509760" y="5120640"/>
            <a:ext cx="2057400" cy="1097280"/>
          </a:xfrm>
          <a:prstGeom prst="rect">
            <a:avLst/>
          </a:prstGeom>
          <a:noFill/>
          <a:ln/>
        </p:spPr>
        <p:txBody>
          <a:bodyPr wrap="square" lIns="0" tIns="0" rIns="0" bIns="0" rtlCol="0" anchor="t"/>
          <a:lstStyle/>
          <a:p>
            <a:pPr indent="0" marL="0">
              <a:buNone/>
            </a:pPr>
            <a:r>
              <a:rPr lang="en-US" sz="1200" dirty="0">
                <a:solidFill>
                  <a:srgbClr val="17211D"/>
                </a:solidFill>
                <a:latin typeface="Calibri" pitchFamily="34" charset="0"/>
                <a:ea typeface="Calibri" pitchFamily="34" charset="-122"/>
                <a:cs typeface="Calibri" pitchFamily="34" charset="-120"/>
              </a:rPr>
              <a:t>Macao est rendue à la Chine : fin de près de six siècles d'empire.</a:t>
            </a:r>
            <a:endParaRPr lang="en-US" sz="120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18D"/>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411480"/>
            <a:ext cx="10972800" cy="274320"/>
          </a:xfrm>
          <a:prstGeom prst="rect">
            <a:avLst/>
          </a:prstGeom>
          <a:noFill/>
          <a:ln/>
        </p:spPr>
        <p:txBody>
          <a:bodyPr wrap="square" lIns="0" tIns="0" rIns="0" bIns="0" rtlCol="0" anchor="t"/>
          <a:lstStyle/>
          <a:p>
            <a:pPr indent="0" marL="0">
              <a:buNone/>
            </a:pPr>
            <a:r>
              <a:rPr lang="en-US" sz="1200" b="1" spc="300" kern="0" dirty="0">
                <a:solidFill>
                  <a:srgbClr val="A83232"/>
                </a:solidFill>
                <a:latin typeface="Calibri" pitchFamily="34" charset="0"/>
                <a:ea typeface="Calibri" pitchFamily="34" charset="-122"/>
                <a:cs typeface="Calibri" pitchFamily="34" charset="-120"/>
              </a:rPr>
              <a:t>CE QU'ON SAIT MOINS</a:t>
            </a:r>
            <a:endParaRPr lang="en-US" sz="1200" dirty="0"/>
          </a:p>
        </p:txBody>
      </p:sp>
      <p:sp>
        <p:nvSpPr>
          <p:cNvPr id="3" name="Text 1"/>
          <p:cNvSpPr txBox="1"/>
          <p:nvPr/>
        </p:nvSpPr>
        <p:spPr>
          <a:xfrm>
            <a:off x="548640" y="685800"/>
            <a:ext cx="10972800" cy="685800"/>
          </a:xfrm>
          <a:prstGeom prst="rect">
            <a:avLst/>
          </a:prstGeom>
          <a:noFill/>
          <a:ln/>
        </p:spPr>
        <p:txBody>
          <a:bodyPr wrap="square" lIns="0" tIns="0" rIns="0" bIns="0" rtlCol="0" anchor="t"/>
          <a:lstStyle/>
          <a:p>
            <a:pPr indent="0" marL="0">
              <a:buNone/>
            </a:pPr>
            <a:r>
              <a:rPr lang="en-US" sz="3400" b="1" dirty="0">
                <a:solidFill>
                  <a:srgbClr val="174A3A"/>
                </a:solidFill>
                <a:latin typeface="Cambria" pitchFamily="34" charset="0"/>
                <a:ea typeface="Cambria" pitchFamily="34" charset="-122"/>
                <a:cs typeface="Cambria" pitchFamily="34" charset="-120"/>
              </a:rPr>
              <a:t>Six histoires surprenantes</a:t>
            </a:r>
            <a:endParaRPr lang="en-US" sz="3400" dirty="0"/>
          </a:p>
        </p:txBody>
      </p:sp>
      <p:pic>
        <p:nvPicPr>
          <p:cNvPr id="4" name="Image 0" descr="/home/user/Portugal-Website/images/photos/st-cantino.jpg">    </p:cNvPr>
          <p:cNvPicPr>
            <a:picLocks noChangeAspect="1"/>
          </p:cNvPicPr>
          <p:nvPr/>
        </p:nvPicPr>
        <p:blipFill>
          <a:blip r:embed="rId1"/>
          <a:srcRect l="0" r="0" t="0" b="0"/>
          <a:stretch/>
        </p:blipFill>
        <p:spPr>
          <a:xfrm>
            <a:off x="548640" y="1554480"/>
            <a:ext cx="1600200" cy="2148840"/>
          </a:xfrm>
          <a:prstGeom prst="rect">
            <a:avLst/>
          </a:prstGeom>
        </p:spPr>
      </p:pic>
      <p:sp>
        <p:nvSpPr>
          <p:cNvPr id="5" name="Text 2"/>
          <p:cNvSpPr txBox="1"/>
          <p:nvPr/>
        </p:nvSpPr>
        <p:spPr>
          <a:xfrm>
            <a:off x="2331720" y="1554480"/>
            <a:ext cx="914400" cy="274320"/>
          </a:xfrm>
          <a:prstGeom prst="rect">
            <a:avLst/>
          </a:prstGeom>
          <a:noFill/>
          <a:ln/>
        </p:spPr>
        <p:txBody>
          <a:bodyPr wrap="square" lIns="0" tIns="0" rIns="0" bIns="0" rtlCol="0" anchor="t"/>
          <a:lstStyle/>
          <a:p>
            <a:pPr indent="0" marL="0">
              <a:buNone/>
            </a:pPr>
            <a:r>
              <a:rPr lang="en-US" sz="1300" b="1" dirty="0">
                <a:solidFill>
                  <a:srgbClr val="B8955A"/>
                </a:solidFill>
                <a:latin typeface="Cambria" pitchFamily="34" charset="0"/>
                <a:ea typeface="Cambria" pitchFamily="34" charset="-122"/>
                <a:cs typeface="Cambria" pitchFamily="34" charset="-120"/>
              </a:rPr>
              <a:t>01</a:t>
            </a:r>
            <a:endParaRPr lang="en-US" sz="1300" dirty="0"/>
          </a:p>
        </p:txBody>
      </p:sp>
      <p:sp>
        <p:nvSpPr>
          <p:cNvPr id="6" name="Text 3"/>
          <p:cNvSpPr txBox="1"/>
          <p:nvPr/>
        </p:nvSpPr>
        <p:spPr>
          <a:xfrm>
            <a:off x="2331720" y="1828800"/>
            <a:ext cx="1783080" cy="685800"/>
          </a:xfrm>
          <a:prstGeom prst="rect">
            <a:avLst/>
          </a:prstGeom>
          <a:noFill/>
          <a:ln/>
        </p:spPr>
        <p:txBody>
          <a:bodyPr wrap="square" lIns="0" tIns="0" rIns="0" bIns="0" rtlCol="0" anchor="t"/>
          <a:lstStyle/>
          <a:p>
            <a:pPr indent="0" marL="0">
              <a:buNone/>
            </a:pPr>
            <a:r>
              <a:rPr lang="en-US" sz="1600" b="1" dirty="0">
                <a:solidFill>
                  <a:srgbClr val="174A3A"/>
                </a:solidFill>
                <a:latin typeface="Cambria" pitchFamily="34" charset="0"/>
                <a:ea typeface="Cambria" pitchFamily="34" charset="-122"/>
                <a:cs typeface="Cambria" pitchFamily="34" charset="-120"/>
              </a:rPr>
              <a:t>Le monde coupé en deux</a:t>
            </a:r>
            <a:endParaRPr lang="en-US" sz="1600" dirty="0"/>
          </a:p>
        </p:txBody>
      </p:sp>
      <p:sp>
        <p:nvSpPr>
          <p:cNvPr id="7" name="Text 4"/>
          <p:cNvSpPr txBox="1"/>
          <p:nvPr/>
        </p:nvSpPr>
        <p:spPr>
          <a:xfrm>
            <a:off x="2331720" y="2514600"/>
            <a:ext cx="1783080" cy="1188720"/>
          </a:xfrm>
          <a:prstGeom prst="rect">
            <a:avLst/>
          </a:prstGeom>
          <a:noFill/>
          <a:ln/>
        </p:spPr>
        <p:txBody>
          <a:bodyPr wrap="square" lIns="0" tIns="0" rIns="0" bIns="0" rtlCol="0" anchor="t"/>
          <a:lstStyle/>
          <a:p>
            <a:pPr indent="0" marL="0">
              <a:buNone/>
            </a:pPr>
            <a:r>
              <a:rPr lang="en-US" sz="1200" dirty="0">
                <a:solidFill>
                  <a:srgbClr val="17211D"/>
                </a:solidFill>
                <a:latin typeface="Calibri" pitchFamily="34" charset="0"/>
                <a:ea typeface="Calibri" pitchFamily="34" charset="-122"/>
                <a:cs typeface="Calibri" pitchFamily="34" charset="-120"/>
              </a:rPr>
              <a:t>1494 : le traité de Tordesillas partage le monde. C'est pour cela que le Brésil parle portugais.</a:t>
            </a:r>
            <a:endParaRPr lang="en-US" sz="1200" dirty="0"/>
          </a:p>
        </p:txBody>
      </p:sp>
      <p:pic>
        <p:nvPicPr>
          <p:cNvPr id="8" name="Image 1" descr="/home/user/Portugal-Website/images/photos/st-nanban.jpg">    </p:cNvPr>
          <p:cNvPicPr>
            <a:picLocks noChangeAspect="1"/>
          </p:cNvPicPr>
          <p:nvPr/>
        </p:nvPicPr>
        <p:blipFill>
          <a:blip r:embed="rId2"/>
          <a:srcRect l="0" r="0" t="0" b="0"/>
          <a:stretch/>
        </p:blipFill>
        <p:spPr>
          <a:xfrm>
            <a:off x="4297680" y="1554480"/>
            <a:ext cx="1600200" cy="2148840"/>
          </a:xfrm>
          <a:prstGeom prst="rect">
            <a:avLst/>
          </a:prstGeom>
        </p:spPr>
      </p:pic>
      <p:sp>
        <p:nvSpPr>
          <p:cNvPr id="9" name="Text 5"/>
          <p:cNvSpPr txBox="1"/>
          <p:nvPr/>
        </p:nvSpPr>
        <p:spPr>
          <a:xfrm>
            <a:off x="6080760" y="1554480"/>
            <a:ext cx="914400" cy="274320"/>
          </a:xfrm>
          <a:prstGeom prst="rect">
            <a:avLst/>
          </a:prstGeom>
          <a:noFill/>
          <a:ln/>
        </p:spPr>
        <p:txBody>
          <a:bodyPr wrap="square" lIns="0" tIns="0" rIns="0" bIns="0" rtlCol="0" anchor="t"/>
          <a:lstStyle/>
          <a:p>
            <a:pPr indent="0" marL="0">
              <a:buNone/>
            </a:pPr>
            <a:r>
              <a:rPr lang="en-US" sz="1300" b="1" dirty="0">
                <a:solidFill>
                  <a:srgbClr val="B8955A"/>
                </a:solidFill>
                <a:latin typeface="Cambria" pitchFamily="34" charset="0"/>
                <a:ea typeface="Cambria" pitchFamily="34" charset="-122"/>
                <a:cs typeface="Cambria" pitchFamily="34" charset="-120"/>
              </a:rPr>
              <a:t>02</a:t>
            </a:r>
            <a:endParaRPr lang="en-US" sz="1300" dirty="0"/>
          </a:p>
        </p:txBody>
      </p:sp>
      <p:sp>
        <p:nvSpPr>
          <p:cNvPr id="10" name="Text 6"/>
          <p:cNvSpPr txBox="1"/>
          <p:nvPr/>
        </p:nvSpPr>
        <p:spPr>
          <a:xfrm>
            <a:off x="6080760" y="1828800"/>
            <a:ext cx="1783080" cy="685800"/>
          </a:xfrm>
          <a:prstGeom prst="rect">
            <a:avLst/>
          </a:prstGeom>
          <a:noFill/>
          <a:ln/>
        </p:spPr>
        <p:txBody>
          <a:bodyPr wrap="square" lIns="0" tIns="0" rIns="0" bIns="0" rtlCol="0" anchor="t"/>
          <a:lstStyle/>
          <a:p>
            <a:pPr indent="0" marL="0">
              <a:buNone/>
            </a:pPr>
            <a:r>
              <a:rPr lang="en-US" sz="1600" b="1" dirty="0">
                <a:solidFill>
                  <a:srgbClr val="174A3A"/>
                </a:solidFill>
                <a:latin typeface="Cambria" pitchFamily="34" charset="0"/>
                <a:ea typeface="Cambria" pitchFamily="34" charset="-122"/>
                <a:cs typeface="Cambria" pitchFamily="34" charset="-120"/>
              </a:rPr>
              <a:t>Les premiers Européens au Japon</a:t>
            </a:r>
            <a:endParaRPr lang="en-US" sz="1600" dirty="0"/>
          </a:p>
        </p:txBody>
      </p:sp>
      <p:sp>
        <p:nvSpPr>
          <p:cNvPr id="11" name="Text 7"/>
          <p:cNvSpPr txBox="1"/>
          <p:nvPr/>
        </p:nvSpPr>
        <p:spPr>
          <a:xfrm>
            <a:off x="6080760" y="2514600"/>
            <a:ext cx="1783080" cy="1188720"/>
          </a:xfrm>
          <a:prstGeom prst="rect">
            <a:avLst/>
          </a:prstGeom>
          <a:noFill/>
          <a:ln/>
        </p:spPr>
        <p:txBody>
          <a:bodyPr wrap="square" lIns="0" tIns="0" rIns="0" bIns="0" rtlCol="0" anchor="t"/>
          <a:lstStyle/>
          <a:p>
            <a:pPr indent="0" marL="0">
              <a:buNone/>
            </a:pPr>
            <a:r>
              <a:rPr lang="en-US" sz="1200" dirty="0">
                <a:solidFill>
                  <a:srgbClr val="17211D"/>
                </a:solidFill>
                <a:latin typeface="Calibri" pitchFamily="34" charset="0"/>
                <a:ea typeface="Calibri" pitchFamily="34" charset="-122"/>
                <a:cs typeface="Calibri" pitchFamily="34" charset="-120"/>
              </a:rPr>
              <a:t>1543 : armes à feu, pain (« pan » vient de « pão ») et peut-être la tempura.</a:t>
            </a:r>
            <a:endParaRPr lang="en-US" sz="1200" dirty="0"/>
          </a:p>
        </p:txBody>
      </p:sp>
      <p:pic>
        <p:nvPicPr>
          <p:cNvPr id="12" name="Image 2" descr="/home/user/Portugal-Website/images/photos/st-1755.jpg">    </p:cNvPr>
          <p:cNvPicPr>
            <a:picLocks noChangeAspect="1"/>
          </p:cNvPicPr>
          <p:nvPr/>
        </p:nvPicPr>
        <p:blipFill>
          <a:blip r:embed="rId3"/>
          <a:srcRect l="0" r="0" t="0" b="0"/>
          <a:stretch/>
        </p:blipFill>
        <p:spPr>
          <a:xfrm>
            <a:off x="8046720" y="1554480"/>
            <a:ext cx="1600200" cy="2148840"/>
          </a:xfrm>
          <a:prstGeom prst="rect">
            <a:avLst/>
          </a:prstGeom>
        </p:spPr>
      </p:pic>
      <p:sp>
        <p:nvSpPr>
          <p:cNvPr id="13" name="Text 8"/>
          <p:cNvSpPr txBox="1"/>
          <p:nvPr/>
        </p:nvSpPr>
        <p:spPr>
          <a:xfrm>
            <a:off x="9829800" y="1554480"/>
            <a:ext cx="914400" cy="274320"/>
          </a:xfrm>
          <a:prstGeom prst="rect">
            <a:avLst/>
          </a:prstGeom>
          <a:noFill/>
          <a:ln/>
        </p:spPr>
        <p:txBody>
          <a:bodyPr wrap="square" lIns="0" tIns="0" rIns="0" bIns="0" rtlCol="0" anchor="t"/>
          <a:lstStyle/>
          <a:p>
            <a:pPr indent="0" marL="0">
              <a:buNone/>
            </a:pPr>
            <a:r>
              <a:rPr lang="en-US" sz="1300" b="1" dirty="0">
                <a:solidFill>
                  <a:srgbClr val="B8955A"/>
                </a:solidFill>
                <a:latin typeface="Cambria" pitchFamily="34" charset="0"/>
                <a:ea typeface="Cambria" pitchFamily="34" charset="-122"/>
                <a:cs typeface="Cambria" pitchFamily="34" charset="-120"/>
              </a:rPr>
              <a:t>03</a:t>
            </a:r>
            <a:endParaRPr lang="en-US" sz="1300" dirty="0"/>
          </a:p>
        </p:txBody>
      </p:sp>
      <p:sp>
        <p:nvSpPr>
          <p:cNvPr id="14" name="Text 9"/>
          <p:cNvSpPr txBox="1"/>
          <p:nvPr/>
        </p:nvSpPr>
        <p:spPr>
          <a:xfrm>
            <a:off x="9829800" y="1828800"/>
            <a:ext cx="1783080" cy="685800"/>
          </a:xfrm>
          <a:prstGeom prst="rect">
            <a:avLst/>
          </a:prstGeom>
          <a:noFill/>
          <a:ln/>
        </p:spPr>
        <p:txBody>
          <a:bodyPr wrap="square" lIns="0" tIns="0" rIns="0" bIns="0" rtlCol="0" anchor="t"/>
          <a:lstStyle/>
          <a:p>
            <a:pPr indent="0" marL="0">
              <a:buNone/>
            </a:pPr>
            <a:r>
              <a:rPr lang="en-US" sz="1600" b="1" dirty="0">
                <a:solidFill>
                  <a:srgbClr val="174A3A"/>
                </a:solidFill>
                <a:latin typeface="Cambria" pitchFamily="34" charset="0"/>
                <a:ea typeface="Cambria" pitchFamily="34" charset="-122"/>
                <a:cs typeface="Cambria" pitchFamily="34" charset="-120"/>
              </a:rPr>
              <a:t>Le jour où Lisbonne a tremblé</a:t>
            </a:r>
            <a:endParaRPr lang="en-US" sz="1600" dirty="0"/>
          </a:p>
        </p:txBody>
      </p:sp>
      <p:sp>
        <p:nvSpPr>
          <p:cNvPr id="15" name="Text 10"/>
          <p:cNvSpPr txBox="1"/>
          <p:nvPr/>
        </p:nvSpPr>
        <p:spPr>
          <a:xfrm>
            <a:off x="9829800" y="2514600"/>
            <a:ext cx="1783080" cy="1188720"/>
          </a:xfrm>
          <a:prstGeom prst="rect">
            <a:avLst/>
          </a:prstGeom>
          <a:noFill/>
          <a:ln/>
        </p:spPr>
        <p:txBody>
          <a:bodyPr wrap="square" lIns="0" tIns="0" rIns="0" bIns="0" rtlCol="0" anchor="t"/>
          <a:lstStyle/>
          <a:p>
            <a:pPr indent="0" marL="0">
              <a:buNone/>
            </a:pPr>
            <a:r>
              <a:rPr lang="en-US" sz="1200" dirty="0">
                <a:solidFill>
                  <a:srgbClr val="17211D"/>
                </a:solidFill>
                <a:latin typeface="Calibri" pitchFamily="34" charset="0"/>
                <a:ea typeface="Calibri" pitchFamily="34" charset="-122"/>
                <a:cs typeface="Calibri" pitchFamily="34" charset="-120"/>
              </a:rPr>
              <a:t>1755 : séisme et tsunami. Pombal reconstruit avec l'une des premières constructions parasismiques.</a:t>
            </a:r>
            <a:endParaRPr lang="en-US" sz="1200" dirty="0"/>
          </a:p>
        </p:txBody>
      </p:sp>
      <p:pic>
        <p:nvPicPr>
          <p:cNvPr id="16" name="Image 3" descr="/home/user/Portugal-Website/images/photos/st-mendes.jpg">    </p:cNvPr>
          <p:cNvPicPr>
            <a:picLocks noChangeAspect="1"/>
          </p:cNvPicPr>
          <p:nvPr/>
        </p:nvPicPr>
        <p:blipFill>
          <a:blip r:embed="rId4"/>
          <a:srcRect l="0" r="0" t="0" b="0"/>
          <a:stretch/>
        </p:blipFill>
        <p:spPr>
          <a:xfrm>
            <a:off x="548640" y="3977640"/>
            <a:ext cx="1600200" cy="2148840"/>
          </a:xfrm>
          <a:prstGeom prst="rect">
            <a:avLst/>
          </a:prstGeom>
        </p:spPr>
      </p:pic>
      <p:sp>
        <p:nvSpPr>
          <p:cNvPr id="17" name="Text 11"/>
          <p:cNvSpPr txBox="1"/>
          <p:nvPr/>
        </p:nvSpPr>
        <p:spPr>
          <a:xfrm>
            <a:off x="2331720" y="3977640"/>
            <a:ext cx="914400" cy="274320"/>
          </a:xfrm>
          <a:prstGeom prst="rect">
            <a:avLst/>
          </a:prstGeom>
          <a:noFill/>
          <a:ln/>
        </p:spPr>
        <p:txBody>
          <a:bodyPr wrap="square" lIns="0" tIns="0" rIns="0" bIns="0" rtlCol="0" anchor="t"/>
          <a:lstStyle/>
          <a:p>
            <a:pPr indent="0" marL="0">
              <a:buNone/>
            </a:pPr>
            <a:r>
              <a:rPr lang="en-US" sz="1300" b="1" dirty="0">
                <a:solidFill>
                  <a:srgbClr val="B8955A"/>
                </a:solidFill>
                <a:latin typeface="Cambria" pitchFamily="34" charset="0"/>
                <a:ea typeface="Cambria" pitchFamily="34" charset="-122"/>
                <a:cs typeface="Cambria" pitchFamily="34" charset="-120"/>
              </a:rPr>
              <a:t>04</a:t>
            </a:r>
            <a:endParaRPr lang="en-US" sz="1300" dirty="0"/>
          </a:p>
        </p:txBody>
      </p:sp>
      <p:sp>
        <p:nvSpPr>
          <p:cNvPr id="18" name="Text 12"/>
          <p:cNvSpPr txBox="1"/>
          <p:nvPr/>
        </p:nvSpPr>
        <p:spPr>
          <a:xfrm>
            <a:off x="2331720" y="4251960"/>
            <a:ext cx="1783080" cy="685800"/>
          </a:xfrm>
          <a:prstGeom prst="rect">
            <a:avLst/>
          </a:prstGeom>
          <a:noFill/>
          <a:ln/>
        </p:spPr>
        <p:txBody>
          <a:bodyPr wrap="square" lIns="0" tIns="0" rIns="0" bIns="0" rtlCol="0" anchor="t"/>
          <a:lstStyle/>
          <a:p>
            <a:pPr indent="0" marL="0">
              <a:buNone/>
            </a:pPr>
            <a:r>
              <a:rPr lang="en-US" sz="1600" b="1" dirty="0">
                <a:solidFill>
                  <a:srgbClr val="174A3A"/>
                </a:solidFill>
                <a:latin typeface="Cambria" pitchFamily="34" charset="0"/>
                <a:ea typeface="Cambria" pitchFamily="34" charset="-122"/>
                <a:cs typeface="Cambria" pitchFamily="34" charset="-120"/>
              </a:rPr>
              <a:t>Un consul contre la dictature</a:t>
            </a:r>
            <a:endParaRPr lang="en-US" sz="1600" dirty="0"/>
          </a:p>
        </p:txBody>
      </p:sp>
      <p:sp>
        <p:nvSpPr>
          <p:cNvPr id="19" name="Text 13"/>
          <p:cNvSpPr txBox="1"/>
          <p:nvPr/>
        </p:nvSpPr>
        <p:spPr>
          <a:xfrm>
            <a:off x="2331720" y="4937760"/>
            <a:ext cx="1783080" cy="1188720"/>
          </a:xfrm>
          <a:prstGeom prst="rect">
            <a:avLst/>
          </a:prstGeom>
          <a:noFill/>
          <a:ln/>
        </p:spPr>
        <p:txBody>
          <a:bodyPr wrap="square" lIns="0" tIns="0" rIns="0" bIns="0" rtlCol="0" anchor="t"/>
          <a:lstStyle/>
          <a:p>
            <a:pPr indent="0" marL="0">
              <a:buNone/>
            </a:pPr>
            <a:r>
              <a:rPr lang="en-US" sz="1200" dirty="0">
                <a:solidFill>
                  <a:srgbClr val="17211D"/>
                </a:solidFill>
                <a:latin typeface="Calibri" pitchFamily="34" charset="0"/>
                <a:ea typeface="Calibri" pitchFamily="34" charset="-122"/>
                <a:cs typeface="Calibri" pitchFamily="34" charset="-120"/>
              </a:rPr>
              <a:t>1940 : le consul Sousa Mendes défie Salazar et sauve des milliers de réfugiés.</a:t>
            </a:r>
            <a:endParaRPr lang="en-US" sz="1200" dirty="0"/>
          </a:p>
        </p:txBody>
      </p:sp>
      <p:pic>
        <p:nvPicPr>
          <p:cNvPr id="20" name="Image 4" descr="/home/user/Portugal-Website/images/photos/st-salazar.jpg">    </p:cNvPr>
          <p:cNvPicPr>
            <a:picLocks noChangeAspect="1"/>
          </p:cNvPicPr>
          <p:nvPr/>
        </p:nvPicPr>
        <p:blipFill>
          <a:blip r:embed="rId5"/>
          <a:srcRect l="0" r="0" t="0" b="0"/>
          <a:stretch/>
        </p:blipFill>
        <p:spPr>
          <a:xfrm>
            <a:off x="4297680" y="3977640"/>
            <a:ext cx="1600200" cy="2148840"/>
          </a:xfrm>
          <a:prstGeom prst="rect">
            <a:avLst/>
          </a:prstGeom>
        </p:spPr>
      </p:pic>
      <p:sp>
        <p:nvSpPr>
          <p:cNvPr id="21" name="Text 14"/>
          <p:cNvSpPr txBox="1"/>
          <p:nvPr/>
        </p:nvSpPr>
        <p:spPr>
          <a:xfrm>
            <a:off x="6080760" y="3977640"/>
            <a:ext cx="914400" cy="274320"/>
          </a:xfrm>
          <a:prstGeom prst="rect">
            <a:avLst/>
          </a:prstGeom>
          <a:noFill/>
          <a:ln/>
        </p:spPr>
        <p:txBody>
          <a:bodyPr wrap="square" lIns="0" tIns="0" rIns="0" bIns="0" rtlCol="0" anchor="t"/>
          <a:lstStyle/>
          <a:p>
            <a:pPr indent="0" marL="0">
              <a:buNone/>
            </a:pPr>
            <a:r>
              <a:rPr lang="en-US" sz="1300" b="1" dirty="0">
                <a:solidFill>
                  <a:srgbClr val="B8955A"/>
                </a:solidFill>
                <a:latin typeface="Cambria" pitchFamily="34" charset="0"/>
                <a:ea typeface="Cambria" pitchFamily="34" charset="-122"/>
                <a:cs typeface="Cambria" pitchFamily="34" charset="-120"/>
              </a:rPr>
              <a:t>05</a:t>
            </a:r>
            <a:endParaRPr lang="en-US" sz="1300" dirty="0"/>
          </a:p>
        </p:txBody>
      </p:sp>
      <p:sp>
        <p:nvSpPr>
          <p:cNvPr id="22" name="Text 15"/>
          <p:cNvSpPr txBox="1"/>
          <p:nvPr/>
        </p:nvSpPr>
        <p:spPr>
          <a:xfrm>
            <a:off x="6080760" y="4251960"/>
            <a:ext cx="1783080" cy="685800"/>
          </a:xfrm>
          <a:prstGeom prst="rect">
            <a:avLst/>
          </a:prstGeom>
          <a:noFill/>
          <a:ln/>
        </p:spPr>
        <p:txBody>
          <a:bodyPr wrap="square" lIns="0" tIns="0" rIns="0" bIns="0" rtlCol="0" anchor="t"/>
          <a:lstStyle/>
          <a:p>
            <a:pPr indent="0" marL="0">
              <a:buNone/>
            </a:pPr>
            <a:r>
              <a:rPr lang="en-US" sz="1600" b="1" dirty="0">
                <a:solidFill>
                  <a:srgbClr val="174A3A"/>
                </a:solidFill>
                <a:latin typeface="Cambria" pitchFamily="34" charset="0"/>
                <a:ea typeface="Cambria" pitchFamily="34" charset="-122"/>
                <a:cs typeface="Cambria" pitchFamily="34" charset="-120"/>
              </a:rPr>
              <a:t>48 ans de dictature</a:t>
            </a:r>
            <a:endParaRPr lang="en-US" sz="1600" dirty="0"/>
          </a:p>
        </p:txBody>
      </p:sp>
      <p:sp>
        <p:nvSpPr>
          <p:cNvPr id="23" name="Text 16"/>
          <p:cNvSpPr txBox="1"/>
          <p:nvPr/>
        </p:nvSpPr>
        <p:spPr>
          <a:xfrm>
            <a:off x="6080760" y="4937760"/>
            <a:ext cx="1783080" cy="1188720"/>
          </a:xfrm>
          <a:prstGeom prst="rect">
            <a:avLst/>
          </a:prstGeom>
          <a:noFill/>
          <a:ln/>
        </p:spPr>
        <p:txBody>
          <a:bodyPr wrap="square" lIns="0" tIns="0" rIns="0" bIns="0" rtlCol="0" anchor="t"/>
          <a:lstStyle/>
          <a:p>
            <a:pPr indent="0" marL="0">
              <a:buNone/>
            </a:pPr>
            <a:r>
              <a:rPr lang="en-US" sz="1200" dirty="0">
                <a:solidFill>
                  <a:srgbClr val="17211D"/>
                </a:solidFill>
                <a:latin typeface="Calibri" pitchFamily="34" charset="0"/>
                <a:ea typeface="Calibri" pitchFamily="34" charset="-122"/>
                <a:cs typeface="Calibri" pitchFamily="34" charset="-120"/>
              </a:rPr>
              <a:t>1926-1974 : censure, police politique, émigration « a salto » vers la France.</a:t>
            </a:r>
            <a:endParaRPr lang="en-US" sz="1200" dirty="0"/>
          </a:p>
        </p:txBody>
      </p:sp>
      <p:pic>
        <p:nvPicPr>
          <p:cNvPr id="24" name="Image 5" descr="/home/user/Portugal-Website/images/photos/st-macau.jpg">    </p:cNvPr>
          <p:cNvPicPr>
            <a:picLocks noChangeAspect="1"/>
          </p:cNvPicPr>
          <p:nvPr/>
        </p:nvPicPr>
        <p:blipFill>
          <a:blip r:embed="rId6"/>
          <a:srcRect l="0" r="0" t="0" b="0"/>
          <a:stretch/>
        </p:blipFill>
        <p:spPr>
          <a:xfrm>
            <a:off x="8046720" y="3977640"/>
            <a:ext cx="1600200" cy="2148840"/>
          </a:xfrm>
          <a:prstGeom prst="rect">
            <a:avLst/>
          </a:prstGeom>
        </p:spPr>
      </p:pic>
      <p:sp>
        <p:nvSpPr>
          <p:cNvPr id="25" name="Text 17"/>
          <p:cNvSpPr txBox="1"/>
          <p:nvPr/>
        </p:nvSpPr>
        <p:spPr>
          <a:xfrm>
            <a:off x="9829800" y="3977640"/>
            <a:ext cx="914400" cy="274320"/>
          </a:xfrm>
          <a:prstGeom prst="rect">
            <a:avLst/>
          </a:prstGeom>
          <a:noFill/>
          <a:ln/>
        </p:spPr>
        <p:txBody>
          <a:bodyPr wrap="square" lIns="0" tIns="0" rIns="0" bIns="0" rtlCol="0" anchor="t"/>
          <a:lstStyle/>
          <a:p>
            <a:pPr indent="0" marL="0">
              <a:buNone/>
            </a:pPr>
            <a:r>
              <a:rPr lang="en-US" sz="1300" b="1" dirty="0">
                <a:solidFill>
                  <a:srgbClr val="B8955A"/>
                </a:solidFill>
                <a:latin typeface="Cambria" pitchFamily="34" charset="0"/>
                <a:ea typeface="Cambria" pitchFamily="34" charset="-122"/>
                <a:cs typeface="Cambria" pitchFamily="34" charset="-120"/>
              </a:rPr>
              <a:t>06</a:t>
            </a:r>
            <a:endParaRPr lang="en-US" sz="1300" dirty="0"/>
          </a:p>
        </p:txBody>
      </p:sp>
      <p:sp>
        <p:nvSpPr>
          <p:cNvPr id="26" name="Text 18"/>
          <p:cNvSpPr txBox="1"/>
          <p:nvPr/>
        </p:nvSpPr>
        <p:spPr>
          <a:xfrm>
            <a:off x="9829800" y="4251960"/>
            <a:ext cx="1783080" cy="685800"/>
          </a:xfrm>
          <a:prstGeom prst="rect">
            <a:avLst/>
          </a:prstGeom>
          <a:noFill/>
          <a:ln/>
        </p:spPr>
        <p:txBody>
          <a:bodyPr wrap="square" lIns="0" tIns="0" rIns="0" bIns="0" rtlCol="0" anchor="t"/>
          <a:lstStyle/>
          <a:p>
            <a:pPr indent="0" marL="0">
              <a:buNone/>
            </a:pPr>
            <a:r>
              <a:rPr lang="en-US" sz="1600" b="1" dirty="0">
                <a:solidFill>
                  <a:srgbClr val="174A3A"/>
                </a:solidFill>
                <a:latin typeface="Cambria" pitchFamily="34" charset="0"/>
                <a:ea typeface="Cambria" pitchFamily="34" charset="-122"/>
                <a:cs typeface="Cambria" pitchFamily="34" charset="-120"/>
              </a:rPr>
              <a:t>La fin d'un empire</a:t>
            </a:r>
            <a:endParaRPr lang="en-US" sz="1600" dirty="0"/>
          </a:p>
        </p:txBody>
      </p:sp>
      <p:sp>
        <p:nvSpPr>
          <p:cNvPr id="27" name="Text 19"/>
          <p:cNvSpPr txBox="1"/>
          <p:nvPr/>
        </p:nvSpPr>
        <p:spPr>
          <a:xfrm>
            <a:off x="9829800" y="4937760"/>
            <a:ext cx="1783080" cy="1188720"/>
          </a:xfrm>
          <a:prstGeom prst="rect">
            <a:avLst/>
          </a:prstGeom>
          <a:noFill/>
          <a:ln/>
        </p:spPr>
        <p:txBody>
          <a:bodyPr wrap="square" lIns="0" tIns="0" rIns="0" bIns="0" rtlCol="0" anchor="t"/>
          <a:lstStyle/>
          <a:p>
            <a:pPr indent="0" marL="0">
              <a:buNone/>
            </a:pPr>
            <a:r>
              <a:rPr lang="en-US" sz="1200" dirty="0">
                <a:solidFill>
                  <a:srgbClr val="17211D"/>
                </a:solidFill>
                <a:latin typeface="Calibri" pitchFamily="34" charset="0"/>
                <a:ea typeface="Calibri" pitchFamily="34" charset="-122"/>
                <a:cs typeface="Calibri" pitchFamily="34" charset="-120"/>
              </a:rPr>
              <a:t>Guerres coloniales, indépendances, puis Macao rendue à la Chine en 1999.</a:t>
            </a:r>
            <a:endParaRPr lang="en-US" sz="120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18D"/>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home/user/Portugal-Website/images/photos/hero-inst.jpg">    </p:cNvPr>
          <p:cNvPicPr>
            <a:picLocks noChangeAspect="1"/>
          </p:cNvPicPr>
          <p:nvPr/>
        </p:nvPicPr>
        <p:blipFill>
          <a:blip r:embed="rId1"/>
          <a:srcRect l="0" r="0" t="0" b="0"/>
          <a:stretch/>
        </p:blipFill>
        <p:spPr>
          <a:xfrm>
            <a:off x="0" y="0"/>
            <a:ext cx="12191695" cy="6858000"/>
          </a:xfrm>
          <a:prstGeom prst="rect">
            <a:avLst/>
          </a:prstGeom>
        </p:spPr>
      </p:pic>
      <p:sp>
        <p:nvSpPr>
          <p:cNvPr id="3" name="Shape 0"/>
          <p:cNvSpPr/>
          <p:nvPr/>
        </p:nvSpPr>
        <p:spPr>
          <a:xfrm>
            <a:off x="0" y="0"/>
            <a:ext cx="6766560" cy="6858000"/>
          </a:xfrm>
          <a:prstGeom prst="rect">
            <a:avLst/>
          </a:prstGeom>
          <a:solidFill>
            <a:srgbClr val="08140F">
              <a:alpha val="70000"/>
            </a:srgbClr>
          </a:solidFill>
          <a:ln w="12700">
            <a:solidFill>
              <a:srgbClr val="08140F">
                <a:alpha val="0"/>
              </a:srgbClr>
            </a:solidFill>
            <a:prstDash val="solid"/>
          </a:ln>
        </p:spPr>
      </p:sp>
      <p:sp>
        <p:nvSpPr>
          <p:cNvPr id="4" name="Text 1"/>
          <p:cNvSpPr txBox="1"/>
          <p:nvPr/>
        </p:nvSpPr>
        <p:spPr>
          <a:xfrm>
            <a:off x="822960" y="1828800"/>
            <a:ext cx="4572000" cy="365760"/>
          </a:xfrm>
          <a:prstGeom prst="rect">
            <a:avLst/>
          </a:prstGeom>
          <a:noFill/>
          <a:ln/>
        </p:spPr>
        <p:txBody>
          <a:bodyPr wrap="square" lIns="0" tIns="0" rIns="0" bIns="0" rtlCol="0" anchor="t"/>
          <a:lstStyle/>
          <a:p>
            <a:pPr indent="0" marL="0">
              <a:buNone/>
            </a:pPr>
            <a:r>
              <a:rPr lang="en-US" sz="1600" b="1" spc="300" kern="0" dirty="0">
                <a:solidFill>
                  <a:srgbClr val="F2C14E"/>
                </a:solidFill>
                <a:latin typeface="Calibri" pitchFamily="34" charset="0"/>
                <a:ea typeface="Calibri" pitchFamily="34" charset="-122"/>
                <a:cs typeface="Calibri" pitchFamily="34" charset="-120"/>
              </a:rPr>
              <a:t>HISTOIRE · INSTITUTIONS</a:t>
            </a:r>
            <a:endParaRPr lang="en-US" sz="1600" dirty="0"/>
          </a:p>
        </p:txBody>
      </p:sp>
      <p:sp>
        <p:nvSpPr>
          <p:cNvPr id="5" name="Text 2"/>
          <p:cNvSpPr txBox="1"/>
          <p:nvPr/>
        </p:nvSpPr>
        <p:spPr>
          <a:xfrm>
            <a:off x="822960" y="2240280"/>
            <a:ext cx="5760720" cy="1280160"/>
          </a:xfrm>
          <a:prstGeom prst="rect">
            <a:avLst/>
          </a:prstGeom>
          <a:noFill/>
          <a:ln/>
        </p:spPr>
        <p:txBody>
          <a:bodyPr wrap="square" lIns="0" tIns="0" rIns="0" bIns="0" rtlCol="0" anchor="t">
            <a:normAutofit/>
          </a:bodyPr>
          <a:lstStyle/>
          <a:p>
            <a:pPr indent="0" marL="0">
              <a:buNone/>
            </a:pPr>
            <a:r>
              <a:rPr lang="en-US" sz="6000" b="1" dirty="0">
                <a:solidFill>
                  <a:srgbClr val="FFFFFF"/>
                </a:solidFill>
                <a:latin typeface="Cambria" pitchFamily="34" charset="0"/>
                <a:ea typeface="Cambria" pitchFamily="34" charset="-122"/>
                <a:cs typeface="Cambria" pitchFamily="34" charset="-120"/>
              </a:rPr>
              <a:t>Institutions</a:t>
            </a:r>
            <a:endParaRPr lang="en-US" sz="6000" dirty="0"/>
          </a:p>
        </p:txBody>
      </p:sp>
      <p:sp>
        <p:nvSpPr>
          <p:cNvPr id="6" name="Text 3"/>
          <p:cNvSpPr txBox="1"/>
          <p:nvPr/>
        </p:nvSpPr>
        <p:spPr>
          <a:xfrm>
            <a:off x="822960" y="3611880"/>
            <a:ext cx="5486400" cy="914400"/>
          </a:xfrm>
          <a:prstGeom prst="rect">
            <a:avLst/>
          </a:prstGeom>
          <a:noFill/>
          <a:ln/>
        </p:spPr>
        <p:txBody>
          <a:bodyPr wrap="square" lIns="0" tIns="0" rIns="0" bIns="0" rtlCol="0" anchor="t"/>
          <a:lstStyle/>
          <a:p>
            <a:pPr indent="0" marL="0">
              <a:buNone/>
            </a:pPr>
            <a:r>
              <a:rPr lang="en-US" sz="2400" i="1" dirty="0">
                <a:solidFill>
                  <a:srgbClr val="FFFFFF"/>
                </a:solidFill>
                <a:latin typeface="Cambria" pitchFamily="34" charset="0"/>
                <a:ea typeface="Cambria" pitchFamily="34" charset="-122"/>
                <a:cs typeface="Cambria" pitchFamily="34" charset="-120"/>
              </a:rPr>
              <a:t>Une république démocratique au cœur de l'Europe</a:t>
            </a:r>
            <a:endParaRPr lang="en-US" sz="2400" dirty="0"/>
          </a:p>
        </p:txBody>
      </p:sp>
      <p:sp>
        <p:nvSpPr>
          <p:cNvPr id="7" name="Text 4"/>
          <p:cNvSpPr txBox="1"/>
          <p:nvPr/>
        </p:nvSpPr>
        <p:spPr>
          <a:xfrm>
            <a:off x="822960" y="4572000"/>
            <a:ext cx="5120640" cy="1005840"/>
          </a:xfrm>
          <a:prstGeom prst="rect">
            <a:avLst/>
          </a:prstGeom>
          <a:noFill/>
          <a:ln/>
        </p:spPr>
        <p:txBody>
          <a:bodyPr wrap="square" lIns="0" tIns="0" rIns="0" bIns="0" rtlCol="0" anchor="t"/>
          <a:lstStyle/>
          <a:p>
            <a:pPr indent="0" marL="0">
              <a:buNone/>
            </a:pPr>
            <a:r>
              <a:rPr lang="en-US" sz="1500" dirty="0">
                <a:solidFill>
                  <a:srgbClr val="E6ECE8"/>
                </a:solidFill>
                <a:latin typeface="Calibri" pitchFamily="34" charset="0"/>
                <a:ea typeface="Calibri" pitchFamily="34" charset="-122"/>
                <a:cs typeface="Calibri" pitchFamily="34" charset="-120"/>
              </a:rPr>
              <a:t>Depuis la Révolution des Œillets de 1974, le Portugal est une démocratie stable, fondée sur la Constitution de 1976.</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411480"/>
            <a:ext cx="10972800" cy="274320"/>
          </a:xfrm>
          <a:prstGeom prst="rect">
            <a:avLst/>
          </a:prstGeom>
          <a:noFill/>
          <a:ln/>
        </p:spPr>
        <p:txBody>
          <a:bodyPr wrap="square" lIns="0" tIns="0" rIns="0" bIns="0" rtlCol="0" anchor="t"/>
          <a:lstStyle/>
          <a:p>
            <a:pPr indent="0" marL="0">
              <a:buNone/>
            </a:pPr>
            <a:r>
              <a:rPr lang="en-US" sz="1200" b="1" spc="300" kern="0" dirty="0">
                <a:solidFill>
                  <a:srgbClr val="A83232"/>
                </a:solidFill>
                <a:latin typeface="Calibri" pitchFamily="34" charset="0"/>
                <a:ea typeface="Calibri" pitchFamily="34" charset="-122"/>
                <a:cs typeface="Calibri" pitchFamily="34" charset="-120"/>
              </a:rPr>
              <a:t>LA SÉPARATION DES POUVOIRS</a:t>
            </a:r>
            <a:endParaRPr lang="en-US" sz="1200" dirty="0"/>
          </a:p>
        </p:txBody>
      </p:sp>
      <p:sp>
        <p:nvSpPr>
          <p:cNvPr id="3" name="Text 1"/>
          <p:cNvSpPr txBox="1"/>
          <p:nvPr/>
        </p:nvSpPr>
        <p:spPr>
          <a:xfrm>
            <a:off x="548640" y="685800"/>
            <a:ext cx="10972800" cy="685800"/>
          </a:xfrm>
          <a:prstGeom prst="rect">
            <a:avLst/>
          </a:prstGeom>
          <a:noFill/>
          <a:ln/>
        </p:spPr>
        <p:txBody>
          <a:bodyPr wrap="square" lIns="0" tIns="0" rIns="0" bIns="0" rtlCol="0" anchor="t"/>
          <a:lstStyle/>
          <a:p>
            <a:pPr indent="0" marL="0">
              <a:buNone/>
            </a:pPr>
            <a:r>
              <a:rPr lang="en-US" sz="3400" b="1" dirty="0">
                <a:solidFill>
                  <a:srgbClr val="174A3A"/>
                </a:solidFill>
                <a:latin typeface="Cambria" pitchFamily="34" charset="0"/>
                <a:ea typeface="Cambria" pitchFamily="34" charset="-122"/>
                <a:cs typeface="Cambria" pitchFamily="34" charset="-120"/>
              </a:rPr>
              <a:t>Qui fait quoi ?</a:t>
            </a:r>
            <a:endParaRPr lang="en-US" sz="3400" dirty="0"/>
          </a:p>
        </p:txBody>
      </p:sp>
      <p:sp>
        <p:nvSpPr>
          <p:cNvPr id="4" name="Text 2"/>
          <p:cNvSpPr txBox="1"/>
          <p:nvPr/>
        </p:nvSpPr>
        <p:spPr>
          <a:xfrm>
            <a:off x="548640" y="1417320"/>
            <a:ext cx="10972800" cy="411480"/>
          </a:xfrm>
          <a:prstGeom prst="rect">
            <a:avLst/>
          </a:prstGeom>
          <a:noFill/>
          <a:ln/>
        </p:spPr>
        <p:txBody>
          <a:bodyPr wrap="square" lIns="0" tIns="0" rIns="0" bIns="0" rtlCol="0" anchor="t"/>
          <a:lstStyle/>
          <a:p>
            <a:pPr indent="0" marL="0">
              <a:buNone/>
            </a:pPr>
            <a:r>
              <a:rPr lang="en-US" sz="1500" dirty="0">
                <a:solidFill>
                  <a:srgbClr val="4A524E"/>
                </a:solidFill>
                <a:latin typeface="Calibri" pitchFamily="34" charset="0"/>
                <a:ea typeface="Calibri" pitchFamily="34" charset="-122"/>
                <a:cs typeface="Calibri" pitchFamily="34" charset="-120"/>
              </a:rPr>
              <a:t>Le Portugal est une république semi-présidentielle : le pouvoir est partagé entre quatre organes de souveraineté.</a:t>
            </a:r>
            <a:endParaRPr lang="en-US" sz="1500" dirty="0"/>
          </a:p>
        </p:txBody>
      </p:sp>
      <p:sp>
        <p:nvSpPr>
          <p:cNvPr id="5" name="Shape 3"/>
          <p:cNvSpPr/>
          <p:nvPr/>
        </p:nvSpPr>
        <p:spPr>
          <a:xfrm>
            <a:off x="548640" y="1965960"/>
            <a:ext cx="2624328" cy="4251960"/>
          </a:xfrm>
          <a:prstGeom prst="roundRect">
            <a:avLst>
              <a:gd name="adj" fmla="val 2787"/>
            </a:avLst>
          </a:prstGeom>
          <a:solidFill>
            <a:srgbClr val="FFFFFF"/>
          </a:solidFill>
          <a:ln w="12700">
            <a:solidFill>
              <a:srgbClr val="FFFFFF"/>
            </a:solidFill>
            <a:prstDash val="solid"/>
          </a:ln>
          <a:effectLst>
            <a:outerShdw sx="100000" sy="100000" kx="0" ky="0" algn="bl" rotWithShape="0" blurRad="101600" dist="38100" dir="5400000">
              <a:srgbClr val="000000">
                <a:alpha val="18000"/>
              </a:srgbClr>
            </a:outerShdw>
          </a:effectLst>
        </p:spPr>
      </p:sp>
      <p:pic>
        <p:nvPicPr>
          <p:cNvPr id="6" name="Image 0" descr="/home/user/Portugal-Website/images/photos/inst-belem.jpg">    </p:cNvPr>
          <p:cNvPicPr>
            <a:picLocks noChangeAspect="1"/>
          </p:cNvPicPr>
          <p:nvPr/>
        </p:nvPicPr>
        <p:blipFill>
          <a:blip r:embed="rId1"/>
          <a:srcRect l="0" r="0" t="0" b="0"/>
          <a:stretch/>
        </p:blipFill>
        <p:spPr>
          <a:xfrm>
            <a:off x="548640" y="1965960"/>
            <a:ext cx="2624328" cy="1508760"/>
          </a:xfrm>
          <a:prstGeom prst="rect">
            <a:avLst/>
          </a:prstGeom>
        </p:spPr>
      </p:pic>
      <p:sp>
        <p:nvSpPr>
          <p:cNvPr id="7" name="Text 4"/>
          <p:cNvSpPr txBox="1"/>
          <p:nvPr/>
        </p:nvSpPr>
        <p:spPr>
          <a:xfrm>
            <a:off x="731520" y="3611880"/>
            <a:ext cx="2286000" cy="274320"/>
          </a:xfrm>
          <a:prstGeom prst="rect">
            <a:avLst/>
          </a:prstGeom>
          <a:noFill/>
          <a:ln/>
        </p:spPr>
        <p:txBody>
          <a:bodyPr wrap="square" lIns="0" tIns="0" rIns="0" bIns="0" rtlCol="0" anchor="t"/>
          <a:lstStyle/>
          <a:p>
            <a:pPr indent="0" marL="0">
              <a:buNone/>
            </a:pPr>
            <a:r>
              <a:rPr lang="en-US" sz="1100" b="1" spc="200" kern="0" dirty="0">
                <a:solidFill>
                  <a:srgbClr val="174A3A"/>
                </a:solidFill>
                <a:latin typeface="Calibri" pitchFamily="34" charset="0"/>
                <a:ea typeface="Calibri" pitchFamily="34" charset="-122"/>
                <a:cs typeface="Calibri" pitchFamily="34" charset="-120"/>
              </a:rPr>
              <a:t>CHEF DE L'ÉTAT</a:t>
            </a:r>
            <a:endParaRPr lang="en-US" sz="1100" dirty="0"/>
          </a:p>
        </p:txBody>
      </p:sp>
      <p:sp>
        <p:nvSpPr>
          <p:cNvPr id="8" name="Text 5"/>
          <p:cNvSpPr txBox="1"/>
          <p:nvPr/>
        </p:nvSpPr>
        <p:spPr>
          <a:xfrm>
            <a:off x="731520" y="3886200"/>
            <a:ext cx="2286000" cy="594360"/>
          </a:xfrm>
          <a:prstGeom prst="rect">
            <a:avLst/>
          </a:prstGeom>
          <a:noFill/>
          <a:ln/>
        </p:spPr>
        <p:txBody>
          <a:bodyPr wrap="square" lIns="0" tIns="0" rIns="0" bIns="0" rtlCol="0" anchor="t"/>
          <a:lstStyle/>
          <a:p>
            <a:pPr indent="0" marL="0">
              <a:buNone/>
            </a:pPr>
            <a:r>
              <a:rPr lang="en-US" sz="1700" b="1" dirty="0">
                <a:solidFill>
                  <a:srgbClr val="17211D"/>
                </a:solidFill>
                <a:latin typeface="Cambria" pitchFamily="34" charset="0"/>
                <a:ea typeface="Cambria" pitchFamily="34" charset="-122"/>
                <a:cs typeface="Cambria" pitchFamily="34" charset="-120"/>
              </a:rPr>
              <a:t>Président de la République</a:t>
            </a:r>
            <a:endParaRPr lang="en-US" sz="1700" dirty="0"/>
          </a:p>
        </p:txBody>
      </p:sp>
      <p:sp>
        <p:nvSpPr>
          <p:cNvPr id="9" name="Text 6"/>
          <p:cNvSpPr txBox="1"/>
          <p:nvPr/>
        </p:nvSpPr>
        <p:spPr>
          <a:xfrm>
            <a:off x="731520" y="4526280"/>
            <a:ext cx="2286000" cy="594360"/>
          </a:xfrm>
          <a:prstGeom prst="rect">
            <a:avLst/>
          </a:prstGeom>
          <a:noFill/>
          <a:ln/>
        </p:spPr>
        <p:txBody>
          <a:bodyPr wrap="square" lIns="0" tIns="0" rIns="0" bIns="0" rtlCol="0" anchor="t"/>
          <a:lstStyle/>
          <a:p>
            <a:pPr indent="0" marL="0">
              <a:buNone/>
            </a:pPr>
            <a:r>
              <a:rPr lang="en-US" sz="1300" b="1" dirty="0">
                <a:solidFill>
                  <a:srgbClr val="174A3A"/>
                </a:solidFill>
                <a:latin typeface="Calibri" pitchFamily="34" charset="0"/>
                <a:ea typeface="Calibri" pitchFamily="34" charset="-122"/>
                <a:cs typeface="Calibri" pitchFamily="34" charset="-120"/>
              </a:rPr>
              <a:t>Depuis mars 2026 : António José Seguro</a:t>
            </a:r>
            <a:endParaRPr lang="en-US" sz="1300" dirty="0"/>
          </a:p>
        </p:txBody>
      </p:sp>
      <p:sp>
        <p:nvSpPr>
          <p:cNvPr id="10" name="Text 7"/>
          <p:cNvSpPr txBox="1"/>
          <p:nvPr/>
        </p:nvSpPr>
        <p:spPr>
          <a:xfrm>
            <a:off x="731520" y="5120640"/>
            <a:ext cx="2286000" cy="1005840"/>
          </a:xfrm>
          <a:prstGeom prst="rect">
            <a:avLst/>
          </a:prstGeom>
          <a:noFill/>
          <a:ln/>
        </p:spPr>
        <p:txBody>
          <a:bodyPr wrap="square" lIns="0" tIns="0" rIns="0" bIns="0" rtlCol="0" anchor="t">
            <a:normAutofit/>
          </a:bodyPr>
          <a:lstStyle/>
          <a:p>
            <a:pPr indent="0" marL="0">
              <a:buNone/>
            </a:pPr>
            <a:r>
              <a:rPr lang="en-US" sz="1100" dirty="0">
                <a:solidFill>
                  <a:srgbClr val="4A524E"/>
                </a:solidFill>
                <a:latin typeface="Calibri" pitchFamily="34" charset="0"/>
                <a:ea typeface="Calibri" pitchFamily="34" charset="-122"/>
                <a:cs typeface="Calibri" pitchFamily="34" charset="-120"/>
              </a:rPr>
              <a:t>Élu au suffrage universel direct pour 5 ans (2 mandats consécutifs au maximum). Il peut dissoudre le Parlement et opposer son veto aux lois.</a:t>
            </a:r>
            <a:endParaRPr lang="en-US" sz="1100" dirty="0"/>
          </a:p>
        </p:txBody>
      </p:sp>
      <p:sp>
        <p:nvSpPr>
          <p:cNvPr id="11" name="Shape 8"/>
          <p:cNvSpPr/>
          <p:nvPr/>
        </p:nvSpPr>
        <p:spPr>
          <a:xfrm>
            <a:off x="3355848" y="1965960"/>
            <a:ext cx="2624328" cy="4251960"/>
          </a:xfrm>
          <a:prstGeom prst="roundRect">
            <a:avLst>
              <a:gd name="adj" fmla="val 2787"/>
            </a:avLst>
          </a:prstGeom>
          <a:solidFill>
            <a:srgbClr val="FFFFFF"/>
          </a:solidFill>
          <a:ln w="12700">
            <a:solidFill>
              <a:srgbClr val="FFFFFF"/>
            </a:solidFill>
            <a:prstDash val="solid"/>
          </a:ln>
          <a:effectLst>
            <a:outerShdw sx="100000" sy="100000" kx="0" ky="0" algn="bl" rotWithShape="0" blurRad="101600" dist="38100" dir="5400000">
              <a:srgbClr val="000000">
                <a:alpha val="18000"/>
              </a:srgbClr>
            </a:outerShdw>
          </a:effectLst>
        </p:spPr>
      </p:sp>
      <p:pic>
        <p:nvPicPr>
          <p:cNvPr id="12" name="Image 1" descr="/home/user/Portugal-Website/images/photos/inst-saobento.jpg">    </p:cNvPr>
          <p:cNvPicPr>
            <a:picLocks noChangeAspect="1"/>
          </p:cNvPicPr>
          <p:nvPr/>
        </p:nvPicPr>
        <p:blipFill>
          <a:blip r:embed="rId2"/>
          <a:srcRect l="0" r="0" t="0" b="0"/>
          <a:stretch/>
        </p:blipFill>
        <p:spPr>
          <a:xfrm>
            <a:off x="3355848" y="1965960"/>
            <a:ext cx="2624328" cy="1508760"/>
          </a:xfrm>
          <a:prstGeom prst="rect">
            <a:avLst/>
          </a:prstGeom>
        </p:spPr>
      </p:pic>
      <p:sp>
        <p:nvSpPr>
          <p:cNvPr id="13" name="Text 9"/>
          <p:cNvSpPr txBox="1"/>
          <p:nvPr/>
        </p:nvSpPr>
        <p:spPr>
          <a:xfrm>
            <a:off x="3538728" y="3611880"/>
            <a:ext cx="2286000" cy="274320"/>
          </a:xfrm>
          <a:prstGeom prst="rect">
            <a:avLst/>
          </a:prstGeom>
          <a:noFill/>
          <a:ln/>
        </p:spPr>
        <p:txBody>
          <a:bodyPr wrap="square" lIns="0" tIns="0" rIns="0" bIns="0" rtlCol="0" anchor="t"/>
          <a:lstStyle/>
          <a:p>
            <a:pPr indent="0" marL="0">
              <a:buNone/>
            </a:pPr>
            <a:r>
              <a:rPr lang="en-US" sz="1100" b="1" spc="200" kern="0" dirty="0">
                <a:solidFill>
                  <a:srgbClr val="A83232"/>
                </a:solidFill>
                <a:latin typeface="Calibri" pitchFamily="34" charset="0"/>
                <a:ea typeface="Calibri" pitchFamily="34" charset="-122"/>
                <a:cs typeface="Calibri" pitchFamily="34" charset="-120"/>
              </a:rPr>
              <a:t>POUVOIR LÉGISLATIF</a:t>
            </a:r>
            <a:endParaRPr lang="en-US" sz="1100" dirty="0"/>
          </a:p>
        </p:txBody>
      </p:sp>
      <p:sp>
        <p:nvSpPr>
          <p:cNvPr id="14" name="Text 10"/>
          <p:cNvSpPr txBox="1"/>
          <p:nvPr/>
        </p:nvSpPr>
        <p:spPr>
          <a:xfrm>
            <a:off x="3538728" y="3886200"/>
            <a:ext cx="2286000" cy="594360"/>
          </a:xfrm>
          <a:prstGeom prst="rect">
            <a:avLst/>
          </a:prstGeom>
          <a:noFill/>
          <a:ln/>
        </p:spPr>
        <p:txBody>
          <a:bodyPr wrap="square" lIns="0" tIns="0" rIns="0" bIns="0" rtlCol="0" anchor="t"/>
          <a:lstStyle/>
          <a:p>
            <a:pPr indent="0" marL="0">
              <a:buNone/>
            </a:pPr>
            <a:r>
              <a:rPr lang="en-US" sz="1700" b="1" dirty="0">
                <a:solidFill>
                  <a:srgbClr val="17211D"/>
                </a:solidFill>
                <a:latin typeface="Cambria" pitchFamily="34" charset="0"/>
                <a:ea typeface="Cambria" pitchFamily="34" charset="-122"/>
                <a:cs typeface="Cambria" pitchFamily="34" charset="-120"/>
              </a:rPr>
              <a:t>Assemblée de la République</a:t>
            </a:r>
            <a:endParaRPr lang="en-US" sz="1700" dirty="0"/>
          </a:p>
        </p:txBody>
      </p:sp>
      <p:sp>
        <p:nvSpPr>
          <p:cNvPr id="15" name="Text 11"/>
          <p:cNvSpPr txBox="1"/>
          <p:nvPr/>
        </p:nvSpPr>
        <p:spPr>
          <a:xfrm>
            <a:off x="3538728" y="4526280"/>
            <a:ext cx="2286000" cy="594360"/>
          </a:xfrm>
          <a:prstGeom prst="rect">
            <a:avLst/>
          </a:prstGeom>
          <a:noFill/>
          <a:ln/>
        </p:spPr>
        <p:txBody>
          <a:bodyPr wrap="square" lIns="0" tIns="0" rIns="0" bIns="0" rtlCol="0" anchor="t"/>
          <a:lstStyle/>
          <a:p>
            <a:pPr indent="0" marL="0">
              <a:buNone/>
            </a:pPr>
            <a:r>
              <a:rPr lang="en-US" sz="1300" b="1" dirty="0">
                <a:solidFill>
                  <a:srgbClr val="174A3A"/>
                </a:solidFill>
                <a:latin typeface="Calibri" pitchFamily="34" charset="0"/>
                <a:ea typeface="Calibri" pitchFamily="34" charset="-122"/>
                <a:cs typeface="Calibri" pitchFamily="34" charset="-120"/>
              </a:rPr>
              <a:t>Siège : palais de São Bento, Lisbonne</a:t>
            </a:r>
            <a:endParaRPr lang="en-US" sz="1300" dirty="0"/>
          </a:p>
        </p:txBody>
      </p:sp>
      <p:sp>
        <p:nvSpPr>
          <p:cNvPr id="16" name="Text 12"/>
          <p:cNvSpPr txBox="1"/>
          <p:nvPr/>
        </p:nvSpPr>
        <p:spPr>
          <a:xfrm>
            <a:off x="3538728" y="5120640"/>
            <a:ext cx="2286000" cy="1005840"/>
          </a:xfrm>
          <a:prstGeom prst="rect">
            <a:avLst/>
          </a:prstGeom>
          <a:noFill/>
          <a:ln/>
        </p:spPr>
        <p:txBody>
          <a:bodyPr wrap="square" lIns="0" tIns="0" rIns="0" bIns="0" rtlCol="0" anchor="t">
            <a:normAutofit/>
          </a:bodyPr>
          <a:lstStyle/>
          <a:p>
            <a:pPr indent="0" marL="0">
              <a:buNone/>
            </a:pPr>
            <a:r>
              <a:rPr lang="en-US" sz="1100" dirty="0">
                <a:solidFill>
                  <a:srgbClr val="4A524E"/>
                </a:solidFill>
                <a:latin typeface="Calibri" pitchFamily="34" charset="0"/>
                <a:ea typeface="Calibri" pitchFamily="34" charset="-122"/>
                <a:cs typeface="Calibri" pitchFamily="34" charset="-120"/>
              </a:rPr>
              <a:t>230 députés élus pour 4 ans à la proportionnelle. Elle vote les lois et le budget, et contrôle le gouvernement.</a:t>
            </a:r>
            <a:endParaRPr lang="en-US" sz="1100" dirty="0"/>
          </a:p>
        </p:txBody>
      </p:sp>
      <p:sp>
        <p:nvSpPr>
          <p:cNvPr id="17" name="Shape 13"/>
          <p:cNvSpPr/>
          <p:nvPr/>
        </p:nvSpPr>
        <p:spPr>
          <a:xfrm>
            <a:off x="6163056" y="1965960"/>
            <a:ext cx="2624328" cy="4251960"/>
          </a:xfrm>
          <a:prstGeom prst="roundRect">
            <a:avLst>
              <a:gd name="adj" fmla="val 2787"/>
            </a:avLst>
          </a:prstGeom>
          <a:solidFill>
            <a:srgbClr val="FFFFFF"/>
          </a:solidFill>
          <a:ln w="12700">
            <a:solidFill>
              <a:srgbClr val="FFFFFF"/>
            </a:solidFill>
            <a:prstDash val="solid"/>
          </a:ln>
          <a:effectLst>
            <a:outerShdw sx="100000" sy="100000" kx="0" ky="0" algn="bl" rotWithShape="0" blurRad="101600" dist="38100" dir="5400000">
              <a:srgbClr val="000000">
                <a:alpha val="18000"/>
              </a:srgbClr>
            </a:outerShdw>
          </a:effectLst>
        </p:spPr>
      </p:sp>
      <p:pic>
        <p:nvPicPr>
          <p:cNvPr id="18" name="Image 2" descr="/home/user/Portugal-Website/images/photos/inst-praca.jpg">    </p:cNvPr>
          <p:cNvPicPr>
            <a:picLocks noChangeAspect="1"/>
          </p:cNvPicPr>
          <p:nvPr/>
        </p:nvPicPr>
        <p:blipFill>
          <a:blip r:embed="rId3"/>
          <a:srcRect l="0" r="0" t="0" b="0"/>
          <a:stretch/>
        </p:blipFill>
        <p:spPr>
          <a:xfrm>
            <a:off x="6163056" y="1965960"/>
            <a:ext cx="2624328" cy="1508760"/>
          </a:xfrm>
          <a:prstGeom prst="rect">
            <a:avLst/>
          </a:prstGeom>
        </p:spPr>
      </p:pic>
      <p:sp>
        <p:nvSpPr>
          <p:cNvPr id="19" name="Text 14"/>
          <p:cNvSpPr txBox="1"/>
          <p:nvPr/>
        </p:nvSpPr>
        <p:spPr>
          <a:xfrm>
            <a:off x="6345936" y="3611880"/>
            <a:ext cx="2286000" cy="274320"/>
          </a:xfrm>
          <a:prstGeom prst="rect">
            <a:avLst/>
          </a:prstGeom>
          <a:noFill/>
          <a:ln/>
        </p:spPr>
        <p:txBody>
          <a:bodyPr wrap="square" lIns="0" tIns="0" rIns="0" bIns="0" rtlCol="0" anchor="t"/>
          <a:lstStyle/>
          <a:p>
            <a:pPr indent="0" marL="0">
              <a:buNone/>
            </a:pPr>
            <a:r>
              <a:rPr lang="en-US" sz="1100" b="1" spc="200" kern="0" dirty="0">
                <a:solidFill>
                  <a:srgbClr val="1E4F8F"/>
                </a:solidFill>
                <a:latin typeface="Calibri" pitchFamily="34" charset="0"/>
                <a:ea typeface="Calibri" pitchFamily="34" charset="-122"/>
                <a:cs typeface="Calibri" pitchFamily="34" charset="-120"/>
              </a:rPr>
              <a:t>POUVOIR EXÉCUTIF</a:t>
            </a:r>
            <a:endParaRPr lang="en-US" sz="1100" dirty="0"/>
          </a:p>
        </p:txBody>
      </p:sp>
      <p:sp>
        <p:nvSpPr>
          <p:cNvPr id="20" name="Text 15"/>
          <p:cNvSpPr txBox="1"/>
          <p:nvPr/>
        </p:nvSpPr>
        <p:spPr>
          <a:xfrm>
            <a:off x="6345936" y="3886200"/>
            <a:ext cx="2286000" cy="594360"/>
          </a:xfrm>
          <a:prstGeom prst="rect">
            <a:avLst/>
          </a:prstGeom>
          <a:noFill/>
          <a:ln/>
        </p:spPr>
        <p:txBody>
          <a:bodyPr wrap="square" lIns="0" tIns="0" rIns="0" bIns="0" rtlCol="0" anchor="t"/>
          <a:lstStyle/>
          <a:p>
            <a:pPr indent="0" marL="0">
              <a:buNone/>
            </a:pPr>
            <a:r>
              <a:rPr lang="en-US" sz="1700" b="1" dirty="0">
                <a:solidFill>
                  <a:srgbClr val="17211D"/>
                </a:solidFill>
                <a:latin typeface="Cambria" pitchFamily="34" charset="0"/>
                <a:ea typeface="Cambria" pitchFamily="34" charset="-122"/>
                <a:cs typeface="Cambria" pitchFamily="34" charset="-120"/>
              </a:rPr>
              <a:t>Gouvernement</a:t>
            </a:r>
            <a:endParaRPr lang="en-US" sz="1700" dirty="0"/>
          </a:p>
        </p:txBody>
      </p:sp>
      <p:sp>
        <p:nvSpPr>
          <p:cNvPr id="21" name="Text 16"/>
          <p:cNvSpPr txBox="1"/>
          <p:nvPr/>
        </p:nvSpPr>
        <p:spPr>
          <a:xfrm>
            <a:off x="6345936" y="4526280"/>
            <a:ext cx="2286000" cy="594360"/>
          </a:xfrm>
          <a:prstGeom prst="rect">
            <a:avLst/>
          </a:prstGeom>
          <a:noFill/>
          <a:ln/>
        </p:spPr>
        <p:txBody>
          <a:bodyPr wrap="square" lIns="0" tIns="0" rIns="0" bIns="0" rtlCol="0" anchor="t"/>
          <a:lstStyle/>
          <a:p>
            <a:pPr indent="0" marL="0">
              <a:buNone/>
            </a:pPr>
            <a:r>
              <a:rPr lang="en-US" sz="1300" b="1" dirty="0">
                <a:solidFill>
                  <a:srgbClr val="174A3A"/>
                </a:solidFill>
                <a:latin typeface="Calibri" pitchFamily="34" charset="0"/>
                <a:ea typeface="Calibri" pitchFamily="34" charset="-122"/>
                <a:cs typeface="Calibri" pitchFamily="34" charset="-120"/>
              </a:rPr>
              <a:t>Premier ministre : Luís Montenegro</a:t>
            </a:r>
            <a:endParaRPr lang="en-US" sz="1300" dirty="0"/>
          </a:p>
        </p:txBody>
      </p:sp>
      <p:sp>
        <p:nvSpPr>
          <p:cNvPr id="22" name="Text 17"/>
          <p:cNvSpPr txBox="1"/>
          <p:nvPr/>
        </p:nvSpPr>
        <p:spPr>
          <a:xfrm>
            <a:off x="6345936" y="5120640"/>
            <a:ext cx="2286000" cy="1005840"/>
          </a:xfrm>
          <a:prstGeom prst="rect">
            <a:avLst/>
          </a:prstGeom>
          <a:noFill/>
          <a:ln/>
        </p:spPr>
        <p:txBody>
          <a:bodyPr wrap="square" lIns="0" tIns="0" rIns="0" bIns="0" rtlCol="0" anchor="t">
            <a:normAutofit/>
          </a:bodyPr>
          <a:lstStyle/>
          <a:p>
            <a:pPr indent="0" marL="0">
              <a:buNone/>
            </a:pPr>
            <a:r>
              <a:rPr lang="en-US" sz="1100" dirty="0">
                <a:solidFill>
                  <a:srgbClr val="4A524E"/>
                </a:solidFill>
                <a:latin typeface="Calibri" pitchFamily="34" charset="0"/>
                <a:ea typeface="Calibri" pitchFamily="34" charset="-122"/>
                <a:cs typeface="Calibri" pitchFamily="34" charset="-120"/>
              </a:rPr>
              <a:t>Dirigé par le Premier ministre, nommé par le Président selon les résultats des élections. Il est responsable devant le Parlement.</a:t>
            </a:r>
            <a:endParaRPr lang="en-US" sz="1100" dirty="0"/>
          </a:p>
        </p:txBody>
      </p:sp>
      <p:sp>
        <p:nvSpPr>
          <p:cNvPr id="23" name="Shape 18"/>
          <p:cNvSpPr/>
          <p:nvPr/>
        </p:nvSpPr>
        <p:spPr>
          <a:xfrm>
            <a:off x="8970264" y="1965960"/>
            <a:ext cx="2624328" cy="4251960"/>
          </a:xfrm>
          <a:prstGeom prst="roundRect">
            <a:avLst>
              <a:gd name="adj" fmla="val 2787"/>
            </a:avLst>
          </a:prstGeom>
          <a:solidFill>
            <a:srgbClr val="FFFFFF"/>
          </a:solidFill>
          <a:ln w="12700">
            <a:solidFill>
              <a:srgbClr val="FFFFFF"/>
            </a:solidFill>
            <a:prstDash val="solid"/>
          </a:ln>
          <a:effectLst>
            <a:outerShdw sx="100000" sy="100000" kx="0" ky="0" algn="bl" rotWithShape="0" blurRad="101600" dist="38100" dir="5400000">
              <a:srgbClr val="000000">
                <a:alpha val="18000"/>
              </a:srgbClr>
            </a:outerShdw>
          </a:effectLst>
        </p:spPr>
      </p:sp>
      <p:pic>
        <p:nvPicPr>
          <p:cNvPr id="24" name="Image 3" descr="/home/user/Portugal-Website/images/photos/inst-tc.jpg">    </p:cNvPr>
          <p:cNvPicPr>
            <a:picLocks noChangeAspect="1"/>
          </p:cNvPicPr>
          <p:nvPr/>
        </p:nvPicPr>
        <p:blipFill>
          <a:blip r:embed="rId4"/>
          <a:srcRect l="0" r="0" t="0" b="0"/>
          <a:stretch/>
        </p:blipFill>
        <p:spPr>
          <a:xfrm>
            <a:off x="8970264" y="1965960"/>
            <a:ext cx="2624328" cy="1508760"/>
          </a:xfrm>
          <a:prstGeom prst="rect">
            <a:avLst/>
          </a:prstGeom>
        </p:spPr>
      </p:pic>
      <p:sp>
        <p:nvSpPr>
          <p:cNvPr id="25" name="Text 19"/>
          <p:cNvSpPr txBox="1"/>
          <p:nvPr/>
        </p:nvSpPr>
        <p:spPr>
          <a:xfrm>
            <a:off x="9153144" y="3611880"/>
            <a:ext cx="2286000" cy="274320"/>
          </a:xfrm>
          <a:prstGeom prst="rect">
            <a:avLst/>
          </a:prstGeom>
          <a:noFill/>
          <a:ln/>
        </p:spPr>
        <p:txBody>
          <a:bodyPr wrap="square" lIns="0" tIns="0" rIns="0" bIns="0" rtlCol="0" anchor="t"/>
          <a:lstStyle/>
          <a:p>
            <a:pPr indent="0" marL="0">
              <a:buNone/>
            </a:pPr>
            <a:r>
              <a:rPr lang="en-US" sz="1100" b="1" spc="200" kern="0" dirty="0">
                <a:solidFill>
                  <a:srgbClr val="B8955A"/>
                </a:solidFill>
                <a:latin typeface="Calibri" pitchFamily="34" charset="0"/>
                <a:ea typeface="Calibri" pitchFamily="34" charset="-122"/>
                <a:cs typeface="Calibri" pitchFamily="34" charset="-120"/>
              </a:rPr>
              <a:t>POUVOIR JUDICIAIRE</a:t>
            </a:r>
            <a:endParaRPr lang="en-US" sz="1100" dirty="0"/>
          </a:p>
        </p:txBody>
      </p:sp>
      <p:sp>
        <p:nvSpPr>
          <p:cNvPr id="26" name="Text 20"/>
          <p:cNvSpPr txBox="1"/>
          <p:nvPr/>
        </p:nvSpPr>
        <p:spPr>
          <a:xfrm>
            <a:off x="9153144" y="3886200"/>
            <a:ext cx="2286000" cy="594360"/>
          </a:xfrm>
          <a:prstGeom prst="rect">
            <a:avLst/>
          </a:prstGeom>
          <a:noFill/>
          <a:ln/>
        </p:spPr>
        <p:txBody>
          <a:bodyPr wrap="square" lIns="0" tIns="0" rIns="0" bIns="0" rtlCol="0" anchor="t"/>
          <a:lstStyle/>
          <a:p>
            <a:pPr indent="0" marL="0">
              <a:buNone/>
            </a:pPr>
            <a:r>
              <a:rPr lang="en-US" sz="1700" b="1" dirty="0">
                <a:solidFill>
                  <a:srgbClr val="17211D"/>
                </a:solidFill>
                <a:latin typeface="Cambria" pitchFamily="34" charset="0"/>
                <a:ea typeface="Cambria" pitchFamily="34" charset="-122"/>
                <a:cs typeface="Cambria" pitchFamily="34" charset="-120"/>
              </a:rPr>
              <a:t>Tribunaux</a:t>
            </a:r>
            <a:endParaRPr lang="en-US" sz="1700" dirty="0"/>
          </a:p>
        </p:txBody>
      </p:sp>
      <p:sp>
        <p:nvSpPr>
          <p:cNvPr id="27" name="Text 21"/>
          <p:cNvSpPr txBox="1"/>
          <p:nvPr/>
        </p:nvSpPr>
        <p:spPr>
          <a:xfrm>
            <a:off x="9153144" y="4526280"/>
            <a:ext cx="2286000" cy="594360"/>
          </a:xfrm>
          <a:prstGeom prst="rect">
            <a:avLst/>
          </a:prstGeom>
          <a:noFill/>
          <a:ln/>
        </p:spPr>
        <p:txBody>
          <a:bodyPr wrap="square" lIns="0" tIns="0" rIns="0" bIns="0" rtlCol="0" anchor="t"/>
          <a:lstStyle/>
          <a:p>
            <a:pPr indent="0" marL="0">
              <a:buNone/>
            </a:pPr>
            <a:r>
              <a:rPr lang="en-US" sz="1300" b="1" dirty="0">
                <a:solidFill>
                  <a:srgbClr val="174A3A"/>
                </a:solidFill>
                <a:latin typeface="Calibri" pitchFamily="34" charset="0"/>
                <a:ea typeface="Calibri" pitchFamily="34" charset="-122"/>
                <a:cs typeface="Calibri" pitchFamily="34" charset="-120"/>
              </a:rPr>
              <a:t>Ils rendent la justice « au nom du peuple »</a:t>
            </a:r>
            <a:endParaRPr lang="en-US" sz="1300" dirty="0"/>
          </a:p>
        </p:txBody>
      </p:sp>
      <p:sp>
        <p:nvSpPr>
          <p:cNvPr id="28" name="Text 22"/>
          <p:cNvSpPr txBox="1"/>
          <p:nvPr/>
        </p:nvSpPr>
        <p:spPr>
          <a:xfrm>
            <a:off x="9153144" y="5120640"/>
            <a:ext cx="2286000" cy="1005840"/>
          </a:xfrm>
          <a:prstGeom prst="rect">
            <a:avLst/>
          </a:prstGeom>
          <a:noFill/>
          <a:ln/>
        </p:spPr>
        <p:txBody>
          <a:bodyPr wrap="square" lIns="0" tIns="0" rIns="0" bIns="0" rtlCol="0" anchor="t">
            <a:normAutofit/>
          </a:bodyPr>
          <a:lstStyle/>
          <a:p>
            <a:pPr indent="0" marL="0">
              <a:buNone/>
            </a:pPr>
            <a:r>
              <a:rPr lang="en-US" sz="1100" dirty="0">
                <a:solidFill>
                  <a:srgbClr val="4A524E"/>
                </a:solidFill>
                <a:latin typeface="Calibri" pitchFamily="34" charset="0"/>
                <a:ea typeface="Calibri" pitchFamily="34" charset="-122"/>
                <a:cs typeface="Calibri" pitchFamily="34" charset="-120"/>
              </a:rPr>
              <a:t>Indépendants des autres pouvoirs. Le Tribunal constitutionnel veille au respect de la Constitution.</a:t>
            </a:r>
            <a:endParaRPr lang="en-US" sz="110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18D"/>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411480"/>
            <a:ext cx="10972800" cy="274320"/>
          </a:xfrm>
          <a:prstGeom prst="rect">
            <a:avLst/>
          </a:prstGeom>
          <a:noFill/>
          <a:ln/>
        </p:spPr>
        <p:txBody>
          <a:bodyPr wrap="square" lIns="0" tIns="0" rIns="0" bIns="0" rtlCol="0" anchor="t"/>
          <a:lstStyle/>
          <a:p>
            <a:pPr indent="0" marL="0">
              <a:buNone/>
            </a:pPr>
            <a:r>
              <a:rPr lang="en-US" sz="1200" b="1" spc="300" kern="0" dirty="0">
                <a:solidFill>
                  <a:srgbClr val="A83232"/>
                </a:solidFill>
                <a:latin typeface="Calibri" pitchFamily="34" charset="0"/>
                <a:ea typeface="Calibri" pitchFamily="34" charset="-122"/>
                <a:cs typeface="Calibri" pitchFamily="34" charset="-120"/>
              </a:rPr>
              <a:t>PORTUGAL — SUISSE</a:t>
            </a:r>
            <a:endParaRPr lang="en-US" sz="1200" dirty="0"/>
          </a:p>
        </p:txBody>
      </p:sp>
      <p:sp>
        <p:nvSpPr>
          <p:cNvPr id="3" name="Text 1"/>
          <p:cNvSpPr txBox="1"/>
          <p:nvPr/>
        </p:nvSpPr>
        <p:spPr>
          <a:xfrm>
            <a:off x="548640" y="685800"/>
            <a:ext cx="10972800" cy="685800"/>
          </a:xfrm>
          <a:prstGeom prst="rect">
            <a:avLst/>
          </a:prstGeom>
          <a:noFill/>
          <a:ln/>
        </p:spPr>
        <p:txBody>
          <a:bodyPr wrap="square" lIns="0" tIns="0" rIns="0" bIns="0" rtlCol="0" anchor="t"/>
          <a:lstStyle/>
          <a:p>
            <a:pPr indent="0" marL="0">
              <a:buNone/>
            </a:pPr>
            <a:r>
              <a:rPr lang="en-US" sz="3400" b="1" dirty="0">
                <a:solidFill>
                  <a:srgbClr val="174A3A"/>
                </a:solidFill>
                <a:latin typeface="Cambria" pitchFamily="34" charset="0"/>
                <a:ea typeface="Cambria" pitchFamily="34" charset="-122"/>
                <a:cs typeface="Cambria" pitchFamily="34" charset="-120"/>
              </a:rPr>
              <a:t>Deux systèmes, deux façons de décider</a:t>
            </a:r>
            <a:endParaRPr lang="en-US" sz="34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64240" cy="914400"/>
        </p:xfrm>
        <a:graphic>
          <a:graphicData uri="http://schemas.openxmlformats.org/drawingml/2006/table">
            <a:tbl>
              <a:tblPr/>
              <a:tblGrid>
                <a:gridCol w="2286000"/>
                <a:gridCol w="4389120"/>
                <a:gridCol w="4389120"/>
              </a:tblGrid>
              <a:tr h="566928">
                <a:tc>
                  <a:txBody>
                    <a:bodyPr/>
                    <a:lstStyle/>
                    <a:p>
                      <a:pPr indent="0" marL="0">
                        <a:buNone/>
                      </a:pPr>
                      <a:endParaRPr lang="en-US" sz="1500" dirty="0">
                        <a:latin typeface="Calibri" charset="0"/>
                        <a:ea typeface="Calibri" charset="0"/>
                        <a:cs typeface="Calibri" charset="0"/>
                      </a:endParaRPr>
                    </a:p>
                  </a:txBody>
                  <a:tcPr marL="91440" marR="91440" marT="91440" marB="91440" anchor="ctr">
                    <a:lnL w="6350" cap="flat" cmpd="sng" algn="ctr">
                      <a:solidFill>
                        <a:srgbClr val="D5DAD7"/>
                      </a:solidFill>
                      <a:prstDash val="solid"/>
                      <a:round/>
                      <a:headEnd type="none" w="med" len="med"/>
                      <a:tailEnd type="none" w="med" len="med"/>
                    </a:lnL>
                    <a:lnR w="6350" cap="flat" cmpd="sng" algn="ctr">
                      <a:solidFill>
                        <a:srgbClr val="D5DAD7"/>
                      </a:solidFill>
                      <a:prstDash val="solid"/>
                      <a:round/>
                      <a:headEnd type="none" w="med" len="med"/>
                      <a:tailEnd type="none" w="med" len="med"/>
                    </a:lnR>
                    <a:lnT w="6350" cap="flat" cmpd="sng" algn="ctr">
                      <a:solidFill>
                        <a:srgbClr val="D5DAD7"/>
                      </a:solidFill>
                      <a:prstDash val="solid"/>
                      <a:round/>
                      <a:headEnd type="none" w="med" len="med"/>
                      <a:tailEnd type="none" w="med" len="med"/>
                    </a:lnT>
                    <a:lnB w="6350" cap="flat" cmpd="sng" algn="ctr">
                      <a:solidFill>
                        <a:srgbClr val="D5DAD7"/>
                      </a:solidFill>
                      <a:prstDash val="solid"/>
                      <a:round/>
                      <a:headEnd type="none" w="med" len="med"/>
                      <a:tailEnd type="none" w="med" len="med"/>
                    </a:lnB>
                    <a:solidFill>
                      <a:srgbClr val="174A3A"/>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  Portugal</a:t>
                      </a:r>
                      <a:endParaRPr lang="en-US" sz="1500" dirty="0">
                        <a:latin typeface="Calibri" charset="0"/>
                        <a:ea typeface="Calibri" charset="0"/>
                        <a:cs typeface="Calibri" charset="0"/>
                      </a:endParaRPr>
                    </a:p>
                  </a:txBody>
                  <a:tcPr marL="91440" marR="91440" marT="91440" marB="91440" anchor="ctr">
                    <a:lnL w="6350" cap="flat" cmpd="sng" algn="ctr">
                      <a:solidFill>
                        <a:srgbClr val="D5DAD7"/>
                      </a:solidFill>
                      <a:prstDash val="solid"/>
                      <a:round/>
                      <a:headEnd type="none" w="med" len="med"/>
                      <a:tailEnd type="none" w="med" len="med"/>
                    </a:lnL>
                    <a:lnR w="6350" cap="flat" cmpd="sng" algn="ctr">
                      <a:solidFill>
                        <a:srgbClr val="D5DAD7"/>
                      </a:solidFill>
                      <a:prstDash val="solid"/>
                      <a:round/>
                      <a:headEnd type="none" w="med" len="med"/>
                      <a:tailEnd type="none" w="med" len="med"/>
                    </a:lnR>
                    <a:lnT w="6350" cap="flat" cmpd="sng" algn="ctr">
                      <a:solidFill>
                        <a:srgbClr val="D5DAD7"/>
                      </a:solidFill>
                      <a:prstDash val="solid"/>
                      <a:round/>
                      <a:headEnd type="none" w="med" len="med"/>
                      <a:tailEnd type="none" w="med" len="med"/>
                    </a:lnT>
                    <a:lnB w="6350" cap="flat" cmpd="sng" algn="ctr">
                      <a:solidFill>
                        <a:srgbClr val="D5DAD7"/>
                      </a:solidFill>
                      <a:prstDash val="solid"/>
                      <a:round/>
                      <a:headEnd type="none" w="med" len="med"/>
                      <a:tailEnd type="none" w="med" len="med"/>
                    </a:lnB>
                    <a:solidFill>
                      <a:srgbClr val="174A3A"/>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  Suisse</a:t>
                      </a:r>
                      <a:endParaRPr lang="en-US" sz="1500" dirty="0">
                        <a:latin typeface="Calibri" charset="0"/>
                        <a:ea typeface="Calibri" charset="0"/>
                        <a:cs typeface="Calibri" charset="0"/>
                      </a:endParaRPr>
                    </a:p>
                  </a:txBody>
                  <a:tcPr marL="91440" marR="91440" marT="91440" marB="91440" anchor="ctr">
                    <a:lnL w="6350" cap="flat" cmpd="sng" algn="ctr">
                      <a:solidFill>
                        <a:srgbClr val="D5DAD7"/>
                      </a:solidFill>
                      <a:prstDash val="solid"/>
                      <a:round/>
                      <a:headEnd type="none" w="med" len="med"/>
                      <a:tailEnd type="none" w="med" len="med"/>
                    </a:lnL>
                    <a:lnR w="6350" cap="flat" cmpd="sng" algn="ctr">
                      <a:solidFill>
                        <a:srgbClr val="D5DAD7"/>
                      </a:solidFill>
                      <a:prstDash val="solid"/>
                      <a:round/>
                      <a:headEnd type="none" w="med" len="med"/>
                      <a:tailEnd type="none" w="med" len="med"/>
                    </a:lnR>
                    <a:lnT w="6350" cap="flat" cmpd="sng" algn="ctr">
                      <a:solidFill>
                        <a:srgbClr val="D5DAD7"/>
                      </a:solidFill>
                      <a:prstDash val="solid"/>
                      <a:round/>
                      <a:headEnd type="none" w="med" len="med"/>
                      <a:tailEnd type="none" w="med" len="med"/>
                    </a:lnT>
                    <a:lnB w="6350" cap="flat" cmpd="sng" algn="ctr">
                      <a:solidFill>
                        <a:srgbClr val="D5DAD7"/>
                      </a:solidFill>
                      <a:prstDash val="solid"/>
                      <a:round/>
                      <a:headEnd type="none" w="med" len="med"/>
                      <a:tailEnd type="none" w="med" len="med"/>
                    </a:lnB>
                    <a:solidFill>
                      <a:srgbClr val="174A3A"/>
                    </a:solidFill>
                  </a:tcPr>
                </a:tc>
              </a:tr>
              <a:tr h="566928">
                <a:tc>
                  <a:txBody>
                    <a:bodyPr/>
                    <a:lstStyle/>
                    <a:p>
                      <a:pPr indent="0" marL="0">
                        <a:buNone/>
                      </a:pPr>
                      <a:r>
                        <a:rPr lang="en-US" sz="1200" b="1" dirty="0">
                          <a:solidFill>
                            <a:srgbClr val="A83232"/>
                          </a:solidFill>
                          <a:latin typeface="Calibri" pitchFamily="34" charset="0"/>
                          <a:ea typeface="Calibri" pitchFamily="34" charset="-122"/>
                          <a:cs typeface="Calibri" pitchFamily="34" charset="-120"/>
                        </a:rPr>
                        <a:t>RÉGIME</a:t>
                      </a:r>
                      <a:endParaRPr lang="en-US" sz="1200" dirty="0">
                        <a:latin typeface="Calibri" charset="0"/>
                        <a:ea typeface="Calibri" charset="0"/>
                        <a:cs typeface="Calibri" charset="0"/>
                      </a:endParaRPr>
                    </a:p>
                  </a:txBody>
                  <a:tcPr marL="91440" marR="91440" marT="91440" marB="91440" anchor="ctr">
                    <a:lnL w="6350" cap="flat" cmpd="sng" algn="ctr">
                      <a:solidFill>
                        <a:srgbClr val="D5DAD7"/>
                      </a:solidFill>
                      <a:prstDash val="solid"/>
                      <a:round/>
                      <a:headEnd type="none" w="med" len="med"/>
                      <a:tailEnd type="none" w="med" len="med"/>
                    </a:lnL>
                    <a:lnR w="6350" cap="flat" cmpd="sng" algn="ctr">
                      <a:solidFill>
                        <a:srgbClr val="D5DAD7"/>
                      </a:solidFill>
                      <a:prstDash val="solid"/>
                      <a:round/>
                      <a:headEnd type="none" w="med" len="med"/>
                      <a:tailEnd type="none" w="med" len="med"/>
                    </a:lnR>
                    <a:lnT w="6350" cap="flat" cmpd="sng" algn="ctr">
                      <a:solidFill>
                        <a:srgbClr val="D5DAD7"/>
                      </a:solidFill>
                      <a:prstDash val="solid"/>
                      <a:round/>
                      <a:headEnd type="none" w="med" len="med"/>
                      <a:tailEnd type="none" w="med" len="med"/>
                    </a:lnT>
                    <a:lnB w="6350" cap="flat" cmpd="sng" algn="ctr">
                      <a:solidFill>
                        <a:srgbClr val="D5DAD7"/>
                      </a:solidFill>
                      <a:prstDash val="solid"/>
                      <a:round/>
                      <a:headEnd type="none" w="med" len="med"/>
                      <a:tailEnd type="none" w="med" len="med"/>
                    </a:lnB>
                    <a:solidFill>
                      <a:srgbClr val="F1F4F2"/>
                    </a:solidFill>
                  </a:tcPr>
                </a:tc>
                <a:tc>
                  <a:txBody>
                    <a:bodyPr/>
                    <a:lstStyle/>
                    <a:p>
                      <a:pPr indent="0" marL="0">
                        <a:buNone/>
                      </a:pPr>
                      <a:r>
                        <a:rPr lang="en-US" sz="1500" dirty="0">
                          <a:solidFill>
                            <a:srgbClr val="17211D"/>
                          </a:solidFill>
                          <a:latin typeface="Calibri" pitchFamily="34" charset="0"/>
                          <a:ea typeface="Calibri" pitchFamily="34" charset="-122"/>
                          <a:cs typeface="Calibri" pitchFamily="34" charset="-120"/>
                        </a:rPr>
                        <a:t>République semi-présidentielle</a:t>
                      </a:r>
                      <a:endParaRPr lang="en-US" sz="1500" dirty="0">
                        <a:latin typeface="Calibri" charset="0"/>
                        <a:ea typeface="Calibri" charset="0"/>
                        <a:cs typeface="Calibri" charset="0"/>
                      </a:endParaRPr>
                    </a:p>
                  </a:txBody>
                  <a:tcPr marL="91440" marR="91440" marT="91440" marB="91440" anchor="ctr">
                    <a:lnL w="6350" cap="flat" cmpd="sng" algn="ctr">
                      <a:solidFill>
                        <a:srgbClr val="D5DAD7"/>
                      </a:solidFill>
                      <a:prstDash val="solid"/>
                      <a:round/>
                      <a:headEnd type="none" w="med" len="med"/>
                      <a:tailEnd type="none" w="med" len="med"/>
                    </a:lnL>
                    <a:lnR w="6350" cap="flat" cmpd="sng" algn="ctr">
                      <a:solidFill>
                        <a:srgbClr val="D5DAD7"/>
                      </a:solidFill>
                      <a:prstDash val="solid"/>
                      <a:round/>
                      <a:headEnd type="none" w="med" len="med"/>
                      <a:tailEnd type="none" w="med" len="med"/>
                    </a:lnR>
                    <a:lnT w="6350" cap="flat" cmpd="sng" algn="ctr">
                      <a:solidFill>
                        <a:srgbClr val="D5DAD7"/>
                      </a:solidFill>
                      <a:prstDash val="solid"/>
                      <a:round/>
                      <a:headEnd type="none" w="med" len="med"/>
                      <a:tailEnd type="none" w="med" len="med"/>
                    </a:lnT>
                    <a:lnB w="6350" cap="flat" cmpd="sng" algn="ctr">
                      <a:solidFill>
                        <a:srgbClr val="D5DAD7"/>
                      </a:solidFill>
                      <a:prstDash val="solid"/>
                      <a:round/>
                      <a:headEnd type="none" w="med" len="med"/>
                      <a:tailEnd type="none" w="med" len="med"/>
                    </a:lnB>
                    <a:solidFill>
                      <a:srgbClr val="F1F4F2"/>
                    </a:solidFill>
                  </a:tcPr>
                </a:tc>
                <a:tc>
                  <a:txBody>
                    <a:bodyPr/>
                    <a:lstStyle/>
                    <a:p>
                      <a:pPr indent="0" marL="0">
                        <a:buNone/>
                      </a:pPr>
                      <a:r>
                        <a:rPr lang="en-US" sz="1500" dirty="0">
                          <a:solidFill>
                            <a:srgbClr val="17211D"/>
                          </a:solidFill>
                          <a:latin typeface="Calibri" pitchFamily="34" charset="0"/>
                          <a:ea typeface="Calibri" pitchFamily="34" charset="-122"/>
                          <a:cs typeface="Calibri" pitchFamily="34" charset="-120"/>
                        </a:rPr>
                        <a:t>État fédéral, démocratie directe</a:t>
                      </a:r>
                      <a:endParaRPr lang="en-US" sz="1500" dirty="0">
                        <a:latin typeface="Calibri" charset="0"/>
                        <a:ea typeface="Calibri" charset="0"/>
                        <a:cs typeface="Calibri" charset="0"/>
                      </a:endParaRPr>
                    </a:p>
                  </a:txBody>
                  <a:tcPr marL="91440" marR="91440" marT="91440" marB="91440" anchor="ctr">
                    <a:lnL w="6350" cap="flat" cmpd="sng" algn="ctr">
                      <a:solidFill>
                        <a:srgbClr val="D5DAD7"/>
                      </a:solidFill>
                      <a:prstDash val="solid"/>
                      <a:round/>
                      <a:headEnd type="none" w="med" len="med"/>
                      <a:tailEnd type="none" w="med" len="med"/>
                    </a:lnL>
                    <a:lnR w="6350" cap="flat" cmpd="sng" algn="ctr">
                      <a:solidFill>
                        <a:srgbClr val="D5DAD7"/>
                      </a:solidFill>
                      <a:prstDash val="solid"/>
                      <a:round/>
                      <a:headEnd type="none" w="med" len="med"/>
                      <a:tailEnd type="none" w="med" len="med"/>
                    </a:lnR>
                    <a:lnT w="6350" cap="flat" cmpd="sng" algn="ctr">
                      <a:solidFill>
                        <a:srgbClr val="D5DAD7"/>
                      </a:solidFill>
                      <a:prstDash val="solid"/>
                      <a:round/>
                      <a:headEnd type="none" w="med" len="med"/>
                      <a:tailEnd type="none" w="med" len="med"/>
                    </a:lnT>
                    <a:lnB w="6350" cap="flat" cmpd="sng" algn="ctr">
                      <a:solidFill>
                        <a:srgbClr val="D5DAD7"/>
                      </a:solidFill>
                      <a:prstDash val="solid"/>
                      <a:round/>
                      <a:headEnd type="none" w="med" len="med"/>
                      <a:tailEnd type="none" w="med" len="med"/>
                    </a:lnB>
                    <a:solidFill>
                      <a:srgbClr val="F1F4F2"/>
                    </a:solidFill>
                  </a:tcPr>
                </a:tc>
              </a:tr>
              <a:tr h="566928">
                <a:tc>
                  <a:txBody>
                    <a:bodyPr/>
                    <a:lstStyle/>
                    <a:p>
                      <a:pPr indent="0" marL="0">
                        <a:buNone/>
                      </a:pPr>
                      <a:r>
                        <a:rPr lang="en-US" sz="1200" b="1" dirty="0">
                          <a:solidFill>
                            <a:srgbClr val="A83232"/>
                          </a:solidFill>
                          <a:latin typeface="Calibri" pitchFamily="34" charset="0"/>
                          <a:ea typeface="Calibri" pitchFamily="34" charset="-122"/>
                          <a:cs typeface="Calibri" pitchFamily="34" charset="-120"/>
                        </a:rPr>
                        <a:t>CHEF DE L'ÉTAT</a:t>
                      </a:r>
                      <a:endParaRPr lang="en-US" sz="1200" dirty="0">
                        <a:latin typeface="Calibri" charset="0"/>
                        <a:ea typeface="Calibri" charset="0"/>
                        <a:cs typeface="Calibri" charset="0"/>
                      </a:endParaRPr>
                    </a:p>
                  </a:txBody>
                  <a:tcPr marL="91440" marR="91440" marT="91440" marB="91440" anchor="ctr">
                    <a:lnL w="6350" cap="flat" cmpd="sng" algn="ctr">
                      <a:solidFill>
                        <a:srgbClr val="D5DAD7"/>
                      </a:solidFill>
                      <a:prstDash val="solid"/>
                      <a:round/>
                      <a:headEnd type="none" w="med" len="med"/>
                      <a:tailEnd type="none" w="med" len="med"/>
                    </a:lnL>
                    <a:lnR w="6350" cap="flat" cmpd="sng" algn="ctr">
                      <a:solidFill>
                        <a:srgbClr val="D5DAD7"/>
                      </a:solidFill>
                      <a:prstDash val="solid"/>
                      <a:round/>
                      <a:headEnd type="none" w="med" len="med"/>
                      <a:tailEnd type="none" w="med" len="med"/>
                    </a:lnR>
                    <a:lnT w="6350" cap="flat" cmpd="sng" algn="ctr">
                      <a:solidFill>
                        <a:srgbClr val="D5DAD7"/>
                      </a:solidFill>
                      <a:prstDash val="solid"/>
                      <a:round/>
                      <a:headEnd type="none" w="med" len="med"/>
                      <a:tailEnd type="none" w="med" len="med"/>
                    </a:lnT>
                    <a:lnB w="6350" cap="flat" cmpd="sng" algn="ctr">
                      <a:solidFill>
                        <a:srgbClr val="D5DAD7"/>
                      </a:solidFill>
                      <a:prstDash val="solid"/>
                      <a:round/>
                      <a:headEnd type="none" w="med" len="med"/>
                      <a:tailEnd type="none" w="med" len="med"/>
                    </a:lnB>
                    <a:solidFill>
                      <a:srgbClr val="FFFFFF"/>
                    </a:solidFill>
                  </a:tcPr>
                </a:tc>
                <a:tc>
                  <a:txBody>
                    <a:bodyPr/>
                    <a:lstStyle/>
                    <a:p>
                      <a:pPr indent="0" marL="0">
                        <a:buNone/>
                      </a:pPr>
                      <a:r>
                        <a:rPr lang="en-US" sz="1500" dirty="0">
                          <a:solidFill>
                            <a:srgbClr val="17211D"/>
                          </a:solidFill>
                          <a:latin typeface="Calibri" pitchFamily="34" charset="0"/>
                          <a:ea typeface="Calibri" pitchFamily="34" charset="-122"/>
                          <a:cs typeface="Calibri" pitchFamily="34" charset="-120"/>
                        </a:rPr>
                        <a:t>Un président élu par le peuple</a:t>
                      </a:r>
                      <a:endParaRPr lang="en-US" sz="1500" dirty="0">
                        <a:latin typeface="Calibri" charset="0"/>
                        <a:ea typeface="Calibri" charset="0"/>
                        <a:cs typeface="Calibri" charset="0"/>
                      </a:endParaRPr>
                    </a:p>
                  </a:txBody>
                  <a:tcPr marL="91440" marR="91440" marT="91440" marB="91440" anchor="ctr">
                    <a:lnL w="6350" cap="flat" cmpd="sng" algn="ctr">
                      <a:solidFill>
                        <a:srgbClr val="D5DAD7"/>
                      </a:solidFill>
                      <a:prstDash val="solid"/>
                      <a:round/>
                      <a:headEnd type="none" w="med" len="med"/>
                      <a:tailEnd type="none" w="med" len="med"/>
                    </a:lnL>
                    <a:lnR w="6350" cap="flat" cmpd="sng" algn="ctr">
                      <a:solidFill>
                        <a:srgbClr val="D5DAD7"/>
                      </a:solidFill>
                      <a:prstDash val="solid"/>
                      <a:round/>
                      <a:headEnd type="none" w="med" len="med"/>
                      <a:tailEnd type="none" w="med" len="med"/>
                    </a:lnR>
                    <a:lnT w="6350" cap="flat" cmpd="sng" algn="ctr">
                      <a:solidFill>
                        <a:srgbClr val="D5DAD7"/>
                      </a:solidFill>
                      <a:prstDash val="solid"/>
                      <a:round/>
                      <a:headEnd type="none" w="med" len="med"/>
                      <a:tailEnd type="none" w="med" len="med"/>
                    </a:lnT>
                    <a:lnB w="6350" cap="flat" cmpd="sng" algn="ctr">
                      <a:solidFill>
                        <a:srgbClr val="D5DAD7"/>
                      </a:solidFill>
                      <a:prstDash val="solid"/>
                      <a:round/>
                      <a:headEnd type="none" w="med" len="med"/>
                      <a:tailEnd type="none" w="med" len="med"/>
                    </a:lnB>
                    <a:solidFill>
                      <a:srgbClr val="FFFFFF"/>
                    </a:solidFill>
                  </a:tcPr>
                </a:tc>
                <a:tc>
                  <a:txBody>
                    <a:bodyPr/>
                    <a:lstStyle/>
                    <a:p>
                      <a:pPr indent="0" marL="0">
                        <a:buNone/>
                      </a:pPr>
                      <a:r>
                        <a:rPr lang="en-US" sz="1500" dirty="0">
                          <a:solidFill>
                            <a:srgbClr val="17211D"/>
                          </a:solidFill>
                          <a:latin typeface="Calibri" pitchFamily="34" charset="0"/>
                          <a:ea typeface="Calibri" pitchFamily="34" charset="-122"/>
                          <a:cs typeface="Calibri" pitchFamily="34" charset="-120"/>
                        </a:rPr>
                        <a:t>Le Conseil fédéral (7 membres), présidé à tour de rôle</a:t>
                      </a:r>
                      <a:endParaRPr lang="en-US" sz="1500" dirty="0">
                        <a:latin typeface="Calibri" charset="0"/>
                        <a:ea typeface="Calibri" charset="0"/>
                        <a:cs typeface="Calibri" charset="0"/>
                      </a:endParaRPr>
                    </a:p>
                  </a:txBody>
                  <a:tcPr marL="91440" marR="91440" marT="91440" marB="91440" anchor="ctr">
                    <a:lnL w="6350" cap="flat" cmpd="sng" algn="ctr">
                      <a:solidFill>
                        <a:srgbClr val="D5DAD7"/>
                      </a:solidFill>
                      <a:prstDash val="solid"/>
                      <a:round/>
                      <a:headEnd type="none" w="med" len="med"/>
                      <a:tailEnd type="none" w="med" len="med"/>
                    </a:lnL>
                    <a:lnR w="6350" cap="flat" cmpd="sng" algn="ctr">
                      <a:solidFill>
                        <a:srgbClr val="D5DAD7"/>
                      </a:solidFill>
                      <a:prstDash val="solid"/>
                      <a:round/>
                      <a:headEnd type="none" w="med" len="med"/>
                      <a:tailEnd type="none" w="med" len="med"/>
                    </a:lnR>
                    <a:lnT w="6350" cap="flat" cmpd="sng" algn="ctr">
                      <a:solidFill>
                        <a:srgbClr val="D5DAD7"/>
                      </a:solidFill>
                      <a:prstDash val="solid"/>
                      <a:round/>
                      <a:headEnd type="none" w="med" len="med"/>
                      <a:tailEnd type="none" w="med" len="med"/>
                    </a:lnT>
                    <a:lnB w="6350" cap="flat" cmpd="sng" algn="ctr">
                      <a:solidFill>
                        <a:srgbClr val="D5DAD7"/>
                      </a:solidFill>
                      <a:prstDash val="solid"/>
                      <a:round/>
                      <a:headEnd type="none" w="med" len="med"/>
                      <a:tailEnd type="none" w="med" len="med"/>
                    </a:lnB>
                    <a:solidFill>
                      <a:srgbClr val="FFFFFF"/>
                    </a:solidFill>
                  </a:tcPr>
                </a:tc>
              </a:tr>
              <a:tr h="566928">
                <a:tc>
                  <a:txBody>
                    <a:bodyPr/>
                    <a:lstStyle/>
                    <a:p>
                      <a:pPr indent="0" marL="0">
                        <a:buNone/>
                      </a:pPr>
                      <a:r>
                        <a:rPr lang="en-US" sz="1200" b="1" dirty="0">
                          <a:solidFill>
                            <a:srgbClr val="A83232"/>
                          </a:solidFill>
                          <a:latin typeface="Calibri" pitchFamily="34" charset="0"/>
                          <a:ea typeface="Calibri" pitchFamily="34" charset="-122"/>
                          <a:cs typeface="Calibri" pitchFamily="34" charset="-120"/>
                        </a:rPr>
                        <a:t>PARLEMENT</a:t>
                      </a:r>
                      <a:endParaRPr lang="en-US" sz="1200" dirty="0">
                        <a:latin typeface="Calibri" charset="0"/>
                        <a:ea typeface="Calibri" charset="0"/>
                        <a:cs typeface="Calibri" charset="0"/>
                      </a:endParaRPr>
                    </a:p>
                  </a:txBody>
                  <a:tcPr marL="91440" marR="91440" marT="91440" marB="91440" anchor="ctr">
                    <a:lnL w="6350" cap="flat" cmpd="sng" algn="ctr">
                      <a:solidFill>
                        <a:srgbClr val="D5DAD7"/>
                      </a:solidFill>
                      <a:prstDash val="solid"/>
                      <a:round/>
                      <a:headEnd type="none" w="med" len="med"/>
                      <a:tailEnd type="none" w="med" len="med"/>
                    </a:lnL>
                    <a:lnR w="6350" cap="flat" cmpd="sng" algn="ctr">
                      <a:solidFill>
                        <a:srgbClr val="D5DAD7"/>
                      </a:solidFill>
                      <a:prstDash val="solid"/>
                      <a:round/>
                      <a:headEnd type="none" w="med" len="med"/>
                      <a:tailEnd type="none" w="med" len="med"/>
                    </a:lnR>
                    <a:lnT w="6350" cap="flat" cmpd="sng" algn="ctr">
                      <a:solidFill>
                        <a:srgbClr val="D5DAD7"/>
                      </a:solidFill>
                      <a:prstDash val="solid"/>
                      <a:round/>
                      <a:headEnd type="none" w="med" len="med"/>
                      <a:tailEnd type="none" w="med" len="med"/>
                    </a:lnT>
                    <a:lnB w="6350" cap="flat" cmpd="sng" algn="ctr">
                      <a:solidFill>
                        <a:srgbClr val="D5DAD7"/>
                      </a:solidFill>
                      <a:prstDash val="solid"/>
                      <a:round/>
                      <a:headEnd type="none" w="med" len="med"/>
                      <a:tailEnd type="none" w="med" len="med"/>
                    </a:lnB>
                    <a:solidFill>
                      <a:srgbClr val="F1F4F2"/>
                    </a:solidFill>
                  </a:tcPr>
                </a:tc>
                <a:tc>
                  <a:txBody>
                    <a:bodyPr/>
                    <a:lstStyle/>
                    <a:p>
                      <a:pPr indent="0" marL="0">
                        <a:buNone/>
                      </a:pPr>
                      <a:r>
                        <a:rPr lang="en-US" sz="1500" dirty="0">
                          <a:solidFill>
                            <a:srgbClr val="17211D"/>
                          </a:solidFill>
                          <a:latin typeface="Calibri" pitchFamily="34" charset="0"/>
                          <a:ea typeface="Calibri" pitchFamily="34" charset="-122"/>
                          <a:cs typeface="Calibri" pitchFamily="34" charset="-120"/>
                        </a:rPr>
                        <a:t>Une chambre : 230 députés</a:t>
                      </a:r>
                      <a:endParaRPr lang="en-US" sz="1500" dirty="0">
                        <a:latin typeface="Calibri" charset="0"/>
                        <a:ea typeface="Calibri" charset="0"/>
                        <a:cs typeface="Calibri" charset="0"/>
                      </a:endParaRPr>
                    </a:p>
                  </a:txBody>
                  <a:tcPr marL="91440" marR="91440" marT="91440" marB="91440" anchor="ctr">
                    <a:lnL w="6350" cap="flat" cmpd="sng" algn="ctr">
                      <a:solidFill>
                        <a:srgbClr val="D5DAD7"/>
                      </a:solidFill>
                      <a:prstDash val="solid"/>
                      <a:round/>
                      <a:headEnd type="none" w="med" len="med"/>
                      <a:tailEnd type="none" w="med" len="med"/>
                    </a:lnL>
                    <a:lnR w="6350" cap="flat" cmpd="sng" algn="ctr">
                      <a:solidFill>
                        <a:srgbClr val="D5DAD7"/>
                      </a:solidFill>
                      <a:prstDash val="solid"/>
                      <a:round/>
                      <a:headEnd type="none" w="med" len="med"/>
                      <a:tailEnd type="none" w="med" len="med"/>
                    </a:lnR>
                    <a:lnT w="6350" cap="flat" cmpd="sng" algn="ctr">
                      <a:solidFill>
                        <a:srgbClr val="D5DAD7"/>
                      </a:solidFill>
                      <a:prstDash val="solid"/>
                      <a:round/>
                      <a:headEnd type="none" w="med" len="med"/>
                      <a:tailEnd type="none" w="med" len="med"/>
                    </a:lnT>
                    <a:lnB w="6350" cap="flat" cmpd="sng" algn="ctr">
                      <a:solidFill>
                        <a:srgbClr val="D5DAD7"/>
                      </a:solidFill>
                      <a:prstDash val="solid"/>
                      <a:round/>
                      <a:headEnd type="none" w="med" len="med"/>
                      <a:tailEnd type="none" w="med" len="med"/>
                    </a:lnB>
                    <a:solidFill>
                      <a:srgbClr val="F1F4F2"/>
                    </a:solidFill>
                  </a:tcPr>
                </a:tc>
                <a:tc>
                  <a:txBody>
                    <a:bodyPr/>
                    <a:lstStyle/>
                    <a:p>
                      <a:pPr indent="0" marL="0">
                        <a:buNone/>
                      </a:pPr>
                      <a:r>
                        <a:rPr lang="en-US" sz="1500" dirty="0">
                          <a:solidFill>
                            <a:srgbClr val="17211D"/>
                          </a:solidFill>
                          <a:latin typeface="Calibri" pitchFamily="34" charset="0"/>
                          <a:ea typeface="Calibri" pitchFamily="34" charset="-122"/>
                          <a:cs typeface="Calibri" pitchFamily="34" charset="-120"/>
                        </a:rPr>
                        <a:t>Deux chambres : 200 + 46 membres</a:t>
                      </a:r>
                      <a:endParaRPr lang="en-US" sz="1500" dirty="0">
                        <a:latin typeface="Calibri" charset="0"/>
                        <a:ea typeface="Calibri" charset="0"/>
                        <a:cs typeface="Calibri" charset="0"/>
                      </a:endParaRPr>
                    </a:p>
                  </a:txBody>
                  <a:tcPr marL="91440" marR="91440" marT="91440" marB="91440" anchor="ctr">
                    <a:lnL w="6350" cap="flat" cmpd="sng" algn="ctr">
                      <a:solidFill>
                        <a:srgbClr val="D5DAD7"/>
                      </a:solidFill>
                      <a:prstDash val="solid"/>
                      <a:round/>
                      <a:headEnd type="none" w="med" len="med"/>
                      <a:tailEnd type="none" w="med" len="med"/>
                    </a:lnL>
                    <a:lnR w="6350" cap="flat" cmpd="sng" algn="ctr">
                      <a:solidFill>
                        <a:srgbClr val="D5DAD7"/>
                      </a:solidFill>
                      <a:prstDash val="solid"/>
                      <a:round/>
                      <a:headEnd type="none" w="med" len="med"/>
                      <a:tailEnd type="none" w="med" len="med"/>
                    </a:lnR>
                    <a:lnT w="6350" cap="flat" cmpd="sng" algn="ctr">
                      <a:solidFill>
                        <a:srgbClr val="D5DAD7"/>
                      </a:solidFill>
                      <a:prstDash val="solid"/>
                      <a:round/>
                      <a:headEnd type="none" w="med" len="med"/>
                      <a:tailEnd type="none" w="med" len="med"/>
                    </a:lnT>
                    <a:lnB w="6350" cap="flat" cmpd="sng" algn="ctr">
                      <a:solidFill>
                        <a:srgbClr val="D5DAD7"/>
                      </a:solidFill>
                      <a:prstDash val="solid"/>
                      <a:round/>
                      <a:headEnd type="none" w="med" len="med"/>
                      <a:tailEnd type="none" w="med" len="med"/>
                    </a:lnB>
                    <a:solidFill>
                      <a:srgbClr val="F1F4F2"/>
                    </a:solidFill>
                  </a:tcPr>
                </a:tc>
              </a:tr>
              <a:tr h="566928">
                <a:tc>
                  <a:txBody>
                    <a:bodyPr/>
                    <a:lstStyle/>
                    <a:p>
                      <a:pPr indent="0" marL="0">
                        <a:buNone/>
                      </a:pPr>
                      <a:r>
                        <a:rPr lang="en-US" sz="1200" b="1" dirty="0">
                          <a:solidFill>
                            <a:srgbClr val="A83232"/>
                          </a:solidFill>
                          <a:latin typeface="Calibri" pitchFamily="34" charset="0"/>
                          <a:ea typeface="Calibri" pitchFamily="34" charset="-122"/>
                          <a:cs typeface="Calibri" pitchFamily="34" charset="-120"/>
                        </a:rPr>
                        <a:t>ORGANISATION</a:t>
                      </a:r>
                      <a:endParaRPr lang="en-US" sz="1200" dirty="0">
                        <a:latin typeface="Calibri" charset="0"/>
                        <a:ea typeface="Calibri" charset="0"/>
                        <a:cs typeface="Calibri" charset="0"/>
                      </a:endParaRPr>
                    </a:p>
                  </a:txBody>
                  <a:tcPr marL="91440" marR="91440" marT="91440" marB="91440" anchor="ctr">
                    <a:lnL w="6350" cap="flat" cmpd="sng" algn="ctr">
                      <a:solidFill>
                        <a:srgbClr val="D5DAD7"/>
                      </a:solidFill>
                      <a:prstDash val="solid"/>
                      <a:round/>
                      <a:headEnd type="none" w="med" len="med"/>
                      <a:tailEnd type="none" w="med" len="med"/>
                    </a:lnL>
                    <a:lnR w="6350" cap="flat" cmpd="sng" algn="ctr">
                      <a:solidFill>
                        <a:srgbClr val="D5DAD7"/>
                      </a:solidFill>
                      <a:prstDash val="solid"/>
                      <a:round/>
                      <a:headEnd type="none" w="med" len="med"/>
                      <a:tailEnd type="none" w="med" len="med"/>
                    </a:lnR>
                    <a:lnT w="6350" cap="flat" cmpd="sng" algn="ctr">
                      <a:solidFill>
                        <a:srgbClr val="D5DAD7"/>
                      </a:solidFill>
                      <a:prstDash val="solid"/>
                      <a:round/>
                      <a:headEnd type="none" w="med" len="med"/>
                      <a:tailEnd type="none" w="med" len="med"/>
                    </a:lnT>
                    <a:lnB w="6350" cap="flat" cmpd="sng" algn="ctr">
                      <a:solidFill>
                        <a:srgbClr val="D5DAD7"/>
                      </a:solidFill>
                      <a:prstDash val="solid"/>
                      <a:round/>
                      <a:headEnd type="none" w="med" len="med"/>
                      <a:tailEnd type="none" w="med" len="med"/>
                    </a:lnB>
                    <a:solidFill>
                      <a:srgbClr val="FFFFFF"/>
                    </a:solidFill>
                  </a:tcPr>
                </a:tc>
                <a:tc>
                  <a:txBody>
                    <a:bodyPr/>
                    <a:lstStyle/>
                    <a:p>
                      <a:pPr indent="0" marL="0">
                        <a:buNone/>
                      </a:pPr>
                      <a:r>
                        <a:rPr lang="en-US" sz="1500" dirty="0">
                          <a:solidFill>
                            <a:srgbClr val="17211D"/>
                          </a:solidFill>
                          <a:latin typeface="Calibri" pitchFamily="34" charset="0"/>
                          <a:ea typeface="Calibri" pitchFamily="34" charset="-122"/>
                          <a:cs typeface="Calibri" pitchFamily="34" charset="-120"/>
                        </a:rPr>
                        <a:t>État unitaire, 2 régions autonomes (Açores, Madère)</a:t>
                      </a:r>
                      <a:endParaRPr lang="en-US" sz="1500" dirty="0">
                        <a:latin typeface="Calibri" charset="0"/>
                        <a:ea typeface="Calibri" charset="0"/>
                        <a:cs typeface="Calibri" charset="0"/>
                      </a:endParaRPr>
                    </a:p>
                  </a:txBody>
                  <a:tcPr marL="91440" marR="91440" marT="91440" marB="91440" anchor="ctr">
                    <a:lnL w="6350" cap="flat" cmpd="sng" algn="ctr">
                      <a:solidFill>
                        <a:srgbClr val="D5DAD7"/>
                      </a:solidFill>
                      <a:prstDash val="solid"/>
                      <a:round/>
                      <a:headEnd type="none" w="med" len="med"/>
                      <a:tailEnd type="none" w="med" len="med"/>
                    </a:lnL>
                    <a:lnR w="6350" cap="flat" cmpd="sng" algn="ctr">
                      <a:solidFill>
                        <a:srgbClr val="D5DAD7"/>
                      </a:solidFill>
                      <a:prstDash val="solid"/>
                      <a:round/>
                      <a:headEnd type="none" w="med" len="med"/>
                      <a:tailEnd type="none" w="med" len="med"/>
                    </a:lnR>
                    <a:lnT w="6350" cap="flat" cmpd="sng" algn="ctr">
                      <a:solidFill>
                        <a:srgbClr val="D5DAD7"/>
                      </a:solidFill>
                      <a:prstDash val="solid"/>
                      <a:round/>
                      <a:headEnd type="none" w="med" len="med"/>
                      <a:tailEnd type="none" w="med" len="med"/>
                    </a:lnT>
                    <a:lnB w="6350" cap="flat" cmpd="sng" algn="ctr">
                      <a:solidFill>
                        <a:srgbClr val="D5DAD7"/>
                      </a:solidFill>
                      <a:prstDash val="solid"/>
                      <a:round/>
                      <a:headEnd type="none" w="med" len="med"/>
                      <a:tailEnd type="none" w="med" len="med"/>
                    </a:lnB>
                    <a:solidFill>
                      <a:srgbClr val="FFFFFF"/>
                    </a:solidFill>
                  </a:tcPr>
                </a:tc>
                <a:tc>
                  <a:txBody>
                    <a:bodyPr/>
                    <a:lstStyle/>
                    <a:p>
                      <a:pPr indent="0" marL="0">
                        <a:buNone/>
                      </a:pPr>
                      <a:r>
                        <a:rPr lang="en-US" sz="1500" dirty="0">
                          <a:solidFill>
                            <a:srgbClr val="17211D"/>
                          </a:solidFill>
                          <a:latin typeface="Calibri" pitchFamily="34" charset="0"/>
                          <a:ea typeface="Calibri" pitchFamily="34" charset="-122"/>
                          <a:cs typeface="Calibri" pitchFamily="34" charset="-120"/>
                        </a:rPr>
                        <a:t>26 cantons très autonomes</a:t>
                      </a:r>
                      <a:endParaRPr lang="en-US" sz="1500" dirty="0">
                        <a:latin typeface="Calibri" charset="0"/>
                        <a:ea typeface="Calibri" charset="0"/>
                        <a:cs typeface="Calibri" charset="0"/>
                      </a:endParaRPr>
                    </a:p>
                  </a:txBody>
                  <a:tcPr marL="91440" marR="91440" marT="91440" marB="91440" anchor="ctr">
                    <a:lnL w="6350" cap="flat" cmpd="sng" algn="ctr">
                      <a:solidFill>
                        <a:srgbClr val="D5DAD7"/>
                      </a:solidFill>
                      <a:prstDash val="solid"/>
                      <a:round/>
                      <a:headEnd type="none" w="med" len="med"/>
                      <a:tailEnd type="none" w="med" len="med"/>
                    </a:lnL>
                    <a:lnR w="6350" cap="flat" cmpd="sng" algn="ctr">
                      <a:solidFill>
                        <a:srgbClr val="D5DAD7"/>
                      </a:solidFill>
                      <a:prstDash val="solid"/>
                      <a:round/>
                      <a:headEnd type="none" w="med" len="med"/>
                      <a:tailEnd type="none" w="med" len="med"/>
                    </a:lnR>
                    <a:lnT w="6350" cap="flat" cmpd="sng" algn="ctr">
                      <a:solidFill>
                        <a:srgbClr val="D5DAD7"/>
                      </a:solidFill>
                      <a:prstDash val="solid"/>
                      <a:round/>
                      <a:headEnd type="none" w="med" len="med"/>
                      <a:tailEnd type="none" w="med" len="med"/>
                    </a:lnT>
                    <a:lnB w="6350" cap="flat" cmpd="sng" algn="ctr">
                      <a:solidFill>
                        <a:srgbClr val="D5DAD7"/>
                      </a:solidFill>
                      <a:prstDash val="solid"/>
                      <a:round/>
                      <a:headEnd type="none" w="med" len="med"/>
                      <a:tailEnd type="none" w="med" len="med"/>
                    </a:lnB>
                    <a:solidFill>
                      <a:srgbClr val="FFFFFF"/>
                    </a:solidFill>
                  </a:tcPr>
                </a:tc>
              </a:tr>
              <a:tr h="566928">
                <a:tc>
                  <a:txBody>
                    <a:bodyPr/>
                    <a:lstStyle/>
                    <a:p>
                      <a:pPr indent="0" marL="0">
                        <a:buNone/>
                      </a:pPr>
                      <a:r>
                        <a:rPr lang="en-US" sz="1200" b="1" dirty="0">
                          <a:solidFill>
                            <a:srgbClr val="A83232"/>
                          </a:solidFill>
                          <a:latin typeface="Calibri" pitchFamily="34" charset="0"/>
                          <a:ea typeface="Calibri" pitchFamily="34" charset="-122"/>
                          <a:cs typeface="Calibri" pitchFamily="34" charset="-120"/>
                        </a:rPr>
                        <a:t>LE PEUPLE VOTE</a:t>
                      </a:r>
                      <a:endParaRPr lang="en-US" sz="1200" dirty="0">
                        <a:latin typeface="Calibri" charset="0"/>
                        <a:ea typeface="Calibri" charset="0"/>
                        <a:cs typeface="Calibri" charset="0"/>
                      </a:endParaRPr>
                    </a:p>
                  </a:txBody>
                  <a:tcPr marL="91440" marR="91440" marT="91440" marB="91440" anchor="ctr">
                    <a:lnL w="6350" cap="flat" cmpd="sng" algn="ctr">
                      <a:solidFill>
                        <a:srgbClr val="D5DAD7"/>
                      </a:solidFill>
                      <a:prstDash val="solid"/>
                      <a:round/>
                      <a:headEnd type="none" w="med" len="med"/>
                      <a:tailEnd type="none" w="med" len="med"/>
                    </a:lnL>
                    <a:lnR w="6350" cap="flat" cmpd="sng" algn="ctr">
                      <a:solidFill>
                        <a:srgbClr val="D5DAD7"/>
                      </a:solidFill>
                      <a:prstDash val="solid"/>
                      <a:round/>
                      <a:headEnd type="none" w="med" len="med"/>
                      <a:tailEnd type="none" w="med" len="med"/>
                    </a:lnR>
                    <a:lnT w="6350" cap="flat" cmpd="sng" algn="ctr">
                      <a:solidFill>
                        <a:srgbClr val="D5DAD7"/>
                      </a:solidFill>
                      <a:prstDash val="solid"/>
                      <a:round/>
                      <a:headEnd type="none" w="med" len="med"/>
                      <a:tailEnd type="none" w="med" len="med"/>
                    </a:lnT>
                    <a:lnB w="6350" cap="flat" cmpd="sng" algn="ctr">
                      <a:solidFill>
                        <a:srgbClr val="D5DAD7"/>
                      </a:solidFill>
                      <a:prstDash val="solid"/>
                      <a:round/>
                      <a:headEnd type="none" w="med" len="med"/>
                      <a:tailEnd type="none" w="med" len="med"/>
                    </a:lnB>
                    <a:solidFill>
                      <a:srgbClr val="F1F4F2"/>
                    </a:solidFill>
                  </a:tcPr>
                </a:tc>
                <a:tc>
                  <a:txBody>
                    <a:bodyPr/>
                    <a:lstStyle/>
                    <a:p>
                      <a:pPr indent="0" marL="0">
                        <a:buNone/>
                      </a:pPr>
                      <a:r>
                        <a:rPr lang="en-US" sz="1500" dirty="0">
                          <a:solidFill>
                            <a:srgbClr val="17211D"/>
                          </a:solidFill>
                          <a:latin typeface="Calibri" pitchFamily="34" charset="0"/>
                          <a:ea typeface="Calibri" pitchFamily="34" charset="-122"/>
                          <a:cs typeface="Calibri" pitchFamily="34" charset="-120"/>
                        </a:rPr>
                        <a:t>Élections ; référendums rares</a:t>
                      </a:r>
                      <a:endParaRPr lang="en-US" sz="1500" dirty="0">
                        <a:latin typeface="Calibri" charset="0"/>
                        <a:ea typeface="Calibri" charset="0"/>
                        <a:cs typeface="Calibri" charset="0"/>
                      </a:endParaRPr>
                    </a:p>
                  </a:txBody>
                  <a:tcPr marL="91440" marR="91440" marT="91440" marB="91440" anchor="ctr">
                    <a:lnL w="6350" cap="flat" cmpd="sng" algn="ctr">
                      <a:solidFill>
                        <a:srgbClr val="D5DAD7"/>
                      </a:solidFill>
                      <a:prstDash val="solid"/>
                      <a:round/>
                      <a:headEnd type="none" w="med" len="med"/>
                      <a:tailEnd type="none" w="med" len="med"/>
                    </a:lnL>
                    <a:lnR w="6350" cap="flat" cmpd="sng" algn="ctr">
                      <a:solidFill>
                        <a:srgbClr val="D5DAD7"/>
                      </a:solidFill>
                      <a:prstDash val="solid"/>
                      <a:round/>
                      <a:headEnd type="none" w="med" len="med"/>
                      <a:tailEnd type="none" w="med" len="med"/>
                    </a:lnR>
                    <a:lnT w="6350" cap="flat" cmpd="sng" algn="ctr">
                      <a:solidFill>
                        <a:srgbClr val="D5DAD7"/>
                      </a:solidFill>
                      <a:prstDash val="solid"/>
                      <a:round/>
                      <a:headEnd type="none" w="med" len="med"/>
                      <a:tailEnd type="none" w="med" len="med"/>
                    </a:lnT>
                    <a:lnB w="6350" cap="flat" cmpd="sng" algn="ctr">
                      <a:solidFill>
                        <a:srgbClr val="D5DAD7"/>
                      </a:solidFill>
                      <a:prstDash val="solid"/>
                      <a:round/>
                      <a:headEnd type="none" w="med" len="med"/>
                      <a:tailEnd type="none" w="med" len="med"/>
                    </a:lnB>
                    <a:solidFill>
                      <a:srgbClr val="F1F4F2"/>
                    </a:solidFill>
                  </a:tcPr>
                </a:tc>
                <a:tc>
                  <a:txBody>
                    <a:bodyPr/>
                    <a:lstStyle/>
                    <a:p>
                      <a:pPr indent="0" marL="0">
                        <a:buNone/>
                      </a:pPr>
                      <a:r>
                        <a:rPr lang="en-US" sz="1500" dirty="0">
                          <a:solidFill>
                            <a:srgbClr val="17211D"/>
                          </a:solidFill>
                          <a:latin typeface="Calibri" pitchFamily="34" charset="0"/>
                          <a:ea typeface="Calibri" pitchFamily="34" charset="-122"/>
                          <a:cs typeface="Calibri" pitchFamily="34" charset="-120"/>
                        </a:rPr>
                        <a:t>Votations plusieurs fois par an</a:t>
                      </a:r>
                      <a:endParaRPr lang="en-US" sz="1500" dirty="0">
                        <a:latin typeface="Calibri" charset="0"/>
                        <a:ea typeface="Calibri" charset="0"/>
                        <a:cs typeface="Calibri" charset="0"/>
                      </a:endParaRPr>
                    </a:p>
                  </a:txBody>
                  <a:tcPr marL="91440" marR="91440" marT="91440" marB="91440" anchor="ctr">
                    <a:lnL w="6350" cap="flat" cmpd="sng" algn="ctr">
                      <a:solidFill>
                        <a:srgbClr val="D5DAD7"/>
                      </a:solidFill>
                      <a:prstDash val="solid"/>
                      <a:round/>
                      <a:headEnd type="none" w="med" len="med"/>
                      <a:tailEnd type="none" w="med" len="med"/>
                    </a:lnL>
                    <a:lnR w="6350" cap="flat" cmpd="sng" algn="ctr">
                      <a:solidFill>
                        <a:srgbClr val="D5DAD7"/>
                      </a:solidFill>
                      <a:prstDash val="solid"/>
                      <a:round/>
                      <a:headEnd type="none" w="med" len="med"/>
                      <a:tailEnd type="none" w="med" len="med"/>
                    </a:lnR>
                    <a:lnT w="6350" cap="flat" cmpd="sng" algn="ctr">
                      <a:solidFill>
                        <a:srgbClr val="D5DAD7"/>
                      </a:solidFill>
                      <a:prstDash val="solid"/>
                      <a:round/>
                      <a:headEnd type="none" w="med" len="med"/>
                      <a:tailEnd type="none" w="med" len="med"/>
                    </a:lnT>
                    <a:lnB w="6350" cap="flat" cmpd="sng" algn="ctr">
                      <a:solidFill>
                        <a:srgbClr val="D5DAD7"/>
                      </a:solidFill>
                      <a:prstDash val="solid"/>
                      <a:round/>
                      <a:headEnd type="none" w="med" len="med"/>
                      <a:tailEnd type="none" w="med" len="med"/>
                    </a:lnB>
                    <a:solidFill>
                      <a:srgbClr val="F1F4F2"/>
                    </a:solidFill>
                  </a:tcPr>
                </a:tc>
              </a:tr>
              <a:tr h="566928">
                <a:tc>
                  <a:txBody>
                    <a:bodyPr/>
                    <a:lstStyle/>
                    <a:p>
                      <a:pPr indent="0" marL="0">
                        <a:buNone/>
                      </a:pPr>
                      <a:r>
                        <a:rPr lang="en-US" sz="1200" b="1" dirty="0">
                          <a:solidFill>
                            <a:srgbClr val="A83232"/>
                          </a:solidFill>
                          <a:latin typeface="Calibri" pitchFamily="34" charset="0"/>
                          <a:ea typeface="Calibri" pitchFamily="34" charset="-122"/>
                          <a:cs typeface="Calibri" pitchFamily="34" charset="-120"/>
                        </a:rPr>
                        <a:t>EUROPE</a:t>
                      </a:r>
                      <a:endParaRPr lang="en-US" sz="1200" dirty="0">
                        <a:latin typeface="Calibri" charset="0"/>
                        <a:ea typeface="Calibri" charset="0"/>
                        <a:cs typeface="Calibri" charset="0"/>
                      </a:endParaRPr>
                    </a:p>
                  </a:txBody>
                  <a:tcPr marL="91440" marR="91440" marT="91440" marB="91440" anchor="ctr">
                    <a:lnL w="6350" cap="flat" cmpd="sng" algn="ctr">
                      <a:solidFill>
                        <a:srgbClr val="D5DAD7"/>
                      </a:solidFill>
                      <a:prstDash val="solid"/>
                      <a:round/>
                      <a:headEnd type="none" w="med" len="med"/>
                      <a:tailEnd type="none" w="med" len="med"/>
                    </a:lnL>
                    <a:lnR w="6350" cap="flat" cmpd="sng" algn="ctr">
                      <a:solidFill>
                        <a:srgbClr val="D5DAD7"/>
                      </a:solidFill>
                      <a:prstDash val="solid"/>
                      <a:round/>
                      <a:headEnd type="none" w="med" len="med"/>
                      <a:tailEnd type="none" w="med" len="med"/>
                    </a:lnR>
                    <a:lnT w="6350" cap="flat" cmpd="sng" algn="ctr">
                      <a:solidFill>
                        <a:srgbClr val="D5DAD7"/>
                      </a:solidFill>
                      <a:prstDash val="solid"/>
                      <a:round/>
                      <a:headEnd type="none" w="med" len="med"/>
                      <a:tailEnd type="none" w="med" len="med"/>
                    </a:lnT>
                    <a:lnB w="6350" cap="flat" cmpd="sng" algn="ctr">
                      <a:solidFill>
                        <a:srgbClr val="D5DAD7"/>
                      </a:solidFill>
                      <a:prstDash val="solid"/>
                      <a:round/>
                      <a:headEnd type="none" w="med" len="med"/>
                      <a:tailEnd type="none" w="med" len="med"/>
                    </a:lnB>
                    <a:solidFill>
                      <a:srgbClr val="FFFFFF"/>
                    </a:solidFill>
                  </a:tcPr>
                </a:tc>
                <a:tc>
                  <a:txBody>
                    <a:bodyPr/>
                    <a:lstStyle/>
                    <a:p>
                      <a:pPr indent="0" marL="0">
                        <a:buNone/>
                      </a:pPr>
                      <a:r>
                        <a:rPr lang="en-US" sz="1500" dirty="0">
                          <a:solidFill>
                            <a:srgbClr val="17211D"/>
                          </a:solidFill>
                          <a:latin typeface="Calibri" pitchFamily="34" charset="0"/>
                          <a:ea typeface="Calibri" pitchFamily="34" charset="-122"/>
                          <a:cs typeface="Calibri" pitchFamily="34" charset="-120"/>
                        </a:rPr>
                        <a:t>Membre de l'UE depuis 1986, zone euro</a:t>
                      </a:r>
                      <a:endParaRPr lang="en-US" sz="1500" dirty="0">
                        <a:latin typeface="Calibri" charset="0"/>
                        <a:ea typeface="Calibri" charset="0"/>
                        <a:cs typeface="Calibri" charset="0"/>
                      </a:endParaRPr>
                    </a:p>
                  </a:txBody>
                  <a:tcPr marL="91440" marR="91440" marT="91440" marB="91440" anchor="ctr">
                    <a:lnL w="6350" cap="flat" cmpd="sng" algn="ctr">
                      <a:solidFill>
                        <a:srgbClr val="D5DAD7"/>
                      </a:solidFill>
                      <a:prstDash val="solid"/>
                      <a:round/>
                      <a:headEnd type="none" w="med" len="med"/>
                      <a:tailEnd type="none" w="med" len="med"/>
                    </a:lnL>
                    <a:lnR w="6350" cap="flat" cmpd="sng" algn="ctr">
                      <a:solidFill>
                        <a:srgbClr val="D5DAD7"/>
                      </a:solidFill>
                      <a:prstDash val="solid"/>
                      <a:round/>
                      <a:headEnd type="none" w="med" len="med"/>
                      <a:tailEnd type="none" w="med" len="med"/>
                    </a:lnR>
                    <a:lnT w="6350" cap="flat" cmpd="sng" algn="ctr">
                      <a:solidFill>
                        <a:srgbClr val="D5DAD7"/>
                      </a:solidFill>
                      <a:prstDash val="solid"/>
                      <a:round/>
                      <a:headEnd type="none" w="med" len="med"/>
                      <a:tailEnd type="none" w="med" len="med"/>
                    </a:lnT>
                    <a:lnB w="6350" cap="flat" cmpd="sng" algn="ctr">
                      <a:solidFill>
                        <a:srgbClr val="D5DAD7"/>
                      </a:solidFill>
                      <a:prstDash val="solid"/>
                      <a:round/>
                      <a:headEnd type="none" w="med" len="med"/>
                      <a:tailEnd type="none" w="med" len="med"/>
                    </a:lnB>
                    <a:solidFill>
                      <a:srgbClr val="FFFFFF"/>
                    </a:solidFill>
                  </a:tcPr>
                </a:tc>
                <a:tc>
                  <a:txBody>
                    <a:bodyPr/>
                    <a:lstStyle/>
                    <a:p>
                      <a:pPr indent="0" marL="0">
                        <a:buNone/>
                      </a:pPr>
                      <a:r>
                        <a:rPr lang="en-US" sz="1500" dirty="0">
                          <a:solidFill>
                            <a:srgbClr val="17211D"/>
                          </a:solidFill>
                          <a:latin typeface="Calibri" pitchFamily="34" charset="0"/>
                          <a:ea typeface="Calibri" pitchFamily="34" charset="-122"/>
                          <a:cs typeface="Calibri" pitchFamily="34" charset="-120"/>
                        </a:rPr>
                        <a:t>Hors UE : accords bilatéraux, Schengen</a:t>
                      </a:r>
                      <a:endParaRPr lang="en-US" sz="1500" dirty="0">
                        <a:latin typeface="Calibri" charset="0"/>
                        <a:ea typeface="Calibri" charset="0"/>
                        <a:cs typeface="Calibri" charset="0"/>
                      </a:endParaRPr>
                    </a:p>
                  </a:txBody>
                  <a:tcPr marL="91440" marR="91440" marT="91440" marB="91440" anchor="ctr">
                    <a:lnL w="6350" cap="flat" cmpd="sng" algn="ctr">
                      <a:solidFill>
                        <a:srgbClr val="D5DAD7"/>
                      </a:solidFill>
                      <a:prstDash val="solid"/>
                      <a:round/>
                      <a:headEnd type="none" w="med" len="med"/>
                      <a:tailEnd type="none" w="med" len="med"/>
                    </a:lnL>
                    <a:lnR w="6350" cap="flat" cmpd="sng" algn="ctr">
                      <a:solidFill>
                        <a:srgbClr val="D5DAD7"/>
                      </a:solidFill>
                      <a:prstDash val="solid"/>
                      <a:round/>
                      <a:headEnd type="none" w="med" len="med"/>
                      <a:tailEnd type="none" w="med" len="med"/>
                    </a:lnR>
                    <a:lnT w="6350" cap="flat" cmpd="sng" algn="ctr">
                      <a:solidFill>
                        <a:srgbClr val="D5DAD7"/>
                      </a:solidFill>
                      <a:prstDash val="solid"/>
                      <a:round/>
                      <a:headEnd type="none" w="med" len="med"/>
                      <a:tailEnd type="none" w="med" len="med"/>
                    </a:lnT>
                    <a:lnB w="6350" cap="flat" cmpd="sng" algn="ctr">
                      <a:solidFill>
                        <a:srgbClr val="D5DAD7"/>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18D"/>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48640" y="411480"/>
            <a:ext cx="10972800" cy="274320"/>
          </a:xfrm>
          <a:prstGeom prst="rect">
            <a:avLst/>
          </a:prstGeom>
          <a:noFill/>
          <a:ln/>
        </p:spPr>
        <p:txBody>
          <a:bodyPr wrap="square" lIns="0" tIns="0" rIns="0" bIns="0" rtlCol="0" anchor="t"/>
          <a:lstStyle/>
          <a:p>
            <a:pPr indent="0" marL="0">
              <a:buNone/>
            </a:pPr>
            <a:r>
              <a:rPr lang="en-US" sz="1200" b="1" spc="300" kern="0" dirty="0">
                <a:solidFill>
                  <a:srgbClr val="F2C14E"/>
                </a:solidFill>
                <a:latin typeface="Calibri" pitchFamily="34" charset="0"/>
                <a:ea typeface="Calibri" pitchFamily="34" charset="-122"/>
                <a:cs typeface="Calibri" pitchFamily="34" charset="-120"/>
              </a:rPr>
              <a:t>25 · IV · 1974</a:t>
            </a:r>
            <a:endParaRPr lang="en-US" sz="1200" dirty="0"/>
          </a:p>
        </p:txBody>
      </p:sp>
      <p:sp>
        <p:nvSpPr>
          <p:cNvPr id="3" name="Text 1"/>
          <p:cNvSpPr txBox="1"/>
          <p:nvPr/>
        </p:nvSpPr>
        <p:spPr>
          <a:xfrm>
            <a:off x="548640" y="685800"/>
            <a:ext cx="5943600" cy="685800"/>
          </a:xfrm>
          <a:prstGeom prst="rect">
            <a:avLst/>
          </a:prstGeom>
          <a:noFill/>
          <a:ln/>
        </p:spPr>
        <p:txBody>
          <a:bodyPr wrap="square" lIns="0" tIns="0" rIns="0" bIns="0" rtlCol="0" anchor="t"/>
          <a:lstStyle/>
          <a:p>
            <a:pPr indent="0" marL="0">
              <a:buNone/>
            </a:pPr>
            <a:r>
              <a:rPr lang="en-US" sz="3400" b="1" dirty="0">
                <a:solidFill>
                  <a:srgbClr val="FFFFFF"/>
                </a:solidFill>
                <a:latin typeface="Cambria" pitchFamily="34" charset="0"/>
                <a:ea typeface="Cambria" pitchFamily="34" charset="-122"/>
                <a:cs typeface="Cambria" pitchFamily="34" charset="-120"/>
              </a:rPr>
              <a:t>La Révolution des Œillets</a:t>
            </a:r>
            <a:endParaRPr lang="en-US" sz="3400" dirty="0"/>
          </a:p>
        </p:txBody>
      </p:sp>
      <p:sp>
        <p:nvSpPr>
          <p:cNvPr id="4" name="Text 2"/>
          <p:cNvSpPr txBox="1"/>
          <p:nvPr/>
        </p:nvSpPr>
        <p:spPr>
          <a:xfrm>
            <a:off x="548640" y="1600200"/>
            <a:ext cx="5760720" cy="329184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Le 25 avril 1974, de jeunes officiers renversent presque sans violence la dictature de l'Estado Novo, au pouvoir depuis 48 ans. Le signal est donné par deux chansons à la radio : le 24 avril à 22 h 55, « E Depois do Adeus » de Paulo de Carvalho, sur les Emissores Associados de Lisboa, prévient les militaires de se préparer ; puis à 0 h 20, « Grândola, Vila Morena » de Zeca Afonso, sur Rádio Renascença, lance les opérations. La population offre des œillets rouges aux soldats, qui les glissent dans le canon de leurs fusils.</a:t>
            </a:r>
            <a:endParaRPr lang="en-US" sz="1500" dirty="0"/>
          </a:p>
        </p:txBody>
      </p:sp>
      <p:sp>
        <p:nvSpPr>
          <p:cNvPr id="5" name="Shape 3"/>
          <p:cNvSpPr/>
          <p:nvPr/>
        </p:nvSpPr>
        <p:spPr>
          <a:xfrm>
            <a:off x="548640" y="5074920"/>
            <a:ext cx="5760720" cy="548640"/>
          </a:xfrm>
          <a:prstGeom prst="roundRect">
            <a:avLst>
              <a:gd name="adj" fmla="val 50000"/>
            </a:avLst>
          </a:prstGeom>
          <a:solidFill>
            <a:srgbClr val="A83232"/>
          </a:solidFill>
          <a:ln w="12700">
            <a:solidFill>
              <a:srgbClr val="A83232"/>
            </a:solidFill>
            <a:prstDash val="solid"/>
          </a:ln>
        </p:spPr>
      </p:sp>
      <p:sp>
        <p:nvSpPr>
          <p:cNvPr id="6" name="Text 4"/>
          <p:cNvSpPr txBox="1"/>
          <p:nvPr/>
        </p:nvSpPr>
        <p:spPr>
          <a:xfrm>
            <a:off x="731520" y="5074920"/>
            <a:ext cx="5394960" cy="5486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Aujourd'hui, le 25 avril est un jour férié : le « Dia da Liberdade », jour de la Liberté.</a:t>
            </a:r>
            <a:endParaRPr lang="en-US" sz="1300" dirty="0"/>
          </a:p>
        </p:txBody>
      </p:sp>
      <p:pic>
        <p:nvPicPr>
          <p:cNvPr id="7" name="Image 0" descr="/home/user/Portugal-Website/images/photos/inst-1974.jpg">    </p:cNvPr>
          <p:cNvPicPr>
            <a:picLocks noChangeAspect="1"/>
          </p:cNvPicPr>
          <p:nvPr/>
        </p:nvPicPr>
        <p:blipFill>
          <a:blip r:embed="rId1"/>
          <a:srcRect l="0" r="0" t="0" b="0"/>
          <a:stretch/>
        </p:blipFill>
        <p:spPr>
          <a:xfrm>
            <a:off x="6766560" y="548640"/>
            <a:ext cx="4873752" cy="3108960"/>
          </a:xfrm>
          <a:prstGeom prst="rect">
            <a:avLst/>
          </a:prstGeom>
        </p:spPr>
      </p:pic>
      <p:sp>
        <p:nvSpPr>
          <p:cNvPr id="8" name="Text 5"/>
          <p:cNvSpPr txBox="1"/>
          <p:nvPr/>
        </p:nvSpPr>
        <p:spPr>
          <a:xfrm>
            <a:off x="6766560" y="3703320"/>
            <a:ext cx="4873752" cy="457200"/>
          </a:xfrm>
          <a:prstGeom prst="rect">
            <a:avLst/>
          </a:prstGeom>
          <a:noFill/>
          <a:ln/>
        </p:spPr>
        <p:txBody>
          <a:bodyPr wrap="square" lIns="0" tIns="0" rIns="0" bIns="0" rtlCol="0" anchor="t"/>
          <a:lstStyle/>
          <a:p>
            <a:pPr indent="0" marL="0">
              <a:buNone/>
            </a:pPr>
            <a:r>
              <a:rPr lang="en-US" sz="1000" dirty="0">
                <a:solidFill>
                  <a:srgbClr val="B9C9C1"/>
                </a:solidFill>
                <a:latin typeface="Calibri" pitchFamily="34" charset="0"/>
                <a:ea typeface="Calibri" pitchFamily="34" charset="-122"/>
                <a:cs typeface="Calibri" pitchFamily="34" charset="-120"/>
              </a:rPr>
              <a:t>Lisbonne, 25 avril 2024 : 50 ans après, la foule défile encore : « Ils ont planté en nous la liberté ».</a:t>
            </a:r>
            <a:endParaRPr lang="en-US" sz="1000" dirty="0"/>
          </a:p>
        </p:txBody>
      </p:sp>
      <p:sp>
        <p:nvSpPr>
          <p:cNvPr id="9" name="Text 6"/>
          <p:cNvSpPr txBox="1"/>
          <p:nvPr/>
        </p:nvSpPr>
        <p:spPr>
          <a:xfrm>
            <a:off x="6766560" y="4297680"/>
            <a:ext cx="4846320" cy="274320"/>
          </a:xfrm>
          <a:prstGeom prst="rect">
            <a:avLst/>
          </a:prstGeom>
          <a:noFill/>
          <a:ln/>
        </p:spPr>
        <p:txBody>
          <a:bodyPr wrap="square" lIns="0" tIns="0" rIns="0" bIns="0" rtlCol="0" anchor="t"/>
          <a:lstStyle/>
          <a:p>
            <a:pPr indent="0" marL="0">
              <a:buNone/>
            </a:pPr>
            <a:r>
              <a:rPr lang="en-US" sz="1200" b="1" spc="200" kern="0" dirty="0">
                <a:solidFill>
                  <a:srgbClr val="F2C14E"/>
                </a:solidFill>
                <a:latin typeface="Calibri" pitchFamily="34" charset="0"/>
                <a:ea typeface="Calibri" pitchFamily="34" charset="-122"/>
                <a:cs typeface="Calibri" pitchFamily="34" charset="-120"/>
              </a:rPr>
              <a:t>LES DEUX SIGNAUX RADIO</a:t>
            </a:r>
            <a:endParaRPr lang="en-US" sz="1200" dirty="0"/>
          </a:p>
        </p:txBody>
      </p:sp>
      <p:sp>
        <p:nvSpPr>
          <p:cNvPr id="10" name="Text 7"/>
          <p:cNvSpPr txBox="1"/>
          <p:nvPr/>
        </p:nvSpPr>
        <p:spPr>
          <a:xfrm>
            <a:off x="6766560" y="4663440"/>
            <a:ext cx="1097280" cy="548640"/>
          </a:xfrm>
          <a:prstGeom prst="rect">
            <a:avLst/>
          </a:prstGeom>
          <a:noFill/>
          <a:ln/>
        </p:spPr>
        <p:txBody>
          <a:bodyPr wrap="square" lIns="0" tIns="0" rIns="0" bIns="0" rtlCol="0" anchor="t"/>
          <a:lstStyle/>
          <a:p>
            <a:pPr indent="0" marL="0">
              <a:buNone/>
            </a:pPr>
            <a:r>
              <a:rPr lang="en-US" sz="2400" b="1" dirty="0">
                <a:solidFill>
                  <a:srgbClr val="F2C14E"/>
                </a:solidFill>
                <a:latin typeface="Cambria" pitchFamily="34" charset="0"/>
                <a:ea typeface="Cambria" pitchFamily="34" charset="-122"/>
                <a:cs typeface="Cambria" pitchFamily="34" charset="-120"/>
              </a:rPr>
              <a:t>22:55</a:t>
            </a:r>
            <a:endParaRPr lang="en-US" sz="2400" dirty="0"/>
          </a:p>
        </p:txBody>
      </p:sp>
      <p:sp>
        <p:nvSpPr>
          <p:cNvPr id="11" name="Text 8"/>
          <p:cNvSpPr txBox="1"/>
          <p:nvPr/>
        </p:nvSpPr>
        <p:spPr>
          <a:xfrm>
            <a:off x="7909560" y="4663440"/>
            <a:ext cx="3749040" cy="685800"/>
          </a:xfrm>
          <a:prstGeom prst="rect">
            <a:avLst/>
          </a:prstGeom>
          <a:noFill/>
          <a:ln/>
        </p:spPr>
        <p:txBody>
          <a:bodyPr wrap="square" lIns="0" tIns="0" rIns="0" bIns="0" rtlCol="0" anchor="t"/>
          <a:lstStyle/>
          <a:p>
            <a:pPr indent="0" marL="0">
              <a:buNone/>
            </a:pPr>
            <a:r>
              <a:rPr lang="en-US" sz="1600" b="1"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 « E Depois do Adeus »</a:t>
            </a:r>
            <a:pPr indent="0" marL="0">
              <a:buNone/>
            </a:pPr>
            <a:endParaRPr lang="en-US" sz="1600" dirty="0"/>
          </a:p>
          <a:p>
            <a:pPr indent="0" marL="0">
              <a:buNone/>
            </a:pPr>
            <a:r>
              <a:rPr lang="en-US" sz="1100" dirty="0">
                <a:solidFill>
                  <a:srgbClr val="B9C9C1"/>
                </a:solidFill>
                <a:latin typeface="Calibri" pitchFamily="34" charset="0"/>
                <a:ea typeface="Calibri" pitchFamily="34" charset="-122"/>
                <a:cs typeface="Calibri" pitchFamily="34" charset="-120"/>
              </a:rPr>
              <a:t>Paulo de Carvalho (cliquer pour écouter)</a:t>
            </a:r>
            <a:endParaRPr lang="en-US" sz="1600" dirty="0"/>
          </a:p>
        </p:txBody>
      </p:sp>
      <p:sp>
        <p:nvSpPr>
          <p:cNvPr id="12" name="Text 9"/>
          <p:cNvSpPr txBox="1"/>
          <p:nvPr/>
        </p:nvSpPr>
        <p:spPr>
          <a:xfrm>
            <a:off x="6766560" y="5440680"/>
            <a:ext cx="1097280" cy="548640"/>
          </a:xfrm>
          <a:prstGeom prst="rect">
            <a:avLst/>
          </a:prstGeom>
          <a:noFill/>
          <a:ln/>
        </p:spPr>
        <p:txBody>
          <a:bodyPr wrap="square" lIns="0" tIns="0" rIns="0" bIns="0" rtlCol="0" anchor="t"/>
          <a:lstStyle/>
          <a:p>
            <a:pPr indent="0" marL="0">
              <a:buNone/>
            </a:pPr>
            <a:r>
              <a:rPr lang="en-US" sz="2400" b="1" dirty="0">
                <a:solidFill>
                  <a:srgbClr val="F2C14E"/>
                </a:solidFill>
                <a:latin typeface="Cambria" pitchFamily="34" charset="0"/>
                <a:ea typeface="Cambria" pitchFamily="34" charset="-122"/>
                <a:cs typeface="Cambria" pitchFamily="34" charset="-120"/>
              </a:rPr>
              <a:t>00:20</a:t>
            </a:r>
            <a:endParaRPr lang="en-US" sz="2400" dirty="0"/>
          </a:p>
        </p:txBody>
      </p:sp>
      <p:sp>
        <p:nvSpPr>
          <p:cNvPr id="13" name="Text 10"/>
          <p:cNvSpPr txBox="1"/>
          <p:nvPr/>
        </p:nvSpPr>
        <p:spPr>
          <a:xfrm>
            <a:off x="7909560" y="5440680"/>
            <a:ext cx="3749040" cy="685800"/>
          </a:xfrm>
          <a:prstGeom prst="rect">
            <a:avLst/>
          </a:prstGeom>
          <a:noFill/>
          <a:ln/>
        </p:spPr>
        <p:txBody>
          <a:bodyPr wrap="square" lIns="0" tIns="0" rIns="0" bIns="0" rtlCol="0" anchor="t"/>
          <a:lstStyle/>
          <a:p>
            <a:pPr indent="0" marL="0">
              <a:buNone/>
            </a:pPr>
            <a:r>
              <a:rPr lang="en-US" sz="1600" b="1" u="sng" dirty="0">
                <a:solidFill>
                  <a:srgbClr val="FFFFFF"/>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 « Grândola, Vila Morena »</a:t>
            </a:r>
            <a:pPr indent="0" marL="0">
              <a:buNone/>
            </a:pPr>
            <a:endParaRPr lang="en-US" sz="1600" dirty="0"/>
          </a:p>
          <a:p>
            <a:pPr indent="0" marL="0">
              <a:buNone/>
            </a:pPr>
            <a:r>
              <a:rPr lang="en-US" sz="1100" dirty="0">
                <a:solidFill>
                  <a:srgbClr val="B9C9C1"/>
                </a:solidFill>
                <a:latin typeface="Calibri" pitchFamily="34" charset="0"/>
                <a:ea typeface="Calibri" pitchFamily="34" charset="-122"/>
                <a:cs typeface="Calibri" pitchFamily="34" charset="-120"/>
              </a:rPr>
              <a:t>Zeca Afonso (cliquer pour écouter)</a:t>
            </a:r>
            <a:endParaRPr lang="en-US" sz="160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9C9C1"/>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home/user/Portugal-Website/images/photos/hero-soc2.jpg">    </p:cNvPr>
          <p:cNvPicPr>
            <a:picLocks noChangeAspect="1"/>
          </p:cNvPicPr>
          <p:nvPr/>
        </p:nvPicPr>
        <p:blipFill>
          <a:blip r:embed="rId1"/>
          <a:srcRect l="0" r="0" t="0" b="0"/>
          <a:stretch/>
        </p:blipFill>
        <p:spPr>
          <a:xfrm>
            <a:off x="0" y="0"/>
            <a:ext cx="12191695" cy="6858000"/>
          </a:xfrm>
          <a:prstGeom prst="rect">
            <a:avLst/>
          </a:prstGeom>
        </p:spPr>
      </p:pic>
      <p:sp>
        <p:nvSpPr>
          <p:cNvPr id="3" name="Shape 0"/>
          <p:cNvSpPr/>
          <p:nvPr/>
        </p:nvSpPr>
        <p:spPr>
          <a:xfrm>
            <a:off x="0" y="0"/>
            <a:ext cx="6766560" cy="6858000"/>
          </a:xfrm>
          <a:prstGeom prst="rect">
            <a:avLst/>
          </a:prstGeom>
          <a:solidFill>
            <a:srgbClr val="08140F">
              <a:alpha val="70000"/>
            </a:srgbClr>
          </a:solidFill>
          <a:ln w="12700">
            <a:solidFill>
              <a:srgbClr val="08140F">
                <a:alpha val="0"/>
              </a:srgbClr>
            </a:solidFill>
            <a:prstDash val="solid"/>
          </a:ln>
        </p:spPr>
      </p:sp>
      <p:sp>
        <p:nvSpPr>
          <p:cNvPr id="4" name="Text 1"/>
          <p:cNvSpPr txBox="1"/>
          <p:nvPr/>
        </p:nvSpPr>
        <p:spPr>
          <a:xfrm>
            <a:off x="822960" y="1828800"/>
            <a:ext cx="4572000" cy="365760"/>
          </a:xfrm>
          <a:prstGeom prst="rect">
            <a:avLst/>
          </a:prstGeom>
          <a:noFill/>
          <a:ln/>
        </p:spPr>
        <p:txBody>
          <a:bodyPr wrap="square" lIns="0" tIns="0" rIns="0" bIns="0" rtlCol="0" anchor="t"/>
          <a:lstStyle/>
          <a:p>
            <a:pPr indent="0" marL="0">
              <a:buNone/>
            </a:pPr>
            <a:r>
              <a:rPr lang="en-US" sz="1600" b="1" spc="300" kern="0" dirty="0">
                <a:solidFill>
                  <a:srgbClr val="F2C14E"/>
                </a:solidFill>
                <a:latin typeface="Calibri" pitchFamily="34" charset="0"/>
                <a:ea typeface="Calibri" pitchFamily="34" charset="-122"/>
                <a:cs typeface="Calibri" pitchFamily="34" charset="-120"/>
              </a:rPr>
              <a:t>03 / 08</a:t>
            </a:r>
            <a:endParaRPr lang="en-US" sz="1600" dirty="0"/>
          </a:p>
        </p:txBody>
      </p:sp>
      <p:sp>
        <p:nvSpPr>
          <p:cNvPr id="5" name="Text 2"/>
          <p:cNvSpPr txBox="1"/>
          <p:nvPr/>
        </p:nvSpPr>
        <p:spPr>
          <a:xfrm>
            <a:off x="822960" y="2240280"/>
            <a:ext cx="5760720" cy="1280160"/>
          </a:xfrm>
          <a:prstGeom prst="rect">
            <a:avLst/>
          </a:prstGeom>
          <a:noFill/>
          <a:ln/>
        </p:spPr>
        <p:txBody>
          <a:bodyPr wrap="square" lIns="0" tIns="0" rIns="0" bIns="0" rtlCol="0" anchor="t">
            <a:normAutofit/>
          </a:bodyPr>
          <a:lstStyle/>
          <a:p>
            <a:pPr indent="0" marL="0">
              <a:buNone/>
            </a:pPr>
            <a:r>
              <a:rPr lang="en-US" sz="6000" b="1" dirty="0">
                <a:solidFill>
                  <a:srgbClr val="FFFFFF"/>
                </a:solidFill>
                <a:latin typeface="Cambria" pitchFamily="34" charset="0"/>
                <a:ea typeface="Cambria" pitchFamily="34" charset="-122"/>
                <a:cs typeface="Cambria" pitchFamily="34" charset="-120"/>
              </a:rPr>
              <a:t>Société</a:t>
            </a:r>
            <a:endParaRPr lang="en-US" sz="6000" dirty="0"/>
          </a:p>
        </p:txBody>
      </p:sp>
      <p:sp>
        <p:nvSpPr>
          <p:cNvPr id="6" name="Text 3"/>
          <p:cNvSpPr txBox="1"/>
          <p:nvPr/>
        </p:nvSpPr>
        <p:spPr>
          <a:xfrm>
            <a:off x="822960" y="3611880"/>
            <a:ext cx="5486400" cy="914400"/>
          </a:xfrm>
          <a:prstGeom prst="rect">
            <a:avLst/>
          </a:prstGeom>
          <a:noFill/>
          <a:ln/>
        </p:spPr>
        <p:txBody>
          <a:bodyPr wrap="square" lIns="0" tIns="0" rIns="0" bIns="0" rtlCol="0" anchor="t"/>
          <a:lstStyle/>
          <a:p>
            <a:pPr indent="0" marL="0">
              <a:buNone/>
            </a:pPr>
            <a:r>
              <a:rPr lang="en-US" sz="2400" i="1" dirty="0">
                <a:solidFill>
                  <a:srgbClr val="FFFFFF"/>
                </a:solidFill>
                <a:latin typeface="Cambria" pitchFamily="34" charset="0"/>
                <a:ea typeface="Cambria" pitchFamily="34" charset="-122"/>
                <a:cs typeface="Cambria" pitchFamily="34" charset="-120"/>
              </a:rPr>
              <a:t>Un peuple chaleureux, ouvert sur le monde</a:t>
            </a:r>
            <a:endParaRPr lang="en-US" sz="2400" dirty="0"/>
          </a:p>
        </p:txBody>
      </p:sp>
      <p:sp>
        <p:nvSpPr>
          <p:cNvPr id="7" name="Text 4"/>
          <p:cNvSpPr txBox="1"/>
          <p:nvPr/>
        </p:nvSpPr>
        <p:spPr>
          <a:xfrm>
            <a:off x="822960" y="4572000"/>
            <a:ext cx="5120640" cy="1005840"/>
          </a:xfrm>
          <a:prstGeom prst="rect">
            <a:avLst/>
          </a:prstGeom>
          <a:noFill/>
          <a:ln/>
        </p:spPr>
        <p:txBody>
          <a:bodyPr wrap="square" lIns="0" tIns="0" rIns="0" bIns="0" rtlCol="0" anchor="t"/>
          <a:lstStyle/>
          <a:p>
            <a:pPr indent="0" marL="0">
              <a:buNone/>
            </a:pPr>
            <a:r>
              <a:rPr lang="en-US" sz="1500" dirty="0">
                <a:solidFill>
                  <a:srgbClr val="E6ECE8"/>
                </a:solidFill>
                <a:latin typeface="Calibri" pitchFamily="34" charset="0"/>
                <a:ea typeface="Calibri" pitchFamily="34" charset="-122"/>
                <a:cs typeface="Calibri" pitchFamily="34" charset="-120"/>
              </a:rPr>
              <a:t>Famille, accueil et saudade : les Portugais sont attachés à leurs traditions et présents sur tous les continents.</a:t>
            </a:r>
            <a:endParaRPr lang="en-US" sz="15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548640" y="411480"/>
            <a:ext cx="10972800" cy="274320"/>
          </a:xfrm>
          <a:prstGeom prst="rect">
            <a:avLst/>
          </a:prstGeom>
          <a:noFill/>
          <a:ln/>
        </p:spPr>
        <p:txBody>
          <a:bodyPr wrap="square" lIns="0" tIns="0" rIns="0" bIns="0" rtlCol="0" anchor="t"/>
          <a:lstStyle/>
          <a:p>
            <a:pPr indent="0" marL="0">
              <a:buNone/>
            </a:pPr>
            <a:r>
              <a:rPr lang="en-US" sz="1200" b="1" spc="300" kern="0" dirty="0">
                <a:solidFill>
                  <a:srgbClr val="A83232"/>
                </a:solidFill>
                <a:latin typeface="Calibri" pitchFamily="34" charset="0"/>
                <a:ea typeface="Calibri" pitchFamily="34" charset="-122"/>
                <a:cs typeface="Calibri" pitchFamily="34" charset="-120"/>
              </a:rPr>
              <a:t>LA VIE AU QUOTIDIEN</a:t>
            </a:r>
            <a:endParaRPr lang="en-US" sz="1200" dirty="0"/>
          </a:p>
        </p:txBody>
      </p:sp>
      <p:sp>
        <p:nvSpPr>
          <p:cNvPr id="3" name="Text 1"/>
          <p:cNvSpPr txBox="1"/>
          <p:nvPr/>
        </p:nvSpPr>
        <p:spPr>
          <a:xfrm>
            <a:off x="548640" y="685800"/>
            <a:ext cx="10972800" cy="685800"/>
          </a:xfrm>
          <a:prstGeom prst="rect">
            <a:avLst/>
          </a:prstGeom>
          <a:noFill/>
          <a:ln/>
        </p:spPr>
        <p:txBody>
          <a:bodyPr wrap="square" lIns="0" tIns="0" rIns="0" bIns="0" rtlCol="0" anchor="t"/>
          <a:lstStyle/>
          <a:p>
            <a:pPr indent="0" marL="0">
              <a:buNone/>
            </a:pPr>
            <a:r>
              <a:rPr lang="en-US" sz="3400" b="1" dirty="0">
                <a:solidFill>
                  <a:srgbClr val="174A3A"/>
                </a:solidFill>
                <a:latin typeface="Cambria" pitchFamily="34" charset="0"/>
                <a:ea typeface="Cambria" pitchFamily="34" charset="-122"/>
                <a:cs typeface="Cambria" pitchFamily="34" charset="-120"/>
              </a:rPr>
              <a:t>Ce qui compte pour les Portugais</a:t>
            </a:r>
            <a:endParaRPr lang="en-US" sz="3400" dirty="0"/>
          </a:p>
        </p:txBody>
      </p:sp>
      <p:sp>
        <p:nvSpPr>
          <p:cNvPr id="4" name="Text 2"/>
          <p:cNvSpPr txBox="1"/>
          <p:nvPr/>
        </p:nvSpPr>
        <p:spPr>
          <a:xfrm>
            <a:off x="548640" y="1554480"/>
            <a:ext cx="2103120" cy="685800"/>
          </a:xfrm>
          <a:prstGeom prst="rect">
            <a:avLst/>
          </a:prstGeom>
          <a:noFill/>
          <a:ln/>
        </p:spPr>
        <p:txBody>
          <a:bodyPr wrap="square" lIns="0" tIns="0" rIns="0" bIns="0" rtlCol="0" anchor="t"/>
          <a:lstStyle/>
          <a:p>
            <a:pPr indent="0" marL="0">
              <a:buNone/>
            </a:pPr>
            <a:r>
              <a:rPr lang="en-US" sz="3600" b="1" dirty="0">
                <a:solidFill>
                  <a:srgbClr val="174A3A"/>
                </a:solidFill>
                <a:latin typeface="Cambria" pitchFamily="34" charset="0"/>
                <a:ea typeface="Cambria" pitchFamily="34" charset="-122"/>
                <a:cs typeface="Cambria" pitchFamily="34" charset="-120"/>
              </a:rPr>
              <a:t>10,6 M</a:t>
            </a:r>
            <a:endParaRPr lang="en-US" sz="3600" dirty="0"/>
          </a:p>
        </p:txBody>
      </p:sp>
      <p:sp>
        <p:nvSpPr>
          <p:cNvPr id="5" name="Text 3"/>
          <p:cNvSpPr txBox="1"/>
          <p:nvPr/>
        </p:nvSpPr>
        <p:spPr>
          <a:xfrm>
            <a:off x="548640" y="2240280"/>
            <a:ext cx="2103120" cy="548640"/>
          </a:xfrm>
          <a:prstGeom prst="rect">
            <a:avLst/>
          </a:prstGeom>
          <a:noFill/>
          <a:ln/>
        </p:spPr>
        <p:txBody>
          <a:bodyPr wrap="square" lIns="0" tIns="0" rIns="0" bIns="0" rtlCol="0" anchor="t"/>
          <a:lstStyle/>
          <a:p>
            <a:pPr indent="0" marL="0">
              <a:buNone/>
            </a:pPr>
            <a:r>
              <a:rPr lang="en-US" sz="1300" b="1" dirty="0">
                <a:solidFill>
                  <a:srgbClr val="4A524E"/>
                </a:solidFill>
                <a:latin typeface="Calibri" pitchFamily="34" charset="0"/>
                <a:ea typeface="Calibri" pitchFamily="34" charset="-122"/>
                <a:cs typeface="Calibri" pitchFamily="34" charset="-120"/>
              </a:rPr>
              <a:t>HABITANTS</a:t>
            </a:r>
            <a:endParaRPr lang="en-US" sz="1300" dirty="0"/>
          </a:p>
        </p:txBody>
      </p:sp>
      <p:sp>
        <p:nvSpPr>
          <p:cNvPr id="6" name="Text 4"/>
          <p:cNvSpPr txBox="1"/>
          <p:nvPr/>
        </p:nvSpPr>
        <p:spPr>
          <a:xfrm>
            <a:off x="2788920" y="1554480"/>
            <a:ext cx="2103120" cy="685800"/>
          </a:xfrm>
          <a:prstGeom prst="rect">
            <a:avLst/>
          </a:prstGeom>
          <a:noFill/>
          <a:ln/>
        </p:spPr>
        <p:txBody>
          <a:bodyPr wrap="square" lIns="0" tIns="0" rIns="0" bIns="0" rtlCol="0" anchor="t"/>
          <a:lstStyle/>
          <a:p>
            <a:pPr indent="0" marL="0">
              <a:buNone/>
            </a:pPr>
            <a:r>
              <a:rPr lang="en-US" sz="3600" b="1" dirty="0">
                <a:solidFill>
                  <a:srgbClr val="A83232"/>
                </a:solidFill>
                <a:latin typeface="Cambria" pitchFamily="34" charset="0"/>
                <a:ea typeface="Cambria" pitchFamily="34" charset="-122"/>
                <a:cs typeface="Cambria" pitchFamily="34" charset="-120"/>
              </a:rPr>
              <a:t>≈ 2,9 M</a:t>
            </a:r>
            <a:endParaRPr lang="en-US" sz="3600" dirty="0"/>
          </a:p>
        </p:txBody>
      </p:sp>
      <p:sp>
        <p:nvSpPr>
          <p:cNvPr id="7" name="Text 5"/>
          <p:cNvSpPr txBox="1"/>
          <p:nvPr/>
        </p:nvSpPr>
        <p:spPr>
          <a:xfrm>
            <a:off x="2788920" y="2240280"/>
            <a:ext cx="2103120" cy="548640"/>
          </a:xfrm>
          <a:prstGeom prst="rect">
            <a:avLst/>
          </a:prstGeom>
          <a:noFill/>
          <a:ln/>
        </p:spPr>
        <p:txBody>
          <a:bodyPr wrap="square" lIns="0" tIns="0" rIns="0" bIns="0" rtlCol="0" anchor="t"/>
          <a:lstStyle/>
          <a:p>
            <a:pPr indent="0" marL="0">
              <a:buNone/>
            </a:pPr>
            <a:r>
              <a:rPr lang="en-US" sz="1300" b="1" dirty="0">
                <a:solidFill>
                  <a:srgbClr val="4A524E"/>
                </a:solidFill>
                <a:latin typeface="Calibri" pitchFamily="34" charset="0"/>
                <a:ea typeface="Calibri" pitchFamily="34" charset="-122"/>
                <a:cs typeface="Calibri" pitchFamily="34" charset="-120"/>
              </a:rPr>
              <a:t>Région de Lisbonne</a:t>
            </a:r>
            <a:endParaRPr lang="en-US" sz="1300" dirty="0"/>
          </a:p>
        </p:txBody>
      </p:sp>
      <p:sp>
        <p:nvSpPr>
          <p:cNvPr id="8" name="Text 6"/>
          <p:cNvSpPr txBox="1"/>
          <p:nvPr/>
        </p:nvSpPr>
        <p:spPr>
          <a:xfrm>
            <a:off x="5029200" y="1554480"/>
            <a:ext cx="2103120" cy="685800"/>
          </a:xfrm>
          <a:prstGeom prst="rect">
            <a:avLst/>
          </a:prstGeom>
          <a:noFill/>
          <a:ln/>
        </p:spPr>
        <p:txBody>
          <a:bodyPr wrap="square" lIns="0" tIns="0" rIns="0" bIns="0" rtlCol="0" anchor="t"/>
          <a:lstStyle/>
          <a:p>
            <a:pPr indent="0" marL="0">
              <a:buNone/>
            </a:pPr>
            <a:r>
              <a:rPr lang="en-US" sz="3600" b="1" dirty="0">
                <a:solidFill>
                  <a:srgbClr val="1E4F8F"/>
                </a:solidFill>
                <a:latin typeface="Cambria" pitchFamily="34" charset="0"/>
                <a:ea typeface="Cambria" pitchFamily="34" charset="-122"/>
                <a:cs typeface="Cambria" pitchFamily="34" charset="-120"/>
              </a:rPr>
              <a:t>≈ 1,7 M</a:t>
            </a:r>
            <a:endParaRPr lang="en-US" sz="3600" dirty="0"/>
          </a:p>
        </p:txBody>
      </p:sp>
      <p:sp>
        <p:nvSpPr>
          <p:cNvPr id="9" name="Text 7"/>
          <p:cNvSpPr txBox="1"/>
          <p:nvPr/>
        </p:nvSpPr>
        <p:spPr>
          <a:xfrm>
            <a:off x="5029200" y="2240280"/>
            <a:ext cx="2103120" cy="548640"/>
          </a:xfrm>
          <a:prstGeom prst="rect">
            <a:avLst/>
          </a:prstGeom>
          <a:noFill/>
          <a:ln/>
        </p:spPr>
        <p:txBody>
          <a:bodyPr wrap="square" lIns="0" tIns="0" rIns="0" bIns="0" rtlCol="0" anchor="t"/>
          <a:lstStyle/>
          <a:p>
            <a:pPr indent="0" marL="0">
              <a:buNone/>
            </a:pPr>
            <a:r>
              <a:rPr lang="en-US" sz="1300" b="1" dirty="0">
                <a:solidFill>
                  <a:srgbClr val="4A524E"/>
                </a:solidFill>
                <a:latin typeface="Calibri" pitchFamily="34" charset="0"/>
                <a:ea typeface="Calibri" pitchFamily="34" charset="-122"/>
                <a:cs typeface="Calibri" pitchFamily="34" charset="-120"/>
              </a:rPr>
              <a:t>Région de Porto</a:t>
            </a:r>
            <a:endParaRPr lang="en-US" sz="1300" dirty="0"/>
          </a:p>
        </p:txBody>
      </p:sp>
      <p:sp>
        <p:nvSpPr>
          <p:cNvPr id="10" name="Text 8"/>
          <p:cNvSpPr txBox="1"/>
          <p:nvPr/>
        </p:nvSpPr>
        <p:spPr>
          <a:xfrm>
            <a:off x="7269480" y="1554480"/>
            <a:ext cx="2103120" cy="685800"/>
          </a:xfrm>
          <a:prstGeom prst="rect">
            <a:avLst/>
          </a:prstGeom>
          <a:noFill/>
          <a:ln/>
        </p:spPr>
        <p:txBody>
          <a:bodyPr wrap="square" lIns="0" tIns="0" rIns="0" bIns="0" rtlCol="0" anchor="t"/>
          <a:lstStyle/>
          <a:p>
            <a:pPr indent="0" marL="0">
              <a:buNone/>
            </a:pPr>
            <a:r>
              <a:rPr lang="en-US" sz="3600" b="1" dirty="0">
                <a:solidFill>
                  <a:srgbClr val="B8955A"/>
                </a:solidFill>
                <a:latin typeface="Cambria" pitchFamily="34" charset="0"/>
                <a:ea typeface="Cambria" pitchFamily="34" charset="-122"/>
                <a:cs typeface="Cambria" pitchFamily="34" charset="-120"/>
              </a:rPr>
              <a:t>≈ 81 ans</a:t>
            </a:r>
            <a:endParaRPr lang="en-US" sz="3600" dirty="0"/>
          </a:p>
        </p:txBody>
      </p:sp>
      <p:sp>
        <p:nvSpPr>
          <p:cNvPr id="11" name="Text 9"/>
          <p:cNvSpPr txBox="1"/>
          <p:nvPr/>
        </p:nvSpPr>
        <p:spPr>
          <a:xfrm>
            <a:off x="7269480" y="2240280"/>
            <a:ext cx="2103120" cy="548640"/>
          </a:xfrm>
          <a:prstGeom prst="rect">
            <a:avLst/>
          </a:prstGeom>
          <a:noFill/>
          <a:ln/>
        </p:spPr>
        <p:txBody>
          <a:bodyPr wrap="square" lIns="0" tIns="0" rIns="0" bIns="0" rtlCol="0" anchor="t"/>
          <a:lstStyle/>
          <a:p>
            <a:pPr indent="0" marL="0">
              <a:buNone/>
            </a:pPr>
            <a:r>
              <a:rPr lang="en-US" sz="1300" b="1" dirty="0">
                <a:solidFill>
                  <a:srgbClr val="4A524E"/>
                </a:solidFill>
                <a:latin typeface="Calibri" pitchFamily="34" charset="0"/>
                <a:ea typeface="Calibri" pitchFamily="34" charset="-122"/>
                <a:cs typeface="Calibri" pitchFamily="34" charset="-120"/>
              </a:rPr>
              <a:t>Espérance de vie</a:t>
            </a:r>
            <a:endParaRPr lang="en-US" sz="1300" dirty="0"/>
          </a:p>
        </p:txBody>
      </p:sp>
      <p:sp>
        <p:nvSpPr>
          <p:cNvPr id="12" name="Text 10"/>
          <p:cNvSpPr txBox="1"/>
          <p:nvPr/>
        </p:nvSpPr>
        <p:spPr>
          <a:xfrm>
            <a:off x="9509760" y="1554480"/>
            <a:ext cx="2103120" cy="685800"/>
          </a:xfrm>
          <a:prstGeom prst="rect">
            <a:avLst/>
          </a:prstGeom>
          <a:noFill/>
          <a:ln/>
        </p:spPr>
        <p:txBody>
          <a:bodyPr wrap="square" lIns="0" tIns="0" rIns="0" bIns="0" rtlCol="0" anchor="t"/>
          <a:lstStyle/>
          <a:p>
            <a:pPr indent="0" marL="0">
              <a:buNone/>
            </a:pPr>
            <a:r>
              <a:rPr lang="en-US" sz="3600" b="1" dirty="0">
                <a:solidFill>
                  <a:srgbClr val="174A3A"/>
                </a:solidFill>
                <a:latin typeface="Cambria" pitchFamily="34" charset="0"/>
                <a:ea typeface="Cambria" pitchFamily="34" charset="-122"/>
                <a:cs typeface="Cambria" pitchFamily="34" charset="-120"/>
              </a:rPr>
              <a:t>≈ 260 M</a:t>
            </a:r>
            <a:endParaRPr lang="en-US" sz="3600" dirty="0"/>
          </a:p>
        </p:txBody>
      </p:sp>
      <p:sp>
        <p:nvSpPr>
          <p:cNvPr id="13" name="Text 11"/>
          <p:cNvSpPr txBox="1"/>
          <p:nvPr/>
        </p:nvSpPr>
        <p:spPr>
          <a:xfrm>
            <a:off x="9509760" y="2240280"/>
            <a:ext cx="2103120" cy="548640"/>
          </a:xfrm>
          <a:prstGeom prst="rect">
            <a:avLst/>
          </a:prstGeom>
          <a:noFill/>
          <a:ln/>
        </p:spPr>
        <p:txBody>
          <a:bodyPr wrap="square" lIns="0" tIns="0" rIns="0" bIns="0" rtlCol="0" anchor="t"/>
          <a:lstStyle/>
          <a:p>
            <a:pPr indent="0" marL="0">
              <a:buNone/>
            </a:pPr>
            <a:r>
              <a:rPr lang="en-US" sz="1300" b="1" dirty="0">
                <a:solidFill>
                  <a:srgbClr val="4A524E"/>
                </a:solidFill>
                <a:latin typeface="Calibri" pitchFamily="34" charset="0"/>
                <a:ea typeface="Calibri" pitchFamily="34" charset="-122"/>
                <a:cs typeface="Calibri" pitchFamily="34" charset="-120"/>
              </a:rPr>
              <a:t>Lusophones dans le monde</a:t>
            </a:r>
            <a:endParaRPr lang="en-US" sz="1300" dirty="0"/>
          </a:p>
        </p:txBody>
      </p:sp>
      <p:sp>
        <p:nvSpPr>
          <p:cNvPr id="14" name="Shape 12"/>
          <p:cNvSpPr/>
          <p:nvPr/>
        </p:nvSpPr>
        <p:spPr>
          <a:xfrm>
            <a:off x="548640" y="3017520"/>
            <a:ext cx="2624328" cy="3200400"/>
          </a:xfrm>
          <a:prstGeom prst="roundRect">
            <a:avLst>
              <a:gd name="adj" fmla="val 2787"/>
            </a:avLst>
          </a:prstGeom>
          <a:solidFill>
            <a:srgbClr val="FFFFFF"/>
          </a:solidFill>
          <a:ln w="12700">
            <a:solidFill>
              <a:srgbClr val="FFFFFF"/>
            </a:solidFill>
            <a:prstDash val="solid"/>
          </a:ln>
          <a:effectLst>
            <a:outerShdw sx="100000" sy="100000" kx="0" ky="0" algn="bl" rotWithShape="0" blurRad="101600" dist="38100" dir="5400000">
              <a:srgbClr val="000000">
                <a:alpha val="18000"/>
              </a:srgbClr>
            </a:outerShdw>
          </a:effectLst>
        </p:spPr>
      </p:sp>
      <p:sp>
        <p:nvSpPr>
          <p:cNvPr id="15" name="Shape 13"/>
          <p:cNvSpPr/>
          <p:nvPr/>
        </p:nvSpPr>
        <p:spPr>
          <a:xfrm>
            <a:off x="548640" y="3017520"/>
            <a:ext cx="2624328" cy="1371600"/>
          </a:xfrm>
          <a:prstGeom prst="rect">
            <a:avLst/>
          </a:prstGeom>
          <a:solidFill>
            <a:srgbClr val="F1F4F2"/>
          </a:solidFill>
          <a:ln w="12700">
            <a:solidFill>
              <a:srgbClr val="F1F4F2"/>
            </a:solidFill>
            <a:prstDash val="solid"/>
          </a:ln>
        </p:spPr>
      </p:sp>
      <p:sp>
        <p:nvSpPr>
          <p:cNvPr id="16" name="Shape 14"/>
          <p:cNvSpPr/>
          <p:nvPr/>
        </p:nvSpPr>
        <p:spPr>
          <a:xfrm>
            <a:off x="1627632" y="3474720"/>
            <a:ext cx="457200" cy="457200"/>
          </a:xfrm>
          <a:prstGeom prst="ellipse">
            <a:avLst/>
          </a:prstGeom>
          <a:solidFill>
            <a:srgbClr val="174A3A"/>
          </a:solidFill>
          <a:ln w="12700">
            <a:solidFill>
              <a:srgbClr val="174A3A"/>
            </a:solidFill>
            <a:prstDash val="solid"/>
          </a:ln>
        </p:spPr>
      </p:sp>
      <p:sp>
        <p:nvSpPr>
          <p:cNvPr id="17" name="Text 15"/>
          <p:cNvSpPr txBox="1"/>
          <p:nvPr/>
        </p:nvSpPr>
        <p:spPr>
          <a:xfrm>
            <a:off x="731520" y="4526280"/>
            <a:ext cx="2286000" cy="411480"/>
          </a:xfrm>
          <a:prstGeom prst="rect">
            <a:avLst/>
          </a:prstGeom>
          <a:noFill/>
          <a:ln/>
        </p:spPr>
        <p:txBody>
          <a:bodyPr wrap="square" lIns="0" tIns="0" rIns="0" bIns="0" rtlCol="0" anchor="t"/>
          <a:lstStyle/>
          <a:p>
            <a:pPr indent="0" marL="0">
              <a:buNone/>
            </a:pPr>
            <a:r>
              <a:rPr lang="en-US" sz="1800" b="1" dirty="0">
                <a:solidFill>
                  <a:srgbClr val="174A3A"/>
                </a:solidFill>
                <a:latin typeface="Cambria" pitchFamily="34" charset="0"/>
                <a:ea typeface="Cambria" pitchFamily="34" charset="-122"/>
                <a:cs typeface="Cambria" pitchFamily="34" charset="-120"/>
              </a:rPr>
              <a:t>La famille</a:t>
            </a:r>
            <a:endParaRPr lang="en-US" sz="1800" dirty="0"/>
          </a:p>
        </p:txBody>
      </p:sp>
      <p:sp>
        <p:nvSpPr>
          <p:cNvPr id="18" name="Text 16"/>
          <p:cNvSpPr txBox="1"/>
          <p:nvPr/>
        </p:nvSpPr>
        <p:spPr>
          <a:xfrm>
            <a:off x="731520" y="4937760"/>
            <a:ext cx="2286000" cy="1188720"/>
          </a:xfrm>
          <a:prstGeom prst="rect">
            <a:avLst/>
          </a:prstGeom>
          <a:noFill/>
          <a:ln/>
        </p:spPr>
        <p:txBody>
          <a:bodyPr wrap="square" lIns="0" tIns="0" rIns="0" bIns="0" rtlCol="0" anchor="t"/>
          <a:lstStyle/>
          <a:p>
            <a:pPr indent="0" marL="0">
              <a:buNone/>
            </a:pPr>
            <a:r>
              <a:rPr lang="en-US" sz="1300" dirty="0">
                <a:solidFill>
                  <a:srgbClr val="17211D"/>
                </a:solidFill>
                <a:latin typeface="Calibri" pitchFamily="34" charset="0"/>
                <a:ea typeface="Calibri" pitchFamily="34" charset="-122"/>
                <a:cs typeface="Calibri" pitchFamily="34" charset="-120"/>
              </a:rPr>
              <a:t>Le cœur de la société. Les grands repas du dimanche réunissent souvent plusieurs générations.</a:t>
            </a:r>
            <a:endParaRPr lang="en-US" sz="1300" dirty="0"/>
          </a:p>
        </p:txBody>
      </p:sp>
      <p:sp>
        <p:nvSpPr>
          <p:cNvPr id="19" name="Shape 17"/>
          <p:cNvSpPr/>
          <p:nvPr/>
        </p:nvSpPr>
        <p:spPr>
          <a:xfrm>
            <a:off x="3355848" y="3017520"/>
            <a:ext cx="2624328" cy="3200400"/>
          </a:xfrm>
          <a:prstGeom prst="roundRect">
            <a:avLst>
              <a:gd name="adj" fmla="val 2787"/>
            </a:avLst>
          </a:prstGeom>
          <a:solidFill>
            <a:srgbClr val="FFFFFF"/>
          </a:solidFill>
          <a:ln w="12700">
            <a:solidFill>
              <a:srgbClr val="FFFFFF"/>
            </a:solidFill>
            <a:prstDash val="solid"/>
          </a:ln>
          <a:effectLst>
            <a:outerShdw sx="100000" sy="100000" kx="0" ky="0" algn="bl" rotWithShape="0" blurRad="101600" dist="38100" dir="5400000">
              <a:srgbClr val="000000">
                <a:alpha val="18000"/>
              </a:srgbClr>
            </a:outerShdw>
          </a:effectLst>
        </p:spPr>
      </p:sp>
      <p:sp>
        <p:nvSpPr>
          <p:cNvPr id="20" name="Shape 18"/>
          <p:cNvSpPr/>
          <p:nvPr/>
        </p:nvSpPr>
        <p:spPr>
          <a:xfrm>
            <a:off x="3355848" y="3017520"/>
            <a:ext cx="2624328" cy="1371600"/>
          </a:xfrm>
          <a:prstGeom prst="rect">
            <a:avLst/>
          </a:prstGeom>
          <a:solidFill>
            <a:srgbClr val="EAF0F8"/>
          </a:solidFill>
          <a:ln w="12700">
            <a:solidFill>
              <a:srgbClr val="F1F4F2"/>
            </a:solidFill>
            <a:prstDash val="solid"/>
          </a:ln>
        </p:spPr>
      </p:sp>
      <p:sp>
        <p:nvSpPr>
          <p:cNvPr id="21" name="Shape 19"/>
          <p:cNvSpPr/>
          <p:nvPr/>
        </p:nvSpPr>
        <p:spPr>
          <a:xfrm>
            <a:off x="4434840" y="3474720"/>
            <a:ext cx="457200" cy="457200"/>
          </a:xfrm>
          <a:prstGeom prst="ellipse">
            <a:avLst/>
          </a:prstGeom>
          <a:solidFill>
            <a:srgbClr val="A83232"/>
          </a:solidFill>
          <a:ln w="12700">
            <a:solidFill>
              <a:srgbClr val="A83232"/>
            </a:solidFill>
            <a:prstDash val="solid"/>
          </a:ln>
        </p:spPr>
      </p:sp>
      <p:sp>
        <p:nvSpPr>
          <p:cNvPr id="22" name="Text 20"/>
          <p:cNvSpPr txBox="1"/>
          <p:nvPr/>
        </p:nvSpPr>
        <p:spPr>
          <a:xfrm>
            <a:off x="3538728" y="4526280"/>
            <a:ext cx="2286000" cy="411480"/>
          </a:xfrm>
          <a:prstGeom prst="rect">
            <a:avLst/>
          </a:prstGeom>
          <a:noFill/>
          <a:ln/>
        </p:spPr>
        <p:txBody>
          <a:bodyPr wrap="square" lIns="0" tIns="0" rIns="0" bIns="0" rtlCol="0" anchor="t"/>
          <a:lstStyle/>
          <a:p>
            <a:pPr indent="0" marL="0">
              <a:buNone/>
            </a:pPr>
            <a:r>
              <a:rPr lang="en-US" sz="1800" b="1" dirty="0">
                <a:solidFill>
                  <a:srgbClr val="174A3A"/>
                </a:solidFill>
                <a:latin typeface="Cambria" pitchFamily="34" charset="0"/>
                <a:ea typeface="Cambria" pitchFamily="34" charset="-122"/>
                <a:cs typeface="Cambria" pitchFamily="34" charset="-120"/>
              </a:rPr>
              <a:t>L'accueil</a:t>
            </a:r>
            <a:endParaRPr lang="en-US" sz="1800" dirty="0"/>
          </a:p>
        </p:txBody>
      </p:sp>
      <p:sp>
        <p:nvSpPr>
          <p:cNvPr id="23" name="Text 21"/>
          <p:cNvSpPr txBox="1"/>
          <p:nvPr/>
        </p:nvSpPr>
        <p:spPr>
          <a:xfrm>
            <a:off x="3538728" y="4937760"/>
            <a:ext cx="2286000" cy="1188720"/>
          </a:xfrm>
          <a:prstGeom prst="rect">
            <a:avLst/>
          </a:prstGeom>
          <a:noFill/>
          <a:ln/>
        </p:spPr>
        <p:txBody>
          <a:bodyPr wrap="square" lIns="0" tIns="0" rIns="0" bIns="0" rtlCol="0" anchor="t"/>
          <a:lstStyle/>
          <a:p>
            <a:pPr indent="0" marL="0">
              <a:buNone/>
            </a:pPr>
            <a:r>
              <a:rPr lang="en-US" sz="1300" dirty="0">
                <a:solidFill>
                  <a:srgbClr val="17211D"/>
                </a:solidFill>
                <a:latin typeface="Calibri" pitchFamily="34" charset="0"/>
                <a:ea typeface="Calibri" pitchFamily="34" charset="-122"/>
                <a:cs typeface="Calibri" pitchFamily="34" charset="-120"/>
              </a:rPr>
              <a:t>Les Portugais sont réputés pour leur gentillesse et leur hospitalité envers les visiteurs.</a:t>
            </a:r>
            <a:endParaRPr lang="en-US" sz="1300" dirty="0"/>
          </a:p>
        </p:txBody>
      </p:sp>
      <p:sp>
        <p:nvSpPr>
          <p:cNvPr id="24" name="Shape 22"/>
          <p:cNvSpPr/>
          <p:nvPr/>
        </p:nvSpPr>
        <p:spPr>
          <a:xfrm>
            <a:off x="6163056" y="3017520"/>
            <a:ext cx="2624328" cy="3200400"/>
          </a:xfrm>
          <a:prstGeom prst="roundRect">
            <a:avLst>
              <a:gd name="adj" fmla="val 2787"/>
            </a:avLst>
          </a:prstGeom>
          <a:solidFill>
            <a:srgbClr val="FFFFFF"/>
          </a:solidFill>
          <a:ln w="12700">
            <a:solidFill>
              <a:srgbClr val="FFFFFF"/>
            </a:solidFill>
            <a:prstDash val="solid"/>
          </a:ln>
          <a:effectLst>
            <a:outerShdw sx="100000" sy="100000" kx="0" ky="0" algn="bl" rotWithShape="0" blurRad="101600" dist="38100" dir="5400000">
              <a:srgbClr val="000000">
                <a:alpha val="18000"/>
              </a:srgbClr>
            </a:outerShdw>
          </a:effectLst>
        </p:spPr>
      </p:sp>
      <p:pic>
        <p:nvPicPr>
          <p:cNvPr id="25" name="Image 0" descr="/home/user/Portugal-Website/images/photos/e-cafe.jpg">    </p:cNvPr>
          <p:cNvPicPr>
            <a:picLocks noChangeAspect="1"/>
          </p:cNvPicPr>
          <p:nvPr/>
        </p:nvPicPr>
        <p:blipFill>
          <a:blip r:embed="rId1"/>
          <a:srcRect l="0" r="0" t="0" b="0"/>
          <a:stretch/>
        </p:blipFill>
        <p:spPr>
          <a:xfrm>
            <a:off x="6163056" y="3017520"/>
            <a:ext cx="2624328" cy="1371600"/>
          </a:xfrm>
          <a:prstGeom prst="rect">
            <a:avLst/>
          </a:prstGeom>
        </p:spPr>
      </p:pic>
      <p:sp>
        <p:nvSpPr>
          <p:cNvPr id="26" name="Text 23"/>
          <p:cNvSpPr txBox="1"/>
          <p:nvPr/>
        </p:nvSpPr>
        <p:spPr>
          <a:xfrm>
            <a:off x="6345936" y="4526280"/>
            <a:ext cx="2286000" cy="411480"/>
          </a:xfrm>
          <a:prstGeom prst="rect">
            <a:avLst/>
          </a:prstGeom>
          <a:noFill/>
          <a:ln/>
        </p:spPr>
        <p:txBody>
          <a:bodyPr wrap="square" lIns="0" tIns="0" rIns="0" bIns="0" rtlCol="0" anchor="t"/>
          <a:lstStyle/>
          <a:p>
            <a:pPr indent="0" marL="0">
              <a:buNone/>
            </a:pPr>
            <a:r>
              <a:rPr lang="en-US" sz="1800" b="1" dirty="0">
                <a:solidFill>
                  <a:srgbClr val="174A3A"/>
                </a:solidFill>
                <a:latin typeface="Cambria" pitchFamily="34" charset="0"/>
                <a:ea typeface="Cambria" pitchFamily="34" charset="-122"/>
                <a:cs typeface="Cambria" pitchFamily="34" charset="-120"/>
              </a:rPr>
              <a:t>Le café</a:t>
            </a:r>
            <a:endParaRPr lang="en-US" sz="1800" dirty="0"/>
          </a:p>
        </p:txBody>
      </p:sp>
      <p:sp>
        <p:nvSpPr>
          <p:cNvPr id="27" name="Text 24"/>
          <p:cNvSpPr txBox="1"/>
          <p:nvPr/>
        </p:nvSpPr>
        <p:spPr>
          <a:xfrm>
            <a:off x="6345936" y="4937760"/>
            <a:ext cx="2286000" cy="1188720"/>
          </a:xfrm>
          <a:prstGeom prst="rect">
            <a:avLst/>
          </a:prstGeom>
          <a:noFill/>
          <a:ln/>
        </p:spPr>
        <p:txBody>
          <a:bodyPr wrap="square" lIns="0" tIns="0" rIns="0" bIns="0" rtlCol="0" anchor="t"/>
          <a:lstStyle/>
          <a:p>
            <a:pPr indent="0" marL="0">
              <a:buNone/>
            </a:pPr>
            <a:r>
              <a:rPr lang="en-US" sz="1300" dirty="0">
                <a:solidFill>
                  <a:srgbClr val="17211D"/>
                </a:solidFill>
                <a:latin typeface="Calibri" pitchFamily="34" charset="0"/>
                <a:ea typeface="Calibri" pitchFamily="34" charset="-122"/>
                <a:cs typeface="Calibri" pitchFamily="34" charset="-120"/>
              </a:rPr>
              <a:t>Une « bica » à Lisbonne ou un « cimbalino » à Porto : le petit café est un rituel de chaque jour.</a:t>
            </a:r>
            <a:endParaRPr lang="en-US" sz="1300" dirty="0"/>
          </a:p>
        </p:txBody>
      </p:sp>
      <p:sp>
        <p:nvSpPr>
          <p:cNvPr id="28" name="Shape 25"/>
          <p:cNvSpPr/>
          <p:nvPr/>
        </p:nvSpPr>
        <p:spPr>
          <a:xfrm>
            <a:off x="8970264" y="3017520"/>
            <a:ext cx="2624328" cy="3200400"/>
          </a:xfrm>
          <a:prstGeom prst="roundRect">
            <a:avLst>
              <a:gd name="adj" fmla="val 2787"/>
            </a:avLst>
          </a:prstGeom>
          <a:solidFill>
            <a:srgbClr val="FFFFFF"/>
          </a:solidFill>
          <a:ln w="12700">
            <a:solidFill>
              <a:srgbClr val="FFFFFF"/>
            </a:solidFill>
            <a:prstDash val="solid"/>
          </a:ln>
          <a:effectLst>
            <a:outerShdw sx="100000" sy="100000" kx="0" ky="0" algn="bl" rotWithShape="0" blurRad="101600" dist="38100" dir="5400000">
              <a:srgbClr val="000000">
                <a:alpha val="18000"/>
              </a:srgbClr>
            </a:outerShdw>
          </a:effectLst>
        </p:spPr>
      </p:sp>
      <p:pic>
        <p:nvPicPr>
          <p:cNvPr id="29" name="Image 1" descr="/home/user/Portugal-Website/images/photos/e-fatima.jpg">    </p:cNvPr>
          <p:cNvPicPr>
            <a:picLocks noChangeAspect="1"/>
          </p:cNvPicPr>
          <p:nvPr/>
        </p:nvPicPr>
        <p:blipFill>
          <a:blip r:embed="rId2"/>
          <a:srcRect l="0" r="0" t="0" b="0"/>
          <a:stretch/>
        </p:blipFill>
        <p:spPr>
          <a:xfrm>
            <a:off x="8970264" y="3017520"/>
            <a:ext cx="2624328" cy="1371600"/>
          </a:xfrm>
          <a:prstGeom prst="rect">
            <a:avLst/>
          </a:prstGeom>
        </p:spPr>
      </p:pic>
      <p:sp>
        <p:nvSpPr>
          <p:cNvPr id="30" name="Text 26"/>
          <p:cNvSpPr txBox="1"/>
          <p:nvPr/>
        </p:nvSpPr>
        <p:spPr>
          <a:xfrm>
            <a:off x="9153144" y="4526280"/>
            <a:ext cx="2286000" cy="411480"/>
          </a:xfrm>
          <a:prstGeom prst="rect">
            <a:avLst/>
          </a:prstGeom>
          <a:noFill/>
          <a:ln/>
        </p:spPr>
        <p:txBody>
          <a:bodyPr wrap="square" lIns="0" tIns="0" rIns="0" bIns="0" rtlCol="0" anchor="t"/>
          <a:lstStyle/>
          <a:p>
            <a:pPr indent="0" marL="0">
              <a:buNone/>
            </a:pPr>
            <a:r>
              <a:rPr lang="en-US" sz="1800" b="1" dirty="0">
                <a:solidFill>
                  <a:srgbClr val="174A3A"/>
                </a:solidFill>
                <a:latin typeface="Cambria" pitchFamily="34" charset="0"/>
                <a:ea typeface="Cambria" pitchFamily="34" charset="-122"/>
                <a:cs typeface="Cambria" pitchFamily="34" charset="-120"/>
              </a:rPr>
              <a:t>La foi</a:t>
            </a:r>
            <a:endParaRPr lang="en-US" sz="1800" dirty="0"/>
          </a:p>
        </p:txBody>
      </p:sp>
      <p:sp>
        <p:nvSpPr>
          <p:cNvPr id="31" name="Text 27"/>
          <p:cNvSpPr txBox="1"/>
          <p:nvPr/>
        </p:nvSpPr>
        <p:spPr>
          <a:xfrm>
            <a:off x="9153144" y="4937760"/>
            <a:ext cx="2286000" cy="1188720"/>
          </a:xfrm>
          <a:prstGeom prst="rect">
            <a:avLst/>
          </a:prstGeom>
          <a:noFill/>
          <a:ln/>
        </p:spPr>
        <p:txBody>
          <a:bodyPr wrap="square" lIns="0" tIns="0" rIns="0" bIns="0" rtlCol="0" anchor="t"/>
          <a:lstStyle/>
          <a:p>
            <a:pPr indent="0" marL="0">
              <a:buNone/>
            </a:pPr>
            <a:r>
              <a:rPr lang="en-US" sz="1300" dirty="0">
                <a:solidFill>
                  <a:srgbClr val="17211D"/>
                </a:solidFill>
                <a:latin typeface="Calibri" pitchFamily="34" charset="0"/>
                <a:ea typeface="Calibri" pitchFamily="34" charset="-122"/>
                <a:cs typeface="Calibri" pitchFamily="34" charset="-120"/>
              </a:rPr>
              <a:t>Pays de tradition catholique. Le sanctuaire de Fátima attire des millions de pèlerins chaque année.</a:t>
            </a:r>
            <a:endParaRPr lang="en-US" sz="130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18D"/>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548640" y="411480"/>
            <a:ext cx="10972800" cy="274320"/>
          </a:xfrm>
          <a:prstGeom prst="rect">
            <a:avLst/>
          </a:prstGeom>
          <a:noFill/>
          <a:ln/>
        </p:spPr>
        <p:txBody>
          <a:bodyPr wrap="square" lIns="0" tIns="0" rIns="0" bIns="0" rtlCol="0" anchor="t"/>
          <a:lstStyle/>
          <a:p>
            <a:pPr indent="0" marL="0">
              <a:buNone/>
            </a:pPr>
            <a:r>
              <a:rPr lang="en-US" sz="1200" b="1" spc="300" kern="0" dirty="0">
                <a:solidFill>
                  <a:srgbClr val="A83232"/>
                </a:solidFill>
                <a:latin typeface="Calibri" pitchFamily="34" charset="0"/>
                <a:ea typeface="Calibri" pitchFamily="34" charset="-122"/>
                <a:cs typeface="Calibri" pitchFamily="34" charset="-120"/>
              </a:rPr>
              <a:t>LA LANGUE PORTUGAISE</a:t>
            </a:r>
            <a:endParaRPr lang="en-US" sz="1200" dirty="0"/>
          </a:p>
        </p:txBody>
      </p:sp>
      <p:sp>
        <p:nvSpPr>
          <p:cNvPr id="3" name="Text 1"/>
          <p:cNvSpPr txBox="1"/>
          <p:nvPr/>
        </p:nvSpPr>
        <p:spPr>
          <a:xfrm>
            <a:off x="548640" y="685800"/>
            <a:ext cx="6583680" cy="685800"/>
          </a:xfrm>
          <a:prstGeom prst="rect">
            <a:avLst/>
          </a:prstGeom>
          <a:noFill/>
          <a:ln/>
        </p:spPr>
        <p:txBody>
          <a:bodyPr wrap="square" lIns="0" tIns="0" rIns="0" bIns="0" rtlCol="0" anchor="t"/>
          <a:lstStyle/>
          <a:p>
            <a:pPr indent="0" marL="0">
              <a:buNone/>
            </a:pPr>
            <a:r>
              <a:rPr lang="en-US" sz="2600" b="1" dirty="0">
                <a:solidFill>
                  <a:srgbClr val="174A3A"/>
                </a:solidFill>
                <a:latin typeface="Cambria" pitchFamily="34" charset="0"/>
                <a:ea typeface="Cambria" pitchFamily="34" charset="-122"/>
                <a:cs typeface="Cambria" pitchFamily="34" charset="-120"/>
              </a:rPr>
              <a:t>Une langue parlée sur quatre continents</a:t>
            </a:r>
            <a:endParaRPr lang="en-US" sz="2600" dirty="0"/>
          </a:p>
        </p:txBody>
      </p:sp>
      <p:sp>
        <p:nvSpPr>
          <p:cNvPr id="4" name="Text 2"/>
          <p:cNvSpPr txBox="1"/>
          <p:nvPr/>
        </p:nvSpPr>
        <p:spPr>
          <a:xfrm>
            <a:off x="548640" y="1554480"/>
            <a:ext cx="6400800" cy="914400"/>
          </a:xfrm>
          <a:prstGeom prst="rect">
            <a:avLst/>
          </a:prstGeom>
          <a:noFill/>
          <a:ln/>
        </p:spPr>
        <p:txBody>
          <a:bodyPr wrap="square" lIns="0" tIns="0" rIns="0" bIns="0" rtlCol="0" anchor="t"/>
          <a:lstStyle/>
          <a:p>
            <a:pPr indent="0" marL="0">
              <a:buNone/>
            </a:pPr>
            <a:r>
              <a:rPr lang="en-US" sz="1500" dirty="0">
                <a:solidFill>
                  <a:srgbClr val="17211D"/>
                </a:solidFill>
                <a:latin typeface="Calibri" pitchFamily="34" charset="0"/>
                <a:ea typeface="Calibri" pitchFamily="34" charset="-122"/>
                <a:cs typeface="Calibri" pitchFamily="34" charset="-120"/>
              </a:rPr>
              <a:t>Le portugais est la langue officielle de 9 pays et l'une des langues les plus parlées au monde. Au Portugal, le mirandais est aussi reconnu officiellement depuis 1999.</a:t>
            </a:r>
            <a:endParaRPr lang="en-US" sz="1500" dirty="0"/>
          </a:p>
        </p:txBody>
      </p:sp>
      <p:sp>
        <p:nvSpPr>
          <p:cNvPr id="5" name="Shape 3"/>
          <p:cNvSpPr/>
          <p:nvPr/>
        </p:nvSpPr>
        <p:spPr>
          <a:xfrm>
            <a:off x="548640" y="2651760"/>
            <a:ext cx="6400800" cy="1737360"/>
          </a:xfrm>
          <a:prstGeom prst="roundRect">
            <a:avLst>
              <a:gd name="adj" fmla="val 4211"/>
            </a:avLst>
          </a:prstGeom>
          <a:solidFill>
            <a:srgbClr val="EAF0F8"/>
          </a:solidFill>
          <a:ln w="12700">
            <a:solidFill>
              <a:srgbClr val="EAF0F8"/>
            </a:solidFill>
            <a:prstDash val="solid"/>
          </a:ln>
          <a:effectLst>
            <a:outerShdw sx="100000" sy="100000" kx="0" ky="0" algn="bl" rotWithShape="0" blurRad="101600" dist="38100" dir="5400000">
              <a:srgbClr val="000000">
                <a:alpha val="18000"/>
              </a:srgbClr>
            </a:outerShdw>
          </a:effectLst>
        </p:spPr>
      </p:sp>
      <p:sp>
        <p:nvSpPr>
          <p:cNvPr id="6" name="Text 4"/>
          <p:cNvSpPr txBox="1"/>
          <p:nvPr/>
        </p:nvSpPr>
        <p:spPr>
          <a:xfrm>
            <a:off x="822960" y="2743200"/>
            <a:ext cx="5852160" cy="731520"/>
          </a:xfrm>
          <a:prstGeom prst="rect">
            <a:avLst/>
          </a:prstGeom>
          <a:noFill/>
          <a:ln/>
        </p:spPr>
        <p:txBody>
          <a:bodyPr wrap="square" lIns="0" tIns="0" rIns="0" bIns="0" rtlCol="0" anchor="t"/>
          <a:lstStyle/>
          <a:p>
            <a:pPr indent="0" marL="0">
              <a:buNone/>
            </a:pPr>
            <a:r>
              <a:rPr lang="en-US" sz="4000" b="1" i="1" dirty="0">
                <a:solidFill>
                  <a:srgbClr val="1E4F8F"/>
                </a:solidFill>
                <a:latin typeface="Cambria" pitchFamily="34" charset="0"/>
                <a:ea typeface="Cambria" pitchFamily="34" charset="-122"/>
                <a:cs typeface="Cambria" pitchFamily="34" charset="-120"/>
              </a:rPr>
              <a:t>Saudade</a:t>
            </a:r>
            <a:endParaRPr lang="en-US" sz="4000" dirty="0"/>
          </a:p>
        </p:txBody>
      </p:sp>
      <p:sp>
        <p:nvSpPr>
          <p:cNvPr id="7" name="Text 5"/>
          <p:cNvSpPr txBox="1"/>
          <p:nvPr/>
        </p:nvSpPr>
        <p:spPr>
          <a:xfrm>
            <a:off x="822960" y="3474720"/>
            <a:ext cx="5852160" cy="868680"/>
          </a:xfrm>
          <a:prstGeom prst="rect">
            <a:avLst/>
          </a:prstGeom>
          <a:noFill/>
          <a:ln/>
        </p:spPr>
        <p:txBody>
          <a:bodyPr wrap="square" lIns="0" tIns="0" rIns="0" bIns="0" rtlCol="0" anchor="t"/>
          <a:lstStyle/>
          <a:p>
            <a:pPr indent="0" marL="0">
              <a:buNone/>
            </a:pPr>
            <a:r>
              <a:rPr lang="en-US" sz="1300" dirty="0">
                <a:solidFill>
                  <a:srgbClr val="17211D"/>
                </a:solidFill>
                <a:latin typeface="Calibri" pitchFamily="34" charset="0"/>
                <a:ea typeface="Calibri" pitchFamily="34" charset="-122"/>
                <a:cs typeface="Calibri" pitchFamily="34" charset="-120"/>
              </a:rPr>
              <a:t>La saudade, c'est la nostalgie douce-amère de quelqu'un ou de quelque chose que l'on aime et qui est loin. Un sentiment que connaît bien chaque Portugais vivant à l'étranger.</a:t>
            </a:r>
            <a:endParaRPr lang="en-US" sz="1300" dirty="0"/>
          </a:p>
        </p:txBody>
      </p:sp>
      <p:sp>
        <p:nvSpPr>
          <p:cNvPr id="8" name="Text 6"/>
          <p:cNvSpPr txBox="1"/>
          <p:nvPr/>
        </p:nvSpPr>
        <p:spPr>
          <a:xfrm>
            <a:off x="548640" y="4617720"/>
            <a:ext cx="6400800" cy="411480"/>
          </a:xfrm>
          <a:prstGeom prst="rect">
            <a:avLst/>
          </a:prstGeom>
          <a:noFill/>
          <a:ln/>
        </p:spPr>
        <p:txBody>
          <a:bodyPr wrap="square" lIns="0" tIns="0" rIns="0" bIns="0" rtlCol="0" anchor="t"/>
          <a:lstStyle/>
          <a:p>
            <a:pPr indent="0" marL="0">
              <a:buNone/>
            </a:pPr>
            <a:r>
              <a:rPr lang="en-US" sz="2000" b="1" dirty="0">
                <a:solidFill>
                  <a:srgbClr val="174A3A"/>
                </a:solidFill>
                <a:latin typeface="Cambria" pitchFamily="34" charset="0"/>
                <a:ea typeface="Cambria" pitchFamily="34" charset="-122"/>
                <a:cs typeface="Cambria" pitchFamily="34" charset="-120"/>
              </a:rPr>
              <a:t>La diaspora portugaise</a:t>
            </a:r>
            <a:endParaRPr lang="en-US" sz="2000" dirty="0"/>
          </a:p>
        </p:txBody>
      </p:sp>
      <p:sp>
        <p:nvSpPr>
          <p:cNvPr id="9" name="Text 7"/>
          <p:cNvSpPr txBox="1"/>
          <p:nvPr/>
        </p:nvSpPr>
        <p:spPr>
          <a:xfrm>
            <a:off x="548640" y="5029200"/>
            <a:ext cx="3017520" cy="685800"/>
          </a:xfrm>
          <a:prstGeom prst="rect">
            <a:avLst/>
          </a:prstGeom>
          <a:noFill/>
          <a:ln/>
        </p:spPr>
        <p:txBody>
          <a:bodyPr wrap="square" lIns="0" tIns="0" rIns="0" bIns="0" rtlCol="0" anchor="t"/>
          <a:lstStyle/>
          <a:p>
            <a:pPr indent="0" marL="0">
              <a:buNone/>
            </a:pPr>
            <a:r>
              <a:rPr lang="en-US" sz="3600" b="1" dirty="0">
                <a:solidFill>
                  <a:srgbClr val="A83232"/>
                </a:solidFill>
                <a:latin typeface="Cambria" pitchFamily="34" charset="0"/>
                <a:ea typeface="Cambria" pitchFamily="34" charset="-122"/>
                <a:cs typeface="Cambria" pitchFamily="34" charset="-120"/>
              </a:rPr>
              <a:t>≈ 2 M</a:t>
            </a:r>
            <a:endParaRPr lang="en-US" sz="3600" dirty="0"/>
          </a:p>
        </p:txBody>
      </p:sp>
      <p:sp>
        <p:nvSpPr>
          <p:cNvPr id="10" name="Text 8"/>
          <p:cNvSpPr txBox="1"/>
          <p:nvPr/>
        </p:nvSpPr>
        <p:spPr>
          <a:xfrm>
            <a:off x="548640" y="5715000"/>
            <a:ext cx="3017520" cy="548640"/>
          </a:xfrm>
          <a:prstGeom prst="rect">
            <a:avLst/>
          </a:prstGeom>
          <a:noFill/>
          <a:ln/>
        </p:spPr>
        <p:txBody>
          <a:bodyPr wrap="square" lIns="0" tIns="0" rIns="0" bIns="0" rtlCol="0" anchor="t"/>
          <a:lstStyle/>
          <a:p>
            <a:pPr indent="0" marL="0">
              <a:buNone/>
            </a:pPr>
            <a:r>
              <a:rPr lang="en-US" sz="1300" b="1" dirty="0">
                <a:solidFill>
                  <a:srgbClr val="4A524E"/>
                </a:solidFill>
                <a:latin typeface="Calibri" pitchFamily="34" charset="0"/>
                <a:ea typeface="Calibri" pitchFamily="34" charset="-122"/>
                <a:cs typeface="Calibri" pitchFamily="34" charset="-120"/>
              </a:rPr>
              <a:t>Portugais nés au Portugal vivant à l'étranger</a:t>
            </a:r>
            <a:endParaRPr lang="en-US" sz="1300" dirty="0"/>
          </a:p>
        </p:txBody>
      </p:sp>
      <p:sp>
        <p:nvSpPr>
          <p:cNvPr id="11" name="Text 9"/>
          <p:cNvSpPr txBox="1"/>
          <p:nvPr/>
        </p:nvSpPr>
        <p:spPr>
          <a:xfrm>
            <a:off x="3840480" y="5029200"/>
            <a:ext cx="3108960" cy="685800"/>
          </a:xfrm>
          <a:prstGeom prst="rect">
            <a:avLst/>
          </a:prstGeom>
          <a:noFill/>
          <a:ln/>
        </p:spPr>
        <p:txBody>
          <a:bodyPr wrap="square" lIns="0" tIns="0" rIns="0" bIns="0" rtlCol="0" anchor="t"/>
          <a:lstStyle/>
          <a:p>
            <a:pPr indent="0" marL="0">
              <a:buNone/>
            </a:pPr>
            <a:r>
              <a:rPr lang="en-US" sz="3600" b="1" dirty="0">
                <a:solidFill>
                  <a:srgbClr val="1E4F8F"/>
                </a:solidFill>
                <a:latin typeface="Cambria" pitchFamily="34" charset="0"/>
                <a:ea typeface="Cambria" pitchFamily="34" charset="-122"/>
                <a:cs typeface="Cambria" pitchFamily="34" charset="-120"/>
              </a:rPr>
              <a:t>≈ 250 000</a:t>
            </a:r>
            <a:endParaRPr lang="en-US" sz="3600" dirty="0"/>
          </a:p>
        </p:txBody>
      </p:sp>
      <p:sp>
        <p:nvSpPr>
          <p:cNvPr id="12" name="Text 10"/>
          <p:cNvSpPr txBox="1"/>
          <p:nvPr/>
        </p:nvSpPr>
        <p:spPr>
          <a:xfrm>
            <a:off x="3840480" y="5715000"/>
            <a:ext cx="3108960" cy="548640"/>
          </a:xfrm>
          <a:prstGeom prst="rect">
            <a:avLst/>
          </a:prstGeom>
          <a:noFill/>
          <a:ln/>
        </p:spPr>
        <p:txBody>
          <a:bodyPr wrap="square" lIns="0" tIns="0" rIns="0" bIns="0" rtlCol="0" anchor="t"/>
          <a:lstStyle/>
          <a:p>
            <a:pPr indent="0" marL="0">
              <a:buNone/>
            </a:pPr>
            <a:r>
              <a:rPr lang="en-US" sz="1300" b="1" dirty="0">
                <a:solidFill>
                  <a:srgbClr val="4A524E"/>
                </a:solidFill>
                <a:latin typeface="Calibri" pitchFamily="34" charset="0"/>
                <a:ea typeface="Calibri" pitchFamily="34" charset="-122"/>
                <a:cs typeface="Calibri" pitchFamily="34" charset="-120"/>
              </a:rPr>
              <a:t>Portugais en Suisse (j'en fais partie depuis 2013)</a:t>
            </a:r>
            <a:endParaRPr lang="en-US" sz="1300" dirty="0"/>
          </a:p>
        </p:txBody>
      </p:sp>
      <p:sp>
        <p:nvSpPr>
          <p:cNvPr id="13" name="Shape 11"/>
          <p:cNvSpPr/>
          <p:nvPr/>
        </p:nvSpPr>
        <p:spPr>
          <a:xfrm>
            <a:off x="7498080" y="548640"/>
            <a:ext cx="4142232" cy="5669280"/>
          </a:xfrm>
          <a:prstGeom prst="roundRect">
            <a:avLst>
              <a:gd name="adj" fmla="val 1766"/>
            </a:avLst>
          </a:prstGeom>
          <a:solidFill>
            <a:srgbClr val="F1F4F2"/>
          </a:solidFill>
          <a:ln w="12700">
            <a:solidFill>
              <a:srgbClr val="F1F4F2"/>
            </a:solidFill>
            <a:prstDash val="solid"/>
          </a:ln>
          <a:effectLst>
            <a:outerShdw sx="100000" sy="100000" kx="0" ky="0" algn="bl" rotWithShape="0" blurRad="101600" dist="38100" dir="5400000">
              <a:srgbClr val="000000">
                <a:alpha val="18000"/>
              </a:srgbClr>
            </a:outerShdw>
          </a:effectLst>
        </p:spPr>
      </p:sp>
      <p:sp>
        <p:nvSpPr>
          <p:cNvPr id="14" name="Text 12"/>
          <p:cNvSpPr txBox="1"/>
          <p:nvPr/>
        </p:nvSpPr>
        <p:spPr>
          <a:xfrm>
            <a:off x="7772400" y="777240"/>
            <a:ext cx="3657600" cy="457200"/>
          </a:xfrm>
          <a:prstGeom prst="rect">
            <a:avLst/>
          </a:prstGeom>
          <a:noFill/>
          <a:ln/>
        </p:spPr>
        <p:txBody>
          <a:bodyPr wrap="square" lIns="0" tIns="0" rIns="0" bIns="0" rtlCol="0" anchor="t"/>
          <a:lstStyle/>
          <a:p>
            <a:pPr indent="0" marL="0">
              <a:buNone/>
            </a:pPr>
            <a:r>
              <a:rPr lang="en-US" sz="1800" b="1" dirty="0">
                <a:solidFill>
                  <a:srgbClr val="17211D"/>
                </a:solidFill>
                <a:latin typeface="Cambria" pitchFamily="34" charset="0"/>
                <a:ea typeface="Cambria" pitchFamily="34" charset="-122"/>
                <a:cs typeface="Cambria" pitchFamily="34" charset="-120"/>
              </a:rPr>
              <a:t>Quelques mots pour commencer</a:t>
            </a:r>
            <a:endParaRPr lang="en-US" sz="1800" dirty="0"/>
          </a:p>
        </p:txBody>
      </p:sp>
      <p:sp>
        <p:nvSpPr>
          <p:cNvPr id="15" name="Text 13"/>
          <p:cNvSpPr txBox="1"/>
          <p:nvPr/>
        </p:nvSpPr>
        <p:spPr>
          <a:xfrm>
            <a:off x="7772400" y="1463040"/>
            <a:ext cx="3657600" cy="502920"/>
          </a:xfrm>
          <a:prstGeom prst="rect">
            <a:avLst/>
          </a:prstGeom>
          <a:noFill/>
          <a:ln/>
        </p:spPr>
        <p:txBody>
          <a:bodyPr wrap="square" lIns="0" tIns="0" rIns="0" bIns="0" rtlCol="0" anchor="t"/>
          <a:lstStyle/>
          <a:p>
            <a:pPr indent="0" marL="0">
              <a:buNone/>
            </a:pPr>
            <a:r>
              <a:rPr lang="en-US" sz="2400" b="1" i="1" dirty="0">
                <a:solidFill>
                  <a:srgbClr val="1E4F8F"/>
                </a:solidFill>
                <a:latin typeface="Cambria" pitchFamily="34" charset="0"/>
                <a:ea typeface="Cambria" pitchFamily="34" charset="-122"/>
                <a:cs typeface="Cambria" pitchFamily="34" charset="-120"/>
              </a:rPr>
              <a:t>Olá</a:t>
            </a:r>
            <a:endParaRPr lang="en-US" sz="2400" dirty="0"/>
          </a:p>
        </p:txBody>
      </p:sp>
      <p:sp>
        <p:nvSpPr>
          <p:cNvPr id="16" name="Text 14"/>
          <p:cNvSpPr txBox="1"/>
          <p:nvPr/>
        </p:nvSpPr>
        <p:spPr>
          <a:xfrm>
            <a:off x="7772400" y="1965960"/>
            <a:ext cx="3657600" cy="365760"/>
          </a:xfrm>
          <a:prstGeom prst="rect">
            <a:avLst/>
          </a:prstGeom>
          <a:noFill/>
          <a:ln/>
        </p:spPr>
        <p:txBody>
          <a:bodyPr wrap="square" lIns="0" tIns="0" rIns="0" bIns="0" rtlCol="0" anchor="t"/>
          <a:lstStyle/>
          <a:p>
            <a:pPr indent="0" marL="0">
              <a:buNone/>
            </a:pPr>
            <a:r>
              <a:rPr lang="en-US" sz="1500" dirty="0">
                <a:solidFill>
                  <a:srgbClr val="4A524E"/>
                </a:solidFill>
                <a:latin typeface="Calibri" pitchFamily="34" charset="0"/>
                <a:ea typeface="Calibri" pitchFamily="34" charset="-122"/>
                <a:cs typeface="Calibri" pitchFamily="34" charset="-120"/>
              </a:rPr>
              <a:t>Salut</a:t>
            </a:r>
            <a:endParaRPr lang="en-US" sz="1500" dirty="0"/>
          </a:p>
        </p:txBody>
      </p:sp>
      <p:sp>
        <p:nvSpPr>
          <p:cNvPr id="17" name="Text 15"/>
          <p:cNvSpPr txBox="1"/>
          <p:nvPr/>
        </p:nvSpPr>
        <p:spPr>
          <a:xfrm>
            <a:off x="7772400" y="2606040"/>
            <a:ext cx="3657600" cy="502920"/>
          </a:xfrm>
          <a:prstGeom prst="rect">
            <a:avLst/>
          </a:prstGeom>
          <a:noFill/>
          <a:ln/>
        </p:spPr>
        <p:txBody>
          <a:bodyPr wrap="square" lIns="0" tIns="0" rIns="0" bIns="0" rtlCol="0" anchor="t"/>
          <a:lstStyle/>
          <a:p>
            <a:pPr indent="0" marL="0">
              <a:buNone/>
            </a:pPr>
            <a:r>
              <a:rPr lang="en-US" sz="2400" b="1" i="1" dirty="0">
                <a:solidFill>
                  <a:srgbClr val="1E4F8F"/>
                </a:solidFill>
                <a:latin typeface="Cambria" pitchFamily="34" charset="0"/>
                <a:ea typeface="Cambria" pitchFamily="34" charset="-122"/>
                <a:cs typeface="Cambria" pitchFamily="34" charset="-120"/>
              </a:rPr>
              <a:t>Bom dia</a:t>
            </a:r>
            <a:endParaRPr lang="en-US" sz="2400" dirty="0"/>
          </a:p>
        </p:txBody>
      </p:sp>
      <p:sp>
        <p:nvSpPr>
          <p:cNvPr id="18" name="Text 16"/>
          <p:cNvSpPr txBox="1"/>
          <p:nvPr/>
        </p:nvSpPr>
        <p:spPr>
          <a:xfrm>
            <a:off x="7772400" y="3108960"/>
            <a:ext cx="3657600" cy="365760"/>
          </a:xfrm>
          <a:prstGeom prst="rect">
            <a:avLst/>
          </a:prstGeom>
          <a:noFill/>
          <a:ln/>
        </p:spPr>
        <p:txBody>
          <a:bodyPr wrap="square" lIns="0" tIns="0" rIns="0" bIns="0" rtlCol="0" anchor="t"/>
          <a:lstStyle/>
          <a:p>
            <a:pPr indent="0" marL="0">
              <a:buNone/>
            </a:pPr>
            <a:r>
              <a:rPr lang="en-US" sz="1500" dirty="0">
                <a:solidFill>
                  <a:srgbClr val="4A524E"/>
                </a:solidFill>
                <a:latin typeface="Calibri" pitchFamily="34" charset="0"/>
                <a:ea typeface="Calibri" pitchFamily="34" charset="-122"/>
                <a:cs typeface="Calibri" pitchFamily="34" charset="-120"/>
              </a:rPr>
              <a:t>Bonjour</a:t>
            </a:r>
            <a:endParaRPr lang="en-US" sz="1500" dirty="0"/>
          </a:p>
        </p:txBody>
      </p:sp>
      <p:sp>
        <p:nvSpPr>
          <p:cNvPr id="19" name="Text 17"/>
          <p:cNvSpPr txBox="1"/>
          <p:nvPr/>
        </p:nvSpPr>
        <p:spPr>
          <a:xfrm>
            <a:off x="7772400" y="3749040"/>
            <a:ext cx="3657600" cy="502920"/>
          </a:xfrm>
          <a:prstGeom prst="rect">
            <a:avLst/>
          </a:prstGeom>
          <a:noFill/>
          <a:ln/>
        </p:spPr>
        <p:txBody>
          <a:bodyPr wrap="square" lIns="0" tIns="0" rIns="0" bIns="0" rtlCol="0" anchor="t"/>
          <a:lstStyle/>
          <a:p>
            <a:pPr indent="0" marL="0">
              <a:buNone/>
            </a:pPr>
            <a:r>
              <a:rPr lang="en-US" sz="2400" b="1" i="1" dirty="0">
                <a:solidFill>
                  <a:srgbClr val="1E4F8F"/>
                </a:solidFill>
                <a:latin typeface="Cambria" pitchFamily="34" charset="0"/>
                <a:ea typeface="Cambria" pitchFamily="34" charset="-122"/>
                <a:cs typeface="Cambria" pitchFamily="34" charset="-120"/>
              </a:rPr>
              <a:t>Obrigado / Obrigada</a:t>
            </a:r>
            <a:endParaRPr lang="en-US" sz="2400" dirty="0"/>
          </a:p>
        </p:txBody>
      </p:sp>
      <p:sp>
        <p:nvSpPr>
          <p:cNvPr id="20" name="Text 18"/>
          <p:cNvSpPr txBox="1"/>
          <p:nvPr/>
        </p:nvSpPr>
        <p:spPr>
          <a:xfrm>
            <a:off x="7772400" y="4251960"/>
            <a:ext cx="3657600" cy="365760"/>
          </a:xfrm>
          <a:prstGeom prst="rect">
            <a:avLst/>
          </a:prstGeom>
          <a:noFill/>
          <a:ln/>
        </p:spPr>
        <p:txBody>
          <a:bodyPr wrap="square" lIns="0" tIns="0" rIns="0" bIns="0" rtlCol="0" anchor="t"/>
          <a:lstStyle/>
          <a:p>
            <a:pPr indent="0" marL="0">
              <a:buNone/>
            </a:pPr>
            <a:r>
              <a:rPr lang="en-US" sz="1500" dirty="0">
                <a:solidFill>
                  <a:srgbClr val="4A524E"/>
                </a:solidFill>
                <a:latin typeface="Calibri" pitchFamily="34" charset="0"/>
                <a:ea typeface="Calibri" pitchFamily="34" charset="-122"/>
                <a:cs typeface="Calibri" pitchFamily="34" charset="-120"/>
              </a:rPr>
              <a:t>Merci</a:t>
            </a:r>
            <a:endParaRPr lang="en-US" sz="1500" dirty="0"/>
          </a:p>
        </p:txBody>
      </p:sp>
      <p:sp>
        <p:nvSpPr>
          <p:cNvPr id="21" name="Text 19"/>
          <p:cNvSpPr txBox="1"/>
          <p:nvPr/>
        </p:nvSpPr>
        <p:spPr>
          <a:xfrm>
            <a:off x="7772400" y="4892040"/>
            <a:ext cx="3657600" cy="502920"/>
          </a:xfrm>
          <a:prstGeom prst="rect">
            <a:avLst/>
          </a:prstGeom>
          <a:noFill/>
          <a:ln/>
        </p:spPr>
        <p:txBody>
          <a:bodyPr wrap="square" lIns="0" tIns="0" rIns="0" bIns="0" rtlCol="0" anchor="t"/>
          <a:lstStyle/>
          <a:p>
            <a:pPr indent="0" marL="0">
              <a:buNone/>
            </a:pPr>
            <a:r>
              <a:rPr lang="en-US" sz="2400" b="1" i="1" dirty="0">
                <a:solidFill>
                  <a:srgbClr val="1E4F8F"/>
                </a:solidFill>
                <a:latin typeface="Cambria" pitchFamily="34" charset="0"/>
                <a:ea typeface="Cambria" pitchFamily="34" charset="-122"/>
                <a:cs typeface="Cambria" pitchFamily="34" charset="-120"/>
              </a:rPr>
              <a:t>Até logo</a:t>
            </a:r>
            <a:endParaRPr lang="en-US" sz="2400" dirty="0"/>
          </a:p>
        </p:txBody>
      </p:sp>
      <p:sp>
        <p:nvSpPr>
          <p:cNvPr id="22" name="Text 20"/>
          <p:cNvSpPr txBox="1"/>
          <p:nvPr/>
        </p:nvSpPr>
        <p:spPr>
          <a:xfrm>
            <a:off x="7772400" y="5394960"/>
            <a:ext cx="3657600" cy="365760"/>
          </a:xfrm>
          <a:prstGeom prst="rect">
            <a:avLst/>
          </a:prstGeom>
          <a:noFill/>
          <a:ln/>
        </p:spPr>
        <p:txBody>
          <a:bodyPr wrap="square" lIns="0" tIns="0" rIns="0" bIns="0" rtlCol="0" anchor="t"/>
          <a:lstStyle/>
          <a:p>
            <a:pPr indent="0" marL="0">
              <a:buNone/>
            </a:pPr>
            <a:r>
              <a:rPr lang="en-US" sz="1500" dirty="0">
                <a:solidFill>
                  <a:srgbClr val="4A524E"/>
                </a:solidFill>
                <a:latin typeface="Calibri" pitchFamily="34" charset="0"/>
                <a:ea typeface="Calibri" pitchFamily="34" charset="-122"/>
                <a:cs typeface="Calibri" pitchFamily="34" charset="-120"/>
              </a:rPr>
              <a:t>À bientôt</a:t>
            </a:r>
            <a:endParaRPr lang="en-US" sz="150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18D"/>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548640" y="411480"/>
            <a:ext cx="10972800" cy="274320"/>
          </a:xfrm>
          <a:prstGeom prst="rect">
            <a:avLst/>
          </a:prstGeom>
          <a:noFill/>
          <a:ln/>
        </p:spPr>
        <p:txBody>
          <a:bodyPr wrap="square" lIns="0" tIns="0" rIns="0" bIns="0" rtlCol="0" anchor="t"/>
          <a:lstStyle/>
          <a:p>
            <a:pPr indent="0" marL="0">
              <a:buNone/>
            </a:pPr>
            <a:r>
              <a:rPr lang="en-US" sz="1200" b="1" spc="300" kern="0" dirty="0">
                <a:solidFill>
                  <a:srgbClr val="A83232"/>
                </a:solidFill>
                <a:latin typeface="Calibri" pitchFamily="34" charset="0"/>
                <a:ea typeface="Calibri" pitchFamily="34" charset="-122"/>
                <a:cs typeface="Calibri" pitchFamily="34" charset="-120"/>
              </a:rPr>
              <a:t>ÉCONOMIE</a:t>
            </a:r>
            <a:endParaRPr lang="en-US" sz="1200" dirty="0"/>
          </a:p>
        </p:txBody>
      </p:sp>
      <p:sp>
        <p:nvSpPr>
          <p:cNvPr id="3" name="Text 1"/>
          <p:cNvSpPr txBox="1"/>
          <p:nvPr/>
        </p:nvSpPr>
        <p:spPr>
          <a:xfrm>
            <a:off x="548640" y="685800"/>
            <a:ext cx="10972800" cy="685800"/>
          </a:xfrm>
          <a:prstGeom prst="rect">
            <a:avLst/>
          </a:prstGeom>
          <a:noFill/>
          <a:ln/>
        </p:spPr>
        <p:txBody>
          <a:bodyPr wrap="square" lIns="0" tIns="0" rIns="0" bIns="0" rtlCol="0" anchor="t"/>
          <a:lstStyle/>
          <a:p>
            <a:pPr indent="0" marL="0">
              <a:buNone/>
            </a:pPr>
            <a:r>
              <a:rPr lang="en-US" sz="3400" b="1" dirty="0">
                <a:solidFill>
                  <a:srgbClr val="174A3A"/>
                </a:solidFill>
                <a:latin typeface="Cambria" pitchFamily="34" charset="0"/>
                <a:ea typeface="Cambria" pitchFamily="34" charset="-122"/>
                <a:cs typeface="Cambria" pitchFamily="34" charset="-120"/>
              </a:rPr>
              <a:t>De la crise à un nouvel élan</a:t>
            </a:r>
            <a:endParaRPr lang="en-US" sz="3400" dirty="0"/>
          </a:p>
        </p:txBody>
      </p:sp>
      <p:sp>
        <p:nvSpPr>
          <p:cNvPr id="4" name="Shape 2"/>
          <p:cNvSpPr/>
          <p:nvPr/>
        </p:nvSpPr>
        <p:spPr>
          <a:xfrm>
            <a:off x="548640" y="1600200"/>
            <a:ext cx="2103120" cy="4617720"/>
          </a:xfrm>
          <a:prstGeom prst="roundRect">
            <a:avLst>
              <a:gd name="adj" fmla="val 3478"/>
            </a:avLst>
          </a:prstGeom>
          <a:solidFill>
            <a:srgbClr val="FFFFFF"/>
          </a:solidFill>
          <a:ln w="12700">
            <a:solidFill>
              <a:srgbClr val="FFFFFF"/>
            </a:solidFill>
            <a:prstDash val="solid"/>
          </a:ln>
          <a:effectLst>
            <a:outerShdw sx="100000" sy="100000" kx="0" ky="0" algn="bl" rotWithShape="0" blurRad="101600" dist="38100" dir="5400000">
              <a:srgbClr val="000000">
                <a:alpha val="18000"/>
              </a:srgbClr>
            </a:outerShdw>
          </a:effectLst>
        </p:spPr>
      </p:sp>
      <p:sp>
        <p:nvSpPr>
          <p:cNvPr id="5" name="Shape 3"/>
          <p:cNvSpPr/>
          <p:nvPr/>
        </p:nvSpPr>
        <p:spPr>
          <a:xfrm>
            <a:off x="548640" y="1600200"/>
            <a:ext cx="2103120" cy="1554480"/>
          </a:xfrm>
          <a:prstGeom prst="rect">
            <a:avLst/>
          </a:prstGeom>
          <a:solidFill>
            <a:srgbClr val="F1F4F2"/>
          </a:solidFill>
          <a:ln w="12700">
            <a:solidFill>
              <a:srgbClr val="F1F4F2"/>
            </a:solidFill>
            <a:prstDash val="solid"/>
          </a:ln>
        </p:spPr>
      </p:sp>
      <p:sp>
        <p:nvSpPr>
          <p:cNvPr id="6" name="Text 4"/>
          <p:cNvSpPr txBox="1"/>
          <p:nvPr/>
        </p:nvSpPr>
        <p:spPr>
          <a:xfrm>
            <a:off x="548640" y="2011680"/>
            <a:ext cx="2103120" cy="731520"/>
          </a:xfrm>
          <a:prstGeom prst="rect">
            <a:avLst/>
          </a:prstGeom>
          <a:noFill/>
          <a:ln/>
        </p:spPr>
        <p:txBody>
          <a:bodyPr wrap="square" lIns="0" tIns="0" rIns="0" bIns="0" rtlCol="0" anchor="t"/>
          <a:lstStyle/>
          <a:p>
            <a:pPr algn="ctr" indent="0" marL="0">
              <a:buNone/>
            </a:pPr>
            <a:r>
              <a:rPr lang="en-US" sz="3000" b="1" dirty="0">
                <a:solidFill>
                  <a:srgbClr val="174A3A"/>
                </a:solidFill>
                <a:latin typeface="Cambria" pitchFamily="34" charset="0"/>
                <a:ea typeface="Cambria" pitchFamily="34" charset="-122"/>
                <a:cs typeface="Cambria" pitchFamily="34" charset="-120"/>
              </a:rPr>
              <a:t>78 Md €</a:t>
            </a:r>
            <a:endParaRPr lang="en-US" sz="3000" dirty="0"/>
          </a:p>
        </p:txBody>
      </p:sp>
      <p:sp>
        <p:nvSpPr>
          <p:cNvPr id="7" name="Text 5"/>
          <p:cNvSpPr txBox="1"/>
          <p:nvPr/>
        </p:nvSpPr>
        <p:spPr>
          <a:xfrm>
            <a:off x="685800" y="3520440"/>
            <a:ext cx="1828800" cy="594360"/>
          </a:xfrm>
          <a:prstGeom prst="rect">
            <a:avLst/>
          </a:prstGeom>
          <a:noFill/>
          <a:ln/>
        </p:spPr>
        <p:txBody>
          <a:bodyPr wrap="square" lIns="0" tIns="0" rIns="0" bIns="0" rtlCol="0" anchor="t"/>
          <a:lstStyle/>
          <a:p>
            <a:pPr indent="0" marL="0">
              <a:buNone/>
            </a:pPr>
            <a:r>
              <a:rPr lang="en-US" sz="1500" b="1" dirty="0">
                <a:solidFill>
                  <a:srgbClr val="174A3A"/>
                </a:solidFill>
                <a:latin typeface="Cambria" pitchFamily="34" charset="0"/>
                <a:ea typeface="Cambria" pitchFamily="34" charset="-122"/>
                <a:cs typeface="Cambria" pitchFamily="34" charset="-120"/>
              </a:rPr>
              <a:t>La crise de 2011</a:t>
            </a:r>
            <a:endParaRPr lang="en-US" sz="1500" dirty="0"/>
          </a:p>
        </p:txBody>
      </p:sp>
      <p:sp>
        <p:nvSpPr>
          <p:cNvPr id="8" name="Text 6"/>
          <p:cNvSpPr txBox="1"/>
          <p:nvPr/>
        </p:nvSpPr>
        <p:spPr>
          <a:xfrm>
            <a:off x="685800" y="4114800"/>
            <a:ext cx="1828800" cy="2011680"/>
          </a:xfrm>
          <a:prstGeom prst="rect">
            <a:avLst/>
          </a:prstGeom>
          <a:noFill/>
          <a:ln/>
        </p:spPr>
        <p:txBody>
          <a:bodyPr wrap="square" lIns="0" tIns="0" rIns="0" bIns="0" rtlCol="0" anchor="t">
            <a:normAutofit/>
          </a:bodyPr>
          <a:lstStyle/>
          <a:p>
            <a:pPr indent="0" marL="0">
              <a:buNone/>
            </a:pPr>
            <a:r>
              <a:rPr lang="en-US" sz="1100" dirty="0">
                <a:solidFill>
                  <a:srgbClr val="17211D"/>
                </a:solidFill>
                <a:latin typeface="Calibri" pitchFamily="34" charset="0"/>
                <a:ea typeface="Calibri" pitchFamily="34" charset="-122"/>
                <a:cs typeface="Calibri" pitchFamily="34" charset="-120"/>
              </a:rPr>
              <a:t>En pleine crise de la dette, le Portugal reçoit 78 milliards d'euros de l'UE et du FMI, en échange d'une forte austérité. Il sort du programme en 2014 et rembourse le FMI en avance, dès 2018.</a:t>
            </a:r>
            <a:endParaRPr lang="en-US" sz="1100" dirty="0"/>
          </a:p>
        </p:txBody>
      </p:sp>
      <p:sp>
        <p:nvSpPr>
          <p:cNvPr id="9" name="Shape 7"/>
          <p:cNvSpPr/>
          <p:nvPr/>
        </p:nvSpPr>
        <p:spPr>
          <a:xfrm>
            <a:off x="2788920" y="1600200"/>
            <a:ext cx="2103120" cy="4617720"/>
          </a:xfrm>
          <a:prstGeom prst="roundRect">
            <a:avLst>
              <a:gd name="adj" fmla="val 3478"/>
            </a:avLst>
          </a:prstGeom>
          <a:solidFill>
            <a:srgbClr val="FFFFFF"/>
          </a:solidFill>
          <a:ln w="12700">
            <a:solidFill>
              <a:srgbClr val="FFFFFF"/>
            </a:solidFill>
            <a:prstDash val="solid"/>
          </a:ln>
          <a:effectLst>
            <a:outerShdw sx="100000" sy="100000" kx="0" ky="0" algn="bl" rotWithShape="0" blurRad="101600" dist="38100" dir="5400000">
              <a:srgbClr val="000000">
                <a:alpha val="18000"/>
              </a:srgbClr>
            </a:outerShdw>
          </a:effectLst>
        </p:spPr>
      </p:sp>
      <p:pic>
        <p:nvPicPr>
          <p:cNvPr id="10" name="Image 0" descr="/home/user/Portugal-Website/images/photos/e-wind.jpg">    </p:cNvPr>
          <p:cNvPicPr>
            <a:picLocks noChangeAspect="1"/>
          </p:cNvPicPr>
          <p:nvPr/>
        </p:nvPicPr>
        <p:blipFill>
          <a:blip r:embed="rId1"/>
          <a:srcRect l="0" r="0" t="0" b="0"/>
          <a:stretch/>
        </p:blipFill>
        <p:spPr>
          <a:xfrm>
            <a:off x="2788920" y="1600200"/>
            <a:ext cx="2103120" cy="1554480"/>
          </a:xfrm>
          <a:prstGeom prst="rect">
            <a:avLst/>
          </a:prstGeom>
        </p:spPr>
      </p:pic>
      <p:sp>
        <p:nvSpPr>
          <p:cNvPr id="11" name="Text 8"/>
          <p:cNvSpPr txBox="1"/>
          <p:nvPr/>
        </p:nvSpPr>
        <p:spPr>
          <a:xfrm>
            <a:off x="2926080" y="3520440"/>
            <a:ext cx="1828800" cy="594360"/>
          </a:xfrm>
          <a:prstGeom prst="rect">
            <a:avLst/>
          </a:prstGeom>
          <a:noFill/>
          <a:ln/>
        </p:spPr>
        <p:txBody>
          <a:bodyPr wrap="square" lIns="0" tIns="0" rIns="0" bIns="0" rtlCol="0" anchor="t"/>
          <a:lstStyle/>
          <a:p>
            <a:pPr indent="0" marL="0">
              <a:buNone/>
            </a:pPr>
            <a:r>
              <a:rPr lang="en-US" sz="1500" b="1" dirty="0">
                <a:solidFill>
                  <a:srgbClr val="174A3A"/>
                </a:solidFill>
                <a:latin typeface="Cambria" pitchFamily="34" charset="0"/>
                <a:ea typeface="Cambria" pitchFamily="34" charset="-122"/>
                <a:cs typeface="Cambria" pitchFamily="34" charset="-120"/>
              </a:rPr>
              <a:t>Champion du renouvelable</a:t>
            </a:r>
            <a:endParaRPr lang="en-US" sz="1500" dirty="0"/>
          </a:p>
        </p:txBody>
      </p:sp>
      <p:sp>
        <p:nvSpPr>
          <p:cNvPr id="12" name="Text 9"/>
          <p:cNvSpPr txBox="1"/>
          <p:nvPr/>
        </p:nvSpPr>
        <p:spPr>
          <a:xfrm>
            <a:off x="2926080" y="4114800"/>
            <a:ext cx="1828800" cy="2011680"/>
          </a:xfrm>
          <a:prstGeom prst="rect">
            <a:avLst/>
          </a:prstGeom>
          <a:noFill/>
          <a:ln/>
        </p:spPr>
        <p:txBody>
          <a:bodyPr wrap="square" lIns="0" tIns="0" rIns="0" bIns="0" rtlCol="0" anchor="t">
            <a:normAutofit/>
          </a:bodyPr>
          <a:lstStyle/>
          <a:p>
            <a:pPr indent="0" marL="0">
              <a:buNone/>
            </a:pPr>
            <a:r>
              <a:rPr lang="en-US" sz="1100" dirty="0">
                <a:solidFill>
                  <a:srgbClr val="17211D"/>
                </a:solidFill>
                <a:latin typeface="Calibri" pitchFamily="34" charset="0"/>
                <a:ea typeface="Calibri" pitchFamily="34" charset="-122"/>
                <a:cs typeface="Calibri" pitchFamily="34" charset="-120"/>
              </a:rPr>
              <a:t>Environ 71 % de l'électricité consommée en 2024 venait d'énergies renouvelables : barrages, éoliennes et soleil.</a:t>
            </a:r>
            <a:endParaRPr lang="en-US" sz="1100" dirty="0"/>
          </a:p>
        </p:txBody>
      </p:sp>
      <p:sp>
        <p:nvSpPr>
          <p:cNvPr id="13" name="Shape 10"/>
          <p:cNvSpPr/>
          <p:nvPr/>
        </p:nvSpPr>
        <p:spPr>
          <a:xfrm>
            <a:off x="5029200" y="1600200"/>
            <a:ext cx="2103120" cy="4617720"/>
          </a:xfrm>
          <a:prstGeom prst="roundRect">
            <a:avLst>
              <a:gd name="adj" fmla="val 3478"/>
            </a:avLst>
          </a:prstGeom>
          <a:solidFill>
            <a:srgbClr val="FFFFFF"/>
          </a:solidFill>
          <a:ln w="12700">
            <a:solidFill>
              <a:srgbClr val="FFFFFF"/>
            </a:solidFill>
            <a:prstDash val="solid"/>
          </a:ln>
          <a:effectLst>
            <a:outerShdw sx="100000" sy="100000" kx="0" ky="0" algn="bl" rotWithShape="0" blurRad="101600" dist="38100" dir="5400000">
              <a:srgbClr val="000000">
                <a:alpha val="18000"/>
              </a:srgbClr>
            </a:outerShdw>
          </a:effectLst>
        </p:spPr>
      </p:sp>
      <p:pic>
        <p:nvPicPr>
          <p:cNvPr id="14" name="Image 1" descr="/home/user/Portugal-Website/images/photos/e-cork.jpg">    </p:cNvPr>
          <p:cNvPicPr>
            <a:picLocks noChangeAspect="1"/>
          </p:cNvPicPr>
          <p:nvPr/>
        </p:nvPicPr>
        <p:blipFill>
          <a:blip r:embed="rId2"/>
          <a:srcRect l="0" r="0" t="0" b="0"/>
          <a:stretch/>
        </p:blipFill>
        <p:spPr>
          <a:xfrm>
            <a:off x="5029200" y="1600200"/>
            <a:ext cx="2103120" cy="1554480"/>
          </a:xfrm>
          <a:prstGeom prst="rect">
            <a:avLst/>
          </a:prstGeom>
        </p:spPr>
      </p:pic>
      <p:sp>
        <p:nvSpPr>
          <p:cNvPr id="15" name="Text 11"/>
          <p:cNvSpPr txBox="1"/>
          <p:nvPr/>
        </p:nvSpPr>
        <p:spPr>
          <a:xfrm>
            <a:off x="5166360" y="3246120"/>
            <a:ext cx="1828800" cy="274320"/>
          </a:xfrm>
          <a:prstGeom prst="rect">
            <a:avLst/>
          </a:prstGeom>
          <a:noFill/>
          <a:ln/>
        </p:spPr>
        <p:txBody>
          <a:bodyPr wrap="square" lIns="0" tIns="0" rIns="0" bIns="0" rtlCol="0" anchor="t"/>
          <a:lstStyle/>
          <a:p>
            <a:pPr indent="0" marL="0">
              <a:buNone/>
            </a:pPr>
            <a:r>
              <a:rPr lang="en-US" sz="1100" b="1" i="1" dirty="0">
                <a:solidFill>
                  <a:srgbClr val="A83232"/>
                </a:solidFill>
                <a:latin typeface="Calibri" pitchFamily="34" charset="0"/>
                <a:ea typeface="Calibri" pitchFamily="34" charset="-122"/>
                <a:cs typeface="Calibri" pitchFamily="34" charset="-120"/>
              </a:rPr>
              <a:t>Cortiça</a:t>
            </a:r>
            <a:endParaRPr lang="en-US" sz="1100" dirty="0"/>
          </a:p>
        </p:txBody>
      </p:sp>
      <p:sp>
        <p:nvSpPr>
          <p:cNvPr id="16" name="Text 12"/>
          <p:cNvSpPr txBox="1"/>
          <p:nvPr/>
        </p:nvSpPr>
        <p:spPr>
          <a:xfrm>
            <a:off x="5166360" y="3520440"/>
            <a:ext cx="1828800" cy="594360"/>
          </a:xfrm>
          <a:prstGeom prst="rect">
            <a:avLst/>
          </a:prstGeom>
          <a:noFill/>
          <a:ln/>
        </p:spPr>
        <p:txBody>
          <a:bodyPr wrap="square" lIns="0" tIns="0" rIns="0" bIns="0" rtlCol="0" anchor="t"/>
          <a:lstStyle/>
          <a:p>
            <a:pPr indent="0" marL="0">
              <a:buNone/>
            </a:pPr>
            <a:r>
              <a:rPr lang="en-US" sz="1500" b="1" dirty="0">
                <a:solidFill>
                  <a:srgbClr val="174A3A"/>
                </a:solidFill>
                <a:latin typeface="Cambria" pitchFamily="34" charset="0"/>
                <a:ea typeface="Cambria" pitchFamily="34" charset="-122"/>
                <a:cs typeface="Cambria" pitchFamily="34" charset="-120"/>
              </a:rPr>
              <a:t>Le pays du liège</a:t>
            </a:r>
            <a:endParaRPr lang="en-US" sz="1500" dirty="0"/>
          </a:p>
        </p:txBody>
      </p:sp>
      <p:sp>
        <p:nvSpPr>
          <p:cNvPr id="17" name="Text 13"/>
          <p:cNvSpPr txBox="1"/>
          <p:nvPr/>
        </p:nvSpPr>
        <p:spPr>
          <a:xfrm>
            <a:off x="5166360" y="4114800"/>
            <a:ext cx="1828800" cy="2011680"/>
          </a:xfrm>
          <a:prstGeom prst="rect">
            <a:avLst/>
          </a:prstGeom>
          <a:noFill/>
          <a:ln/>
        </p:spPr>
        <p:txBody>
          <a:bodyPr wrap="square" lIns="0" tIns="0" rIns="0" bIns="0" rtlCol="0" anchor="t">
            <a:normAutofit/>
          </a:bodyPr>
          <a:lstStyle/>
          <a:p>
            <a:pPr indent="0" marL="0">
              <a:buNone/>
            </a:pPr>
            <a:r>
              <a:rPr lang="en-US" sz="1100" dirty="0">
                <a:solidFill>
                  <a:srgbClr val="17211D"/>
                </a:solidFill>
                <a:latin typeface="Calibri" pitchFamily="34" charset="0"/>
                <a:ea typeface="Calibri" pitchFamily="34" charset="-122"/>
                <a:cs typeface="Calibri" pitchFamily="34" charset="-120"/>
              </a:rPr>
              <a:t>Environ la moitié du liège mondial vient du Portugal. On écorce le chêne-liège à la main tous les 9 ans environ, sans abattre l'arbre.</a:t>
            </a:r>
            <a:endParaRPr lang="en-US" sz="1100" dirty="0"/>
          </a:p>
        </p:txBody>
      </p:sp>
      <p:sp>
        <p:nvSpPr>
          <p:cNvPr id="18" name="Shape 14"/>
          <p:cNvSpPr/>
          <p:nvPr/>
        </p:nvSpPr>
        <p:spPr>
          <a:xfrm>
            <a:off x="7269480" y="1600200"/>
            <a:ext cx="2103120" cy="4617720"/>
          </a:xfrm>
          <a:prstGeom prst="roundRect">
            <a:avLst>
              <a:gd name="adj" fmla="val 3478"/>
            </a:avLst>
          </a:prstGeom>
          <a:solidFill>
            <a:srgbClr val="FFFFFF"/>
          </a:solidFill>
          <a:ln w="12700">
            <a:solidFill>
              <a:srgbClr val="FFFFFF"/>
            </a:solidFill>
            <a:prstDash val="solid"/>
          </a:ln>
          <a:effectLst>
            <a:outerShdw sx="100000" sy="100000" kx="0" ky="0" algn="bl" rotWithShape="0" blurRad="101600" dist="38100" dir="5400000">
              <a:srgbClr val="000000">
                <a:alpha val="18000"/>
              </a:srgbClr>
            </a:outerShdw>
          </a:effectLst>
        </p:spPr>
      </p:sp>
      <p:pic>
        <p:nvPicPr>
          <p:cNvPr id="19" name="Image 2" descr="/home/user/Portugal-Website/images/photos/x-olival.jpg">    </p:cNvPr>
          <p:cNvPicPr>
            <a:picLocks noChangeAspect="1"/>
          </p:cNvPicPr>
          <p:nvPr/>
        </p:nvPicPr>
        <p:blipFill>
          <a:blip r:embed="rId3"/>
          <a:srcRect l="0" r="0" t="0" b="0"/>
          <a:stretch/>
        </p:blipFill>
        <p:spPr>
          <a:xfrm>
            <a:off x="7269480" y="1600200"/>
            <a:ext cx="2103120" cy="1554480"/>
          </a:xfrm>
          <a:prstGeom prst="rect">
            <a:avLst/>
          </a:prstGeom>
        </p:spPr>
      </p:pic>
      <p:sp>
        <p:nvSpPr>
          <p:cNvPr id="20" name="Text 15"/>
          <p:cNvSpPr txBox="1"/>
          <p:nvPr/>
        </p:nvSpPr>
        <p:spPr>
          <a:xfrm>
            <a:off x="7406640" y="3246120"/>
            <a:ext cx="1828800" cy="274320"/>
          </a:xfrm>
          <a:prstGeom prst="rect">
            <a:avLst/>
          </a:prstGeom>
          <a:noFill/>
          <a:ln/>
        </p:spPr>
        <p:txBody>
          <a:bodyPr wrap="square" lIns="0" tIns="0" rIns="0" bIns="0" rtlCol="0" anchor="t"/>
          <a:lstStyle/>
          <a:p>
            <a:pPr indent="0" marL="0">
              <a:buNone/>
            </a:pPr>
            <a:r>
              <a:rPr lang="en-US" sz="1100" b="1" i="1" dirty="0">
                <a:solidFill>
                  <a:srgbClr val="A83232"/>
                </a:solidFill>
                <a:latin typeface="Calibri" pitchFamily="34" charset="0"/>
                <a:ea typeface="Calibri" pitchFamily="34" charset="-122"/>
                <a:cs typeface="Calibri" pitchFamily="34" charset="-120"/>
              </a:rPr>
              <a:t>Azeite</a:t>
            </a:r>
            <a:endParaRPr lang="en-US" sz="1100" dirty="0"/>
          </a:p>
        </p:txBody>
      </p:sp>
      <p:sp>
        <p:nvSpPr>
          <p:cNvPr id="21" name="Text 16"/>
          <p:cNvSpPr txBox="1"/>
          <p:nvPr/>
        </p:nvSpPr>
        <p:spPr>
          <a:xfrm>
            <a:off x="7406640" y="3520440"/>
            <a:ext cx="1828800" cy="594360"/>
          </a:xfrm>
          <a:prstGeom prst="rect">
            <a:avLst/>
          </a:prstGeom>
          <a:noFill/>
          <a:ln/>
        </p:spPr>
        <p:txBody>
          <a:bodyPr wrap="square" lIns="0" tIns="0" rIns="0" bIns="0" rtlCol="0" anchor="t"/>
          <a:lstStyle/>
          <a:p>
            <a:pPr indent="0" marL="0">
              <a:buNone/>
            </a:pPr>
            <a:r>
              <a:rPr lang="en-US" sz="1500" b="1" dirty="0">
                <a:solidFill>
                  <a:srgbClr val="174A3A"/>
                </a:solidFill>
                <a:latin typeface="Cambria" pitchFamily="34" charset="0"/>
                <a:ea typeface="Cambria" pitchFamily="34" charset="-122"/>
                <a:cs typeface="Cambria" pitchFamily="34" charset="-120"/>
              </a:rPr>
              <a:t>L'or vert</a:t>
            </a:r>
            <a:endParaRPr lang="en-US" sz="1500" dirty="0"/>
          </a:p>
        </p:txBody>
      </p:sp>
      <p:sp>
        <p:nvSpPr>
          <p:cNvPr id="22" name="Text 17"/>
          <p:cNvSpPr txBox="1"/>
          <p:nvPr/>
        </p:nvSpPr>
        <p:spPr>
          <a:xfrm>
            <a:off x="7406640" y="4114800"/>
            <a:ext cx="1828800" cy="2011680"/>
          </a:xfrm>
          <a:prstGeom prst="rect">
            <a:avLst/>
          </a:prstGeom>
          <a:noFill/>
          <a:ln/>
        </p:spPr>
        <p:txBody>
          <a:bodyPr wrap="square" lIns="0" tIns="0" rIns="0" bIns="0" rtlCol="0" anchor="t">
            <a:normAutofit/>
          </a:bodyPr>
          <a:lstStyle/>
          <a:p>
            <a:pPr indent="0" marL="0">
              <a:buNone/>
            </a:pPr>
            <a:r>
              <a:rPr lang="en-US" sz="1100" dirty="0">
                <a:solidFill>
                  <a:srgbClr val="17211D"/>
                </a:solidFill>
                <a:latin typeface="Calibri" pitchFamily="34" charset="0"/>
                <a:ea typeface="Calibri" pitchFamily="34" charset="-122"/>
                <a:cs typeface="Calibri" pitchFamily="34" charset="-120"/>
              </a:rPr>
              <a:t>Le Portugal compte parmi les dix plus grands producteurs d'huile d'olive au monde, surtout grâce à l'Alentejo. Sur la table portugaise, l'azeite est partout : sur la morue, les légumes, ou simplement avec du pain.</a:t>
            </a:r>
            <a:endParaRPr lang="en-US" sz="1100" dirty="0"/>
          </a:p>
        </p:txBody>
      </p:sp>
      <p:sp>
        <p:nvSpPr>
          <p:cNvPr id="23" name="Shape 18"/>
          <p:cNvSpPr/>
          <p:nvPr/>
        </p:nvSpPr>
        <p:spPr>
          <a:xfrm>
            <a:off x="9509760" y="1600200"/>
            <a:ext cx="2103120" cy="4617720"/>
          </a:xfrm>
          <a:prstGeom prst="roundRect">
            <a:avLst>
              <a:gd name="adj" fmla="val 3478"/>
            </a:avLst>
          </a:prstGeom>
          <a:solidFill>
            <a:srgbClr val="FFFFFF"/>
          </a:solidFill>
          <a:ln w="12700">
            <a:solidFill>
              <a:srgbClr val="FFFFFF"/>
            </a:solidFill>
            <a:prstDash val="solid"/>
          </a:ln>
          <a:effectLst>
            <a:outerShdw sx="100000" sy="100000" kx="0" ky="0" algn="bl" rotWithShape="0" blurRad="101600" dist="38100" dir="5400000">
              <a:srgbClr val="000000">
                <a:alpha val="18000"/>
              </a:srgbClr>
            </a:outerShdw>
          </a:effectLst>
        </p:spPr>
      </p:sp>
      <p:sp>
        <p:nvSpPr>
          <p:cNvPr id="24" name="Shape 19"/>
          <p:cNvSpPr/>
          <p:nvPr/>
        </p:nvSpPr>
        <p:spPr>
          <a:xfrm>
            <a:off x="9509760" y="1600200"/>
            <a:ext cx="2103120" cy="1554480"/>
          </a:xfrm>
          <a:prstGeom prst="rect">
            <a:avLst/>
          </a:prstGeom>
          <a:solidFill>
            <a:srgbClr val="EAF0F8"/>
          </a:solidFill>
          <a:ln w="12700">
            <a:solidFill>
              <a:srgbClr val="F1F4F2"/>
            </a:solidFill>
            <a:prstDash val="solid"/>
          </a:ln>
        </p:spPr>
      </p:sp>
      <p:sp>
        <p:nvSpPr>
          <p:cNvPr id="25" name="Text 20"/>
          <p:cNvSpPr txBox="1"/>
          <p:nvPr/>
        </p:nvSpPr>
        <p:spPr>
          <a:xfrm>
            <a:off x="9509760" y="2011680"/>
            <a:ext cx="2103120" cy="731520"/>
          </a:xfrm>
          <a:prstGeom prst="rect">
            <a:avLst/>
          </a:prstGeom>
          <a:noFill/>
          <a:ln/>
        </p:spPr>
        <p:txBody>
          <a:bodyPr wrap="square" lIns="0" tIns="0" rIns="0" bIns="0" rtlCol="0" anchor="t"/>
          <a:lstStyle/>
          <a:p>
            <a:pPr algn="ctr" indent="0" marL="0">
              <a:buNone/>
            </a:pPr>
            <a:r>
              <a:rPr lang="en-US" sz="3000" b="1" dirty="0">
                <a:solidFill>
                  <a:srgbClr val="174A3A"/>
                </a:solidFill>
                <a:latin typeface="Cambria" pitchFamily="34" charset="0"/>
                <a:ea typeface="Cambria" pitchFamily="34" charset="-122"/>
                <a:cs typeface="Cambria" pitchFamily="34" charset="-120"/>
              </a:rPr>
              <a:t>1,5 M</a:t>
            </a:r>
            <a:endParaRPr lang="en-US" sz="3000" dirty="0"/>
          </a:p>
        </p:txBody>
      </p:sp>
      <p:sp>
        <p:nvSpPr>
          <p:cNvPr id="26" name="Text 21"/>
          <p:cNvSpPr txBox="1"/>
          <p:nvPr/>
        </p:nvSpPr>
        <p:spPr>
          <a:xfrm>
            <a:off x="9646920" y="3520440"/>
            <a:ext cx="1828800" cy="594360"/>
          </a:xfrm>
          <a:prstGeom prst="rect">
            <a:avLst/>
          </a:prstGeom>
          <a:noFill/>
          <a:ln/>
        </p:spPr>
        <p:txBody>
          <a:bodyPr wrap="square" lIns="0" tIns="0" rIns="0" bIns="0" rtlCol="0" anchor="t"/>
          <a:lstStyle/>
          <a:p>
            <a:pPr indent="0" marL="0">
              <a:buNone/>
            </a:pPr>
            <a:r>
              <a:rPr lang="en-US" sz="1500" b="1" dirty="0">
                <a:solidFill>
                  <a:srgbClr val="174A3A"/>
                </a:solidFill>
                <a:latin typeface="Cambria" pitchFamily="34" charset="0"/>
                <a:ea typeface="Cambria" pitchFamily="34" charset="-122"/>
                <a:cs typeface="Cambria" pitchFamily="34" charset="-120"/>
              </a:rPr>
              <a:t>Terre d'accueil</a:t>
            </a:r>
            <a:endParaRPr lang="en-US" sz="1500" dirty="0"/>
          </a:p>
        </p:txBody>
      </p:sp>
      <p:sp>
        <p:nvSpPr>
          <p:cNvPr id="27" name="Text 22"/>
          <p:cNvSpPr txBox="1"/>
          <p:nvPr/>
        </p:nvSpPr>
        <p:spPr>
          <a:xfrm>
            <a:off x="9646920" y="4114800"/>
            <a:ext cx="1828800" cy="2011680"/>
          </a:xfrm>
          <a:prstGeom prst="rect">
            <a:avLst/>
          </a:prstGeom>
          <a:noFill/>
          <a:ln/>
        </p:spPr>
        <p:txBody>
          <a:bodyPr wrap="square" lIns="0" tIns="0" rIns="0" bIns="0" rtlCol="0" anchor="t">
            <a:normAutofit/>
          </a:bodyPr>
          <a:lstStyle/>
          <a:p>
            <a:pPr indent="0" marL="0">
              <a:buNone/>
            </a:pPr>
            <a:r>
              <a:rPr lang="en-US" sz="1100" dirty="0">
                <a:solidFill>
                  <a:srgbClr val="17211D"/>
                </a:solidFill>
                <a:latin typeface="Calibri" pitchFamily="34" charset="0"/>
                <a:ea typeface="Calibri" pitchFamily="34" charset="-122"/>
                <a:cs typeface="Calibri" pitchFamily="34" charset="-120"/>
              </a:rPr>
              <a:t>Longtemps pays d'émigration, le Portugal attire aujourd'hui : plus de 1,5 million d'étrangers y vivaient fin 2024, surtout des Brésiliens.</a:t>
            </a:r>
            <a:endParaRPr lang="en-US" sz="110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18D"/>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548640" y="411480"/>
            <a:ext cx="10972800" cy="274320"/>
          </a:xfrm>
          <a:prstGeom prst="rect">
            <a:avLst/>
          </a:prstGeom>
          <a:noFill/>
          <a:ln/>
        </p:spPr>
        <p:txBody>
          <a:bodyPr wrap="square" lIns="0" tIns="0" rIns="0" bIns="0" rtlCol="0" anchor="t"/>
          <a:lstStyle/>
          <a:p>
            <a:pPr indent="0" marL="0">
              <a:buNone/>
            </a:pPr>
            <a:r>
              <a:rPr lang="en-US" sz="1200" b="1" spc="300" kern="0" dirty="0">
                <a:solidFill>
                  <a:srgbClr val="A83232"/>
                </a:solidFill>
                <a:latin typeface="Calibri" pitchFamily="34" charset="0"/>
                <a:ea typeface="Calibri" pitchFamily="34" charset="-122"/>
                <a:cs typeface="Calibri" pitchFamily="34" charset="-120"/>
              </a:rPr>
              <a:t>UN PAYS PIONNIER</a:t>
            </a:r>
            <a:endParaRPr lang="en-US" sz="1200" dirty="0"/>
          </a:p>
        </p:txBody>
      </p:sp>
      <p:sp>
        <p:nvSpPr>
          <p:cNvPr id="3" name="Text 1"/>
          <p:cNvSpPr txBox="1"/>
          <p:nvPr/>
        </p:nvSpPr>
        <p:spPr>
          <a:xfrm>
            <a:off x="548640" y="685800"/>
            <a:ext cx="10972800" cy="685800"/>
          </a:xfrm>
          <a:prstGeom prst="rect">
            <a:avLst/>
          </a:prstGeom>
          <a:noFill/>
          <a:ln/>
        </p:spPr>
        <p:txBody>
          <a:bodyPr wrap="square" lIns="0" tIns="0" rIns="0" bIns="0" rtlCol="0" anchor="t"/>
          <a:lstStyle/>
          <a:p>
            <a:pPr indent="0" marL="0">
              <a:buNone/>
            </a:pPr>
            <a:r>
              <a:rPr lang="en-US" sz="3400" b="1" dirty="0">
                <a:solidFill>
                  <a:srgbClr val="174A3A"/>
                </a:solidFill>
                <a:latin typeface="Cambria" pitchFamily="34" charset="0"/>
                <a:ea typeface="Cambria" pitchFamily="34" charset="-122"/>
                <a:cs typeface="Cambria" pitchFamily="34" charset="-120"/>
              </a:rPr>
              <a:t>Des choix qui ont fait école</a:t>
            </a:r>
            <a:endParaRPr lang="en-US" sz="3400" dirty="0"/>
          </a:p>
        </p:txBody>
      </p:sp>
      <p:sp>
        <p:nvSpPr>
          <p:cNvPr id="4" name="Shape 2"/>
          <p:cNvSpPr/>
          <p:nvPr/>
        </p:nvSpPr>
        <p:spPr>
          <a:xfrm>
            <a:off x="548640" y="1600200"/>
            <a:ext cx="2624328" cy="2514600"/>
          </a:xfrm>
          <a:prstGeom prst="roundRect">
            <a:avLst>
              <a:gd name="adj" fmla="val 2909"/>
            </a:avLst>
          </a:prstGeom>
          <a:solidFill>
            <a:srgbClr val="F1F4F2"/>
          </a:solidFill>
          <a:ln w="12700">
            <a:solidFill>
              <a:srgbClr val="F1F4F2"/>
            </a:solidFill>
            <a:prstDash val="solid"/>
          </a:ln>
          <a:effectLst>
            <a:outerShdw sx="100000" sy="100000" kx="0" ky="0" algn="bl" rotWithShape="0" blurRad="101600" dist="38100" dir="5400000">
              <a:srgbClr val="000000">
                <a:alpha val="18000"/>
              </a:srgbClr>
            </a:outerShdw>
          </a:effectLst>
        </p:spPr>
      </p:sp>
      <p:sp>
        <p:nvSpPr>
          <p:cNvPr id="5" name="Text 3"/>
          <p:cNvSpPr txBox="1"/>
          <p:nvPr/>
        </p:nvSpPr>
        <p:spPr>
          <a:xfrm>
            <a:off x="731520" y="1737360"/>
            <a:ext cx="2286000" cy="685800"/>
          </a:xfrm>
          <a:prstGeom prst="rect">
            <a:avLst/>
          </a:prstGeom>
          <a:noFill/>
          <a:ln/>
        </p:spPr>
        <p:txBody>
          <a:bodyPr wrap="square" lIns="0" tIns="0" rIns="0" bIns="0" rtlCol="0" anchor="t"/>
          <a:lstStyle/>
          <a:p>
            <a:pPr indent="0" marL="0">
              <a:buNone/>
            </a:pPr>
            <a:r>
              <a:rPr lang="en-US" sz="3800" b="1" dirty="0">
                <a:solidFill>
                  <a:srgbClr val="174A3A"/>
                </a:solidFill>
                <a:latin typeface="Cambria" pitchFamily="34" charset="0"/>
                <a:ea typeface="Cambria" pitchFamily="34" charset="-122"/>
                <a:cs typeface="Cambria" pitchFamily="34" charset="-120"/>
              </a:rPr>
              <a:t>1867</a:t>
            </a:r>
            <a:endParaRPr lang="en-US" sz="3800" dirty="0"/>
          </a:p>
        </p:txBody>
      </p:sp>
      <p:sp>
        <p:nvSpPr>
          <p:cNvPr id="6" name="Text 4"/>
          <p:cNvSpPr txBox="1"/>
          <p:nvPr/>
        </p:nvSpPr>
        <p:spPr>
          <a:xfrm>
            <a:off x="731520" y="2468880"/>
            <a:ext cx="2286000" cy="1554480"/>
          </a:xfrm>
          <a:prstGeom prst="rect">
            <a:avLst/>
          </a:prstGeom>
          <a:noFill/>
          <a:ln/>
        </p:spPr>
        <p:txBody>
          <a:bodyPr wrap="square" lIns="0" tIns="0" rIns="0" bIns="0" rtlCol="0" anchor="t">
            <a:normAutofit/>
          </a:bodyPr>
          <a:lstStyle/>
          <a:p>
            <a:pPr indent="0" marL="0">
              <a:buNone/>
            </a:pPr>
            <a:r>
              <a:rPr lang="en-US" sz="1200" dirty="0">
                <a:solidFill>
                  <a:srgbClr val="17211D"/>
                </a:solidFill>
                <a:latin typeface="Calibri" pitchFamily="34" charset="0"/>
                <a:ea typeface="Calibri" pitchFamily="34" charset="-122"/>
                <a:cs typeface="Calibri" pitchFamily="34" charset="-120"/>
              </a:rPr>
              <a:t>L'un des premiers pays au monde à abolir la peine de mort pour les crimes civils. Victor Hugo félicite alors le Portugal d'être à l'avant-garde de l'Europe.</a:t>
            </a:r>
            <a:endParaRPr lang="en-US" sz="1200" dirty="0"/>
          </a:p>
        </p:txBody>
      </p:sp>
      <p:sp>
        <p:nvSpPr>
          <p:cNvPr id="7" name="Shape 5"/>
          <p:cNvSpPr/>
          <p:nvPr/>
        </p:nvSpPr>
        <p:spPr>
          <a:xfrm>
            <a:off x="3355848" y="1600200"/>
            <a:ext cx="2624328" cy="2514600"/>
          </a:xfrm>
          <a:prstGeom prst="roundRect">
            <a:avLst>
              <a:gd name="adj" fmla="val 2909"/>
            </a:avLst>
          </a:prstGeom>
          <a:solidFill>
            <a:srgbClr val="F1F4F2"/>
          </a:solidFill>
          <a:ln w="12700">
            <a:solidFill>
              <a:srgbClr val="F1F4F2"/>
            </a:solidFill>
            <a:prstDash val="solid"/>
          </a:ln>
          <a:effectLst>
            <a:outerShdw sx="100000" sy="100000" kx="0" ky="0" algn="bl" rotWithShape="0" blurRad="101600" dist="38100" dir="5400000">
              <a:srgbClr val="000000">
                <a:alpha val="18000"/>
              </a:srgbClr>
            </a:outerShdw>
          </a:effectLst>
        </p:spPr>
      </p:sp>
      <p:sp>
        <p:nvSpPr>
          <p:cNvPr id="8" name="Text 6"/>
          <p:cNvSpPr txBox="1"/>
          <p:nvPr/>
        </p:nvSpPr>
        <p:spPr>
          <a:xfrm>
            <a:off x="3538728" y="1737360"/>
            <a:ext cx="2286000" cy="685800"/>
          </a:xfrm>
          <a:prstGeom prst="rect">
            <a:avLst/>
          </a:prstGeom>
          <a:noFill/>
          <a:ln/>
        </p:spPr>
        <p:txBody>
          <a:bodyPr wrap="square" lIns="0" tIns="0" rIns="0" bIns="0" rtlCol="0" anchor="t"/>
          <a:lstStyle/>
          <a:p>
            <a:pPr indent="0" marL="0">
              <a:buNone/>
            </a:pPr>
            <a:r>
              <a:rPr lang="en-US" sz="3800" b="1" dirty="0">
                <a:solidFill>
                  <a:srgbClr val="A83232"/>
                </a:solidFill>
                <a:latin typeface="Cambria" pitchFamily="34" charset="0"/>
                <a:ea typeface="Cambria" pitchFamily="34" charset="-122"/>
                <a:cs typeface="Cambria" pitchFamily="34" charset="-120"/>
              </a:rPr>
              <a:t>2001</a:t>
            </a:r>
            <a:endParaRPr lang="en-US" sz="3800" dirty="0"/>
          </a:p>
        </p:txBody>
      </p:sp>
      <p:sp>
        <p:nvSpPr>
          <p:cNvPr id="9" name="Text 7"/>
          <p:cNvSpPr txBox="1"/>
          <p:nvPr/>
        </p:nvSpPr>
        <p:spPr>
          <a:xfrm>
            <a:off x="3538728" y="2468880"/>
            <a:ext cx="2286000" cy="1554480"/>
          </a:xfrm>
          <a:prstGeom prst="rect">
            <a:avLst/>
          </a:prstGeom>
          <a:noFill/>
          <a:ln/>
        </p:spPr>
        <p:txBody>
          <a:bodyPr wrap="square" lIns="0" tIns="0" rIns="0" bIns="0" rtlCol="0" anchor="t">
            <a:normAutofit/>
          </a:bodyPr>
          <a:lstStyle/>
          <a:p>
            <a:pPr indent="0" marL="0">
              <a:buNone/>
            </a:pPr>
            <a:r>
              <a:rPr lang="en-US" sz="1200" dirty="0">
                <a:solidFill>
                  <a:srgbClr val="17211D"/>
                </a:solidFill>
                <a:latin typeface="Calibri" pitchFamily="34" charset="0"/>
                <a:ea typeface="Calibri" pitchFamily="34" charset="-122"/>
                <a:cs typeface="Calibri" pitchFamily="34" charset="-120"/>
              </a:rPr>
              <a:t>Dépénalisation de la consommation de toutes les drogues : les consommateurs sont orientés vers les soins plutôt que vers la prison. Le trafic reste un crime, et les contaminations au VIH liées aux seringues chutent fortement.</a:t>
            </a:r>
            <a:endParaRPr lang="en-US" sz="1200" dirty="0"/>
          </a:p>
        </p:txBody>
      </p:sp>
      <p:sp>
        <p:nvSpPr>
          <p:cNvPr id="10" name="Shape 8"/>
          <p:cNvSpPr/>
          <p:nvPr/>
        </p:nvSpPr>
        <p:spPr>
          <a:xfrm>
            <a:off x="6163056" y="1600200"/>
            <a:ext cx="2624328" cy="2514600"/>
          </a:xfrm>
          <a:prstGeom prst="roundRect">
            <a:avLst>
              <a:gd name="adj" fmla="val 2909"/>
            </a:avLst>
          </a:prstGeom>
          <a:solidFill>
            <a:srgbClr val="F1F4F2"/>
          </a:solidFill>
          <a:ln w="12700">
            <a:solidFill>
              <a:srgbClr val="F1F4F2"/>
            </a:solidFill>
            <a:prstDash val="solid"/>
          </a:ln>
          <a:effectLst>
            <a:outerShdw sx="100000" sy="100000" kx="0" ky="0" algn="bl" rotWithShape="0" blurRad="101600" dist="38100" dir="5400000">
              <a:srgbClr val="000000">
                <a:alpha val="18000"/>
              </a:srgbClr>
            </a:outerShdw>
          </a:effectLst>
        </p:spPr>
      </p:sp>
      <p:sp>
        <p:nvSpPr>
          <p:cNvPr id="11" name="Text 9"/>
          <p:cNvSpPr txBox="1"/>
          <p:nvPr/>
        </p:nvSpPr>
        <p:spPr>
          <a:xfrm>
            <a:off x="6345936" y="1737360"/>
            <a:ext cx="2286000" cy="685800"/>
          </a:xfrm>
          <a:prstGeom prst="rect">
            <a:avLst/>
          </a:prstGeom>
          <a:noFill/>
          <a:ln/>
        </p:spPr>
        <p:txBody>
          <a:bodyPr wrap="square" lIns="0" tIns="0" rIns="0" bIns="0" rtlCol="0" anchor="t"/>
          <a:lstStyle/>
          <a:p>
            <a:pPr indent="0" marL="0">
              <a:buNone/>
            </a:pPr>
            <a:r>
              <a:rPr lang="en-US" sz="3800" b="1" dirty="0">
                <a:solidFill>
                  <a:srgbClr val="1E4F8F"/>
                </a:solidFill>
                <a:latin typeface="Cambria" pitchFamily="34" charset="0"/>
                <a:ea typeface="Cambria" pitchFamily="34" charset="-122"/>
                <a:cs typeface="Cambria" pitchFamily="34" charset="-120"/>
              </a:rPr>
              <a:t>2010</a:t>
            </a:r>
            <a:endParaRPr lang="en-US" sz="3800" dirty="0"/>
          </a:p>
        </p:txBody>
      </p:sp>
      <p:sp>
        <p:nvSpPr>
          <p:cNvPr id="12" name="Text 10"/>
          <p:cNvSpPr txBox="1"/>
          <p:nvPr/>
        </p:nvSpPr>
        <p:spPr>
          <a:xfrm>
            <a:off x="6345936" y="2468880"/>
            <a:ext cx="2286000" cy="1554480"/>
          </a:xfrm>
          <a:prstGeom prst="rect">
            <a:avLst/>
          </a:prstGeom>
          <a:noFill/>
          <a:ln/>
        </p:spPr>
        <p:txBody>
          <a:bodyPr wrap="square" lIns="0" tIns="0" rIns="0" bIns="0" rtlCol="0" anchor="t">
            <a:normAutofit/>
          </a:bodyPr>
          <a:lstStyle/>
          <a:p>
            <a:pPr indent="0" marL="0">
              <a:buNone/>
            </a:pPr>
            <a:r>
              <a:rPr lang="en-US" sz="1200" dirty="0">
                <a:solidFill>
                  <a:srgbClr val="17211D"/>
                </a:solidFill>
                <a:latin typeface="Calibri" pitchFamily="34" charset="0"/>
                <a:ea typeface="Calibri" pitchFamily="34" charset="-122"/>
                <a:cs typeface="Calibri" pitchFamily="34" charset="-120"/>
              </a:rPr>
              <a:t>Le mariage est ouvert aux couples de même sexe.</a:t>
            </a:r>
            <a:endParaRPr lang="en-US" sz="1200" dirty="0"/>
          </a:p>
        </p:txBody>
      </p:sp>
      <p:sp>
        <p:nvSpPr>
          <p:cNvPr id="13" name="Shape 11"/>
          <p:cNvSpPr/>
          <p:nvPr/>
        </p:nvSpPr>
        <p:spPr>
          <a:xfrm>
            <a:off x="8970264" y="1600200"/>
            <a:ext cx="2624328" cy="2514600"/>
          </a:xfrm>
          <a:prstGeom prst="roundRect">
            <a:avLst>
              <a:gd name="adj" fmla="val 2909"/>
            </a:avLst>
          </a:prstGeom>
          <a:solidFill>
            <a:srgbClr val="F1F4F2"/>
          </a:solidFill>
          <a:ln w="12700">
            <a:solidFill>
              <a:srgbClr val="F1F4F2"/>
            </a:solidFill>
            <a:prstDash val="solid"/>
          </a:ln>
          <a:effectLst>
            <a:outerShdw sx="100000" sy="100000" kx="0" ky="0" algn="bl" rotWithShape="0" blurRad="101600" dist="38100" dir="5400000">
              <a:srgbClr val="000000">
                <a:alpha val="18000"/>
              </a:srgbClr>
            </a:outerShdw>
          </a:effectLst>
        </p:spPr>
      </p:sp>
      <p:sp>
        <p:nvSpPr>
          <p:cNvPr id="14" name="Text 12"/>
          <p:cNvSpPr txBox="1"/>
          <p:nvPr/>
        </p:nvSpPr>
        <p:spPr>
          <a:xfrm>
            <a:off x="9153144" y="1737360"/>
            <a:ext cx="2286000" cy="685800"/>
          </a:xfrm>
          <a:prstGeom prst="rect">
            <a:avLst/>
          </a:prstGeom>
          <a:noFill/>
          <a:ln/>
        </p:spPr>
        <p:txBody>
          <a:bodyPr wrap="square" lIns="0" tIns="0" rIns="0" bIns="0" rtlCol="0" anchor="t"/>
          <a:lstStyle/>
          <a:p>
            <a:pPr indent="0" marL="0">
              <a:buNone/>
            </a:pPr>
            <a:r>
              <a:rPr lang="en-US" sz="3800" b="1" dirty="0">
                <a:solidFill>
                  <a:srgbClr val="B8955A"/>
                </a:solidFill>
                <a:latin typeface="Cambria" pitchFamily="34" charset="0"/>
                <a:ea typeface="Cambria" pitchFamily="34" charset="-122"/>
                <a:cs typeface="Cambria" pitchFamily="34" charset="-120"/>
              </a:rPr>
              <a:t>7e</a:t>
            </a:r>
            <a:endParaRPr lang="en-US" sz="3800" dirty="0"/>
          </a:p>
        </p:txBody>
      </p:sp>
      <p:sp>
        <p:nvSpPr>
          <p:cNvPr id="15" name="Text 13"/>
          <p:cNvSpPr txBox="1"/>
          <p:nvPr/>
        </p:nvSpPr>
        <p:spPr>
          <a:xfrm>
            <a:off x="9153144" y="2468880"/>
            <a:ext cx="2286000" cy="1554480"/>
          </a:xfrm>
          <a:prstGeom prst="rect">
            <a:avLst/>
          </a:prstGeom>
          <a:noFill/>
          <a:ln/>
        </p:spPr>
        <p:txBody>
          <a:bodyPr wrap="square" lIns="0" tIns="0" rIns="0" bIns="0" rtlCol="0" anchor="t">
            <a:normAutofit/>
          </a:bodyPr>
          <a:lstStyle/>
          <a:p>
            <a:pPr indent="0" marL="0">
              <a:buNone/>
            </a:pPr>
            <a:r>
              <a:rPr lang="en-US" sz="1200" dirty="0">
                <a:solidFill>
                  <a:srgbClr val="17211D"/>
                </a:solidFill>
                <a:latin typeface="Calibri" pitchFamily="34" charset="0"/>
                <a:ea typeface="Calibri" pitchFamily="34" charset="-122"/>
                <a:cs typeface="Calibri" pitchFamily="34" charset="-120"/>
              </a:rPr>
              <a:t>pays le plus pacifique du monde selon le Global Peace Index 2025, et dans le top 10 depuis 2015.</a:t>
            </a:r>
            <a:endParaRPr lang="en-US" sz="1200" dirty="0"/>
          </a:p>
        </p:txBody>
      </p:sp>
      <p:sp>
        <p:nvSpPr>
          <p:cNvPr id="16" name="Text 14"/>
          <p:cNvSpPr txBox="1"/>
          <p:nvPr/>
        </p:nvSpPr>
        <p:spPr>
          <a:xfrm>
            <a:off x="548640" y="4389120"/>
            <a:ext cx="10972800" cy="457200"/>
          </a:xfrm>
          <a:prstGeom prst="rect">
            <a:avLst/>
          </a:prstGeom>
          <a:noFill/>
          <a:ln/>
        </p:spPr>
        <p:txBody>
          <a:bodyPr wrap="square" lIns="0" tIns="0" rIns="0" bIns="0" rtlCol="0" anchor="t"/>
          <a:lstStyle/>
          <a:p>
            <a:pPr indent="0" marL="0">
              <a:buNone/>
            </a:pPr>
            <a:r>
              <a:rPr lang="en-US" sz="2200" b="1" dirty="0">
                <a:solidFill>
                  <a:srgbClr val="174A3A"/>
                </a:solidFill>
                <a:latin typeface="Cambria" pitchFamily="34" charset="0"/>
                <a:ea typeface="Cambria" pitchFamily="34" charset="-122"/>
                <a:cs typeface="Cambria" pitchFamily="34" charset="-120"/>
              </a:rPr>
              <a:t>Un petit pays, une grande voix</a:t>
            </a:r>
            <a:endParaRPr lang="en-US" sz="2200" dirty="0"/>
          </a:p>
        </p:txBody>
      </p:sp>
      <p:sp>
        <p:nvSpPr>
          <p:cNvPr id="17" name="Text 15"/>
          <p:cNvSpPr txBox="1"/>
          <p:nvPr/>
        </p:nvSpPr>
        <p:spPr>
          <a:xfrm>
            <a:off x="548640" y="4937760"/>
            <a:ext cx="2651760" cy="411480"/>
          </a:xfrm>
          <a:prstGeom prst="rect">
            <a:avLst/>
          </a:prstGeom>
          <a:noFill/>
          <a:ln/>
        </p:spPr>
        <p:txBody>
          <a:bodyPr wrap="square" lIns="0" tIns="0" rIns="0" bIns="0" rtlCol="0" anchor="t"/>
          <a:lstStyle/>
          <a:p>
            <a:pPr indent="0" marL="0">
              <a:buNone/>
            </a:pPr>
            <a:r>
              <a:rPr lang="en-US" sz="1800" b="1" dirty="0">
                <a:solidFill>
                  <a:srgbClr val="B8955A"/>
                </a:solidFill>
                <a:latin typeface="Cambria" pitchFamily="34" charset="0"/>
                <a:ea typeface="Cambria" pitchFamily="34" charset="-122"/>
                <a:cs typeface="Cambria" pitchFamily="34" charset="-120"/>
              </a:rPr>
              <a:t>OTAN</a:t>
            </a:r>
            <a:endParaRPr lang="en-US" sz="1800" dirty="0"/>
          </a:p>
        </p:txBody>
      </p:sp>
      <p:sp>
        <p:nvSpPr>
          <p:cNvPr id="18" name="Text 16"/>
          <p:cNvSpPr txBox="1"/>
          <p:nvPr/>
        </p:nvSpPr>
        <p:spPr>
          <a:xfrm>
            <a:off x="548640" y="5349240"/>
            <a:ext cx="2624328" cy="914400"/>
          </a:xfrm>
          <a:prstGeom prst="rect">
            <a:avLst/>
          </a:prstGeom>
          <a:noFill/>
          <a:ln/>
        </p:spPr>
        <p:txBody>
          <a:bodyPr wrap="square" lIns="0" tIns="0" rIns="0" bIns="0" rtlCol="0" anchor="t"/>
          <a:lstStyle/>
          <a:p>
            <a:pPr indent="0" marL="0">
              <a:buNone/>
            </a:pPr>
            <a:r>
              <a:rPr lang="en-US" sz="1200" dirty="0">
                <a:solidFill>
                  <a:srgbClr val="17211D"/>
                </a:solidFill>
                <a:latin typeface="Calibri" pitchFamily="34" charset="0"/>
                <a:ea typeface="Calibri" pitchFamily="34" charset="-122"/>
                <a:cs typeface="Calibri" pitchFamily="34" charset="-120"/>
              </a:rPr>
              <a:t>Membre fondateur en 1949.</a:t>
            </a:r>
            <a:endParaRPr lang="en-US" sz="1200" dirty="0"/>
          </a:p>
        </p:txBody>
      </p:sp>
      <p:sp>
        <p:nvSpPr>
          <p:cNvPr id="19" name="Text 17"/>
          <p:cNvSpPr txBox="1"/>
          <p:nvPr/>
        </p:nvSpPr>
        <p:spPr>
          <a:xfrm>
            <a:off x="3355848" y="4937760"/>
            <a:ext cx="2651760" cy="411480"/>
          </a:xfrm>
          <a:prstGeom prst="rect">
            <a:avLst/>
          </a:prstGeom>
          <a:noFill/>
          <a:ln/>
        </p:spPr>
        <p:txBody>
          <a:bodyPr wrap="square" lIns="0" tIns="0" rIns="0" bIns="0" rtlCol="0" anchor="t"/>
          <a:lstStyle/>
          <a:p>
            <a:pPr indent="0" marL="0">
              <a:buNone/>
            </a:pPr>
            <a:r>
              <a:rPr lang="en-US" sz="1800" b="1" dirty="0">
                <a:solidFill>
                  <a:srgbClr val="B8955A"/>
                </a:solidFill>
                <a:latin typeface="Cambria" pitchFamily="34" charset="0"/>
                <a:ea typeface="Cambria" pitchFamily="34" charset="-122"/>
                <a:cs typeface="Cambria" pitchFamily="34" charset="-120"/>
              </a:rPr>
              <a:t>Union européenne</a:t>
            </a:r>
            <a:endParaRPr lang="en-US" sz="1800" dirty="0"/>
          </a:p>
        </p:txBody>
      </p:sp>
      <p:sp>
        <p:nvSpPr>
          <p:cNvPr id="20" name="Text 18"/>
          <p:cNvSpPr txBox="1"/>
          <p:nvPr/>
        </p:nvSpPr>
        <p:spPr>
          <a:xfrm>
            <a:off x="3355848" y="5349240"/>
            <a:ext cx="2624328" cy="914400"/>
          </a:xfrm>
          <a:prstGeom prst="rect">
            <a:avLst/>
          </a:prstGeom>
          <a:noFill/>
          <a:ln/>
        </p:spPr>
        <p:txBody>
          <a:bodyPr wrap="square" lIns="0" tIns="0" rIns="0" bIns="0" rtlCol="0" anchor="t"/>
          <a:lstStyle/>
          <a:p>
            <a:pPr indent="0" marL="0">
              <a:buNone/>
            </a:pPr>
            <a:r>
              <a:rPr lang="en-US" sz="1200" dirty="0">
                <a:solidFill>
                  <a:srgbClr val="17211D"/>
                </a:solidFill>
                <a:latin typeface="Calibri" pitchFamily="34" charset="0"/>
                <a:ea typeface="Calibri" pitchFamily="34" charset="-122"/>
                <a:cs typeface="Calibri" pitchFamily="34" charset="-120"/>
              </a:rPr>
              <a:t>Membre depuis 1986. António Costa préside le Conseil européen depuis 2024.</a:t>
            </a:r>
            <a:endParaRPr lang="en-US" sz="1200" dirty="0"/>
          </a:p>
        </p:txBody>
      </p:sp>
      <p:sp>
        <p:nvSpPr>
          <p:cNvPr id="21" name="Text 19"/>
          <p:cNvSpPr txBox="1"/>
          <p:nvPr/>
        </p:nvSpPr>
        <p:spPr>
          <a:xfrm>
            <a:off x="6163056" y="4937760"/>
            <a:ext cx="2651760" cy="411480"/>
          </a:xfrm>
          <a:prstGeom prst="rect">
            <a:avLst/>
          </a:prstGeom>
          <a:noFill/>
          <a:ln/>
        </p:spPr>
        <p:txBody>
          <a:bodyPr wrap="square" lIns="0" tIns="0" rIns="0" bIns="0" rtlCol="0" anchor="t"/>
          <a:lstStyle/>
          <a:p>
            <a:pPr indent="0" marL="0">
              <a:buNone/>
            </a:pPr>
            <a:r>
              <a:rPr lang="en-US" sz="1800" b="1" dirty="0">
                <a:solidFill>
                  <a:srgbClr val="B8955A"/>
                </a:solidFill>
                <a:latin typeface="Cambria" pitchFamily="34" charset="0"/>
                <a:ea typeface="Cambria" pitchFamily="34" charset="-122"/>
                <a:cs typeface="Cambria" pitchFamily="34" charset="-120"/>
              </a:rPr>
              <a:t>ONU</a:t>
            </a:r>
            <a:endParaRPr lang="en-US" sz="1800" dirty="0"/>
          </a:p>
        </p:txBody>
      </p:sp>
      <p:sp>
        <p:nvSpPr>
          <p:cNvPr id="22" name="Text 20"/>
          <p:cNvSpPr txBox="1"/>
          <p:nvPr/>
        </p:nvSpPr>
        <p:spPr>
          <a:xfrm>
            <a:off x="6163056" y="5349240"/>
            <a:ext cx="2624328" cy="914400"/>
          </a:xfrm>
          <a:prstGeom prst="rect">
            <a:avLst/>
          </a:prstGeom>
          <a:noFill/>
          <a:ln/>
        </p:spPr>
        <p:txBody>
          <a:bodyPr wrap="square" lIns="0" tIns="0" rIns="0" bIns="0" rtlCol="0" anchor="t"/>
          <a:lstStyle/>
          <a:p>
            <a:pPr indent="0" marL="0">
              <a:buNone/>
            </a:pPr>
            <a:r>
              <a:rPr lang="en-US" sz="1200" dirty="0">
                <a:solidFill>
                  <a:srgbClr val="17211D"/>
                </a:solidFill>
                <a:latin typeface="Calibri" pitchFamily="34" charset="0"/>
                <a:ea typeface="Calibri" pitchFamily="34" charset="-122"/>
                <a:cs typeface="Calibri" pitchFamily="34" charset="-120"/>
              </a:rPr>
              <a:t>António Guterres, ancien Premier ministre portugais, est secrétaire général de l'ONU depuis 2017.</a:t>
            </a:r>
            <a:endParaRPr lang="en-US" sz="1200" dirty="0"/>
          </a:p>
        </p:txBody>
      </p:sp>
      <p:sp>
        <p:nvSpPr>
          <p:cNvPr id="23" name="Text 21"/>
          <p:cNvSpPr txBox="1"/>
          <p:nvPr/>
        </p:nvSpPr>
        <p:spPr>
          <a:xfrm>
            <a:off x="8970264" y="4937760"/>
            <a:ext cx="2651760" cy="411480"/>
          </a:xfrm>
          <a:prstGeom prst="rect">
            <a:avLst/>
          </a:prstGeom>
          <a:noFill/>
          <a:ln/>
        </p:spPr>
        <p:txBody>
          <a:bodyPr wrap="square" lIns="0" tIns="0" rIns="0" bIns="0" rtlCol="0" anchor="t"/>
          <a:lstStyle/>
          <a:p>
            <a:pPr indent="0" marL="0">
              <a:buNone/>
            </a:pPr>
            <a:r>
              <a:rPr lang="en-US" sz="1800" b="1" dirty="0">
                <a:solidFill>
                  <a:srgbClr val="B8955A"/>
                </a:solidFill>
                <a:latin typeface="Cambria" pitchFamily="34" charset="0"/>
                <a:ea typeface="Cambria" pitchFamily="34" charset="-122"/>
                <a:cs typeface="Cambria" pitchFamily="34" charset="-120"/>
              </a:rPr>
              <a:t>CPLP</a:t>
            </a:r>
            <a:endParaRPr lang="en-US" sz="1800" dirty="0"/>
          </a:p>
        </p:txBody>
      </p:sp>
      <p:sp>
        <p:nvSpPr>
          <p:cNvPr id="24" name="Text 22"/>
          <p:cNvSpPr txBox="1"/>
          <p:nvPr/>
        </p:nvSpPr>
        <p:spPr>
          <a:xfrm>
            <a:off x="8970264" y="5349240"/>
            <a:ext cx="2624328" cy="914400"/>
          </a:xfrm>
          <a:prstGeom prst="rect">
            <a:avLst/>
          </a:prstGeom>
          <a:noFill/>
          <a:ln/>
        </p:spPr>
        <p:txBody>
          <a:bodyPr wrap="square" lIns="0" tIns="0" rIns="0" bIns="0" rtlCol="0" anchor="t"/>
          <a:lstStyle/>
          <a:p>
            <a:pPr indent="0" marL="0">
              <a:buNone/>
            </a:pPr>
            <a:r>
              <a:rPr lang="en-US" sz="1200" dirty="0">
                <a:solidFill>
                  <a:srgbClr val="17211D"/>
                </a:solidFill>
                <a:latin typeface="Calibri" pitchFamily="34" charset="0"/>
                <a:ea typeface="Calibri" pitchFamily="34" charset="-122"/>
                <a:cs typeface="Calibri" pitchFamily="34" charset="-120"/>
              </a:rPr>
              <a:t>La Communauté des pays de langue portugaise réunit 9 pays sur 4 continents.</a:t>
            </a:r>
            <a:endParaRPr lang="en-US" sz="120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18D"/>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Image 0" descr="/home/user/Portugal-Website/images/photos/hero-cult.jpg">    </p:cNvPr>
          <p:cNvPicPr>
            <a:picLocks noChangeAspect="1"/>
          </p:cNvPicPr>
          <p:nvPr/>
        </p:nvPicPr>
        <p:blipFill>
          <a:blip r:embed="rId1"/>
          <a:srcRect l="0" r="0" t="0" b="0"/>
          <a:stretch/>
        </p:blipFill>
        <p:spPr>
          <a:xfrm>
            <a:off x="0" y="0"/>
            <a:ext cx="12191695" cy="6858000"/>
          </a:xfrm>
          <a:prstGeom prst="rect">
            <a:avLst/>
          </a:prstGeom>
        </p:spPr>
      </p:pic>
      <p:sp>
        <p:nvSpPr>
          <p:cNvPr id="3" name="Shape 0"/>
          <p:cNvSpPr/>
          <p:nvPr/>
        </p:nvSpPr>
        <p:spPr>
          <a:xfrm>
            <a:off x="0" y="0"/>
            <a:ext cx="6766560" cy="6858000"/>
          </a:xfrm>
          <a:prstGeom prst="rect">
            <a:avLst/>
          </a:prstGeom>
          <a:solidFill>
            <a:srgbClr val="08140F">
              <a:alpha val="70000"/>
            </a:srgbClr>
          </a:solidFill>
          <a:ln w="12700">
            <a:solidFill>
              <a:srgbClr val="08140F">
                <a:alpha val="0"/>
              </a:srgbClr>
            </a:solidFill>
            <a:prstDash val="solid"/>
          </a:ln>
        </p:spPr>
      </p:sp>
      <p:sp>
        <p:nvSpPr>
          <p:cNvPr id="4" name="Text 1"/>
          <p:cNvSpPr txBox="1"/>
          <p:nvPr/>
        </p:nvSpPr>
        <p:spPr>
          <a:xfrm>
            <a:off x="822960" y="1828800"/>
            <a:ext cx="4572000" cy="365760"/>
          </a:xfrm>
          <a:prstGeom prst="rect">
            <a:avLst/>
          </a:prstGeom>
          <a:noFill/>
          <a:ln/>
        </p:spPr>
        <p:txBody>
          <a:bodyPr wrap="square" lIns="0" tIns="0" rIns="0" bIns="0" rtlCol="0" anchor="t"/>
          <a:lstStyle/>
          <a:p>
            <a:pPr indent="0" marL="0">
              <a:buNone/>
            </a:pPr>
            <a:r>
              <a:rPr lang="en-US" sz="1600" b="1" spc="300" kern="0" dirty="0">
                <a:solidFill>
                  <a:srgbClr val="F2C14E"/>
                </a:solidFill>
                <a:latin typeface="Calibri" pitchFamily="34" charset="0"/>
                <a:ea typeface="Calibri" pitchFamily="34" charset="-122"/>
                <a:cs typeface="Calibri" pitchFamily="34" charset="-120"/>
              </a:rPr>
              <a:t>04 / 08</a:t>
            </a:r>
            <a:endParaRPr lang="en-US" sz="1600" dirty="0"/>
          </a:p>
        </p:txBody>
      </p:sp>
      <p:sp>
        <p:nvSpPr>
          <p:cNvPr id="5" name="Text 2"/>
          <p:cNvSpPr txBox="1"/>
          <p:nvPr/>
        </p:nvSpPr>
        <p:spPr>
          <a:xfrm>
            <a:off x="822960" y="2240280"/>
            <a:ext cx="5760720" cy="1280160"/>
          </a:xfrm>
          <a:prstGeom prst="rect">
            <a:avLst/>
          </a:prstGeom>
          <a:noFill/>
          <a:ln/>
        </p:spPr>
        <p:txBody>
          <a:bodyPr wrap="square" lIns="0" tIns="0" rIns="0" bIns="0" rtlCol="0" anchor="t">
            <a:normAutofit/>
          </a:bodyPr>
          <a:lstStyle/>
          <a:p>
            <a:pPr indent="0" marL="0">
              <a:buNone/>
            </a:pPr>
            <a:r>
              <a:rPr lang="en-US" sz="6000" b="1" dirty="0">
                <a:solidFill>
                  <a:srgbClr val="FFFFFF"/>
                </a:solidFill>
                <a:latin typeface="Cambria" pitchFamily="34" charset="0"/>
                <a:ea typeface="Cambria" pitchFamily="34" charset="-122"/>
                <a:cs typeface="Cambria" pitchFamily="34" charset="-120"/>
              </a:rPr>
              <a:t>Culture &amp; gastronomie</a:t>
            </a:r>
            <a:endParaRPr lang="en-US" sz="6000" dirty="0"/>
          </a:p>
        </p:txBody>
      </p:sp>
      <p:sp>
        <p:nvSpPr>
          <p:cNvPr id="6" name="Text 3"/>
          <p:cNvSpPr txBox="1"/>
          <p:nvPr/>
        </p:nvSpPr>
        <p:spPr>
          <a:xfrm>
            <a:off x="822960" y="3611880"/>
            <a:ext cx="5486400" cy="914400"/>
          </a:xfrm>
          <a:prstGeom prst="rect">
            <a:avLst/>
          </a:prstGeom>
          <a:noFill/>
          <a:ln/>
        </p:spPr>
        <p:txBody>
          <a:bodyPr wrap="square" lIns="0" tIns="0" rIns="0" bIns="0" rtlCol="0" anchor="t"/>
          <a:lstStyle/>
          <a:p>
            <a:pPr indent="0" marL="0">
              <a:buNone/>
            </a:pPr>
            <a:r>
              <a:rPr lang="en-US" sz="2400" i="1" dirty="0">
                <a:solidFill>
                  <a:srgbClr val="FFFFFF"/>
                </a:solidFill>
                <a:latin typeface="Cambria" pitchFamily="34" charset="0"/>
                <a:ea typeface="Cambria" pitchFamily="34" charset="-122"/>
                <a:cs typeface="Cambria" pitchFamily="34" charset="-120"/>
              </a:rPr>
              <a:t>Fado, azulejos et saveurs de l'Atlantique</a:t>
            </a:r>
            <a:endParaRPr lang="en-US" sz="2400" dirty="0"/>
          </a:p>
        </p:txBody>
      </p:sp>
      <p:sp>
        <p:nvSpPr>
          <p:cNvPr id="7" name="Text 4"/>
          <p:cNvSpPr txBox="1"/>
          <p:nvPr/>
        </p:nvSpPr>
        <p:spPr>
          <a:xfrm>
            <a:off x="822960" y="4572000"/>
            <a:ext cx="5120640" cy="1005840"/>
          </a:xfrm>
          <a:prstGeom prst="rect">
            <a:avLst/>
          </a:prstGeom>
          <a:noFill/>
          <a:ln/>
        </p:spPr>
        <p:txBody>
          <a:bodyPr wrap="square" lIns="0" tIns="0" rIns="0" bIns="0" rtlCol="0" anchor="t"/>
          <a:lstStyle/>
          <a:p>
            <a:pPr indent="0" marL="0">
              <a:buNone/>
            </a:pPr>
            <a:r>
              <a:rPr lang="en-US" sz="1500" dirty="0">
                <a:solidFill>
                  <a:srgbClr val="E6ECE8"/>
                </a:solidFill>
                <a:latin typeface="Calibri" pitchFamily="34" charset="0"/>
                <a:ea typeface="Calibri" pitchFamily="34" charset="-122"/>
                <a:cs typeface="Calibri" pitchFamily="34" charset="-120"/>
              </a:rPr>
              <a:t>Une culture façonnée par la mer, la musique et la table, transmise de génération en génération.</a:t>
            </a:r>
            <a:endParaRPr lang="en-US" sz="15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548640" y="411480"/>
            <a:ext cx="10972800" cy="274320"/>
          </a:xfrm>
          <a:prstGeom prst="rect">
            <a:avLst/>
          </a:prstGeom>
          <a:noFill/>
          <a:ln/>
        </p:spPr>
        <p:txBody>
          <a:bodyPr wrap="square" lIns="0" tIns="0" rIns="0" bIns="0" rtlCol="0" anchor="t"/>
          <a:lstStyle/>
          <a:p>
            <a:pPr indent="0" marL="0">
              <a:buNone/>
            </a:pPr>
            <a:r>
              <a:rPr lang="en-US" sz="1200" b="1" spc="300" kern="0" dirty="0">
                <a:solidFill>
                  <a:srgbClr val="A83232"/>
                </a:solidFill>
                <a:latin typeface="Calibri" pitchFamily="34" charset="0"/>
                <a:ea typeface="Calibri" pitchFamily="34" charset="-122"/>
                <a:cs typeface="Calibri" pitchFamily="34" charset="-120"/>
              </a:rPr>
              <a:t>ARTS &amp; PATRIMOINE</a:t>
            </a:r>
            <a:endParaRPr lang="en-US" sz="1200" dirty="0"/>
          </a:p>
        </p:txBody>
      </p:sp>
      <p:sp>
        <p:nvSpPr>
          <p:cNvPr id="3" name="Text 1"/>
          <p:cNvSpPr txBox="1"/>
          <p:nvPr/>
        </p:nvSpPr>
        <p:spPr>
          <a:xfrm>
            <a:off x="548640" y="685800"/>
            <a:ext cx="10972800" cy="685800"/>
          </a:xfrm>
          <a:prstGeom prst="rect">
            <a:avLst/>
          </a:prstGeom>
          <a:noFill/>
          <a:ln/>
        </p:spPr>
        <p:txBody>
          <a:bodyPr wrap="square" lIns="0" tIns="0" rIns="0" bIns="0" rtlCol="0" anchor="t"/>
          <a:lstStyle/>
          <a:p>
            <a:pPr indent="0" marL="0">
              <a:buNone/>
            </a:pPr>
            <a:r>
              <a:rPr lang="en-US" sz="3400" b="1" dirty="0">
                <a:solidFill>
                  <a:srgbClr val="174A3A"/>
                </a:solidFill>
                <a:latin typeface="Cambria" pitchFamily="34" charset="0"/>
                <a:ea typeface="Cambria" pitchFamily="34" charset="-122"/>
                <a:cs typeface="Cambria" pitchFamily="34" charset="-120"/>
              </a:rPr>
              <a:t>L'âme portugaise</a:t>
            </a:r>
            <a:endParaRPr lang="en-US" sz="3400" dirty="0"/>
          </a:p>
        </p:txBody>
      </p:sp>
      <p:sp>
        <p:nvSpPr>
          <p:cNvPr id="4" name="Shape 2"/>
          <p:cNvSpPr/>
          <p:nvPr/>
        </p:nvSpPr>
        <p:spPr>
          <a:xfrm>
            <a:off x="548640" y="1600200"/>
            <a:ext cx="2624328" cy="4617720"/>
          </a:xfrm>
          <a:prstGeom prst="roundRect">
            <a:avLst>
              <a:gd name="adj" fmla="val 2787"/>
            </a:avLst>
          </a:prstGeom>
          <a:solidFill>
            <a:srgbClr val="FFFFFF"/>
          </a:solidFill>
          <a:ln w="12700">
            <a:solidFill>
              <a:srgbClr val="FFFFFF"/>
            </a:solidFill>
            <a:prstDash val="solid"/>
          </a:ln>
          <a:effectLst>
            <a:outerShdw sx="100000" sy="100000" kx="0" ky="0" algn="bl" rotWithShape="0" blurRad="101600" dist="38100" dir="5400000">
              <a:srgbClr val="000000">
                <a:alpha val="18000"/>
              </a:srgbClr>
            </a:outerShdw>
          </a:effectLst>
        </p:spPr>
      </p:sp>
      <p:pic>
        <p:nvPicPr>
          <p:cNvPr id="5" name="Image 0" descr="/home/user/Portugal-Website/images/photos/c-fado.jpg">    </p:cNvPr>
          <p:cNvPicPr>
            <a:picLocks noChangeAspect="1"/>
          </p:cNvPicPr>
          <p:nvPr/>
        </p:nvPicPr>
        <p:blipFill>
          <a:blip r:embed="rId1"/>
          <a:srcRect l="0" r="0" t="0" b="0"/>
          <a:stretch/>
        </p:blipFill>
        <p:spPr>
          <a:xfrm>
            <a:off x="548640" y="1600200"/>
            <a:ext cx="2624328" cy="2103120"/>
          </a:xfrm>
          <a:prstGeom prst="rect">
            <a:avLst/>
          </a:prstGeom>
        </p:spPr>
      </p:pic>
      <p:sp>
        <p:nvSpPr>
          <p:cNvPr id="6" name="Text 3"/>
          <p:cNvSpPr txBox="1"/>
          <p:nvPr/>
        </p:nvSpPr>
        <p:spPr>
          <a:xfrm>
            <a:off x="731520" y="3840480"/>
            <a:ext cx="2286000" cy="457200"/>
          </a:xfrm>
          <a:prstGeom prst="rect">
            <a:avLst/>
          </a:prstGeom>
          <a:noFill/>
          <a:ln/>
        </p:spPr>
        <p:txBody>
          <a:bodyPr wrap="square" lIns="0" tIns="0" rIns="0" bIns="0" rtlCol="0" anchor="t"/>
          <a:lstStyle/>
          <a:p>
            <a:pPr indent="0" marL="0">
              <a:buNone/>
            </a:pPr>
            <a:r>
              <a:rPr lang="en-US" sz="1900" b="1" dirty="0">
                <a:solidFill>
                  <a:srgbClr val="174A3A"/>
                </a:solidFill>
                <a:latin typeface="Cambria" pitchFamily="34" charset="0"/>
                <a:ea typeface="Cambria" pitchFamily="34" charset="-122"/>
                <a:cs typeface="Cambria" pitchFamily="34" charset="-120"/>
              </a:rPr>
              <a:t>Le fado</a:t>
            </a:r>
            <a:endParaRPr lang="en-US" sz="1900" dirty="0"/>
          </a:p>
        </p:txBody>
      </p:sp>
      <p:sp>
        <p:nvSpPr>
          <p:cNvPr id="7" name="Text 4"/>
          <p:cNvSpPr txBox="1"/>
          <p:nvPr/>
        </p:nvSpPr>
        <p:spPr>
          <a:xfrm>
            <a:off x="731520" y="4343400"/>
            <a:ext cx="2286000" cy="1783080"/>
          </a:xfrm>
          <a:prstGeom prst="rect">
            <a:avLst/>
          </a:prstGeom>
          <a:noFill/>
          <a:ln/>
        </p:spPr>
        <p:txBody>
          <a:bodyPr wrap="square" lIns="0" tIns="0" rIns="0" bIns="0" rtlCol="0" anchor="t"/>
          <a:lstStyle/>
          <a:p>
            <a:pPr indent="0" marL="0">
              <a:buNone/>
            </a:pPr>
            <a:r>
              <a:rPr lang="en-US" sz="1300" dirty="0">
                <a:solidFill>
                  <a:srgbClr val="17211D"/>
                </a:solidFill>
                <a:latin typeface="Calibri" pitchFamily="34" charset="0"/>
                <a:ea typeface="Calibri" pitchFamily="34" charset="-122"/>
                <a:cs typeface="Calibri" pitchFamily="34" charset="-120"/>
              </a:rPr>
              <a:t>Chant mélancolique accompagné de la guitare portugaise. Amália Rodrigues en est la grande voix. Patrimoine immatériel de l'UNESCO depuis 2011.</a:t>
            </a:r>
            <a:endParaRPr lang="en-US" sz="1300" dirty="0"/>
          </a:p>
        </p:txBody>
      </p:sp>
      <p:sp>
        <p:nvSpPr>
          <p:cNvPr id="8" name="Shape 5"/>
          <p:cNvSpPr/>
          <p:nvPr/>
        </p:nvSpPr>
        <p:spPr>
          <a:xfrm>
            <a:off x="3355848" y="1600200"/>
            <a:ext cx="2624328" cy="4617720"/>
          </a:xfrm>
          <a:prstGeom prst="roundRect">
            <a:avLst>
              <a:gd name="adj" fmla="val 2787"/>
            </a:avLst>
          </a:prstGeom>
          <a:solidFill>
            <a:srgbClr val="FFFFFF"/>
          </a:solidFill>
          <a:ln w="12700">
            <a:solidFill>
              <a:srgbClr val="FFFFFF"/>
            </a:solidFill>
            <a:prstDash val="solid"/>
          </a:ln>
          <a:effectLst>
            <a:outerShdw sx="100000" sy="100000" kx="0" ky="0" algn="bl" rotWithShape="0" blurRad="101600" dist="38100" dir="5400000">
              <a:srgbClr val="000000">
                <a:alpha val="18000"/>
              </a:srgbClr>
            </a:outerShdw>
          </a:effectLst>
        </p:spPr>
      </p:sp>
      <p:pic>
        <p:nvPicPr>
          <p:cNvPr id="9" name="Image 1" descr="/home/user/Portugal-Website/images/photos/c-azulejo.jpg">    </p:cNvPr>
          <p:cNvPicPr>
            <a:picLocks noChangeAspect="1"/>
          </p:cNvPicPr>
          <p:nvPr/>
        </p:nvPicPr>
        <p:blipFill>
          <a:blip r:embed="rId2"/>
          <a:srcRect l="0" r="0" t="0" b="0"/>
          <a:stretch/>
        </p:blipFill>
        <p:spPr>
          <a:xfrm>
            <a:off x="3355848" y="1600200"/>
            <a:ext cx="2624328" cy="2103120"/>
          </a:xfrm>
          <a:prstGeom prst="rect">
            <a:avLst/>
          </a:prstGeom>
        </p:spPr>
      </p:pic>
      <p:sp>
        <p:nvSpPr>
          <p:cNvPr id="10" name="Text 6"/>
          <p:cNvSpPr txBox="1"/>
          <p:nvPr/>
        </p:nvSpPr>
        <p:spPr>
          <a:xfrm>
            <a:off x="3538728" y="3840480"/>
            <a:ext cx="2286000" cy="457200"/>
          </a:xfrm>
          <a:prstGeom prst="rect">
            <a:avLst/>
          </a:prstGeom>
          <a:noFill/>
          <a:ln/>
        </p:spPr>
        <p:txBody>
          <a:bodyPr wrap="square" lIns="0" tIns="0" rIns="0" bIns="0" rtlCol="0" anchor="t"/>
          <a:lstStyle/>
          <a:p>
            <a:pPr indent="0" marL="0">
              <a:buNone/>
            </a:pPr>
            <a:r>
              <a:rPr lang="en-US" sz="1900" b="1" dirty="0">
                <a:solidFill>
                  <a:srgbClr val="174A3A"/>
                </a:solidFill>
                <a:latin typeface="Cambria" pitchFamily="34" charset="0"/>
                <a:ea typeface="Cambria" pitchFamily="34" charset="-122"/>
                <a:cs typeface="Cambria" pitchFamily="34" charset="-120"/>
              </a:rPr>
              <a:t>Les azulejos</a:t>
            </a:r>
            <a:endParaRPr lang="en-US" sz="1900" dirty="0"/>
          </a:p>
        </p:txBody>
      </p:sp>
      <p:sp>
        <p:nvSpPr>
          <p:cNvPr id="11" name="Text 7"/>
          <p:cNvSpPr txBox="1"/>
          <p:nvPr/>
        </p:nvSpPr>
        <p:spPr>
          <a:xfrm>
            <a:off x="3538728" y="4343400"/>
            <a:ext cx="2286000" cy="1783080"/>
          </a:xfrm>
          <a:prstGeom prst="rect">
            <a:avLst/>
          </a:prstGeom>
          <a:noFill/>
          <a:ln/>
        </p:spPr>
        <p:txBody>
          <a:bodyPr wrap="square" lIns="0" tIns="0" rIns="0" bIns="0" rtlCol="0" anchor="t"/>
          <a:lstStyle/>
          <a:p>
            <a:pPr indent="0" marL="0">
              <a:buNone/>
            </a:pPr>
            <a:r>
              <a:rPr lang="en-US" sz="1300" dirty="0">
                <a:solidFill>
                  <a:srgbClr val="17211D"/>
                </a:solidFill>
                <a:latin typeface="Calibri" pitchFamily="34" charset="0"/>
                <a:ea typeface="Calibri" pitchFamily="34" charset="-122"/>
                <a:cs typeface="Calibri" pitchFamily="34" charset="-120"/>
              </a:rPr>
              <a:t>Carreaux de faïence peints, souvent bleus et blancs, qui décorent églises, gares et façades.</a:t>
            </a:r>
            <a:endParaRPr lang="en-US" sz="1300" dirty="0"/>
          </a:p>
        </p:txBody>
      </p:sp>
      <p:sp>
        <p:nvSpPr>
          <p:cNvPr id="12" name="Shape 8"/>
          <p:cNvSpPr/>
          <p:nvPr/>
        </p:nvSpPr>
        <p:spPr>
          <a:xfrm>
            <a:off x="6163056" y="1600200"/>
            <a:ext cx="2624328" cy="4617720"/>
          </a:xfrm>
          <a:prstGeom prst="roundRect">
            <a:avLst>
              <a:gd name="adj" fmla="val 2787"/>
            </a:avLst>
          </a:prstGeom>
          <a:solidFill>
            <a:srgbClr val="FFFFFF"/>
          </a:solidFill>
          <a:ln w="12700">
            <a:solidFill>
              <a:srgbClr val="FFFFFF"/>
            </a:solidFill>
            <a:prstDash val="solid"/>
          </a:ln>
          <a:effectLst>
            <a:outerShdw sx="100000" sy="100000" kx="0" ky="0" algn="bl" rotWithShape="0" blurRad="101600" dist="38100" dir="5400000">
              <a:srgbClr val="000000">
                <a:alpha val="18000"/>
              </a:srgbClr>
            </a:outerShdw>
          </a:effectLst>
        </p:spPr>
      </p:sp>
      <p:pic>
        <p:nvPicPr>
          <p:cNvPr id="13" name="Image 2" descr="/home/user/Portugal-Website/images/photos/c-manuelino.jpg">    </p:cNvPr>
          <p:cNvPicPr>
            <a:picLocks noChangeAspect="1"/>
          </p:cNvPicPr>
          <p:nvPr/>
        </p:nvPicPr>
        <p:blipFill>
          <a:blip r:embed="rId3"/>
          <a:srcRect l="0" r="0" t="0" b="0"/>
          <a:stretch/>
        </p:blipFill>
        <p:spPr>
          <a:xfrm>
            <a:off x="6163056" y="1600200"/>
            <a:ext cx="2624328" cy="2103120"/>
          </a:xfrm>
          <a:prstGeom prst="rect">
            <a:avLst/>
          </a:prstGeom>
        </p:spPr>
      </p:pic>
      <p:sp>
        <p:nvSpPr>
          <p:cNvPr id="14" name="Text 9"/>
          <p:cNvSpPr txBox="1"/>
          <p:nvPr/>
        </p:nvSpPr>
        <p:spPr>
          <a:xfrm>
            <a:off x="6345936" y="3840480"/>
            <a:ext cx="2286000" cy="457200"/>
          </a:xfrm>
          <a:prstGeom prst="rect">
            <a:avLst/>
          </a:prstGeom>
          <a:noFill/>
          <a:ln/>
        </p:spPr>
        <p:txBody>
          <a:bodyPr wrap="square" lIns="0" tIns="0" rIns="0" bIns="0" rtlCol="0" anchor="t"/>
          <a:lstStyle/>
          <a:p>
            <a:pPr indent="0" marL="0">
              <a:buNone/>
            </a:pPr>
            <a:r>
              <a:rPr lang="en-US" sz="1900" b="1" dirty="0">
                <a:solidFill>
                  <a:srgbClr val="174A3A"/>
                </a:solidFill>
                <a:latin typeface="Cambria" pitchFamily="34" charset="0"/>
                <a:ea typeface="Cambria" pitchFamily="34" charset="-122"/>
                <a:cs typeface="Cambria" pitchFamily="34" charset="-120"/>
              </a:rPr>
              <a:t>L'art manuélin</a:t>
            </a:r>
            <a:endParaRPr lang="en-US" sz="1900" dirty="0"/>
          </a:p>
        </p:txBody>
      </p:sp>
      <p:sp>
        <p:nvSpPr>
          <p:cNvPr id="15" name="Text 10"/>
          <p:cNvSpPr txBox="1"/>
          <p:nvPr/>
        </p:nvSpPr>
        <p:spPr>
          <a:xfrm>
            <a:off x="6345936" y="4343400"/>
            <a:ext cx="2286000" cy="1783080"/>
          </a:xfrm>
          <a:prstGeom prst="rect">
            <a:avLst/>
          </a:prstGeom>
          <a:noFill/>
          <a:ln/>
        </p:spPr>
        <p:txBody>
          <a:bodyPr wrap="square" lIns="0" tIns="0" rIns="0" bIns="0" rtlCol="0" anchor="t"/>
          <a:lstStyle/>
          <a:p>
            <a:pPr indent="0" marL="0">
              <a:buNone/>
            </a:pPr>
            <a:r>
              <a:rPr lang="en-US" sz="1300" dirty="0">
                <a:solidFill>
                  <a:srgbClr val="17211D"/>
                </a:solidFill>
                <a:latin typeface="Calibri" pitchFamily="34" charset="0"/>
                <a:ea typeface="Calibri" pitchFamily="34" charset="-122"/>
                <a:cs typeface="Calibri" pitchFamily="34" charset="-120"/>
              </a:rPr>
              <a:t>Style de l'époque des Découvertes, riche en motifs marins : cordages, coquillages, sphères armillaires. Exemple : le monastère des Hiéronymites.</a:t>
            </a:r>
            <a:endParaRPr lang="en-US" sz="1300" dirty="0"/>
          </a:p>
        </p:txBody>
      </p:sp>
      <p:sp>
        <p:nvSpPr>
          <p:cNvPr id="16" name="Shape 11"/>
          <p:cNvSpPr/>
          <p:nvPr/>
        </p:nvSpPr>
        <p:spPr>
          <a:xfrm>
            <a:off x="8970264" y="1600200"/>
            <a:ext cx="2624328" cy="4617720"/>
          </a:xfrm>
          <a:prstGeom prst="roundRect">
            <a:avLst>
              <a:gd name="adj" fmla="val 2787"/>
            </a:avLst>
          </a:prstGeom>
          <a:solidFill>
            <a:srgbClr val="FFFFFF"/>
          </a:solidFill>
          <a:ln w="12700">
            <a:solidFill>
              <a:srgbClr val="FFFFFF"/>
            </a:solidFill>
            <a:prstDash val="solid"/>
          </a:ln>
          <a:effectLst>
            <a:outerShdw sx="100000" sy="100000" kx="0" ky="0" algn="bl" rotWithShape="0" blurRad="101600" dist="38100" dir="5400000">
              <a:srgbClr val="000000">
                <a:alpha val="18000"/>
              </a:srgbClr>
            </a:outerShdw>
          </a:effectLst>
        </p:spPr>
      </p:sp>
      <p:pic>
        <p:nvPicPr>
          <p:cNvPr id="17" name="Image 3" descr="/home/user/Portugal-Website/images/photos/x-pessoa.jpg">    </p:cNvPr>
          <p:cNvPicPr>
            <a:picLocks noChangeAspect="1"/>
          </p:cNvPicPr>
          <p:nvPr/>
        </p:nvPicPr>
        <p:blipFill>
          <a:blip r:embed="rId4"/>
          <a:srcRect l="0" r="0" t="0" b="0"/>
          <a:stretch/>
        </p:blipFill>
        <p:spPr>
          <a:xfrm>
            <a:off x="8970264" y="1600200"/>
            <a:ext cx="2624328" cy="2103120"/>
          </a:xfrm>
          <a:prstGeom prst="rect">
            <a:avLst/>
          </a:prstGeom>
        </p:spPr>
      </p:pic>
      <p:sp>
        <p:nvSpPr>
          <p:cNvPr id="18" name="Text 12"/>
          <p:cNvSpPr txBox="1"/>
          <p:nvPr/>
        </p:nvSpPr>
        <p:spPr>
          <a:xfrm>
            <a:off x="9153144" y="3840480"/>
            <a:ext cx="2286000" cy="457200"/>
          </a:xfrm>
          <a:prstGeom prst="rect">
            <a:avLst/>
          </a:prstGeom>
          <a:noFill/>
          <a:ln/>
        </p:spPr>
        <p:txBody>
          <a:bodyPr wrap="square" lIns="0" tIns="0" rIns="0" bIns="0" rtlCol="0" anchor="t"/>
          <a:lstStyle/>
          <a:p>
            <a:pPr indent="0" marL="0">
              <a:buNone/>
            </a:pPr>
            <a:r>
              <a:rPr lang="en-US" sz="1900" b="1" dirty="0">
                <a:solidFill>
                  <a:srgbClr val="174A3A"/>
                </a:solidFill>
                <a:latin typeface="Cambria" pitchFamily="34" charset="0"/>
                <a:ea typeface="Cambria" pitchFamily="34" charset="-122"/>
                <a:cs typeface="Cambria" pitchFamily="34" charset="-120"/>
              </a:rPr>
              <a:t>La littérature</a:t>
            </a:r>
            <a:endParaRPr lang="en-US" sz="1900" dirty="0"/>
          </a:p>
        </p:txBody>
      </p:sp>
      <p:sp>
        <p:nvSpPr>
          <p:cNvPr id="19" name="Text 13"/>
          <p:cNvSpPr txBox="1"/>
          <p:nvPr/>
        </p:nvSpPr>
        <p:spPr>
          <a:xfrm>
            <a:off x="9153144" y="4343400"/>
            <a:ext cx="2286000" cy="1783080"/>
          </a:xfrm>
          <a:prstGeom prst="rect">
            <a:avLst/>
          </a:prstGeom>
          <a:noFill/>
          <a:ln/>
        </p:spPr>
        <p:txBody>
          <a:bodyPr wrap="square" lIns="0" tIns="0" rIns="0" bIns="0" rtlCol="0" anchor="t"/>
          <a:lstStyle/>
          <a:p>
            <a:pPr indent="0" marL="0">
              <a:buNone/>
            </a:pPr>
            <a:r>
              <a:rPr lang="en-US" sz="1300" dirty="0">
                <a:solidFill>
                  <a:srgbClr val="17211D"/>
                </a:solidFill>
                <a:latin typeface="Calibri" pitchFamily="34" charset="0"/>
                <a:ea typeface="Calibri" pitchFamily="34" charset="-122"/>
                <a:cs typeface="Calibri" pitchFamily="34" charset="-120"/>
              </a:rPr>
              <a:t>Luís de Camões (Les Lusiades, 1572), Fernando Pessoa et José Saramago, prix Nobel de littérature 1998.</a:t>
            </a:r>
            <a:endParaRPr lang="en-US" sz="130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18D"/>
                </a:solidFill>
                <a:latin typeface="Calibri"/>
                <a:ea typeface="Calibri"/>
                <a:cs typeface="Calibri"/>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548640" y="411480"/>
            <a:ext cx="10972800" cy="274320"/>
          </a:xfrm>
          <a:prstGeom prst="rect">
            <a:avLst/>
          </a:prstGeom>
          <a:noFill/>
          <a:ln/>
        </p:spPr>
        <p:txBody>
          <a:bodyPr wrap="square" lIns="0" tIns="0" rIns="0" bIns="0" rtlCol="0" anchor="t"/>
          <a:lstStyle/>
          <a:p>
            <a:pPr indent="0" marL="0">
              <a:buNone/>
            </a:pPr>
            <a:r>
              <a:rPr lang="en-US" sz="1200" b="1" spc="300" kern="0" dirty="0">
                <a:solidFill>
                  <a:srgbClr val="A83232"/>
                </a:solidFill>
                <a:latin typeface="Calibri" pitchFamily="34" charset="0"/>
                <a:ea typeface="Calibri" pitchFamily="34" charset="-122"/>
                <a:cs typeface="Calibri" pitchFamily="34" charset="-120"/>
              </a:rPr>
              <a:t>ÉTUDES &amp; TRADITIONS</a:t>
            </a:r>
            <a:endParaRPr lang="en-US" sz="1200" dirty="0"/>
          </a:p>
        </p:txBody>
      </p:sp>
      <p:sp>
        <p:nvSpPr>
          <p:cNvPr id="3" name="Text 1"/>
          <p:cNvSpPr txBox="1"/>
          <p:nvPr/>
        </p:nvSpPr>
        <p:spPr>
          <a:xfrm>
            <a:off x="548640" y="685800"/>
            <a:ext cx="10972800" cy="685800"/>
          </a:xfrm>
          <a:prstGeom prst="rect">
            <a:avLst/>
          </a:prstGeom>
          <a:noFill/>
          <a:ln/>
        </p:spPr>
        <p:txBody>
          <a:bodyPr wrap="square" lIns="0" tIns="0" rIns="0" bIns="0" rtlCol="0" anchor="t"/>
          <a:lstStyle/>
          <a:p>
            <a:pPr indent="0" marL="0">
              <a:buNone/>
            </a:pPr>
            <a:r>
              <a:rPr lang="en-US" sz="3400" b="1" dirty="0">
                <a:solidFill>
                  <a:srgbClr val="174A3A"/>
                </a:solidFill>
                <a:latin typeface="Cambria" pitchFamily="34" charset="0"/>
                <a:ea typeface="Cambria" pitchFamily="34" charset="-122"/>
                <a:cs typeface="Cambria" pitchFamily="34" charset="-120"/>
              </a:rPr>
              <a:t>Universités, capes noires et Harry Potter</a:t>
            </a:r>
            <a:endParaRPr lang="en-US" sz="3400" dirty="0"/>
          </a:p>
        </p:txBody>
      </p:sp>
      <p:sp>
        <p:nvSpPr>
          <p:cNvPr id="4" name="Shape 2"/>
          <p:cNvSpPr/>
          <p:nvPr/>
        </p:nvSpPr>
        <p:spPr>
          <a:xfrm>
            <a:off x="548640" y="1600200"/>
            <a:ext cx="2624328" cy="4617720"/>
          </a:xfrm>
          <a:prstGeom prst="roundRect">
            <a:avLst>
              <a:gd name="adj" fmla="val 2787"/>
            </a:avLst>
          </a:prstGeom>
          <a:solidFill>
            <a:srgbClr val="FFFFFF"/>
          </a:solidFill>
          <a:ln w="12700">
            <a:solidFill>
              <a:srgbClr val="FFFFFF"/>
            </a:solidFill>
            <a:prstDash val="solid"/>
          </a:ln>
          <a:effectLst>
            <a:outerShdw sx="100000" sy="100000" kx="0" ky="0" algn="bl" rotWithShape="0" blurRad="101600" dist="38100" dir="5400000">
              <a:srgbClr val="000000">
                <a:alpha val="18000"/>
              </a:srgbClr>
            </a:outerShdw>
          </a:effectLst>
        </p:spPr>
      </p:sp>
      <p:pic>
        <p:nvPicPr>
          <p:cNvPr id="5" name="Image 0" descr="/home/user/Portugal-Website/images/photos/z-coimbra.jpg">    </p:cNvPr>
          <p:cNvPicPr>
            <a:picLocks noChangeAspect="1"/>
          </p:cNvPicPr>
          <p:nvPr/>
        </p:nvPicPr>
        <p:blipFill>
          <a:blip r:embed="rId1"/>
          <a:srcRect l="0" r="0" t="0" b="0"/>
          <a:stretch/>
        </p:blipFill>
        <p:spPr>
          <a:xfrm>
            <a:off x="548640" y="1600200"/>
            <a:ext cx="2624328" cy="1828800"/>
          </a:xfrm>
          <a:prstGeom prst="rect">
            <a:avLst/>
          </a:prstGeom>
        </p:spPr>
      </p:pic>
      <p:sp>
        <p:nvSpPr>
          <p:cNvPr id="6" name="Text 3"/>
          <p:cNvSpPr txBox="1"/>
          <p:nvPr/>
        </p:nvSpPr>
        <p:spPr>
          <a:xfrm>
            <a:off x="731520" y="3520440"/>
            <a:ext cx="2286000" cy="548640"/>
          </a:xfrm>
          <a:prstGeom prst="rect">
            <a:avLst/>
          </a:prstGeom>
          <a:noFill/>
          <a:ln/>
        </p:spPr>
        <p:txBody>
          <a:bodyPr wrap="square" lIns="0" tIns="0" rIns="0" bIns="0" rtlCol="0" anchor="t"/>
          <a:lstStyle/>
          <a:p>
            <a:pPr indent="0" marL="0">
              <a:buNone/>
            </a:pPr>
            <a:r>
              <a:rPr lang="en-US" sz="1600" b="1" dirty="0">
                <a:solidFill>
                  <a:srgbClr val="174A3A"/>
                </a:solidFill>
                <a:latin typeface="Cambria" pitchFamily="34" charset="0"/>
                <a:ea typeface="Cambria" pitchFamily="34" charset="-122"/>
                <a:cs typeface="Cambria" pitchFamily="34" charset="-120"/>
              </a:rPr>
              <a:t>L'Université de Coimbra</a:t>
            </a:r>
            <a:endParaRPr lang="en-US" sz="1600" dirty="0"/>
          </a:p>
        </p:txBody>
      </p:sp>
      <p:sp>
        <p:nvSpPr>
          <p:cNvPr id="7" name="Text 4"/>
          <p:cNvSpPr txBox="1"/>
          <p:nvPr/>
        </p:nvSpPr>
        <p:spPr>
          <a:xfrm>
            <a:off x="731520" y="4069080"/>
            <a:ext cx="2286000" cy="2057400"/>
          </a:xfrm>
          <a:prstGeom prst="rect">
            <a:avLst/>
          </a:prstGeom>
          <a:noFill/>
          <a:ln/>
        </p:spPr>
        <p:txBody>
          <a:bodyPr wrap="square" lIns="0" tIns="0" rIns="0" bIns="0" rtlCol="0" anchor="t">
            <a:normAutofit/>
          </a:bodyPr>
          <a:lstStyle/>
          <a:p>
            <a:pPr indent="0" marL="0">
              <a:buNone/>
            </a:pPr>
            <a:r>
              <a:rPr lang="en-US" sz="1100" dirty="0">
                <a:solidFill>
                  <a:srgbClr val="17211D"/>
                </a:solidFill>
                <a:latin typeface="Calibri" pitchFamily="34" charset="0"/>
                <a:ea typeface="Calibri" pitchFamily="34" charset="-122"/>
                <a:cs typeface="Calibri" pitchFamily="34" charset="-120"/>
              </a:rPr>
              <a:t>Fondée en 1290 par le roi Dinis Ier et installée définitivement à Coimbra en 1537, c'est l'une des plus anciennes universités du monde. Elle est classée à l'UNESCO depuis 2013, avec sa splendide bibliothèque baroque, la Joanina.</a:t>
            </a:r>
            <a:endParaRPr lang="en-US" sz="1100" dirty="0"/>
          </a:p>
        </p:txBody>
      </p:sp>
      <p:sp>
        <p:nvSpPr>
          <p:cNvPr id="8" name="Shape 5"/>
          <p:cNvSpPr/>
          <p:nvPr/>
        </p:nvSpPr>
        <p:spPr>
          <a:xfrm>
            <a:off x="3355848" y="1600200"/>
            <a:ext cx="2624328" cy="4617720"/>
          </a:xfrm>
          <a:prstGeom prst="roundRect">
            <a:avLst>
              <a:gd name="adj" fmla="val 2787"/>
            </a:avLst>
          </a:prstGeom>
          <a:solidFill>
            <a:srgbClr val="FFFFFF"/>
          </a:solidFill>
          <a:ln w="12700">
            <a:solidFill>
              <a:srgbClr val="FFFFFF"/>
            </a:solidFill>
            <a:prstDash val="solid"/>
          </a:ln>
          <a:effectLst>
            <a:outerShdw sx="100000" sy="100000" kx="0" ky="0" algn="bl" rotWithShape="0" blurRad="101600" dist="38100" dir="5400000">
              <a:srgbClr val="000000">
                <a:alpha val="18000"/>
              </a:srgbClr>
            </a:outerShdw>
          </a:effectLst>
        </p:spPr>
      </p:sp>
      <p:pic>
        <p:nvPicPr>
          <p:cNvPr id="9" name="Image 1" descr="/home/user/Portugal-Website/images/luis/traje.jpg">    </p:cNvPr>
          <p:cNvPicPr>
            <a:picLocks noChangeAspect="1"/>
          </p:cNvPicPr>
          <p:nvPr/>
        </p:nvPicPr>
        <p:blipFill>
          <a:blip r:embed="rId2"/>
          <a:srcRect l="0" r="0" t="0" b="0"/>
          <a:stretch/>
        </p:blipFill>
        <p:spPr>
          <a:xfrm>
            <a:off x="3355848" y="1600200"/>
            <a:ext cx="2624328" cy="1828800"/>
          </a:xfrm>
          <a:prstGeom prst="rect">
            <a:avLst/>
          </a:prstGeom>
        </p:spPr>
      </p:pic>
      <p:sp>
        <p:nvSpPr>
          <p:cNvPr id="10" name="Text 6"/>
          <p:cNvSpPr txBox="1"/>
          <p:nvPr/>
        </p:nvSpPr>
        <p:spPr>
          <a:xfrm>
            <a:off x="3538728" y="3520440"/>
            <a:ext cx="2286000" cy="548640"/>
          </a:xfrm>
          <a:prstGeom prst="rect">
            <a:avLst/>
          </a:prstGeom>
          <a:noFill/>
          <a:ln/>
        </p:spPr>
        <p:txBody>
          <a:bodyPr wrap="square" lIns="0" tIns="0" rIns="0" bIns="0" rtlCol="0" anchor="t"/>
          <a:lstStyle/>
          <a:p>
            <a:pPr indent="0" marL="0">
              <a:buNone/>
            </a:pPr>
            <a:r>
              <a:rPr lang="en-US" sz="1600" b="1" dirty="0">
                <a:solidFill>
                  <a:srgbClr val="174A3A"/>
                </a:solidFill>
                <a:latin typeface="Cambria" pitchFamily="34" charset="0"/>
                <a:ea typeface="Cambria" pitchFamily="34" charset="-122"/>
                <a:cs typeface="Cambria" pitchFamily="34" charset="-120"/>
              </a:rPr>
              <a:t>Les étudiants « trajados »</a:t>
            </a:r>
            <a:endParaRPr lang="en-US" sz="1600" dirty="0"/>
          </a:p>
        </p:txBody>
      </p:sp>
      <p:sp>
        <p:nvSpPr>
          <p:cNvPr id="11" name="Text 7"/>
          <p:cNvSpPr txBox="1"/>
          <p:nvPr/>
        </p:nvSpPr>
        <p:spPr>
          <a:xfrm>
            <a:off x="3538728" y="4069080"/>
            <a:ext cx="2286000" cy="2057400"/>
          </a:xfrm>
          <a:prstGeom prst="rect">
            <a:avLst/>
          </a:prstGeom>
          <a:noFill/>
          <a:ln/>
        </p:spPr>
        <p:txBody>
          <a:bodyPr wrap="square" lIns="0" tIns="0" rIns="0" bIns="0" rtlCol="0" anchor="t">
            <a:normAutofit/>
          </a:bodyPr>
          <a:lstStyle/>
          <a:p>
            <a:pPr indent="0" marL="0">
              <a:buNone/>
            </a:pPr>
            <a:r>
              <a:rPr lang="en-US" sz="1100" dirty="0">
                <a:solidFill>
                  <a:srgbClr val="17211D"/>
                </a:solidFill>
                <a:latin typeface="Calibri" pitchFamily="34" charset="0"/>
                <a:ea typeface="Calibri" pitchFamily="34" charset="-122"/>
                <a:cs typeface="Calibri" pitchFamily="34" charset="-120"/>
              </a:rPr>
              <a:t>Costume noir et grande cape : c'est le traje académico. Selon la tradition, la cape ne se lave pas et chaque déchirure rappelle une personne ou un moment important. En mai, la Queima das Fitas fête la fin des études.</a:t>
            </a:r>
            <a:endParaRPr lang="en-US" sz="1100" dirty="0"/>
          </a:p>
        </p:txBody>
      </p:sp>
      <p:sp>
        <p:nvSpPr>
          <p:cNvPr id="12" name="Shape 8"/>
          <p:cNvSpPr/>
          <p:nvPr/>
        </p:nvSpPr>
        <p:spPr>
          <a:xfrm>
            <a:off x="6163056" y="1600200"/>
            <a:ext cx="2624328" cy="4617720"/>
          </a:xfrm>
          <a:prstGeom prst="roundRect">
            <a:avLst>
              <a:gd name="adj" fmla="val 2787"/>
            </a:avLst>
          </a:prstGeom>
          <a:solidFill>
            <a:srgbClr val="FFFFFF"/>
          </a:solidFill>
          <a:ln w="12700">
            <a:solidFill>
              <a:srgbClr val="FFFFFF"/>
            </a:solidFill>
            <a:prstDash val="solid"/>
          </a:ln>
          <a:effectLst>
            <a:outerShdw sx="100000" sy="100000" kx="0" ky="0" algn="bl" rotWithShape="0" blurRad="101600" dist="38100" dir="5400000">
              <a:srgbClr val="000000">
                <a:alpha val="18000"/>
              </a:srgbClr>
            </a:outerShdw>
          </a:effectLst>
        </p:spPr>
      </p:sp>
      <p:pic>
        <p:nvPicPr>
          <p:cNvPr id="13" name="Image 2" descr="/home/user/Portugal-Website/images/luis/lello.jpg">    </p:cNvPr>
          <p:cNvPicPr>
            <a:picLocks noChangeAspect="1"/>
          </p:cNvPicPr>
          <p:nvPr/>
        </p:nvPicPr>
        <p:blipFill>
          <a:blip r:embed="rId3"/>
          <a:srcRect l="0" r="0" t="0" b="0"/>
          <a:stretch/>
        </p:blipFill>
        <p:spPr>
          <a:xfrm>
            <a:off x="6163056" y="1600200"/>
            <a:ext cx="2624328" cy="1828800"/>
          </a:xfrm>
          <a:prstGeom prst="rect">
            <a:avLst/>
          </a:prstGeom>
        </p:spPr>
      </p:pic>
      <p:sp>
        <p:nvSpPr>
          <p:cNvPr id="14" name="Text 9"/>
          <p:cNvSpPr txBox="1"/>
          <p:nvPr/>
        </p:nvSpPr>
        <p:spPr>
          <a:xfrm>
            <a:off x="6345936" y="3520440"/>
            <a:ext cx="2286000" cy="548640"/>
          </a:xfrm>
          <a:prstGeom prst="rect">
            <a:avLst/>
          </a:prstGeom>
          <a:noFill/>
          <a:ln/>
        </p:spPr>
        <p:txBody>
          <a:bodyPr wrap="square" lIns="0" tIns="0" rIns="0" bIns="0" rtlCol="0" anchor="t"/>
          <a:lstStyle/>
          <a:p>
            <a:pPr indent="0" marL="0">
              <a:buNone/>
            </a:pPr>
            <a:r>
              <a:rPr lang="en-US" sz="1600" b="1" dirty="0">
                <a:solidFill>
                  <a:srgbClr val="174A3A"/>
                </a:solidFill>
                <a:latin typeface="Cambria" pitchFamily="34" charset="0"/>
                <a:ea typeface="Cambria" pitchFamily="34" charset="-122"/>
                <a:cs typeface="Cambria" pitchFamily="34" charset="-120"/>
              </a:rPr>
              <a:t>La Livraria Lello, à Porto</a:t>
            </a:r>
            <a:endParaRPr lang="en-US" sz="1600" dirty="0"/>
          </a:p>
        </p:txBody>
      </p:sp>
      <p:sp>
        <p:nvSpPr>
          <p:cNvPr id="15" name="Text 10"/>
          <p:cNvSpPr txBox="1"/>
          <p:nvPr/>
        </p:nvSpPr>
        <p:spPr>
          <a:xfrm>
            <a:off x="6345936" y="4069080"/>
            <a:ext cx="2286000" cy="2057400"/>
          </a:xfrm>
          <a:prstGeom prst="rect">
            <a:avLst/>
          </a:prstGeom>
          <a:noFill/>
          <a:ln/>
        </p:spPr>
        <p:txBody>
          <a:bodyPr wrap="square" lIns="0" tIns="0" rIns="0" bIns="0" rtlCol="0" anchor="t">
            <a:normAutofit/>
          </a:bodyPr>
          <a:lstStyle/>
          <a:p>
            <a:pPr indent="0" marL="0">
              <a:buNone/>
            </a:pPr>
            <a:r>
              <a:rPr lang="en-US" sz="1100" dirty="0">
                <a:solidFill>
                  <a:srgbClr val="17211D"/>
                </a:solidFill>
                <a:latin typeface="Calibri" pitchFamily="34" charset="0"/>
                <a:ea typeface="Calibri" pitchFamily="34" charset="-122"/>
                <a:cs typeface="Calibri" pitchFamily="34" charset="-120"/>
              </a:rPr>
              <a:t>Ouverte en 1906, avec son escalier rouge et ses boiseries sculptées, elle est souvent citée parmi les plus belles librairies du monde. Il faut parfois faire la queue pour y entrer !</a:t>
            </a:r>
            <a:endParaRPr lang="en-US" sz="1100" dirty="0"/>
          </a:p>
        </p:txBody>
      </p:sp>
      <p:sp>
        <p:nvSpPr>
          <p:cNvPr id="16" name="Shape 11"/>
          <p:cNvSpPr/>
          <p:nvPr/>
        </p:nvSpPr>
        <p:spPr>
          <a:xfrm>
            <a:off x="8970264" y="1600200"/>
            <a:ext cx="2624328" cy="4617720"/>
          </a:xfrm>
          <a:prstGeom prst="roundRect">
            <a:avLst>
              <a:gd name="adj" fmla="val 2787"/>
            </a:avLst>
          </a:prstGeom>
          <a:solidFill>
            <a:srgbClr val="FFFFFF"/>
          </a:solidFill>
          <a:ln w="12700">
            <a:solidFill>
              <a:srgbClr val="FFFFFF"/>
            </a:solidFill>
            <a:prstDash val="solid"/>
          </a:ln>
          <a:effectLst>
            <a:outerShdw sx="100000" sy="100000" kx="0" ky="0" algn="bl" rotWithShape="0" blurRad="101600" dist="38100" dir="5400000">
              <a:srgbClr val="000000">
                <a:alpha val="18000"/>
              </a:srgbClr>
            </a:outerShdw>
          </a:effectLst>
        </p:spPr>
      </p:sp>
      <p:pic>
        <p:nvPicPr>
          <p:cNvPr id="17" name="Image 3" descr="/home/user/Portugal-Website/images/luis/harry-potter-wide.jpg">    </p:cNvPr>
          <p:cNvPicPr>
            <a:picLocks noChangeAspect="1"/>
          </p:cNvPicPr>
          <p:nvPr/>
        </p:nvPicPr>
        <p:blipFill>
          <a:blip r:embed="rId4"/>
          <a:srcRect l="0" r="0" t="0" b="0"/>
          <a:stretch/>
        </p:blipFill>
        <p:spPr>
          <a:xfrm>
            <a:off x="8970264" y="1600200"/>
            <a:ext cx="2624328" cy="1828800"/>
          </a:xfrm>
          <a:prstGeom prst="rect">
            <a:avLst/>
          </a:prstGeom>
        </p:spPr>
      </p:pic>
      <p:sp>
        <p:nvSpPr>
          <p:cNvPr id="18" name="Text 12"/>
          <p:cNvSpPr txBox="1"/>
          <p:nvPr/>
        </p:nvSpPr>
        <p:spPr>
          <a:xfrm>
            <a:off x="9153144" y="3520440"/>
            <a:ext cx="2286000" cy="548640"/>
          </a:xfrm>
          <a:prstGeom prst="rect">
            <a:avLst/>
          </a:prstGeom>
          <a:noFill/>
          <a:ln/>
        </p:spPr>
        <p:txBody>
          <a:bodyPr wrap="square" lIns="0" tIns="0" rIns="0" bIns="0" rtlCol="0" anchor="t"/>
          <a:lstStyle/>
          <a:p>
            <a:pPr indent="0" marL="0">
              <a:buNone/>
            </a:pPr>
            <a:r>
              <a:rPr lang="en-US" sz="1600" b="1" dirty="0">
                <a:solidFill>
                  <a:srgbClr val="174A3A"/>
                </a:solidFill>
                <a:latin typeface="Cambria" pitchFamily="34" charset="0"/>
                <a:ea typeface="Cambria" pitchFamily="34" charset="-122"/>
                <a:cs typeface="Cambria" pitchFamily="34" charset="-120"/>
              </a:rPr>
              <a:t>Et Harry Potter ?</a:t>
            </a:r>
            <a:endParaRPr lang="en-US" sz="1600" dirty="0"/>
          </a:p>
        </p:txBody>
      </p:sp>
      <p:sp>
        <p:nvSpPr>
          <p:cNvPr id="19" name="Text 13"/>
          <p:cNvSpPr txBox="1"/>
          <p:nvPr/>
        </p:nvSpPr>
        <p:spPr>
          <a:xfrm>
            <a:off x="9153144" y="4069080"/>
            <a:ext cx="2286000" cy="2057400"/>
          </a:xfrm>
          <a:prstGeom prst="rect">
            <a:avLst/>
          </a:prstGeom>
          <a:noFill/>
          <a:ln/>
        </p:spPr>
        <p:txBody>
          <a:bodyPr wrap="square" lIns="0" tIns="0" rIns="0" bIns="0" rtlCol="0" anchor="t">
            <a:normAutofit/>
          </a:bodyPr>
          <a:lstStyle/>
          <a:p>
            <a:pPr indent="0" marL="0">
              <a:buNone/>
            </a:pPr>
            <a:r>
              <a:rPr lang="en-US" sz="1100" dirty="0">
                <a:solidFill>
                  <a:srgbClr val="17211D"/>
                </a:solidFill>
                <a:latin typeface="Calibri" pitchFamily="34" charset="0"/>
                <a:ea typeface="Calibri" pitchFamily="34" charset="-122"/>
                <a:cs typeface="Calibri" pitchFamily="34" charset="-120"/>
              </a:rPr>
              <a:t>J.K. Rowling a vécu à Porto au début des années 1990 : elle y enseignait l'anglais et écrivait déjà Harry Potter. On dit que les capes des étudiants ont inspiré les robes de Poudlard, et Lello sa bibliothèque… mais Rowling affirme n'être jamais entrée chez Lello !</a:t>
            </a:r>
            <a:endParaRPr lang="en-US" sz="110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18D"/>
                </a:solidFill>
                <a:latin typeface="Calibri"/>
                <a:ea typeface="Calibri"/>
                <a:cs typeface="Calibri"/>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548640" y="411480"/>
            <a:ext cx="10972800" cy="274320"/>
          </a:xfrm>
          <a:prstGeom prst="rect">
            <a:avLst/>
          </a:prstGeom>
          <a:noFill/>
          <a:ln/>
        </p:spPr>
        <p:txBody>
          <a:bodyPr wrap="square" lIns="0" tIns="0" rIns="0" bIns="0" rtlCol="0" anchor="t"/>
          <a:lstStyle/>
          <a:p>
            <a:pPr indent="0" marL="0">
              <a:buNone/>
            </a:pPr>
            <a:r>
              <a:rPr lang="en-US" sz="1200" b="1" spc="300" kern="0" dirty="0">
                <a:solidFill>
                  <a:srgbClr val="A83232"/>
                </a:solidFill>
                <a:latin typeface="Calibri" pitchFamily="34" charset="0"/>
                <a:ea typeface="Calibri" pitchFamily="34" charset="-122"/>
                <a:cs typeface="Calibri" pitchFamily="34" charset="-120"/>
              </a:rPr>
              <a:t>À TABLE !</a:t>
            </a:r>
            <a:endParaRPr lang="en-US" sz="1200" dirty="0"/>
          </a:p>
        </p:txBody>
      </p:sp>
      <p:sp>
        <p:nvSpPr>
          <p:cNvPr id="3" name="Text 1"/>
          <p:cNvSpPr txBox="1"/>
          <p:nvPr/>
        </p:nvSpPr>
        <p:spPr>
          <a:xfrm>
            <a:off x="548640" y="685800"/>
            <a:ext cx="10972800" cy="685800"/>
          </a:xfrm>
          <a:prstGeom prst="rect">
            <a:avLst/>
          </a:prstGeom>
          <a:noFill/>
          <a:ln/>
        </p:spPr>
        <p:txBody>
          <a:bodyPr wrap="square" lIns="0" tIns="0" rIns="0" bIns="0" rtlCol="0" anchor="t"/>
          <a:lstStyle/>
          <a:p>
            <a:pPr indent="0" marL="0">
              <a:buNone/>
            </a:pPr>
            <a:r>
              <a:rPr lang="en-US" sz="3400" b="1" dirty="0">
                <a:solidFill>
                  <a:srgbClr val="174A3A"/>
                </a:solidFill>
                <a:latin typeface="Cambria" pitchFamily="34" charset="0"/>
                <a:ea typeface="Cambria" pitchFamily="34" charset="-122"/>
                <a:cs typeface="Cambria" pitchFamily="34" charset="-120"/>
              </a:rPr>
              <a:t>Une cuisine simple et généreuse</a:t>
            </a:r>
            <a:endParaRPr lang="en-US" sz="3400" dirty="0"/>
          </a:p>
        </p:txBody>
      </p:sp>
      <p:pic>
        <p:nvPicPr>
          <p:cNvPr id="4" name="Image 0" descr="/home/user/Portugal-Website/images/photos/f-bacalhau.jpg">    </p:cNvPr>
          <p:cNvPicPr>
            <a:picLocks noChangeAspect="1"/>
          </p:cNvPicPr>
          <p:nvPr/>
        </p:nvPicPr>
        <p:blipFill>
          <a:blip r:embed="rId1"/>
          <a:srcRect l="0" r="0" t="0" b="0"/>
          <a:stretch/>
        </p:blipFill>
        <p:spPr>
          <a:xfrm>
            <a:off x="548640" y="1600200"/>
            <a:ext cx="1737360" cy="1691640"/>
          </a:xfrm>
          <a:prstGeom prst="rect">
            <a:avLst/>
          </a:prstGeom>
        </p:spPr>
      </p:pic>
      <p:sp>
        <p:nvSpPr>
          <p:cNvPr id="5" name="Text 2"/>
          <p:cNvSpPr txBox="1"/>
          <p:nvPr/>
        </p:nvSpPr>
        <p:spPr>
          <a:xfrm>
            <a:off x="548640" y="3355848"/>
            <a:ext cx="1737360" cy="365760"/>
          </a:xfrm>
          <a:prstGeom prst="rect">
            <a:avLst/>
          </a:prstGeom>
          <a:noFill/>
          <a:ln/>
        </p:spPr>
        <p:txBody>
          <a:bodyPr wrap="square" lIns="0" tIns="0" rIns="0" bIns="0" rtlCol="0" anchor="t"/>
          <a:lstStyle/>
          <a:p>
            <a:pPr indent="0" marL="0">
              <a:buNone/>
            </a:pPr>
            <a:r>
              <a:rPr lang="en-US" sz="1400" b="1" i="1" dirty="0">
                <a:solidFill>
                  <a:srgbClr val="174A3A"/>
                </a:solidFill>
                <a:latin typeface="Cambria" pitchFamily="34" charset="0"/>
                <a:ea typeface="Cambria" pitchFamily="34" charset="-122"/>
                <a:cs typeface="Cambria" pitchFamily="34" charset="-120"/>
              </a:rPr>
              <a:t>Bacalhau</a:t>
            </a:r>
            <a:endParaRPr lang="en-US" sz="1400" dirty="0"/>
          </a:p>
        </p:txBody>
      </p:sp>
      <p:pic>
        <p:nvPicPr>
          <p:cNvPr id="6" name="Image 1" descr="/home/user/Portugal-Website/images/photos/f-nata.jpg">    </p:cNvPr>
          <p:cNvPicPr>
            <a:picLocks noChangeAspect="1"/>
          </p:cNvPicPr>
          <p:nvPr/>
        </p:nvPicPr>
        <p:blipFill>
          <a:blip r:embed="rId2"/>
          <a:srcRect l="0" r="0" t="0" b="0"/>
          <a:stretch/>
        </p:blipFill>
        <p:spPr>
          <a:xfrm>
            <a:off x="2414016" y="1600200"/>
            <a:ext cx="1737360" cy="1691640"/>
          </a:xfrm>
          <a:prstGeom prst="rect">
            <a:avLst/>
          </a:prstGeom>
        </p:spPr>
      </p:pic>
      <p:sp>
        <p:nvSpPr>
          <p:cNvPr id="7" name="Text 3"/>
          <p:cNvSpPr txBox="1"/>
          <p:nvPr/>
        </p:nvSpPr>
        <p:spPr>
          <a:xfrm>
            <a:off x="2414016" y="3355848"/>
            <a:ext cx="1737360" cy="365760"/>
          </a:xfrm>
          <a:prstGeom prst="rect">
            <a:avLst/>
          </a:prstGeom>
          <a:noFill/>
          <a:ln/>
        </p:spPr>
        <p:txBody>
          <a:bodyPr wrap="square" lIns="0" tIns="0" rIns="0" bIns="0" rtlCol="0" anchor="t"/>
          <a:lstStyle/>
          <a:p>
            <a:pPr indent="0" marL="0">
              <a:buNone/>
            </a:pPr>
            <a:r>
              <a:rPr lang="en-US" sz="1400" b="1" i="1" dirty="0">
                <a:solidFill>
                  <a:srgbClr val="174A3A"/>
                </a:solidFill>
                <a:latin typeface="Cambria" pitchFamily="34" charset="0"/>
                <a:ea typeface="Cambria" pitchFamily="34" charset="-122"/>
                <a:cs typeface="Cambria" pitchFamily="34" charset="-120"/>
              </a:rPr>
              <a:t>Pastel de nata</a:t>
            </a:r>
            <a:endParaRPr lang="en-US" sz="1400" dirty="0"/>
          </a:p>
        </p:txBody>
      </p:sp>
      <p:pic>
        <p:nvPicPr>
          <p:cNvPr id="8" name="Image 2" descr="/home/user/Portugal-Website/images/photos/f-francesinha.jpg">    </p:cNvPr>
          <p:cNvPicPr>
            <a:picLocks noChangeAspect="1"/>
          </p:cNvPicPr>
          <p:nvPr/>
        </p:nvPicPr>
        <p:blipFill>
          <a:blip r:embed="rId3"/>
          <a:srcRect l="0" r="0" t="0" b="0"/>
          <a:stretch/>
        </p:blipFill>
        <p:spPr>
          <a:xfrm>
            <a:off x="4279392" y="1600200"/>
            <a:ext cx="1737360" cy="1691640"/>
          </a:xfrm>
          <a:prstGeom prst="rect">
            <a:avLst/>
          </a:prstGeom>
        </p:spPr>
      </p:pic>
      <p:sp>
        <p:nvSpPr>
          <p:cNvPr id="9" name="Text 4"/>
          <p:cNvSpPr txBox="1"/>
          <p:nvPr/>
        </p:nvSpPr>
        <p:spPr>
          <a:xfrm>
            <a:off x="4279392" y="3355848"/>
            <a:ext cx="1737360" cy="365760"/>
          </a:xfrm>
          <a:prstGeom prst="rect">
            <a:avLst/>
          </a:prstGeom>
          <a:noFill/>
          <a:ln/>
        </p:spPr>
        <p:txBody>
          <a:bodyPr wrap="square" lIns="0" tIns="0" rIns="0" bIns="0" rtlCol="0" anchor="t"/>
          <a:lstStyle/>
          <a:p>
            <a:pPr indent="0" marL="0">
              <a:buNone/>
            </a:pPr>
            <a:r>
              <a:rPr lang="en-US" sz="1400" b="1" i="1" dirty="0">
                <a:solidFill>
                  <a:srgbClr val="174A3A"/>
                </a:solidFill>
                <a:latin typeface="Cambria" pitchFamily="34" charset="0"/>
                <a:ea typeface="Cambria" pitchFamily="34" charset="-122"/>
                <a:cs typeface="Cambria" pitchFamily="34" charset="-120"/>
              </a:rPr>
              <a:t>Francesinha</a:t>
            </a:r>
            <a:endParaRPr lang="en-US" sz="1400" dirty="0"/>
          </a:p>
        </p:txBody>
      </p:sp>
      <p:pic>
        <p:nvPicPr>
          <p:cNvPr id="10" name="Image 3" descr="/home/user/Portugal-Website/images/photos/f-sardinhas.jpg">    </p:cNvPr>
          <p:cNvPicPr>
            <a:picLocks noChangeAspect="1"/>
          </p:cNvPicPr>
          <p:nvPr/>
        </p:nvPicPr>
        <p:blipFill>
          <a:blip r:embed="rId4"/>
          <a:srcRect l="0" r="0" t="0" b="0"/>
          <a:stretch/>
        </p:blipFill>
        <p:spPr>
          <a:xfrm>
            <a:off x="6144768" y="1600200"/>
            <a:ext cx="1737360" cy="1691640"/>
          </a:xfrm>
          <a:prstGeom prst="rect">
            <a:avLst/>
          </a:prstGeom>
        </p:spPr>
      </p:pic>
      <p:sp>
        <p:nvSpPr>
          <p:cNvPr id="11" name="Text 5"/>
          <p:cNvSpPr txBox="1"/>
          <p:nvPr/>
        </p:nvSpPr>
        <p:spPr>
          <a:xfrm>
            <a:off x="6144768" y="3355848"/>
            <a:ext cx="1737360" cy="365760"/>
          </a:xfrm>
          <a:prstGeom prst="rect">
            <a:avLst/>
          </a:prstGeom>
          <a:noFill/>
          <a:ln/>
        </p:spPr>
        <p:txBody>
          <a:bodyPr wrap="square" lIns="0" tIns="0" rIns="0" bIns="0" rtlCol="0" anchor="t"/>
          <a:lstStyle/>
          <a:p>
            <a:pPr indent="0" marL="0">
              <a:buNone/>
            </a:pPr>
            <a:r>
              <a:rPr lang="en-US" sz="1400" b="1" i="1" dirty="0">
                <a:solidFill>
                  <a:srgbClr val="174A3A"/>
                </a:solidFill>
                <a:latin typeface="Cambria" pitchFamily="34" charset="0"/>
                <a:ea typeface="Cambria" pitchFamily="34" charset="-122"/>
                <a:cs typeface="Cambria" pitchFamily="34" charset="-120"/>
              </a:rPr>
              <a:t>Sardinhas assadas</a:t>
            </a:r>
            <a:endParaRPr lang="en-US" sz="1400" dirty="0"/>
          </a:p>
        </p:txBody>
      </p:sp>
      <p:pic>
        <p:nvPicPr>
          <p:cNvPr id="12" name="Image 4" descr="/home/user/Portugal-Website/images/photos/f-caldo.jpg">    </p:cNvPr>
          <p:cNvPicPr>
            <a:picLocks noChangeAspect="1"/>
          </p:cNvPicPr>
          <p:nvPr/>
        </p:nvPicPr>
        <p:blipFill>
          <a:blip r:embed="rId5"/>
          <a:srcRect l="0" r="0" t="0" b="0"/>
          <a:stretch/>
        </p:blipFill>
        <p:spPr>
          <a:xfrm>
            <a:off x="8010144" y="1600200"/>
            <a:ext cx="1737360" cy="1691640"/>
          </a:xfrm>
          <a:prstGeom prst="rect">
            <a:avLst/>
          </a:prstGeom>
        </p:spPr>
      </p:pic>
      <p:sp>
        <p:nvSpPr>
          <p:cNvPr id="13" name="Text 6"/>
          <p:cNvSpPr txBox="1"/>
          <p:nvPr/>
        </p:nvSpPr>
        <p:spPr>
          <a:xfrm>
            <a:off x="8010144" y="3355848"/>
            <a:ext cx="1737360" cy="365760"/>
          </a:xfrm>
          <a:prstGeom prst="rect">
            <a:avLst/>
          </a:prstGeom>
          <a:noFill/>
          <a:ln/>
        </p:spPr>
        <p:txBody>
          <a:bodyPr wrap="square" lIns="0" tIns="0" rIns="0" bIns="0" rtlCol="0" anchor="t"/>
          <a:lstStyle/>
          <a:p>
            <a:pPr indent="0" marL="0">
              <a:buNone/>
            </a:pPr>
            <a:r>
              <a:rPr lang="en-US" sz="1400" b="1" i="1" dirty="0">
                <a:solidFill>
                  <a:srgbClr val="174A3A"/>
                </a:solidFill>
                <a:latin typeface="Cambria" pitchFamily="34" charset="0"/>
                <a:ea typeface="Cambria" pitchFamily="34" charset="-122"/>
                <a:cs typeface="Cambria" pitchFamily="34" charset="-120"/>
              </a:rPr>
              <a:t>Caldo verde</a:t>
            </a:r>
            <a:endParaRPr lang="en-US" sz="1400" dirty="0"/>
          </a:p>
        </p:txBody>
      </p:sp>
      <p:pic>
        <p:nvPicPr>
          <p:cNvPr id="14" name="Image 5" descr="/home/user/Portugal-Website/images/photos/f-leitao.jpg">    </p:cNvPr>
          <p:cNvPicPr>
            <a:picLocks noChangeAspect="1"/>
          </p:cNvPicPr>
          <p:nvPr/>
        </p:nvPicPr>
        <p:blipFill>
          <a:blip r:embed="rId6"/>
          <a:srcRect l="0" r="0" t="0" b="0"/>
          <a:stretch/>
        </p:blipFill>
        <p:spPr>
          <a:xfrm>
            <a:off x="9875520" y="1600200"/>
            <a:ext cx="1737360" cy="1691640"/>
          </a:xfrm>
          <a:prstGeom prst="rect">
            <a:avLst/>
          </a:prstGeom>
        </p:spPr>
      </p:pic>
      <p:sp>
        <p:nvSpPr>
          <p:cNvPr id="15" name="Text 7"/>
          <p:cNvSpPr txBox="1"/>
          <p:nvPr/>
        </p:nvSpPr>
        <p:spPr>
          <a:xfrm>
            <a:off x="9875520" y="3355848"/>
            <a:ext cx="1737360" cy="365760"/>
          </a:xfrm>
          <a:prstGeom prst="rect">
            <a:avLst/>
          </a:prstGeom>
          <a:noFill/>
          <a:ln/>
        </p:spPr>
        <p:txBody>
          <a:bodyPr wrap="square" lIns="0" tIns="0" rIns="0" bIns="0" rtlCol="0" anchor="t"/>
          <a:lstStyle/>
          <a:p>
            <a:pPr indent="0" marL="0">
              <a:buNone/>
            </a:pPr>
            <a:r>
              <a:rPr lang="en-US" sz="1400" b="1" i="1" dirty="0">
                <a:solidFill>
                  <a:srgbClr val="174A3A"/>
                </a:solidFill>
                <a:latin typeface="Cambria" pitchFamily="34" charset="0"/>
                <a:ea typeface="Cambria" pitchFamily="34" charset="-122"/>
                <a:cs typeface="Cambria" pitchFamily="34" charset="-120"/>
              </a:rPr>
              <a:t>Leitão da Bairrada</a:t>
            </a:r>
            <a:endParaRPr lang="en-US" sz="1400" dirty="0"/>
          </a:p>
        </p:txBody>
      </p:sp>
      <p:pic>
        <p:nvPicPr>
          <p:cNvPr id="16" name="Image 6" descr="/home/user/Portugal-Website/images/photos/f-polvo.jpg">    </p:cNvPr>
          <p:cNvPicPr>
            <a:picLocks noChangeAspect="1"/>
          </p:cNvPicPr>
          <p:nvPr/>
        </p:nvPicPr>
        <p:blipFill>
          <a:blip r:embed="rId7"/>
          <a:srcRect l="0" r="0" t="0" b="0"/>
          <a:stretch/>
        </p:blipFill>
        <p:spPr>
          <a:xfrm>
            <a:off x="548640" y="3931920"/>
            <a:ext cx="1737360" cy="1691640"/>
          </a:xfrm>
          <a:prstGeom prst="rect">
            <a:avLst/>
          </a:prstGeom>
        </p:spPr>
      </p:pic>
      <p:sp>
        <p:nvSpPr>
          <p:cNvPr id="17" name="Text 8"/>
          <p:cNvSpPr txBox="1"/>
          <p:nvPr/>
        </p:nvSpPr>
        <p:spPr>
          <a:xfrm>
            <a:off x="548640" y="5687568"/>
            <a:ext cx="1737360" cy="365760"/>
          </a:xfrm>
          <a:prstGeom prst="rect">
            <a:avLst/>
          </a:prstGeom>
          <a:noFill/>
          <a:ln/>
        </p:spPr>
        <p:txBody>
          <a:bodyPr wrap="square" lIns="0" tIns="0" rIns="0" bIns="0" rtlCol="0" anchor="t"/>
          <a:lstStyle/>
          <a:p>
            <a:pPr indent="0" marL="0">
              <a:buNone/>
            </a:pPr>
            <a:r>
              <a:rPr lang="en-US" sz="1400" b="1" i="1" dirty="0">
                <a:solidFill>
                  <a:srgbClr val="174A3A"/>
                </a:solidFill>
                <a:latin typeface="Cambria" pitchFamily="34" charset="0"/>
                <a:ea typeface="Cambria" pitchFamily="34" charset="-122"/>
                <a:cs typeface="Cambria" pitchFamily="34" charset="-120"/>
              </a:rPr>
              <a:t>Polvo à lagareiro</a:t>
            </a:r>
            <a:endParaRPr lang="en-US" sz="1400" dirty="0"/>
          </a:p>
        </p:txBody>
      </p:sp>
      <p:pic>
        <p:nvPicPr>
          <p:cNvPr id="18" name="Image 7" descr="/home/user/Portugal-Website/images/photos/f-cataplana.jpg">    </p:cNvPr>
          <p:cNvPicPr>
            <a:picLocks noChangeAspect="1"/>
          </p:cNvPicPr>
          <p:nvPr/>
        </p:nvPicPr>
        <p:blipFill>
          <a:blip r:embed="rId8"/>
          <a:srcRect l="0" r="0" t="0" b="0"/>
          <a:stretch/>
        </p:blipFill>
        <p:spPr>
          <a:xfrm>
            <a:off x="2414016" y="3931920"/>
            <a:ext cx="1737360" cy="1691640"/>
          </a:xfrm>
          <a:prstGeom prst="rect">
            <a:avLst/>
          </a:prstGeom>
        </p:spPr>
      </p:pic>
      <p:sp>
        <p:nvSpPr>
          <p:cNvPr id="19" name="Text 9"/>
          <p:cNvSpPr txBox="1"/>
          <p:nvPr/>
        </p:nvSpPr>
        <p:spPr>
          <a:xfrm>
            <a:off x="2414016" y="5687568"/>
            <a:ext cx="1737360" cy="365760"/>
          </a:xfrm>
          <a:prstGeom prst="rect">
            <a:avLst/>
          </a:prstGeom>
          <a:noFill/>
          <a:ln/>
        </p:spPr>
        <p:txBody>
          <a:bodyPr wrap="square" lIns="0" tIns="0" rIns="0" bIns="0" rtlCol="0" anchor="t"/>
          <a:lstStyle/>
          <a:p>
            <a:pPr indent="0" marL="0">
              <a:buNone/>
            </a:pPr>
            <a:r>
              <a:rPr lang="en-US" sz="1400" b="1" i="1" dirty="0">
                <a:solidFill>
                  <a:srgbClr val="174A3A"/>
                </a:solidFill>
                <a:latin typeface="Cambria" pitchFamily="34" charset="0"/>
                <a:ea typeface="Cambria" pitchFamily="34" charset="-122"/>
                <a:cs typeface="Cambria" pitchFamily="34" charset="-120"/>
              </a:rPr>
              <a:t>Cataplana</a:t>
            </a:r>
            <a:endParaRPr lang="en-US" sz="1400" dirty="0"/>
          </a:p>
        </p:txBody>
      </p:sp>
      <p:pic>
        <p:nvPicPr>
          <p:cNvPr id="20" name="Image 8" descr="/home/user/Portugal-Website/images/photos/f-bifana.jpg">    </p:cNvPr>
          <p:cNvPicPr>
            <a:picLocks noChangeAspect="1"/>
          </p:cNvPicPr>
          <p:nvPr/>
        </p:nvPicPr>
        <p:blipFill>
          <a:blip r:embed="rId9"/>
          <a:srcRect l="0" r="0" t="0" b="0"/>
          <a:stretch/>
        </p:blipFill>
        <p:spPr>
          <a:xfrm>
            <a:off x="4279392" y="3931920"/>
            <a:ext cx="1737360" cy="1691640"/>
          </a:xfrm>
          <a:prstGeom prst="rect">
            <a:avLst/>
          </a:prstGeom>
        </p:spPr>
      </p:pic>
      <p:sp>
        <p:nvSpPr>
          <p:cNvPr id="21" name="Text 10"/>
          <p:cNvSpPr txBox="1"/>
          <p:nvPr/>
        </p:nvSpPr>
        <p:spPr>
          <a:xfrm>
            <a:off x="4279392" y="5687568"/>
            <a:ext cx="1737360" cy="365760"/>
          </a:xfrm>
          <a:prstGeom prst="rect">
            <a:avLst/>
          </a:prstGeom>
          <a:noFill/>
          <a:ln/>
        </p:spPr>
        <p:txBody>
          <a:bodyPr wrap="square" lIns="0" tIns="0" rIns="0" bIns="0" rtlCol="0" anchor="t"/>
          <a:lstStyle/>
          <a:p>
            <a:pPr indent="0" marL="0">
              <a:buNone/>
            </a:pPr>
            <a:r>
              <a:rPr lang="en-US" sz="1400" b="1" i="1" dirty="0">
                <a:solidFill>
                  <a:srgbClr val="174A3A"/>
                </a:solidFill>
                <a:latin typeface="Cambria" pitchFamily="34" charset="0"/>
                <a:ea typeface="Cambria" pitchFamily="34" charset="-122"/>
                <a:cs typeface="Cambria" pitchFamily="34" charset="-120"/>
              </a:rPr>
              <a:t>Bifana</a:t>
            </a:r>
            <a:endParaRPr lang="en-US" sz="1400" dirty="0"/>
          </a:p>
        </p:txBody>
      </p:sp>
      <p:pic>
        <p:nvPicPr>
          <p:cNvPr id="22" name="Image 9" descr="/home/user/Portugal-Website/images/photos/f-queijo.jpg">    </p:cNvPr>
          <p:cNvPicPr>
            <a:picLocks noChangeAspect="1"/>
          </p:cNvPicPr>
          <p:nvPr/>
        </p:nvPicPr>
        <p:blipFill>
          <a:blip r:embed="rId10"/>
          <a:srcRect l="0" r="0" t="0" b="0"/>
          <a:stretch/>
        </p:blipFill>
        <p:spPr>
          <a:xfrm>
            <a:off x="6144768" y="3931920"/>
            <a:ext cx="1737360" cy="1691640"/>
          </a:xfrm>
          <a:prstGeom prst="rect">
            <a:avLst/>
          </a:prstGeom>
        </p:spPr>
      </p:pic>
      <p:sp>
        <p:nvSpPr>
          <p:cNvPr id="23" name="Text 11"/>
          <p:cNvSpPr txBox="1"/>
          <p:nvPr/>
        </p:nvSpPr>
        <p:spPr>
          <a:xfrm>
            <a:off x="6144768" y="5687568"/>
            <a:ext cx="1737360" cy="365760"/>
          </a:xfrm>
          <a:prstGeom prst="rect">
            <a:avLst/>
          </a:prstGeom>
          <a:noFill/>
          <a:ln/>
        </p:spPr>
        <p:txBody>
          <a:bodyPr wrap="square" lIns="0" tIns="0" rIns="0" bIns="0" rtlCol="0" anchor="t"/>
          <a:lstStyle/>
          <a:p>
            <a:pPr indent="0" marL="0">
              <a:buNone/>
            </a:pPr>
            <a:r>
              <a:rPr lang="en-US" sz="1400" b="1" i="1" dirty="0">
                <a:solidFill>
                  <a:srgbClr val="174A3A"/>
                </a:solidFill>
                <a:latin typeface="Cambria" pitchFamily="34" charset="0"/>
                <a:ea typeface="Cambria" pitchFamily="34" charset="-122"/>
                <a:cs typeface="Cambria" pitchFamily="34" charset="-120"/>
              </a:rPr>
              <a:t>Queijo da Serra</a:t>
            </a:r>
            <a:endParaRPr lang="en-US" sz="1400" dirty="0"/>
          </a:p>
        </p:txBody>
      </p:sp>
      <p:pic>
        <p:nvPicPr>
          <p:cNvPr id="24" name="Image 10" descr="/home/user/Portugal-Website/images/photos/f-alheira.jpg">    </p:cNvPr>
          <p:cNvPicPr>
            <a:picLocks noChangeAspect="1"/>
          </p:cNvPicPr>
          <p:nvPr/>
        </p:nvPicPr>
        <p:blipFill>
          <a:blip r:embed="rId11"/>
          <a:srcRect l="0" r="0" t="0" b="0"/>
          <a:stretch/>
        </p:blipFill>
        <p:spPr>
          <a:xfrm>
            <a:off x="8010144" y="3931920"/>
            <a:ext cx="1737360" cy="1691640"/>
          </a:xfrm>
          <a:prstGeom prst="rect">
            <a:avLst/>
          </a:prstGeom>
        </p:spPr>
      </p:pic>
      <p:sp>
        <p:nvSpPr>
          <p:cNvPr id="25" name="Text 12"/>
          <p:cNvSpPr txBox="1"/>
          <p:nvPr/>
        </p:nvSpPr>
        <p:spPr>
          <a:xfrm>
            <a:off x="8010144" y="5687568"/>
            <a:ext cx="1737360" cy="365760"/>
          </a:xfrm>
          <a:prstGeom prst="rect">
            <a:avLst/>
          </a:prstGeom>
          <a:noFill/>
          <a:ln/>
        </p:spPr>
        <p:txBody>
          <a:bodyPr wrap="square" lIns="0" tIns="0" rIns="0" bIns="0" rtlCol="0" anchor="t"/>
          <a:lstStyle/>
          <a:p>
            <a:pPr indent="0" marL="0">
              <a:buNone/>
            </a:pPr>
            <a:r>
              <a:rPr lang="en-US" sz="1400" b="1" i="1" dirty="0">
                <a:solidFill>
                  <a:srgbClr val="174A3A"/>
                </a:solidFill>
                <a:latin typeface="Cambria" pitchFamily="34" charset="0"/>
                <a:ea typeface="Cambria" pitchFamily="34" charset="-122"/>
                <a:cs typeface="Cambria" pitchFamily="34" charset="-120"/>
              </a:rPr>
              <a:t>Alheira</a:t>
            </a:r>
            <a:endParaRPr lang="en-US" sz="1400" dirty="0"/>
          </a:p>
        </p:txBody>
      </p:sp>
      <p:pic>
        <p:nvPicPr>
          <p:cNvPr id="26" name="Image 11" descr="/home/user/Portugal-Website/images/photos/f-ovos.jpg">    </p:cNvPr>
          <p:cNvPicPr>
            <a:picLocks noChangeAspect="1"/>
          </p:cNvPicPr>
          <p:nvPr/>
        </p:nvPicPr>
        <p:blipFill>
          <a:blip r:embed="rId12"/>
          <a:srcRect l="0" r="0" t="0" b="0"/>
          <a:stretch/>
        </p:blipFill>
        <p:spPr>
          <a:xfrm>
            <a:off x="9875520" y="3931920"/>
            <a:ext cx="1737360" cy="1691640"/>
          </a:xfrm>
          <a:prstGeom prst="rect">
            <a:avLst/>
          </a:prstGeom>
        </p:spPr>
      </p:pic>
      <p:sp>
        <p:nvSpPr>
          <p:cNvPr id="27" name="Text 13"/>
          <p:cNvSpPr txBox="1"/>
          <p:nvPr/>
        </p:nvSpPr>
        <p:spPr>
          <a:xfrm>
            <a:off x="9875520" y="5687568"/>
            <a:ext cx="1737360" cy="365760"/>
          </a:xfrm>
          <a:prstGeom prst="rect">
            <a:avLst/>
          </a:prstGeom>
          <a:noFill/>
          <a:ln/>
        </p:spPr>
        <p:txBody>
          <a:bodyPr wrap="square" lIns="0" tIns="0" rIns="0" bIns="0" rtlCol="0" anchor="t"/>
          <a:lstStyle/>
          <a:p>
            <a:pPr indent="0" marL="0">
              <a:buNone/>
            </a:pPr>
            <a:r>
              <a:rPr lang="en-US" sz="1400" b="1" i="1" dirty="0">
                <a:solidFill>
                  <a:srgbClr val="174A3A"/>
                </a:solidFill>
                <a:latin typeface="Cambria" pitchFamily="34" charset="0"/>
                <a:ea typeface="Cambria" pitchFamily="34" charset="-122"/>
                <a:cs typeface="Cambria" pitchFamily="34" charset="-120"/>
              </a:rPr>
              <a:t>Ovos moles</a:t>
            </a:r>
            <a:endParaRPr lang="en-US" sz="140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18D"/>
                </a:solidFill>
                <a:latin typeface="Calibri"/>
                <a:ea typeface="Calibri"/>
                <a:cs typeface="Calibri"/>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txBox="1"/>
          <p:nvPr/>
        </p:nvSpPr>
        <p:spPr>
          <a:xfrm>
            <a:off x="548640" y="411480"/>
            <a:ext cx="10972800" cy="274320"/>
          </a:xfrm>
          <a:prstGeom prst="rect">
            <a:avLst/>
          </a:prstGeom>
          <a:noFill/>
          <a:ln/>
        </p:spPr>
        <p:txBody>
          <a:bodyPr wrap="square" lIns="0" tIns="0" rIns="0" bIns="0" rtlCol="0" anchor="t"/>
          <a:lstStyle/>
          <a:p>
            <a:pPr indent="0" marL="0">
              <a:buNone/>
            </a:pPr>
            <a:r>
              <a:rPr lang="en-US" sz="1200" b="1" spc="300" kern="0" dirty="0">
                <a:solidFill>
                  <a:srgbClr val="A83232"/>
                </a:solidFill>
                <a:latin typeface="Calibri" pitchFamily="34" charset="0"/>
                <a:ea typeface="Calibri" pitchFamily="34" charset="-122"/>
                <a:cs typeface="Calibri" pitchFamily="34" charset="-120"/>
              </a:rPr>
              <a:t>UNE INFLUENCE MONDIALE</a:t>
            </a:r>
            <a:endParaRPr lang="en-US" sz="1200" dirty="0"/>
          </a:p>
        </p:txBody>
      </p:sp>
      <p:sp>
        <p:nvSpPr>
          <p:cNvPr id="3" name="Text 1"/>
          <p:cNvSpPr txBox="1"/>
          <p:nvPr/>
        </p:nvSpPr>
        <p:spPr>
          <a:xfrm>
            <a:off x="548640" y="685800"/>
            <a:ext cx="6858000" cy="685800"/>
          </a:xfrm>
          <a:prstGeom prst="rect">
            <a:avLst/>
          </a:prstGeom>
          <a:noFill/>
          <a:ln/>
        </p:spPr>
        <p:txBody>
          <a:bodyPr wrap="square" lIns="0" tIns="0" rIns="0" bIns="0" rtlCol="0" anchor="t"/>
          <a:lstStyle/>
          <a:p>
            <a:pPr indent="0" marL="0">
              <a:buNone/>
            </a:pPr>
            <a:r>
              <a:rPr lang="en-US" sz="2600" b="1" dirty="0">
                <a:solidFill>
                  <a:srgbClr val="174A3A"/>
                </a:solidFill>
                <a:latin typeface="Cambria" pitchFamily="34" charset="0"/>
                <a:ea typeface="Cambria" pitchFamily="34" charset="-122"/>
                <a:cs typeface="Cambria" pitchFamily="34" charset="-120"/>
              </a:rPr>
              <a:t>Le Portugal a changé la cuisine du monde</a:t>
            </a:r>
            <a:endParaRPr lang="en-US" sz="2600" dirty="0"/>
          </a:p>
        </p:txBody>
      </p:sp>
      <p:pic>
        <p:nvPicPr>
          <p:cNvPr id="4" name="Image 0" descr="/home/user/Portugal-Website/images/photos/x-tempura.jpg">    </p:cNvPr>
          <p:cNvPicPr>
            <a:picLocks noChangeAspect="1"/>
          </p:cNvPicPr>
          <p:nvPr/>
        </p:nvPicPr>
        <p:blipFill>
          <a:blip r:embed="rId1"/>
          <a:srcRect l="0" r="0" t="0" b="0"/>
          <a:stretch/>
        </p:blipFill>
        <p:spPr>
          <a:xfrm>
            <a:off x="548640" y="1600200"/>
            <a:ext cx="1051560" cy="822960"/>
          </a:xfrm>
          <a:prstGeom prst="rect">
            <a:avLst/>
          </a:prstGeom>
        </p:spPr>
      </p:pic>
      <p:sp>
        <p:nvSpPr>
          <p:cNvPr id="5" name="Text 2"/>
          <p:cNvSpPr txBox="1"/>
          <p:nvPr/>
        </p:nvSpPr>
        <p:spPr>
          <a:xfrm>
            <a:off x="1737360" y="1600200"/>
            <a:ext cx="1645920" cy="411480"/>
          </a:xfrm>
          <a:prstGeom prst="rect">
            <a:avLst/>
          </a:prstGeom>
          <a:noFill/>
          <a:ln/>
        </p:spPr>
        <p:txBody>
          <a:bodyPr wrap="square" lIns="0" tIns="0" rIns="0" bIns="0" rtlCol="0" anchor="t"/>
          <a:lstStyle/>
          <a:p>
            <a:pPr indent="0" marL="0">
              <a:buNone/>
            </a:pPr>
            <a:r>
              <a:rPr lang="en-US" sz="1800" b="1" i="1" dirty="0">
                <a:solidFill>
                  <a:srgbClr val="174A3A"/>
                </a:solidFill>
                <a:latin typeface="Cambria" pitchFamily="34" charset="0"/>
                <a:ea typeface="Cambria" pitchFamily="34" charset="-122"/>
                <a:cs typeface="Cambria" pitchFamily="34" charset="-120"/>
              </a:rPr>
              <a:t>Tempura</a:t>
            </a:r>
            <a:endParaRPr lang="en-US" sz="1800" dirty="0"/>
          </a:p>
        </p:txBody>
      </p:sp>
      <p:sp>
        <p:nvSpPr>
          <p:cNvPr id="6" name="Text 3"/>
          <p:cNvSpPr txBox="1"/>
          <p:nvPr/>
        </p:nvSpPr>
        <p:spPr>
          <a:xfrm>
            <a:off x="1737360" y="2011680"/>
            <a:ext cx="1645920" cy="274320"/>
          </a:xfrm>
          <a:prstGeom prst="rect">
            <a:avLst/>
          </a:prstGeom>
          <a:noFill/>
          <a:ln/>
        </p:spPr>
        <p:txBody>
          <a:bodyPr wrap="square" lIns="0" tIns="0" rIns="0" bIns="0" rtlCol="0" anchor="t"/>
          <a:lstStyle/>
          <a:p>
            <a:pPr indent="0" marL="0">
              <a:buNone/>
            </a:pPr>
            <a:r>
              <a:rPr lang="en-US" sz="900" b="1" spc="100" kern="0" dirty="0">
                <a:solidFill>
                  <a:srgbClr val="4A524E"/>
                </a:solidFill>
                <a:latin typeface="Calibri" pitchFamily="34" charset="0"/>
                <a:ea typeface="Calibri" pitchFamily="34" charset="-122"/>
                <a:cs typeface="Calibri" pitchFamily="34" charset="-120"/>
              </a:rPr>
              <a:t>JAPON</a:t>
            </a:r>
            <a:endParaRPr lang="en-US" sz="900" dirty="0"/>
          </a:p>
        </p:txBody>
      </p:sp>
      <p:sp>
        <p:nvSpPr>
          <p:cNvPr id="7" name="Text 4"/>
          <p:cNvSpPr txBox="1"/>
          <p:nvPr/>
        </p:nvSpPr>
        <p:spPr>
          <a:xfrm>
            <a:off x="3429000" y="1600200"/>
            <a:ext cx="3931920" cy="868680"/>
          </a:xfrm>
          <a:prstGeom prst="rect">
            <a:avLst/>
          </a:prstGeom>
          <a:noFill/>
          <a:ln/>
        </p:spPr>
        <p:txBody>
          <a:bodyPr wrap="square" lIns="0" tIns="0" rIns="0" bIns="0" rtlCol="0" anchor="t">
            <a:normAutofit/>
          </a:bodyPr>
          <a:lstStyle/>
          <a:p>
            <a:pPr indent="0" marL="0">
              <a:buNone/>
            </a:pPr>
            <a:r>
              <a:rPr lang="en-US" sz="1150" dirty="0">
                <a:solidFill>
                  <a:srgbClr val="17211D"/>
                </a:solidFill>
                <a:latin typeface="Calibri" pitchFamily="34" charset="0"/>
                <a:ea typeface="Calibri" pitchFamily="34" charset="-122"/>
                <a:cs typeface="Calibri" pitchFamily="34" charset="-120"/>
              </a:rPr>
              <a:t>Les missionnaires portugais mangeaient du poisson et des légumes frits pendant les jours de jeûne des « Quatre-Temps » (têmporas) : une origine probable de la tempura.</a:t>
            </a:r>
            <a:endParaRPr lang="en-US" sz="1150" dirty="0"/>
          </a:p>
        </p:txBody>
      </p:sp>
      <p:pic>
        <p:nvPicPr>
          <p:cNvPr id="8" name="Image 1" descr="/home/user/Portugal-Website/images/photos/x-vindaloo.jpg">    </p:cNvPr>
          <p:cNvPicPr>
            <a:picLocks noChangeAspect="1"/>
          </p:cNvPicPr>
          <p:nvPr/>
        </p:nvPicPr>
        <p:blipFill>
          <a:blip r:embed="rId2"/>
          <a:srcRect l="0" r="0" t="0" b="0"/>
          <a:stretch/>
        </p:blipFill>
        <p:spPr>
          <a:xfrm>
            <a:off x="548640" y="2532888"/>
            <a:ext cx="1051560" cy="822960"/>
          </a:xfrm>
          <a:prstGeom prst="rect">
            <a:avLst/>
          </a:prstGeom>
        </p:spPr>
      </p:pic>
      <p:sp>
        <p:nvSpPr>
          <p:cNvPr id="9" name="Text 5"/>
          <p:cNvSpPr txBox="1"/>
          <p:nvPr/>
        </p:nvSpPr>
        <p:spPr>
          <a:xfrm>
            <a:off x="1737360" y="2532888"/>
            <a:ext cx="1645920" cy="411480"/>
          </a:xfrm>
          <a:prstGeom prst="rect">
            <a:avLst/>
          </a:prstGeom>
          <a:noFill/>
          <a:ln/>
        </p:spPr>
        <p:txBody>
          <a:bodyPr wrap="square" lIns="0" tIns="0" rIns="0" bIns="0" rtlCol="0" anchor="t"/>
          <a:lstStyle/>
          <a:p>
            <a:pPr indent="0" marL="0">
              <a:buNone/>
            </a:pPr>
            <a:r>
              <a:rPr lang="en-US" sz="1800" b="1" i="1" dirty="0">
                <a:solidFill>
                  <a:srgbClr val="A83232"/>
                </a:solidFill>
                <a:latin typeface="Cambria" pitchFamily="34" charset="0"/>
                <a:ea typeface="Cambria" pitchFamily="34" charset="-122"/>
                <a:cs typeface="Cambria" pitchFamily="34" charset="-120"/>
              </a:rPr>
              <a:t>Vindaloo</a:t>
            </a:r>
            <a:endParaRPr lang="en-US" sz="1800" dirty="0"/>
          </a:p>
        </p:txBody>
      </p:sp>
      <p:sp>
        <p:nvSpPr>
          <p:cNvPr id="10" name="Text 6"/>
          <p:cNvSpPr txBox="1"/>
          <p:nvPr/>
        </p:nvSpPr>
        <p:spPr>
          <a:xfrm>
            <a:off x="1737360" y="2944368"/>
            <a:ext cx="1645920" cy="274320"/>
          </a:xfrm>
          <a:prstGeom prst="rect">
            <a:avLst/>
          </a:prstGeom>
          <a:noFill/>
          <a:ln/>
        </p:spPr>
        <p:txBody>
          <a:bodyPr wrap="square" lIns="0" tIns="0" rIns="0" bIns="0" rtlCol="0" anchor="t"/>
          <a:lstStyle/>
          <a:p>
            <a:pPr indent="0" marL="0">
              <a:buNone/>
            </a:pPr>
            <a:r>
              <a:rPr lang="en-US" sz="900" b="1" spc="100" kern="0" dirty="0">
                <a:solidFill>
                  <a:srgbClr val="4A524E"/>
                </a:solidFill>
                <a:latin typeface="Calibri" pitchFamily="34" charset="0"/>
                <a:ea typeface="Calibri" pitchFamily="34" charset="-122"/>
                <a:cs typeface="Calibri" pitchFamily="34" charset="-120"/>
              </a:rPr>
              <a:t>INDE</a:t>
            </a:r>
            <a:endParaRPr lang="en-US" sz="900" dirty="0"/>
          </a:p>
        </p:txBody>
      </p:sp>
      <p:sp>
        <p:nvSpPr>
          <p:cNvPr id="11" name="Text 7"/>
          <p:cNvSpPr txBox="1"/>
          <p:nvPr/>
        </p:nvSpPr>
        <p:spPr>
          <a:xfrm>
            <a:off x="3429000" y="2532888"/>
            <a:ext cx="3931920" cy="868680"/>
          </a:xfrm>
          <a:prstGeom prst="rect">
            <a:avLst/>
          </a:prstGeom>
          <a:noFill/>
          <a:ln/>
        </p:spPr>
        <p:txBody>
          <a:bodyPr wrap="square" lIns="0" tIns="0" rIns="0" bIns="0" rtlCol="0" anchor="t">
            <a:normAutofit/>
          </a:bodyPr>
          <a:lstStyle/>
          <a:p>
            <a:pPr indent="0" marL="0">
              <a:buNone/>
            </a:pPr>
            <a:r>
              <a:rPr lang="en-US" sz="1150" dirty="0">
                <a:solidFill>
                  <a:srgbClr val="17211D"/>
                </a:solidFill>
                <a:latin typeface="Calibri" pitchFamily="34" charset="0"/>
                <a:ea typeface="Calibri" pitchFamily="34" charset="-122"/>
                <a:cs typeface="Calibri" pitchFamily="34" charset="-120"/>
              </a:rPr>
              <a:t>Ce curry de Goa tire son nom de la « carne de vinha d'alhos », une viande marinée au vin et à l'ail apportée par les Portugais.</a:t>
            </a:r>
            <a:endParaRPr lang="en-US" sz="1150" dirty="0"/>
          </a:p>
        </p:txBody>
      </p:sp>
      <p:pic>
        <p:nvPicPr>
          <p:cNvPr id="12" name="Image 2" descr="/home/user/Portugal-Website/images/photos/x-piri.jpg">    </p:cNvPr>
          <p:cNvPicPr>
            <a:picLocks noChangeAspect="1"/>
          </p:cNvPicPr>
          <p:nvPr/>
        </p:nvPicPr>
        <p:blipFill>
          <a:blip r:embed="rId3"/>
          <a:srcRect l="0" r="0" t="0" b="0"/>
          <a:stretch/>
        </p:blipFill>
        <p:spPr>
          <a:xfrm>
            <a:off x="548640" y="3465576"/>
            <a:ext cx="1051560" cy="822960"/>
          </a:xfrm>
          <a:prstGeom prst="rect">
            <a:avLst/>
          </a:prstGeom>
        </p:spPr>
      </p:pic>
      <p:sp>
        <p:nvSpPr>
          <p:cNvPr id="13" name="Text 8"/>
          <p:cNvSpPr txBox="1"/>
          <p:nvPr/>
        </p:nvSpPr>
        <p:spPr>
          <a:xfrm>
            <a:off x="1737360" y="3465576"/>
            <a:ext cx="1645920" cy="411480"/>
          </a:xfrm>
          <a:prstGeom prst="rect">
            <a:avLst/>
          </a:prstGeom>
          <a:noFill/>
          <a:ln/>
        </p:spPr>
        <p:txBody>
          <a:bodyPr wrap="square" lIns="0" tIns="0" rIns="0" bIns="0" rtlCol="0" anchor="t"/>
          <a:lstStyle/>
          <a:p>
            <a:pPr indent="0" marL="0">
              <a:buNone/>
            </a:pPr>
            <a:r>
              <a:rPr lang="en-US" sz="1800" b="1" i="1" dirty="0">
                <a:solidFill>
                  <a:srgbClr val="1E4F8F"/>
                </a:solidFill>
                <a:latin typeface="Cambria" pitchFamily="34" charset="0"/>
                <a:ea typeface="Cambria" pitchFamily="34" charset="-122"/>
                <a:cs typeface="Cambria" pitchFamily="34" charset="-120"/>
              </a:rPr>
              <a:t>Piri-piri</a:t>
            </a:r>
            <a:endParaRPr lang="en-US" sz="1800" dirty="0"/>
          </a:p>
        </p:txBody>
      </p:sp>
      <p:sp>
        <p:nvSpPr>
          <p:cNvPr id="14" name="Text 9"/>
          <p:cNvSpPr txBox="1"/>
          <p:nvPr/>
        </p:nvSpPr>
        <p:spPr>
          <a:xfrm>
            <a:off x="1737360" y="3877056"/>
            <a:ext cx="1645920" cy="274320"/>
          </a:xfrm>
          <a:prstGeom prst="rect">
            <a:avLst/>
          </a:prstGeom>
          <a:noFill/>
          <a:ln/>
        </p:spPr>
        <p:txBody>
          <a:bodyPr wrap="square" lIns="0" tIns="0" rIns="0" bIns="0" rtlCol="0" anchor="t"/>
          <a:lstStyle/>
          <a:p>
            <a:pPr indent="0" marL="0">
              <a:buNone/>
            </a:pPr>
            <a:r>
              <a:rPr lang="en-US" sz="900" b="1" spc="100" kern="0" dirty="0">
                <a:solidFill>
                  <a:srgbClr val="4A524E"/>
                </a:solidFill>
                <a:latin typeface="Calibri" pitchFamily="34" charset="0"/>
                <a:ea typeface="Calibri" pitchFamily="34" charset="-122"/>
                <a:cs typeface="Calibri" pitchFamily="34" charset="-120"/>
              </a:rPr>
              <a:t>ASIE &amp; AFRIQUE</a:t>
            </a:r>
            <a:endParaRPr lang="en-US" sz="900" dirty="0"/>
          </a:p>
        </p:txBody>
      </p:sp>
      <p:sp>
        <p:nvSpPr>
          <p:cNvPr id="15" name="Text 10"/>
          <p:cNvSpPr txBox="1"/>
          <p:nvPr/>
        </p:nvSpPr>
        <p:spPr>
          <a:xfrm>
            <a:off x="3429000" y="3465576"/>
            <a:ext cx="3931920" cy="868680"/>
          </a:xfrm>
          <a:prstGeom prst="rect">
            <a:avLst/>
          </a:prstGeom>
          <a:noFill/>
          <a:ln/>
        </p:spPr>
        <p:txBody>
          <a:bodyPr wrap="square" lIns="0" tIns="0" rIns="0" bIns="0" rtlCol="0" anchor="t">
            <a:normAutofit/>
          </a:bodyPr>
          <a:lstStyle/>
          <a:p>
            <a:pPr indent="0" marL="0">
              <a:buNone/>
            </a:pPr>
            <a:r>
              <a:rPr lang="en-US" sz="1150" dirty="0">
                <a:solidFill>
                  <a:srgbClr val="17211D"/>
                </a:solidFill>
                <a:latin typeface="Calibri" pitchFamily="34" charset="0"/>
                <a:ea typeface="Calibri" pitchFamily="34" charset="-122"/>
                <a:cs typeface="Calibri" pitchFamily="34" charset="-120"/>
              </a:rPr>
              <a:t>Les navigateurs portugais ont diffusé le piment venu d'Amérique, jusqu'en Inde et en Thaïlande.</a:t>
            </a:r>
            <a:endParaRPr lang="en-US" sz="1150" dirty="0"/>
          </a:p>
        </p:txBody>
      </p:sp>
      <p:pic>
        <p:nvPicPr>
          <p:cNvPr id="16" name="Image 3" descr="/home/user/Portugal-Website/images/photos/x-kasutera.jpg">    </p:cNvPr>
          <p:cNvPicPr>
            <a:picLocks noChangeAspect="1"/>
          </p:cNvPicPr>
          <p:nvPr/>
        </p:nvPicPr>
        <p:blipFill>
          <a:blip r:embed="rId4"/>
          <a:srcRect l="0" r="0" t="0" b="0"/>
          <a:stretch/>
        </p:blipFill>
        <p:spPr>
          <a:xfrm>
            <a:off x="548640" y="4398264"/>
            <a:ext cx="1051560" cy="822960"/>
          </a:xfrm>
          <a:prstGeom prst="rect">
            <a:avLst/>
          </a:prstGeom>
        </p:spPr>
      </p:pic>
      <p:sp>
        <p:nvSpPr>
          <p:cNvPr id="17" name="Text 11"/>
          <p:cNvSpPr txBox="1"/>
          <p:nvPr/>
        </p:nvSpPr>
        <p:spPr>
          <a:xfrm>
            <a:off x="1737360" y="4398264"/>
            <a:ext cx="1645920" cy="411480"/>
          </a:xfrm>
          <a:prstGeom prst="rect">
            <a:avLst/>
          </a:prstGeom>
          <a:noFill/>
          <a:ln/>
        </p:spPr>
        <p:txBody>
          <a:bodyPr wrap="square" lIns="0" tIns="0" rIns="0" bIns="0" rtlCol="0" anchor="t"/>
          <a:lstStyle/>
          <a:p>
            <a:pPr indent="0" marL="0">
              <a:buNone/>
            </a:pPr>
            <a:r>
              <a:rPr lang="en-US" sz="1800" b="1" i="1" dirty="0">
                <a:solidFill>
                  <a:srgbClr val="B8955A"/>
                </a:solidFill>
                <a:latin typeface="Cambria" pitchFamily="34" charset="0"/>
                <a:ea typeface="Cambria" pitchFamily="34" charset="-122"/>
                <a:cs typeface="Cambria" pitchFamily="34" charset="-120"/>
              </a:rPr>
              <a:t>Kasutera</a:t>
            </a:r>
            <a:endParaRPr lang="en-US" sz="1800" dirty="0"/>
          </a:p>
        </p:txBody>
      </p:sp>
      <p:sp>
        <p:nvSpPr>
          <p:cNvPr id="18" name="Text 12"/>
          <p:cNvSpPr txBox="1"/>
          <p:nvPr/>
        </p:nvSpPr>
        <p:spPr>
          <a:xfrm>
            <a:off x="1737360" y="4809744"/>
            <a:ext cx="1645920" cy="274320"/>
          </a:xfrm>
          <a:prstGeom prst="rect">
            <a:avLst/>
          </a:prstGeom>
          <a:noFill/>
          <a:ln/>
        </p:spPr>
        <p:txBody>
          <a:bodyPr wrap="square" lIns="0" tIns="0" rIns="0" bIns="0" rtlCol="0" anchor="t"/>
          <a:lstStyle/>
          <a:p>
            <a:pPr indent="0" marL="0">
              <a:buNone/>
            </a:pPr>
            <a:r>
              <a:rPr lang="en-US" sz="900" b="1" spc="100" kern="0" dirty="0">
                <a:solidFill>
                  <a:srgbClr val="4A524E"/>
                </a:solidFill>
                <a:latin typeface="Calibri" pitchFamily="34" charset="0"/>
                <a:ea typeface="Calibri" pitchFamily="34" charset="-122"/>
                <a:cs typeface="Calibri" pitchFamily="34" charset="-120"/>
              </a:rPr>
              <a:t>JAPON</a:t>
            </a:r>
            <a:endParaRPr lang="en-US" sz="900" dirty="0"/>
          </a:p>
        </p:txBody>
      </p:sp>
      <p:sp>
        <p:nvSpPr>
          <p:cNvPr id="19" name="Text 13"/>
          <p:cNvSpPr txBox="1"/>
          <p:nvPr/>
        </p:nvSpPr>
        <p:spPr>
          <a:xfrm>
            <a:off x="3429000" y="4398264"/>
            <a:ext cx="3931920" cy="868680"/>
          </a:xfrm>
          <a:prstGeom prst="rect">
            <a:avLst/>
          </a:prstGeom>
          <a:noFill/>
          <a:ln/>
        </p:spPr>
        <p:txBody>
          <a:bodyPr wrap="square" lIns="0" tIns="0" rIns="0" bIns="0" rtlCol="0" anchor="t">
            <a:normAutofit/>
          </a:bodyPr>
          <a:lstStyle/>
          <a:p>
            <a:pPr indent="0" marL="0">
              <a:buNone/>
            </a:pPr>
            <a:r>
              <a:rPr lang="en-US" sz="1150" dirty="0">
                <a:solidFill>
                  <a:srgbClr val="17211D"/>
                </a:solidFill>
                <a:latin typeface="Calibri" pitchFamily="34" charset="0"/>
                <a:ea typeface="Calibri" pitchFamily="34" charset="-122"/>
                <a:cs typeface="Calibri" pitchFamily="34" charset="-120"/>
              </a:rPr>
              <a:t>Ce gâteau japonais vient du « pão de Castela », le gâteau de Castille apporté par les Portugais à Nagasaki.</a:t>
            </a:r>
            <a:endParaRPr lang="en-US" sz="1150" dirty="0"/>
          </a:p>
        </p:txBody>
      </p:sp>
      <p:pic>
        <p:nvPicPr>
          <p:cNvPr id="20" name="Image 4" descr="/home/user/Portugal-Website/images/photos/x-marmelada.jpg">    </p:cNvPr>
          <p:cNvPicPr>
            <a:picLocks noChangeAspect="1"/>
          </p:cNvPicPr>
          <p:nvPr/>
        </p:nvPicPr>
        <p:blipFill>
          <a:blip r:embed="rId5"/>
          <a:srcRect l="0" r="0" t="0" b="0"/>
          <a:stretch/>
        </p:blipFill>
        <p:spPr>
          <a:xfrm>
            <a:off x="548640" y="5330952"/>
            <a:ext cx="1051560" cy="822960"/>
          </a:xfrm>
          <a:prstGeom prst="rect">
            <a:avLst/>
          </a:prstGeom>
        </p:spPr>
      </p:pic>
      <p:sp>
        <p:nvSpPr>
          <p:cNvPr id="21" name="Text 14"/>
          <p:cNvSpPr txBox="1"/>
          <p:nvPr/>
        </p:nvSpPr>
        <p:spPr>
          <a:xfrm>
            <a:off x="1737360" y="5330952"/>
            <a:ext cx="1645920" cy="411480"/>
          </a:xfrm>
          <a:prstGeom prst="rect">
            <a:avLst/>
          </a:prstGeom>
          <a:noFill/>
          <a:ln/>
        </p:spPr>
        <p:txBody>
          <a:bodyPr wrap="square" lIns="0" tIns="0" rIns="0" bIns="0" rtlCol="0" anchor="t"/>
          <a:lstStyle/>
          <a:p>
            <a:pPr indent="0" marL="0">
              <a:buNone/>
            </a:pPr>
            <a:r>
              <a:rPr lang="en-US" sz="1800" b="1" i="1" dirty="0">
                <a:solidFill>
                  <a:srgbClr val="174A3A"/>
                </a:solidFill>
                <a:latin typeface="Cambria" pitchFamily="34" charset="0"/>
                <a:ea typeface="Cambria" pitchFamily="34" charset="-122"/>
                <a:cs typeface="Cambria" pitchFamily="34" charset="-120"/>
              </a:rPr>
              <a:t>Marmelada</a:t>
            </a:r>
            <a:endParaRPr lang="en-US" sz="1800" dirty="0"/>
          </a:p>
        </p:txBody>
      </p:sp>
      <p:sp>
        <p:nvSpPr>
          <p:cNvPr id="22" name="Text 15"/>
          <p:cNvSpPr txBox="1"/>
          <p:nvPr/>
        </p:nvSpPr>
        <p:spPr>
          <a:xfrm>
            <a:off x="1737360" y="5742432"/>
            <a:ext cx="1645920" cy="274320"/>
          </a:xfrm>
          <a:prstGeom prst="rect">
            <a:avLst/>
          </a:prstGeom>
          <a:noFill/>
          <a:ln/>
        </p:spPr>
        <p:txBody>
          <a:bodyPr wrap="square" lIns="0" tIns="0" rIns="0" bIns="0" rtlCol="0" anchor="t"/>
          <a:lstStyle/>
          <a:p>
            <a:pPr indent="0" marL="0">
              <a:buNone/>
            </a:pPr>
            <a:r>
              <a:rPr lang="en-US" sz="900" b="1" spc="100" kern="0" dirty="0">
                <a:solidFill>
                  <a:srgbClr val="4A524E"/>
                </a:solidFill>
                <a:latin typeface="Calibri" pitchFamily="34" charset="0"/>
                <a:ea typeface="Calibri" pitchFamily="34" charset="-122"/>
                <a:cs typeface="Calibri" pitchFamily="34" charset="-120"/>
              </a:rPr>
              <a:t>EUROPE</a:t>
            </a:r>
            <a:endParaRPr lang="en-US" sz="900" dirty="0"/>
          </a:p>
        </p:txBody>
      </p:sp>
      <p:sp>
        <p:nvSpPr>
          <p:cNvPr id="23" name="Text 16"/>
          <p:cNvSpPr txBox="1"/>
          <p:nvPr/>
        </p:nvSpPr>
        <p:spPr>
          <a:xfrm>
            <a:off x="3429000" y="5330952"/>
            <a:ext cx="3931920" cy="868680"/>
          </a:xfrm>
          <a:prstGeom prst="rect">
            <a:avLst/>
          </a:prstGeom>
          <a:noFill/>
          <a:ln/>
        </p:spPr>
        <p:txBody>
          <a:bodyPr wrap="square" lIns="0" tIns="0" rIns="0" bIns="0" rtlCol="0" anchor="t">
            <a:normAutofit/>
          </a:bodyPr>
          <a:lstStyle/>
          <a:p>
            <a:pPr indent="0" marL="0">
              <a:buNone/>
            </a:pPr>
            <a:r>
              <a:rPr lang="en-US" sz="1150" dirty="0">
                <a:solidFill>
                  <a:srgbClr val="17211D"/>
                </a:solidFill>
                <a:latin typeface="Calibri" pitchFamily="34" charset="0"/>
                <a:ea typeface="Calibri" pitchFamily="34" charset="-122"/>
                <a:cs typeface="Calibri" pitchFamily="34" charset="-120"/>
              </a:rPr>
              <a:t>Le mot « marmelade » vient du portugais « marmelada », une pâte de coings.</a:t>
            </a:r>
            <a:endParaRPr lang="en-US" sz="1150" dirty="0"/>
          </a:p>
        </p:txBody>
      </p:sp>
      <p:sp>
        <p:nvSpPr>
          <p:cNvPr id="24" name="Shape 17"/>
          <p:cNvSpPr/>
          <p:nvPr/>
        </p:nvSpPr>
        <p:spPr>
          <a:xfrm>
            <a:off x="7680960" y="548640"/>
            <a:ext cx="3959352" cy="5669280"/>
          </a:xfrm>
          <a:prstGeom prst="roundRect">
            <a:avLst>
              <a:gd name="adj" fmla="val 1848"/>
            </a:avLst>
          </a:prstGeom>
          <a:solidFill>
            <a:srgbClr val="5E2230"/>
          </a:solidFill>
          <a:ln w="12700">
            <a:solidFill>
              <a:srgbClr val="5E2230"/>
            </a:solidFill>
            <a:prstDash val="solid"/>
          </a:ln>
          <a:effectLst>
            <a:outerShdw sx="100000" sy="100000" kx="0" ky="0" algn="bl" rotWithShape="0" blurRad="101600" dist="38100" dir="5400000">
              <a:srgbClr val="000000">
                <a:alpha val="18000"/>
              </a:srgbClr>
            </a:outerShdw>
          </a:effectLst>
        </p:spPr>
      </p:sp>
      <p:sp>
        <p:nvSpPr>
          <p:cNvPr id="25" name="Text 18"/>
          <p:cNvSpPr txBox="1"/>
          <p:nvPr/>
        </p:nvSpPr>
        <p:spPr>
          <a:xfrm>
            <a:off x="7955280" y="777240"/>
            <a:ext cx="3474720" cy="274320"/>
          </a:xfrm>
          <a:prstGeom prst="rect">
            <a:avLst/>
          </a:prstGeom>
          <a:noFill/>
          <a:ln/>
        </p:spPr>
        <p:txBody>
          <a:bodyPr wrap="square" lIns="0" tIns="0" rIns="0" bIns="0" rtlCol="0" anchor="t"/>
          <a:lstStyle/>
          <a:p>
            <a:pPr indent="0" marL="0">
              <a:buNone/>
            </a:pPr>
            <a:r>
              <a:rPr lang="en-US" sz="1200" b="1" spc="200" kern="0" dirty="0">
                <a:solidFill>
                  <a:srgbClr val="F2C14E"/>
                </a:solidFill>
                <a:latin typeface="Calibri" pitchFamily="34" charset="0"/>
                <a:ea typeface="Calibri" pitchFamily="34" charset="-122"/>
                <a:cs typeface="Calibri" pitchFamily="34" charset="-120"/>
              </a:rPr>
              <a:t>LES VINS</a:t>
            </a:r>
            <a:endParaRPr lang="en-US" sz="1200" dirty="0"/>
          </a:p>
        </p:txBody>
      </p:sp>
      <p:pic>
        <p:nvPicPr>
          <p:cNvPr id="26" name="Image 5" descr="/home/user/Portugal-Website/images/photos/x-porto-wine.jpg">    </p:cNvPr>
          <p:cNvPicPr>
            <a:picLocks noChangeAspect="1"/>
          </p:cNvPicPr>
          <p:nvPr/>
        </p:nvPicPr>
        <p:blipFill>
          <a:blip r:embed="rId6"/>
          <a:srcRect l="0" r="0" t="0" b="0"/>
          <a:stretch/>
        </p:blipFill>
        <p:spPr>
          <a:xfrm>
            <a:off x="7955280" y="1234440"/>
            <a:ext cx="1188720" cy="1371600"/>
          </a:xfrm>
          <a:prstGeom prst="rect">
            <a:avLst/>
          </a:prstGeom>
        </p:spPr>
      </p:pic>
      <p:sp>
        <p:nvSpPr>
          <p:cNvPr id="27" name="Text 19"/>
          <p:cNvSpPr txBox="1"/>
          <p:nvPr/>
        </p:nvSpPr>
        <p:spPr>
          <a:xfrm>
            <a:off x="9281160" y="1188720"/>
            <a:ext cx="2286000" cy="457200"/>
          </a:xfrm>
          <a:prstGeom prst="rect">
            <a:avLst/>
          </a:prstGeom>
          <a:noFill/>
          <a:ln/>
        </p:spPr>
        <p:txBody>
          <a:bodyPr wrap="square" lIns="0" tIns="0" rIns="0" bIns="0" rtlCol="0" anchor="t"/>
          <a:lstStyle/>
          <a:p>
            <a:pPr indent="0" marL="0">
              <a:buNone/>
            </a:pPr>
            <a:r>
              <a:rPr lang="en-US" sz="1900" b="1" i="1" dirty="0">
                <a:solidFill>
                  <a:srgbClr val="FFFFFF"/>
                </a:solidFill>
                <a:latin typeface="Cambria" pitchFamily="34" charset="0"/>
                <a:ea typeface="Cambria" pitchFamily="34" charset="-122"/>
                <a:cs typeface="Cambria" pitchFamily="34" charset="-120"/>
              </a:rPr>
              <a:t>Vinho do Porto</a:t>
            </a:r>
            <a:endParaRPr lang="en-US" sz="1900" dirty="0"/>
          </a:p>
        </p:txBody>
      </p:sp>
      <p:sp>
        <p:nvSpPr>
          <p:cNvPr id="28" name="Text 20"/>
          <p:cNvSpPr txBox="1"/>
          <p:nvPr/>
        </p:nvSpPr>
        <p:spPr>
          <a:xfrm>
            <a:off x="9281160" y="1645920"/>
            <a:ext cx="2240280" cy="1051560"/>
          </a:xfrm>
          <a:prstGeom prst="rect">
            <a:avLst/>
          </a:prstGeom>
          <a:noFill/>
          <a:ln/>
        </p:spPr>
        <p:txBody>
          <a:bodyPr wrap="square" lIns="0" tIns="0" rIns="0" bIns="0" rtlCol="0" anchor="t">
            <a:normAutofit/>
          </a:bodyPr>
          <a:lstStyle/>
          <a:p>
            <a:pPr indent="0" marL="0">
              <a:buNone/>
            </a:pPr>
            <a:r>
              <a:rPr lang="en-US" sz="1100" dirty="0">
                <a:solidFill>
                  <a:srgbClr val="F1E4E7"/>
                </a:solidFill>
                <a:latin typeface="Calibri" pitchFamily="34" charset="0"/>
                <a:ea typeface="Calibri" pitchFamily="34" charset="-122"/>
                <a:cs typeface="Calibri" pitchFamily="34" charset="-120"/>
              </a:rPr>
              <a:t>Vin doux de la vallée du Douro, l'une des plus anciennes régions viticoles délimitées au monde (1756).</a:t>
            </a:r>
            <a:endParaRPr lang="en-US" sz="1100" dirty="0"/>
          </a:p>
        </p:txBody>
      </p:sp>
      <p:pic>
        <p:nvPicPr>
          <p:cNvPr id="29" name="Image 6" descr="/home/user/Portugal-Website/images/photos/x-vverde.jpg">    </p:cNvPr>
          <p:cNvPicPr>
            <a:picLocks noChangeAspect="1"/>
          </p:cNvPicPr>
          <p:nvPr/>
        </p:nvPicPr>
        <p:blipFill>
          <a:blip r:embed="rId7"/>
          <a:srcRect l="0" r="0" t="0" b="0"/>
          <a:stretch/>
        </p:blipFill>
        <p:spPr>
          <a:xfrm>
            <a:off x="7955280" y="2880360"/>
            <a:ext cx="1188720" cy="1371600"/>
          </a:xfrm>
          <a:prstGeom prst="rect">
            <a:avLst/>
          </a:prstGeom>
        </p:spPr>
      </p:pic>
      <p:sp>
        <p:nvSpPr>
          <p:cNvPr id="30" name="Text 21"/>
          <p:cNvSpPr txBox="1"/>
          <p:nvPr/>
        </p:nvSpPr>
        <p:spPr>
          <a:xfrm>
            <a:off x="9281160" y="2834640"/>
            <a:ext cx="2286000" cy="457200"/>
          </a:xfrm>
          <a:prstGeom prst="rect">
            <a:avLst/>
          </a:prstGeom>
          <a:noFill/>
          <a:ln/>
        </p:spPr>
        <p:txBody>
          <a:bodyPr wrap="square" lIns="0" tIns="0" rIns="0" bIns="0" rtlCol="0" anchor="t"/>
          <a:lstStyle/>
          <a:p>
            <a:pPr indent="0" marL="0">
              <a:buNone/>
            </a:pPr>
            <a:r>
              <a:rPr lang="en-US" sz="1900" b="1" i="1" dirty="0">
                <a:solidFill>
                  <a:srgbClr val="FFFFFF"/>
                </a:solidFill>
                <a:latin typeface="Cambria" pitchFamily="34" charset="0"/>
                <a:ea typeface="Cambria" pitchFamily="34" charset="-122"/>
                <a:cs typeface="Cambria" pitchFamily="34" charset="-120"/>
              </a:rPr>
              <a:t>Vinho verde</a:t>
            </a:r>
            <a:endParaRPr lang="en-US" sz="1900" dirty="0"/>
          </a:p>
        </p:txBody>
      </p:sp>
      <p:sp>
        <p:nvSpPr>
          <p:cNvPr id="31" name="Text 22"/>
          <p:cNvSpPr txBox="1"/>
          <p:nvPr/>
        </p:nvSpPr>
        <p:spPr>
          <a:xfrm>
            <a:off x="9281160" y="3291840"/>
            <a:ext cx="2240280" cy="1051560"/>
          </a:xfrm>
          <a:prstGeom prst="rect">
            <a:avLst/>
          </a:prstGeom>
          <a:noFill/>
          <a:ln/>
        </p:spPr>
        <p:txBody>
          <a:bodyPr wrap="square" lIns="0" tIns="0" rIns="0" bIns="0" rtlCol="0" anchor="t">
            <a:normAutofit/>
          </a:bodyPr>
          <a:lstStyle/>
          <a:p>
            <a:pPr indent="0" marL="0">
              <a:buNone/>
            </a:pPr>
            <a:r>
              <a:rPr lang="en-US" sz="1100" dirty="0">
                <a:solidFill>
                  <a:srgbClr val="F1E4E7"/>
                </a:solidFill>
                <a:latin typeface="Calibri" pitchFamily="34" charset="0"/>
                <a:ea typeface="Calibri" pitchFamily="34" charset="-122"/>
                <a:cs typeface="Calibri" pitchFamily="34" charset="-120"/>
              </a:rPr>
              <a:t>Vin jeune et frais du Minho, au nord du pays.</a:t>
            </a:r>
            <a:endParaRPr lang="en-US" sz="1100" dirty="0"/>
          </a:p>
        </p:txBody>
      </p:sp>
      <p:pic>
        <p:nvPicPr>
          <p:cNvPr id="32" name="Image 7" descr="/home/user/Portugal-Website/images/photos/x-dao.jpg">    </p:cNvPr>
          <p:cNvPicPr>
            <a:picLocks noChangeAspect="1"/>
          </p:cNvPicPr>
          <p:nvPr/>
        </p:nvPicPr>
        <p:blipFill>
          <a:blip r:embed="rId8"/>
          <a:srcRect l="0" r="0" t="0" b="0"/>
          <a:stretch/>
        </p:blipFill>
        <p:spPr>
          <a:xfrm>
            <a:off x="7955280" y="4526280"/>
            <a:ext cx="1188720" cy="1371600"/>
          </a:xfrm>
          <a:prstGeom prst="rect">
            <a:avLst/>
          </a:prstGeom>
        </p:spPr>
      </p:pic>
      <p:sp>
        <p:nvSpPr>
          <p:cNvPr id="33" name="Text 23"/>
          <p:cNvSpPr txBox="1"/>
          <p:nvPr/>
        </p:nvSpPr>
        <p:spPr>
          <a:xfrm>
            <a:off x="9281160" y="4480560"/>
            <a:ext cx="2286000" cy="457200"/>
          </a:xfrm>
          <a:prstGeom prst="rect">
            <a:avLst/>
          </a:prstGeom>
          <a:noFill/>
          <a:ln/>
        </p:spPr>
        <p:txBody>
          <a:bodyPr wrap="square" lIns="0" tIns="0" rIns="0" bIns="0" rtlCol="0" anchor="t"/>
          <a:lstStyle/>
          <a:p>
            <a:pPr indent="0" marL="0">
              <a:buNone/>
            </a:pPr>
            <a:r>
              <a:rPr lang="en-US" sz="1900" b="1" i="1" dirty="0">
                <a:solidFill>
                  <a:srgbClr val="FFFFFF"/>
                </a:solidFill>
                <a:latin typeface="Cambria" pitchFamily="34" charset="0"/>
                <a:ea typeface="Cambria" pitchFamily="34" charset="-122"/>
                <a:cs typeface="Cambria" pitchFamily="34" charset="-120"/>
              </a:rPr>
              <a:t>Dão</a:t>
            </a:r>
            <a:endParaRPr lang="en-US" sz="1900" dirty="0"/>
          </a:p>
        </p:txBody>
      </p:sp>
      <p:sp>
        <p:nvSpPr>
          <p:cNvPr id="34" name="Text 24"/>
          <p:cNvSpPr txBox="1"/>
          <p:nvPr/>
        </p:nvSpPr>
        <p:spPr>
          <a:xfrm>
            <a:off x="9281160" y="4937760"/>
            <a:ext cx="2240280" cy="1051560"/>
          </a:xfrm>
          <a:prstGeom prst="rect">
            <a:avLst/>
          </a:prstGeom>
          <a:noFill/>
          <a:ln/>
        </p:spPr>
        <p:txBody>
          <a:bodyPr wrap="square" lIns="0" tIns="0" rIns="0" bIns="0" rtlCol="0" anchor="t">
            <a:normAutofit/>
          </a:bodyPr>
          <a:lstStyle/>
          <a:p>
            <a:pPr indent="0" marL="0">
              <a:buNone/>
            </a:pPr>
            <a:r>
              <a:rPr lang="en-US" sz="1100" dirty="0">
                <a:solidFill>
                  <a:srgbClr val="F1E4E7"/>
                </a:solidFill>
                <a:latin typeface="Calibri" pitchFamily="34" charset="0"/>
                <a:ea typeface="Calibri" pitchFamily="34" charset="-122"/>
                <a:cs typeface="Calibri" pitchFamily="34" charset="-120"/>
              </a:rPr>
              <a:t>Les vins rouges de la région de Viseu, ma région d'origine.</a:t>
            </a:r>
            <a:endParaRPr lang="en-US" sz="110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18D"/>
                </a:solidFill>
                <a:latin typeface="Calibri"/>
                <a:ea typeface="Calibri"/>
                <a:cs typeface="Calibri"/>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txBox="1"/>
          <p:nvPr/>
        </p:nvSpPr>
        <p:spPr>
          <a:xfrm>
            <a:off x="548640" y="411480"/>
            <a:ext cx="10972800" cy="274320"/>
          </a:xfrm>
          <a:prstGeom prst="rect">
            <a:avLst/>
          </a:prstGeom>
          <a:noFill/>
          <a:ln/>
        </p:spPr>
        <p:txBody>
          <a:bodyPr wrap="square" lIns="0" tIns="0" rIns="0" bIns="0" rtlCol="0" anchor="t"/>
          <a:lstStyle/>
          <a:p>
            <a:pPr indent="0" marL="0">
              <a:buNone/>
            </a:pPr>
            <a:r>
              <a:rPr lang="en-US" sz="1200" b="1" spc="300" kern="0" dirty="0">
                <a:solidFill>
                  <a:srgbClr val="A83232"/>
                </a:solidFill>
                <a:latin typeface="Calibri" pitchFamily="34" charset="0"/>
                <a:ea typeface="Calibri" pitchFamily="34" charset="-122"/>
                <a:cs typeface="Calibri" pitchFamily="34" charset="-120"/>
              </a:rPr>
              <a:t>FÊTES &amp; TRADITIONS</a:t>
            </a:r>
            <a:endParaRPr lang="en-US" sz="1200" dirty="0"/>
          </a:p>
        </p:txBody>
      </p:sp>
      <p:sp>
        <p:nvSpPr>
          <p:cNvPr id="3" name="Text 1"/>
          <p:cNvSpPr txBox="1"/>
          <p:nvPr/>
        </p:nvSpPr>
        <p:spPr>
          <a:xfrm>
            <a:off x="548640" y="685800"/>
            <a:ext cx="10972800" cy="685800"/>
          </a:xfrm>
          <a:prstGeom prst="rect">
            <a:avLst/>
          </a:prstGeom>
          <a:noFill/>
          <a:ln/>
        </p:spPr>
        <p:txBody>
          <a:bodyPr wrap="square" lIns="0" tIns="0" rIns="0" bIns="0" rtlCol="0" anchor="t"/>
          <a:lstStyle/>
          <a:p>
            <a:pPr indent="0" marL="0">
              <a:buNone/>
            </a:pPr>
            <a:r>
              <a:rPr lang="en-US" sz="3400" b="1" dirty="0">
                <a:solidFill>
                  <a:srgbClr val="174A3A"/>
                </a:solidFill>
                <a:latin typeface="Cambria" pitchFamily="34" charset="0"/>
                <a:ea typeface="Cambria" pitchFamily="34" charset="-122"/>
                <a:cs typeface="Cambria" pitchFamily="34" charset="-120"/>
              </a:rPr>
              <a:t>Juin, le mois de la fête</a:t>
            </a:r>
            <a:endParaRPr lang="en-US" sz="3400" dirty="0"/>
          </a:p>
        </p:txBody>
      </p:sp>
      <p:pic>
        <p:nvPicPr>
          <p:cNvPr id="4" name="Image 0" descr="/home/user/Portugal-Website/images/photos/c-diaportugal.jpg">    </p:cNvPr>
          <p:cNvPicPr>
            <a:picLocks noChangeAspect="1"/>
          </p:cNvPicPr>
          <p:nvPr/>
        </p:nvPicPr>
        <p:blipFill>
          <a:blip r:embed="rId1"/>
          <a:srcRect l="0" r="0" t="0" b="0"/>
          <a:stretch/>
        </p:blipFill>
        <p:spPr>
          <a:xfrm>
            <a:off x="548640" y="1600200"/>
            <a:ext cx="3566160" cy="2468880"/>
          </a:xfrm>
          <a:prstGeom prst="rect">
            <a:avLst/>
          </a:prstGeom>
        </p:spPr>
      </p:pic>
      <p:sp>
        <p:nvSpPr>
          <p:cNvPr id="5" name="Text 2"/>
          <p:cNvSpPr txBox="1"/>
          <p:nvPr/>
        </p:nvSpPr>
        <p:spPr>
          <a:xfrm>
            <a:off x="548640" y="4206240"/>
            <a:ext cx="3566160" cy="548640"/>
          </a:xfrm>
          <a:prstGeom prst="rect">
            <a:avLst/>
          </a:prstGeom>
          <a:noFill/>
          <a:ln/>
        </p:spPr>
        <p:txBody>
          <a:bodyPr wrap="square" lIns="0" tIns="0" rIns="0" bIns="0" rtlCol="0" anchor="t"/>
          <a:lstStyle/>
          <a:p>
            <a:pPr indent="0" marL="0">
              <a:buNone/>
            </a:pPr>
            <a:r>
              <a:rPr lang="en-US" sz="2800" b="1" dirty="0">
                <a:solidFill>
                  <a:srgbClr val="A83232"/>
                </a:solidFill>
                <a:latin typeface="Cambria" pitchFamily="34" charset="0"/>
                <a:ea typeface="Cambria" pitchFamily="34" charset="-122"/>
                <a:cs typeface="Cambria" pitchFamily="34" charset="-120"/>
              </a:rPr>
              <a:t>10 juin</a:t>
            </a:r>
            <a:endParaRPr lang="en-US" sz="2800" dirty="0"/>
          </a:p>
        </p:txBody>
      </p:sp>
      <p:sp>
        <p:nvSpPr>
          <p:cNvPr id="6" name="Text 3"/>
          <p:cNvSpPr txBox="1"/>
          <p:nvPr/>
        </p:nvSpPr>
        <p:spPr>
          <a:xfrm>
            <a:off x="548640" y="4754880"/>
            <a:ext cx="3566160" cy="274320"/>
          </a:xfrm>
          <a:prstGeom prst="rect">
            <a:avLst/>
          </a:prstGeom>
          <a:noFill/>
          <a:ln/>
        </p:spPr>
        <p:txBody>
          <a:bodyPr wrap="square" lIns="0" tIns="0" rIns="0" bIns="0" rtlCol="0" anchor="t"/>
          <a:lstStyle/>
          <a:p>
            <a:pPr indent="0" marL="0">
              <a:buNone/>
            </a:pPr>
            <a:r>
              <a:rPr lang="en-US" sz="1200" b="1" spc="200" kern="0" dirty="0">
                <a:solidFill>
                  <a:srgbClr val="17211D"/>
                </a:solidFill>
                <a:latin typeface="Calibri" pitchFamily="34" charset="0"/>
                <a:ea typeface="Calibri" pitchFamily="34" charset="-122"/>
                <a:cs typeface="Calibri" pitchFamily="34" charset="-120"/>
              </a:rPr>
              <a:t>DIA DE PORTUGAL</a:t>
            </a:r>
            <a:endParaRPr lang="en-US" sz="1200" dirty="0"/>
          </a:p>
        </p:txBody>
      </p:sp>
      <p:sp>
        <p:nvSpPr>
          <p:cNvPr id="7" name="Text 4"/>
          <p:cNvSpPr txBox="1"/>
          <p:nvPr/>
        </p:nvSpPr>
        <p:spPr>
          <a:xfrm>
            <a:off x="548640" y="5074920"/>
            <a:ext cx="3566160" cy="1097280"/>
          </a:xfrm>
          <a:prstGeom prst="rect">
            <a:avLst/>
          </a:prstGeom>
          <a:noFill/>
          <a:ln/>
        </p:spPr>
        <p:txBody>
          <a:bodyPr wrap="square" lIns="0" tIns="0" rIns="0" bIns="0" rtlCol="0" anchor="t"/>
          <a:lstStyle/>
          <a:p>
            <a:pPr indent="0" marL="0">
              <a:buNone/>
            </a:pPr>
            <a:r>
              <a:rPr lang="en-US" sz="1400" dirty="0">
                <a:solidFill>
                  <a:srgbClr val="17211D"/>
                </a:solidFill>
                <a:latin typeface="Calibri" pitchFamily="34" charset="0"/>
                <a:ea typeface="Calibri" pitchFamily="34" charset="-122"/>
                <a:cs typeface="Calibri" pitchFamily="34" charset="-120"/>
              </a:rPr>
              <a:t>Fête nationale, en l'honneur de Camões et des communautés portugaises dans le monde.</a:t>
            </a:r>
            <a:endParaRPr lang="en-US" sz="1400" dirty="0"/>
          </a:p>
        </p:txBody>
      </p:sp>
      <p:pic>
        <p:nvPicPr>
          <p:cNvPr id="8" name="Image 1" descr="/home/user/Portugal-Website/images/photos/c-santoantonio.jpg">    </p:cNvPr>
          <p:cNvPicPr>
            <a:picLocks noChangeAspect="1"/>
          </p:cNvPicPr>
          <p:nvPr/>
        </p:nvPicPr>
        <p:blipFill>
          <a:blip r:embed="rId2"/>
          <a:srcRect l="0" r="0" t="0" b="0"/>
          <a:stretch/>
        </p:blipFill>
        <p:spPr>
          <a:xfrm>
            <a:off x="4297680" y="1600200"/>
            <a:ext cx="3566160" cy="2468880"/>
          </a:xfrm>
          <a:prstGeom prst="rect">
            <a:avLst/>
          </a:prstGeom>
        </p:spPr>
      </p:pic>
      <p:sp>
        <p:nvSpPr>
          <p:cNvPr id="9" name="Text 5"/>
          <p:cNvSpPr txBox="1"/>
          <p:nvPr/>
        </p:nvSpPr>
        <p:spPr>
          <a:xfrm>
            <a:off x="4297680" y="4206240"/>
            <a:ext cx="3566160" cy="548640"/>
          </a:xfrm>
          <a:prstGeom prst="rect">
            <a:avLst/>
          </a:prstGeom>
          <a:noFill/>
          <a:ln/>
        </p:spPr>
        <p:txBody>
          <a:bodyPr wrap="square" lIns="0" tIns="0" rIns="0" bIns="0" rtlCol="0" anchor="t"/>
          <a:lstStyle/>
          <a:p>
            <a:pPr indent="0" marL="0">
              <a:buNone/>
            </a:pPr>
            <a:r>
              <a:rPr lang="en-US" sz="2800" b="1" dirty="0">
                <a:solidFill>
                  <a:srgbClr val="A83232"/>
                </a:solidFill>
                <a:latin typeface="Cambria" pitchFamily="34" charset="0"/>
                <a:ea typeface="Cambria" pitchFamily="34" charset="-122"/>
                <a:cs typeface="Cambria" pitchFamily="34" charset="-120"/>
              </a:rPr>
              <a:t>13 juin</a:t>
            </a:r>
            <a:endParaRPr lang="en-US" sz="2800" dirty="0"/>
          </a:p>
        </p:txBody>
      </p:sp>
      <p:sp>
        <p:nvSpPr>
          <p:cNvPr id="10" name="Text 6"/>
          <p:cNvSpPr txBox="1"/>
          <p:nvPr/>
        </p:nvSpPr>
        <p:spPr>
          <a:xfrm>
            <a:off x="4297680" y="4754880"/>
            <a:ext cx="3566160" cy="274320"/>
          </a:xfrm>
          <a:prstGeom prst="rect">
            <a:avLst/>
          </a:prstGeom>
          <a:noFill/>
          <a:ln/>
        </p:spPr>
        <p:txBody>
          <a:bodyPr wrap="square" lIns="0" tIns="0" rIns="0" bIns="0" rtlCol="0" anchor="t"/>
          <a:lstStyle/>
          <a:p>
            <a:pPr indent="0" marL="0">
              <a:buNone/>
            </a:pPr>
            <a:r>
              <a:rPr lang="en-US" sz="1200" b="1" spc="200" kern="0" dirty="0">
                <a:solidFill>
                  <a:srgbClr val="17211D"/>
                </a:solidFill>
                <a:latin typeface="Calibri" pitchFamily="34" charset="0"/>
                <a:ea typeface="Calibri" pitchFamily="34" charset="-122"/>
                <a:cs typeface="Calibri" pitchFamily="34" charset="-120"/>
              </a:rPr>
              <a:t>SANTO ANTÓNIO</a:t>
            </a:r>
            <a:endParaRPr lang="en-US" sz="1200" dirty="0"/>
          </a:p>
        </p:txBody>
      </p:sp>
      <p:sp>
        <p:nvSpPr>
          <p:cNvPr id="11" name="Text 7"/>
          <p:cNvSpPr txBox="1"/>
          <p:nvPr/>
        </p:nvSpPr>
        <p:spPr>
          <a:xfrm>
            <a:off x="4297680" y="5074920"/>
            <a:ext cx="3566160" cy="1097280"/>
          </a:xfrm>
          <a:prstGeom prst="rect">
            <a:avLst/>
          </a:prstGeom>
          <a:noFill/>
          <a:ln/>
        </p:spPr>
        <p:txBody>
          <a:bodyPr wrap="square" lIns="0" tIns="0" rIns="0" bIns="0" rtlCol="0" anchor="t"/>
          <a:lstStyle/>
          <a:p>
            <a:pPr indent="0" marL="0">
              <a:buNone/>
            </a:pPr>
            <a:r>
              <a:rPr lang="en-US" sz="1400" dirty="0">
                <a:solidFill>
                  <a:srgbClr val="17211D"/>
                </a:solidFill>
                <a:latin typeface="Calibri" pitchFamily="34" charset="0"/>
                <a:ea typeface="Calibri" pitchFamily="34" charset="-122"/>
                <a:cs typeface="Calibri" pitchFamily="34" charset="-120"/>
              </a:rPr>
              <a:t>Lisbonne fête saint Antoine : sardines grillées, musique et marches populaires dans les quartiers.</a:t>
            </a:r>
            <a:endParaRPr lang="en-US" sz="1400" dirty="0"/>
          </a:p>
        </p:txBody>
      </p:sp>
      <p:pic>
        <p:nvPicPr>
          <p:cNvPr id="12" name="Image 2" descr="/home/user/Portugal-Website/images/photos/c-saojoao.jpg">    </p:cNvPr>
          <p:cNvPicPr>
            <a:picLocks noChangeAspect="1"/>
          </p:cNvPicPr>
          <p:nvPr/>
        </p:nvPicPr>
        <p:blipFill>
          <a:blip r:embed="rId3"/>
          <a:srcRect l="0" r="0" t="0" b="0"/>
          <a:stretch/>
        </p:blipFill>
        <p:spPr>
          <a:xfrm>
            <a:off x="8046720" y="1600200"/>
            <a:ext cx="3566160" cy="2468880"/>
          </a:xfrm>
          <a:prstGeom prst="rect">
            <a:avLst/>
          </a:prstGeom>
        </p:spPr>
      </p:pic>
      <p:sp>
        <p:nvSpPr>
          <p:cNvPr id="13" name="Text 8"/>
          <p:cNvSpPr txBox="1"/>
          <p:nvPr/>
        </p:nvSpPr>
        <p:spPr>
          <a:xfrm>
            <a:off x="8046720" y="4206240"/>
            <a:ext cx="3566160" cy="548640"/>
          </a:xfrm>
          <a:prstGeom prst="rect">
            <a:avLst/>
          </a:prstGeom>
          <a:noFill/>
          <a:ln/>
        </p:spPr>
        <p:txBody>
          <a:bodyPr wrap="square" lIns="0" tIns="0" rIns="0" bIns="0" rtlCol="0" anchor="t"/>
          <a:lstStyle/>
          <a:p>
            <a:pPr indent="0" marL="0">
              <a:buNone/>
            </a:pPr>
            <a:r>
              <a:rPr lang="en-US" sz="2800" b="1" dirty="0">
                <a:solidFill>
                  <a:srgbClr val="A83232"/>
                </a:solidFill>
                <a:latin typeface="Cambria" pitchFamily="34" charset="0"/>
                <a:ea typeface="Cambria" pitchFamily="34" charset="-122"/>
                <a:cs typeface="Cambria" pitchFamily="34" charset="-120"/>
              </a:rPr>
              <a:t>23–24 juin</a:t>
            </a:r>
            <a:endParaRPr lang="en-US" sz="2800" dirty="0"/>
          </a:p>
        </p:txBody>
      </p:sp>
      <p:sp>
        <p:nvSpPr>
          <p:cNvPr id="14" name="Text 9"/>
          <p:cNvSpPr txBox="1"/>
          <p:nvPr/>
        </p:nvSpPr>
        <p:spPr>
          <a:xfrm>
            <a:off x="8046720" y="4754880"/>
            <a:ext cx="3566160" cy="274320"/>
          </a:xfrm>
          <a:prstGeom prst="rect">
            <a:avLst/>
          </a:prstGeom>
          <a:noFill/>
          <a:ln/>
        </p:spPr>
        <p:txBody>
          <a:bodyPr wrap="square" lIns="0" tIns="0" rIns="0" bIns="0" rtlCol="0" anchor="t"/>
          <a:lstStyle/>
          <a:p>
            <a:pPr indent="0" marL="0">
              <a:buNone/>
            </a:pPr>
            <a:r>
              <a:rPr lang="en-US" sz="1200" b="1" spc="200" kern="0" dirty="0">
                <a:solidFill>
                  <a:srgbClr val="17211D"/>
                </a:solidFill>
                <a:latin typeface="Calibri" pitchFamily="34" charset="0"/>
                <a:ea typeface="Calibri" pitchFamily="34" charset="-122"/>
                <a:cs typeface="Calibri" pitchFamily="34" charset="-120"/>
              </a:rPr>
              <a:t>SÃO JOÃO</a:t>
            </a:r>
            <a:endParaRPr lang="en-US" sz="1200" dirty="0"/>
          </a:p>
        </p:txBody>
      </p:sp>
      <p:sp>
        <p:nvSpPr>
          <p:cNvPr id="15" name="Text 10"/>
          <p:cNvSpPr txBox="1"/>
          <p:nvPr/>
        </p:nvSpPr>
        <p:spPr>
          <a:xfrm>
            <a:off x="8046720" y="5074920"/>
            <a:ext cx="3566160" cy="1097280"/>
          </a:xfrm>
          <a:prstGeom prst="rect">
            <a:avLst/>
          </a:prstGeom>
          <a:noFill/>
          <a:ln/>
        </p:spPr>
        <p:txBody>
          <a:bodyPr wrap="square" lIns="0" tIns="0" rIns="0" bIns="0" rtlCol="0" anchor="t"/>
          <a:lstStyle/>
          <a:p>
            <a:pPr indent="0" marL="0">
              <a:buNone/>
            </a:pPr>
            <a:r>
              <a:rPr lang="en-US" sz="1400" dirty="0">
                <a:solidFill>
                  <a:srgbClr val="17211D"/>
                </a:solidFill>
                <a:latin typeface="Calibri" pitchFamily="34" charset="0"/>
                <a:ea typeface="Calibri" pitchFamily="34" charset="-122"/>
                <a:cs typeface="Calibri" pitchFamily="34" charset="-120"/>
              </a:rPr>
              <a:t>À Porto, toute la ville sort dans la rue, avec des petits marteaux en plastique et des feux d'artifice.</a:t>
            </a:r>
            <a:endParaRPr lang="en-US" sz="140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18D"/>
                </a:solidFill>
                <a:latin typeface="Calibri"/>
                <a:ea typeface="Calibri"/>
                <a:cs typeface="Calibri"/>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pic>
        <p:nvPicPr>
          <p:cNvPr id="2" name="Image 0" descr="/home/user/Portugal-Website/images/photos/hero-sport.jpg">    </p:cNvPr>
          <p:cNvPicPr>
            <a:picLocks noChangeAspect="1"/>
          </p:cNvPicPr>
          <p:nvPr/>
        </p:nvPicPr>
        <p:blipFill>
          <a:blip r:embed="rId1"/>
          <a:srcRect l="0" r="0" t="0" b="0"/>
          <a:stretch/>
        </p:blipFill>
        <p:spPr>
          <a:xfrm>
            <a:off x="0" y="0"/>
            <a:ext cx="12191695" cy="6858000"/>
          </a:xfrm>
          <a:prstGeom prst="rect">
            <a:avLst/>
          </a:prstGeom>
        </p:spPr>
      </p:pic>
      <p:sp>
        <p:nvSpPr>
          <p:cNvPr id="3" name="Shape 0"/>
          <p:cNvSpPr/>
          <p:nvPr/>
        </p:nvSpPr>
        <p:spPr>
          <a:xfrm>
            <a:off x="0" y="0"/>
            <a:ext cx="6766560" cy="6858000"/>
          </a:xfrm>
          <a:prstGeom prst="rect">
            <a:avLst/>
          </a:prstGeom>
          <a:solidFill>
            <a:srgbClr val="08140F">
              <a:alpha val="70000"/>
            </a:srgbClr>
          </a:solidFill>
          <a:ln w="12700">
            <a:solidFill>
              <a:srgbClr val="08140F">
                <a:alpha val="0"/>
              </a:srgbClr>
            </a:solidFill>
            <a:prstDash val="solid"/>
          </a:ln>
        </p:spPr>
      </p:sp>
      <p:sp>
        <p:nvSpPr>
          <p:cNvPr id="4" name="Text 1"/>
          <p:cNvSpPr txBox="1"/>
          <p:nvPr/>
        </p:nvSpPr>
        <p:spPr>
          <a:xfrm>
            <a:off x="822960" y="1828800"/>
            <a:ext cx="4572000" cy="365760"/>
          </a:xfrm>
          <a:prstGeom prst="rect">
            <a:avLst/>
          </a:prstGeom>
          <a:noFill/>
          <a:ln/>
        </p:spPr>
        <p:txBody>
          <a:bodyPr wrap="square" lIns="0" tIns="0" rIns="0" bIns="0" rtlCol="0" anchor="t"/>
          <a:lstStyle/>
          <a:p>
            <a:pPr indent="0" marL="0">
              <a:buNone/>
            </a:pPr>
            <a:r>
              <a:rPr lang="en-US" sz="1600" b="1" spc="300" kern="0" dirty="0">
                <a:solidFill>
                  <a:srgbClr val="F2C14E"/>
                </a:solidFill>
                <a:latin typeface="Calibri" pitchFamily="34" charset="0"/>
                <a:ea typeface="Calibri" pitchFamily="34" charset="-122"/>
                <a:cs typeface="Calibri" pitchFamily="34" charset="-120"/>
              </a:rPr>
              <a:t>05 / 08</a:t>
            </a:r>
            <a:endParaRPr lang="en-US" sz="1600" dirty="0"/>
          </a:p>
        </p:txBody>
      </p:sp>
      <p:sp>
        <p:nvSpPr>
          <p:cNvPr id="5" name="Text 2"/>
          <p:cNvSpPr txBox="1"/>
          <p:nvPr/>
        </p:nvSpPr>
        <p:spPr>
          <a:xfrm>
            <a:off x="822960" y="2240280"/>
            <a:ext cx="5760720" cy="1280160"/>
          </a:xfrm>
          <a:prstGeom prst="rect">
            <a:avLst/>
          </a:prstGeom>
          <a:noFill/>
          <a:ln/>
        </p:spPr>
        <p:txBody>
          <a:bodyPr wrap="square" lIns="0" tIns="0" rIns="0" bIns="0" rtlCol="0" anchor="t">
            <a:normAutofit/>
          </a:bodyPr>
          <a:lstStyle/>
          <a:p>
            <a:pPr indent="0" marL="0">
              <a:buNone/>
            </a:pPr>
            <a:r>
              <a:rPr lang="en-US" sz="6000" b="1" dirty="0">
                <a:solidFill>
                  <a:srgbClr val="FFFFFF"/>
                </a:solidFill>
                <a:latin typeface="Cambria" pitchFamily="34" charset="0"/>
                <a:ea typeface="Cambria" pitchFamily="34" charset="-122"/>
                <a:cs typeface="Cambria" pitchFamily="34" charset="-120"/>
              </a:rPr>
              <a:t>Sport</a:t>
            </a:r>
            <a:endParaRPr lang="en-US" sz="6000" dirty="0"/>
          </a:p>
        </p:txBody>
      </p:sp>
      <p:sp>
        <p:nvSpPr>
          <p:cNvPr id="6" name="Text 3"/>
          <p:cNvSpPr txBox="1"/>
          <p:nvPr/>
        </p:nvSpPr>
        <p:spPr>
          <a:xfrm>
            <a:off x="822960" y="3611880"/>
            <a:ext cx="5486400" cy="914400"/>
          </a:xfrm>
          <a:prstGeom prst="rect">
            <a:avLst/>
          </a:prstGeom>
          <a:noFill/>
          <a:ln/>
        </p:spPr>
        <p:txBody>
          <a:bodyPr wrap="square" lIns="0" tIns="0" rIns="0" bIns="0" rtlCol="0" anchor="t"/>
          <a:lstStyle/>
          <a:p>
            <a:pPr indent="0" marL="0">
              <a:buNone/>
            </a:pPr>
            <a:r>
              <a:rPr lang="en-US" sz="2400" i="1" dirty="0">
                <a:solidFill>
                  <a:srgbClr val="FFFFFF"/>
                </a:solidFill>
                <a:latin typeface="Cambria" pitchFamily="34" charset="0"/>
                <a:ea typeface="Cambria" pitchFamily="34" charset="-122"/>
                <a:cs typeface="Cambria" pitchFamily="34" charset="-120"/>
              </a:rPr>
              <a:t>Une passion nationale</a:t>
            </a:r>
            <a:endParaRPr lang="en-US" sz="2400" dirty="0"/>
          </a:p>
        </p:txBody>
      </p:sp>
      <p:sp>
        <p:nvSpPr>
          <p:cNvPr id="7" name="Text 4"/>
          <p:cNvSpPr txBox="1"/>
          <p:nvPr/>
        </p:nvSpPr>
        <p:spPr>
          <a:xfrm>
            <a:off x="822960" y="4572000"/>
            <a:ext cx="5120640" cy="1005840"/>
          </a:xfrm>
          <a:prstGeom prst="rect">
            <a:avLst/>
          </a:prstGeom>
          <a:noFill/>
          <a:ln/>
        </p:spPr>
        <p:txBody>
          <a:bodyPr wrap="square" lIns="0" tIns="0" rIns="0" bIns="0" rtlCol="0" anchor="t"/>
          <a:lstStyle/>
          <a:p>
            <a:pPr indent="0" marL="0">
              <a:buNone/>
            </a:pPr>
            <a:r>
              <a:rPr lang="en-US" sz="1500" dirty="0">
                <a:solidFill>
                  <a:srgbClr val="E6ECE8"/>
                </a:solidFill>
                <a:latin typeface="Calibri" pitchFamily="34" charset="0"/>
                <a:ea typeface="Calibri" pitchFamily="34" charset="-122"/>
                <a:cs typeface="Calibri" pitchFamily="34" charset="-120"/>
              </a:rPr>
              <a:t>Le football fait vibrer tout le pays, mais le Portugal brille aussi sur les vagues, sur roulettes et sur la piste.</a:t>
            </a:r>
            <a:endParaRPr lang="en-US" sz="15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pic>
        <p:nvPicPr>
          <p:cNvPr id="2" name="Image 0" descr="/home/user/Portugal-Website/images/photos/s-ronaldo.jpg">    </p:cNvPr>
          <p:cNvPicPr>
            <a:picLocks noChangeAspect="1"/>
          </p:cNvPicPr>
          <p:nvPr/>
        </p:nvPicPr>
        <p:blipFill>
          <a:blip r:embed="rId1"/>
          <a:srcRect l="0" r="0" t="0" b="0"/>
          <a:stretch/>
        </p:blipFill>
        <p:spPr>
          <a:xfrm>
            <a:off x="0" y="0"/>
            <a:ext cx="4206240" cy="6858000"/>
          </a:xfrm>
          <a:prstGeom prst="rect">
            <a:avLst/>
          </a:prstGeom>
        </p:spPr>
      </p:pic>
      <p:sp>
        <p:nvSpPr>
          <p:cNvPr id="3" name="Text 0"/>
          <p:cNvSpPr txBox="1"/>
          <p:nvPr/>
        </p:nvSpPr>
        <p:spPr>
          <a:xfrm>
            <a:off x="4663440" y="411480"/>
            <a:ext cx="6400800" cy="274320"/>
          </a:xfrm>
          <a:prstGeom prst="rect">
            <a:avLst/>
          </a:prstGeom>
          <a:noFill/>
          <a:ln/>
        </p:spPr>
        <p:txBody>
          <a:bodyPr wrap="square" lIns="0" tIns="0" rIns="0" bIns="0" rtlCol="0" anchor="t"/>
          <a:lstStyle/>
          <a:p>
            <a:pPr indent="0" marL="0">
              <a:buNone/>
            </a:pPr>
            <a:r>
              <a:rPr lang="en-US" sz="1200" b="1" spc="300" kern="0" dirty="0">
                <a:solidFill>
                  <a:srgbClr val="A83232"/>
                </a:solidFill>
                <a:latin typeface="Calibri" pitchFamily="34" charset="0"/>
                <a:ea typeface="Calibri" pitchFamily="34" charset="-122"/>
                <a:cs typeface="Calibri" pitchFamily="34" charset="-120"/>
              </a:rPr>
              <a:t>LE FOOTBALL</a:t>
            </a:r>
            <a:endParaRPr lang="en-US" sz="1200" dirty="0"/>
          </a:p>
        </p:txBody>
      </p:sp>
      <p:sp>
        <p:nvSpPr>
          <p:cNvPr id="4" name="Text 1"/>
          <p:cNvSpPr txBox="1"/>
          <p:nvPr/>
        </p:nvSpPr>
        <p:spPr>
          <a:xfrm>
            <a:off x="4663440" y="685800"/>
            <a:ext cx="6949440" cy="685800"/>
          </a:xfrm>
          <a:prstGeom prst="rect">
            <a:avLst/>
          </a:prstGeom>
          <a:noFill/>
          <a:ln/>
        </p:spPr>
        <p:txBody>
          <a:bodyPr wrap="square" lIns="0" tIns="0" rIns="0" bIns="0" rtlCol="0" anchor="t"/>
          <a:lstStyle/>
          <a:p>
            <a:pPr indent="0" marL="0">
              <a:buNone/>
            </a:pPr>
            <a:r>
              <a:rPr lang="en-US" sz="3400" b="1" dirty="0">
                <a:solidFill>
                  <a:srgbClr val="174A3A"/>
                </a:solidFill>
                <a:latin typeface="Cambria" pitchFamily="34" charset="0"/>
                <a:ea typeface="Cambria" pitchFamily="34" charset="-122"/>
                <a:cs typeface="Cambria" pitchFamily="34" charset="-120"/>
              </a:rPr>
              <a:t>Le roi des sports</a:t>
            </a:r>
            <a:endParaRPr lang="en-US" sz="3400" dirty="0"/>
          </a:p>
        </p:txBody>
      </p:sp>
      <p:sp>
        <p:nvSpPr>
          <p:cNvPr id="5" name="Shape 2"/>
          <p:cNvSpPr/>
          <p:nvPr/>
        </p:nvSpPr>
        <p:spPr>
          <a:xfrm>
            <a:off x="4663440" y="1554480"/>
            <a:ext cx="6976872" cy="2148840"/>
          </a:xfrm>
          <a:prstGeom prst="roundRect">
            <a:avLst>
              <a:gd name="adj" fmla="val 3404"/>
            </a:avLst>
          </a:prstGeom>
          <a:solidFill>
            <a:srgbClr val="174A3A"/>
          </a:solidFill>
          <a:ln w="12700">
            <a:solidFill>
              <a:srgbClr val="174A3A"/>
            </a:solidFill>
            <a:prstDash val="solid"/>
          </a:ln>
          <a:effectLst>
            <a:outerShdw sx="100000" sy="100000" kx="0" ky="0" algn="bl" rotWithShape="0" blurRad="101600" dist="38100" dir="5400000">
              <a:srgbClr val="000000">
                <a:alpha val="18000"/>
              </a:srgbClr>
            </a:outerShdw>
          </a:effectLst>
        </p:spPr>
      </p:sp>
      <p:sp>
        <p:nvSpPr>
          <p:cNvPr id="6" name="Text 3"/>
          <p:cNvSpPr txBox="1"/>
          <p:nvPr/>
        </p:nvSpPr>
        <p:spPr>
          <a:xfrm>
            <a:off x="4937760" y="1737360"/>
            <a:ext cx="1097280" cy="502920"/>
          </a:xfrm>
          <a:prstGeom prst="rect">
            <a:avLst/>
          </a:prstGeom>
          <a:noFill/>
          <a:ln/>
        </p:spPr>
        <p:txBody>
          <a:bodyPr wrap="square" lIns="0" tIns="0" rIns="0" bIns="0" rtlCol="0" anchor="t"/>
          <a:lstStyle/>
          <a:p>
            <a:pPr indent="0" marL="0">
              <a:buNone/>
            </a:pPr>
            <a:r>
              <a:rPr lang="en-US" sz="2600" b="1" dirty="0">
                <a:solidFill>
                  <a:srgbClr val="F2C14E"/>
                </a:solidFill>
                <a:latin typeface="Cambria" pitchFamily="34" charset="0"/>
                <a:ea typeface="Cambria" pitchFamily="34" charset="-122"/>
                <a:cs typeface="Cambria" pitchFamily="34" charset="-120"/>
              </a:rPr>
              <a:t>2016</a:t>
            </a:r>
            <a:endParaRPr lang="en-US" sz="2600" dirty="0"/>
          </a:p>
        </p:txBody>
      </p:sp>
      <p:sp>
        <p:nvSpPr>
          <p:cNvPr id="7" name="Text 4"/>
          <p:cNvSpPr txBox="1"/>
          <p:nvPr/>
        </p:nvSpPr>
        <p:spPr>
          <a:xfrm>
            <a:off x="6126480" y="1783080"/>
            <a:ext cx="5394960" cy="50292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Champion d'Europe — finale 1-0 contre la France, à Saint-Denis</a:t>
            </a:r>
            <a:endParaRPr lang="en-US" sz="1500" dirty="0"/>
          </a:p>
        </p:txBody>
      </p:sp>
      <p:sp>
        <p:nvSpPr>
          <p:cNvPr id="8" name="Text 5"/>
          <p:cNvSpPr txBox="1"/>
          <p:nvPr/>
        </p:nvSpPr>
        <p:spPr>
          <a:xfrm>
            <a:off x="4937760" y="2359152"/>
            <a:ext cx="1097280" cy="502920"/>
          </a:xfrm>
          <a:prstGeom prst="rect">
            <a:avLst/>
          </a:prstGeom>
          <a:noFill/>
          <a:ln/>
        </p:spPr>
        <p:txBody>
          <a:bodyPr wrap="square" lIns="0" tIns="0" rIns="0" bIns="0" rtlCol="0" anchor="t"/>
          <a:lstStyle/>
          <a:p>
            <a:pPr indent="0" marL="0">
              <a:buNone/>
            </a:pPr>
            <a:r>
              <a:rPr lang="en-US" sz="2600" b="1" dirty="0">
                <a:solidFill>
                  <a:srgbClr val="F2C14E"/>
                </a:solidFill>
                <a:latin typeface="Cambria" pitchFamily="34" charset="0"/>
                <a:ea typeface="Cambria" pitchFamily="34" charset="-122"/>
                <a:cs typeface="Cambria" pitchFamily="34" charset="-120"/>
              </a:rPr>
              <a:t>2019</a:t>
            </a:r>
            <a:endParaRPr lang="en-US" sz="2600" dirty="0"/>
          </a:p>
        </p:txBody>
      </p:sp>
      <p:sp>
        <p:nvSpPr>
          <p:cNvPr id="9" name="Text 6"/>
          <p:cNvSpPr txBox="1"/>
          <p:nvPr/>
        </p:nvSpPr>
        <p:spPr>
          <a:xfrm>
            <a:off x="6126480" y="2404872"/>
            <a:ext cx="5394960" cy="50292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Vainqueur de la 1re Ligue des nations</a:t>
            </a:r>
            <a:endParaRPr lang="en-US" sz="1500" dirty="0"/>
          </a:p>
        </p:txBody>
      </p:sp>
      <p:sp>
        <p:nvSpPr>
          <p:cNvPr id="10" name="Text 7"/>
          <p:cNvSpPr txBox="1"/>
          <p:nvPr/>
        </p:nvSpPr>
        <p:spPr>
          <a:xfrm>
            <a:off x="4937760" y="2980944"/>
            <a:ext cx="1097280" cy="502920"/>
          </a:xfrm>
          <a:prstGeom prst="rect">
            <a:avLst/>
          </a:prstGeom>
          <a:noFill/>
          <a:ln/>
        </p:spPr>
        <p:txBody>
          <a:bodyPr wrap="square" lIns="0" tIns="0" rIns="0" bIns="0" rtlCol="0" anchor="t"/>
          <a:lstStyle/>
          <a:p>
            <a:pPr indent="0" marL="0">
              <a:buNone/>
            </a:pPr>
            <a:r>
              <a:rPr lang="en-US" sz="2600" b="1" dirty="0">
                <a:solidFill>
                  <a:srgbClr val="F2C14E"/>
                </a:solidFill>
                <a:latin typeface="Cambria" pitchFamily="34" charset="0"/>
                <a:ea typeface="Cambria" pitchFamily="34" charset="-122"/>
                <a:cs typeface="Cambria" pitchFamily="34" charset="-120"/>
              </a:rPr>
              <a:t>2025</a:t>
            </a:r>
            <a:endParaRPr lang="en-US" sz="2600" dirty="0"/>
          </a:p>
        </p:txBody>
      </p:sp>
      <p:sp>
        <p:nvSpPr>
          <p:cNvPr id="11" name="Text 8"/>
          <p:cNvSpPr txBox="1"/>
          <p:nvPr/>
        </p:nvSpPr>
        <p:spPr>
          <a:xfrm>
            <a:off x="6126480" y="3026664"/>
            <a:ext cx="5394960" cy="50292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Vainqueur de la Ligue des nations, face à l'Espagne</a:t>
            </a:r>
            <a:endParaRPr lang="en-US" sz="1500" dirty="0"/>
          </a:p>
        </p:txBody>
      </p:sp>
      <p:sp>
        <p:nvSpPr>
          <p:cNvPr id="12" name="Text 9"/>
          <p:cNvSpPr txBox="1"/>
          <p:nvPr/>
        </p:nvSpPr>
        <p:spPr>
          <a:xfrm>
            <a:off x="4663440" y="3931920"/>
            <a:ext cx="6949440" cy="457200"/>
          </a:xfrm>
          <a:prstGeom prst="rect">
            <a:avLst/>
          </a:prstGeom>
          <a:noFill/>
          <a:ln/>
        </p:spPr>
        <p:txBody>
          <a:bodyPr wrap="square" lIns="0" tIns="0" rIns="0" bIns="0" rtlCol="0" anchor="t"/>
          <a:lstStyle/>
          <a:p>
            <a:pPr indent="0" marL="0">
              <a:buNone/>
            </a:pPr>
            <a:r>
              <a:rPr lang="en-US" sz="2200" b="1" dirty="0">
                <a:solidFill>
                  <a:srgbClr val="17211D"/>
                </a:solidFill>
                <a:latin typeface="Cambria" pitchFamily="34" charset="0"/>
                <a:ea typeface="Cambria" pitchFamily="34" charset="-122"/>
                <a:cs typeface="Cambria" pitchFamily="34" charset="-120"/>
              </a:rPr>
              <a:t>Cristiano Ronaldo</a:t>
            </a:r>
            <a:endParaRPr lang="en-US" sz="2200" dirty="0"/>
          </a:p>
        </p:txBody>
      </p:sp>
      <p:sp>
        <p:nvSpPr>
          <p:cNvPr id="13" name="Text 10"/>
          <p:cNvSpPr txBox="1"/>
          <p:nvPr/>
        </p:nvSpPr>
        <p:spPr>
          <a:xfrm>
            <a:off x="4663440" y="4389120"/>
            <a:ext cx="6949440" cy="685800"/>
          </a:xfrm>
          <a:prstGeom prst="rect">
            <a:avLst/>
          </a:prstGeom>
          <a:noFill/>
          <a:ln/>
        </p:spPr>
        <p:txBody>
          <a:bodyPr wrap="square" lIns="0" tIns="0" rIns="0" bIns="0" rtlCol="0" anchor="t"/>
          <a:lstStyle/>
          <a:p>
            <a:pPr indent="0" marL="0">
              <a:buNone/>
            </a:pPr>
            <a:r>
              <a:rPr lang="en-US" sz="1500" dirty="0">
                <a:solidFill>
                  <a:srgbClr val="17211D"/>
                </a:solidFill>
                <a:latin typeface="Calibri" pitchFamily="34" charset="0"/>
                <a:ea typeface="Calibri" pitchFamily="34" charset="-122"/>
                <a:cs typeface="Calibri" pitchFamily="34" charset="-120"/>
              </a:rPr>
              <a:t>Né à Funchal (Madère) en 1985. Cinq Ballons d'or et meilleur buteur de l'histoire des sélections nationales.</a:t>
            </a:r>
            <a:endParaRPr lang="en-US" sz="1500" dirty="0"/>
          </a:p>
        </p:txBody>
      </p:sp>
      <p:sp>
        <p:nvSpPr>
          <p:cNvPr id="14" name="Text 11"/>
          <p:cNvSpPr txBox="1"/>
          <p:nvPr/>
        </p:nvSpPr>
        <p:spPr>
          <a:xfrm>
            <a:off x="4663440" y="5120640"/>
            <a:ext cx="6949440" cy="1097280"/>
          </a:xfrm>
          <a:prstGeom prst="rect">
            <a:avLst/>
          </a:prstGeom>
          <a:noFill/>
          <a:ln/>
        </p:spPr>
        <p:txBody>
          <a:bodyPr wrap="square" lIns="0" tIns="0" rIns="0" bIns="0" rtlCol="0" anchor="t"/>
          <a:lstStyle/>
          <a:p>
            <a:pPr indent="0" marL="0">
              <a:buNone/>
            </a:pPr>
            <a:r>
              <a:rPr lang="en-US" sz="1400" dirty="0">
                <a:solidFill>
                  <a:srgbClr val="4A524E"/>
                </a:solidFill>
                <a:latin typeface="Calibri" pitchFamily="34" charset="0"/>
                <a:ea typeface="Calibri" pitchFamily="34" charset="-122"/>
                <a:cs typeface="Calibri" pitchFamily="34" charset="-120"/>
              </a:rPr>
              <a:t>Eusébio, Luís Figo (Ballon d'or 2000) et l'entraîneur José Mourinho ont aussi marqué l'histoire du football. Benfica et Sporting (Lisbonne), FC Porto : trois clubs qui divisent les familles… dans la bonne humeur !</a:t>
            </a:r>
            <a:endParaRPr lang="en-US" sz="140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18D"/>
                </a:solidFill>
                <a:latin typeface="Calibri"/>
                <a:ea typeface="Calibri"/>
                <a:cs typeface="Calibri"/>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txBox="1"/>
          <p:nvPr/>
        </p:nvSpPr>
        <p:spPr>
          <a:xfrm>
            <a:off x="548640" y="411480"/>
            <a:ext cx="10972800" cy="274320"/>
          </a:xfrm>
          <a:prstGeom prst="rect">
            <a:avLst/>
          </a:prstGeom>
          <a:noFill/>
          <a:ln/>
        </p:spPr>
        <p:txBody>
          <a:bodyPr wrap="square" lIns="0" tIns="0" rIns="0" bIns="0" rtlCol="0" anchor="t"/>
          <a:lstStyle/>
          <a:p>
            <a:pPr indent="0" marL="0">
              <a:buNone/>
            </a:pPr>
            <a:r>
              <a:rPr lang="en-US" sz="1200" b="1" spc="300" kern="0" dirty="0">
                <a:solidFill>
                  <a:srgbClr val="A83232"/>
                </a:solidFill>
                <a:latin typeface="Calibri" pitchFamily="34" charset="0"/>
                <a:ea typeface="Calibri" pitchFamily="34" charset="-122"/>
                <a:cs typeface="Calibri" pitchFamily="34" charset="-120"/>
              </a:rPr>
              <a:t>AU-DELÀ DU FOOTBALL</a:t>
            </a:r>
            <a:endParaRPr lang="en-US" sz="1200" dirty="0"/>
          </a:p>
        </p:txBody>
      </p:sp>
      <p:sp>
        <p:nvSpPr>
          <p:cNvPr id="3" name="Text 1"/>
          <p:cNvSpPr txBox="1"/>
          <p:nvPr/>
        </p:nvSpPr>
        <p:spPr>
          <a:xfrm>
            <a:off x="548640" y="685800"/>
            <a:ext cx="10972800" cy="685800"/>
          </a:xfrm>
          <a:prstGeom prst="rect">
            <a:avLst/>
          </a:prstGeom>
          <a:noFill/>
          <a:ln/>
        </p:spPr>
        <p:txBody>
          <a:bodyPr wrap="square" lIns="0" tIns="0" rIns="0" bIns="0" rtlCol="0" anchor="t"/>
          <a:lstStyle/>
          <a:p>
            <a:pPr indent="0" marL="0">
              <a:buNone/>
            </a:pPr>
            <a:r>
              <a:rPr lang="en-US" sz="3400" b="1" dirty="0">
                <a:solidFill>
                  <a:srgbClr val="174A3A"/>
                </a:solidFill>
                <a:latin typeface="Cambria" pitchFamily="34" charset="0"/>
                <a:ea typeface="Cambria" pitchFamily="34" charset="-122"/>
                <a:cs typeface="Cambria" pitchFamily="34" charset="-120"/>
              </a:rPr>
              <a:t>D'autres fiertés sportives</a:t>
            </a:r>
            <a:endParaRPr lang="en-US" sz="3400" dirty="0"/>
          </a:p>
        </p:txBody>
      </p:sp>
      <p:pic>
        <p:nvPicPr>
          <p:cNvPr id="4" name="Image 0" descr="/home/user/Portugal-Website/images/photos/hero-sport-card.jpg">    </p:cNvPr>
          <p:cNvPicPr>
            <a:picLocks noChangeAspect="1"/>
          </p:cNvPicPr>
          <p:nvPr/>
        </p:nvPicPr>
        <p:blipFill>
          <a:blip r:embed="rId1"/>
          <a:srcRect l="0" r="0" t="0" b="0"/>
          <a:stretch/>
        </p:blipFill>
        <p:spPr>
          <a:xfrm>
            <a:off x="548640" y="1600200"/>
            <a:ext cx="5486400" cy="3291840"/>
          </a:xfrm>
          <a:prstGeom prst="rect">
            <a:avLst/>
          </a:prstGeom>
        </p:spPr>
      </p:pic>
      <p:sp>
        <p:nvSpPr>
          <p:cNvPr id="5" name="Text 2"/>
          <p:cNvSpPr txBox="1"/>
          <p:nvPr/>
        </p:nvSpPr>
        <p:spPr>
          <a:xfrm>
            <a:off x="548640" y="5029200"/>
            <a:ext cx="5486400" cy="411480"/>
          </a:xfrm>
          <a:prstGeom prst="rect">
            <a:avLst/>
          </a:prstGeom>
          <a:noFill/>
          <a:ln/>
        </p:spPr>
        <p:txBody>
          <a:bodyPr wrap="square" lIns="0" tIns="0" rIns="0" bIns="0" rtlCol="0" anchor="t"/>
          <a:lstStyle/>
          <a:p>
            <a:pPr indent="0" marL="0">
              <a:buNone/>
            </a:pPr>
            <a:r>
              <a:rPr lang="en-US" sz="2000" b="1" dirty="0">
                <a:solidFill>
                  <a:srgbClr val="1E4F8F"/>
                </a:solidFill>
                <a:latin typeface="Cambria" pitchFamily="34" charset="0"/>
                <a:ea typeface="Cambria" pitchFamily="34" charset="-122"/>
                <a:cs typeface="Cambria" pitchFamily="34" charset="-120"/>
              </a:rPr>
              <a:t>Surf à Nazaré</a:t>
            </a:r>
            <a:endParaRPr lang="en-US" sz="2000" dirty="0"/>
          </a:p>
        </p:txBody>
      </p:sp>
      <p:sp>
        <p:nvSpPr>
          <p:cNvPr id="6" name="Text 3"/>
          <p:cNvSpPr txBox="1"/>
          <p:nvPr/>
        </p:nvSpPr>
        <p:spPr>
          <a:xfrm>
            <a:off x="548640" y="5440680"/>
            <a:ext cx="3657600" cy="822960"/>
          </a:xfrm>
          <a:prstGeom prst="rect">
            <a:avLst/>
          </a:prstGeom>
          <a:noFill/>
          <a:ln/>
        </p:spPr>
        <p:txBody>
          <a:bodyPr wrap="square" lIns="0" tIns="0" rIns="0" bIns="0" rtlCol="0" anchor="t"/>
          <a:lstStyle/>
          <a:p>
            <a:pPr indent="0" marL="0">
              <a:buNone/>
            </a:pPr>
            <a:r>
              <a:rPr lang="en-US" sz="1300" dirty="0">
                <a:solidFill>
                  <a:srgbClr val="17211D"/>
                </a:solidFill>
                <a:latin typeface="Calibri" pitchFamily="34" charset="0"/>
                <a:ea typeface="Calibri" pitchFamily="34" charset="-122"/>
                <a:cs typeface="Calibri" pitchFamily="34" charset="-120"/>
              </a:rPr>
              <a:t>Chaque hiver, les meilleurs surfeurs du monde viennent affronter les vagues de Praia do Norte, parmi les plus grandes jamais surfées.</a:t>
            </a:r>
            <a:endParaRPr lang="en-US" sz="1300" dirty="0"/>
          </a:p>
        </p:txBody>
      </p:sp>
      <p:sp>
        <p:nvSpPr>
          <p:cNvPr id="7" name="Shape 4"/>
          <p:cNvSpPr/>
          <p:nvPr/>
        </p:nvSpPr>
        <p:spPr>
          <a:xfrm>
            <a:off x="4297680" y="5532120"/>
            <a:ext cx="1737360" cy="457200"/>
          </a:xfrm>
          <a:prstGeom prst="roundRect">
            <a:avLst>
              <a:gd name="adj" fmla="val 50000"/>
            </a:avLst>
          </a:prstGeom>
          <a:solidFill>
            <a:srgbClr val="1E4F8F"/>
          </a:solidFill>
          <a:ln w="12700">
            <a:solidFill>
              <a:srgbClr val="1E4F8F"/>
            </a:solidFill>
            <a:prstDash val="solid"/>
          </a:ln>
        </p:spPr>
      </p:sp>
      <p:sp>
        <p:nvSpPr>
          <p:cNvPr id="8" name="Text 5"/>
          <p:cNvSpPr txBox="1"/>
          <p:nvPr/>
        </p:nvSpPr>
        <p:spPr>
          <a:xfrm>
            <a:off x="4297680" y="5532120"/>
            <a:ext cx="1737360" cy="457200"/>
          </a:xfrm>
          <a:prstGeom prst="rect">
            <a:avLst/>
          </a:prstGeom>
          <a:noFill/>
          <a:ln/>
        </p:spPr>
        <p:txBody>
          <a:bodyPr wrap="square" lIns="0" tIns="0" rIns="0" bIns="0" rtlCol="0" anchor="ctr"/>
          <a:lstStyle/>
          <a:p>
            <a:pPr algn="ctr" indent="0" marL="0">
              <a:buNone/>
            </a:pPr>
            <a:r>
              <a:rPr lang="en-US" sz="1400" b="1"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  Vidéo Nazaré</a:t>
            </a:r>
            <a:endParaRPr lang="en-US" sz="1400" dirty="0"/>
          </a:p>
        </p:txBody>
      </p:sp>
      <p:sp>
        <p:nvSpPr>
          <p:cNvPr id="9" name="Shape 6"/>
          <p:cNvSpPr/>
          <p:nvPr/>
        </p:nvSpPr>
        <p:spPr>
          <a:xfrm>
            <a:off x="6355080" y="1600200"/>
            <a:ext cx="5285232" cy="1417320"/>
          </a:xfrm>
          <a:prstGeom prst="roundRect">
            <a:avLst>
              <a:gd name="adj" fmla="val 5161"/>
            </a:avLst>
          </a:prstGeom>
          <a:solidFill>
            <a:srgbClr val="F1F4F2"/>
          </a:solidFill>
          <a:ln w="12700">
            <a:solidFill>
              <a:srgbClr val="F1F4F2"/>
            </a:solidFill>
            <a:prstDash val="solid"/>
          </a:ln>
          <a:effectLst>
            <a:outerShdw sx="100000" sy="100000" kx="0" ky="0" algn="bl" rotWithShape="0" blurRad="101600" dist="38100" dir="5400000">
              <a:srgbClr val="000000">
                <a:alpha val="18000"/>
              </a:srgbClr>
            </a:outerShdw>
          </a:effectLst>
        </p:spPr>
      </p:sp>
      <p:pic>
        <p:nvPicPr>
          <p:cNvPr id="10" name="Image 1" descr="/home/user/Portugal-Website/images/photos/s-hockey.jpg">    </p:cNvPr>
          <p:cNvPicPr>
            <a:picLocks noChangeAspect="1"/>
          </p:cNvPicPr>
          <p:nvPr/>
        </p:nvPicPr>
        <p:blipFill>
          <a:blip r:embed="rId3"/>
          <a:srcRect l="0" r="0" t="0" b="0"/>
          <a:stretch/>
        </p:blipFill>
        <p:spPr>
          <a:xfrm>
            <a:off x="6355080" y="1600200"/>
            <a:ext cx="1645920" cy="1417320"/>
          </a:xfrm>
          <a:prstGeom prst="rect">
            <a:avLst/>
          </a:prstGeom>
        </p:spPr>
      </p:pic>
      <p:sp>
        <p:nvSpPr>
          <p:cNvPr id="11" name="Text 7"/>
          <p:cNvSpPr txBox="1"/>
          <p:nvPr/>
        </p:nvSpPr>
        <p:spPr>
          <a:xfrm>
            <a:off x="8183880" y="1737360"/>
            <a:ext cx="3291840" cy="365760"/>
          </a:xfrm>
          <a:prstGeom prst="rect">
            <a:avLst/>
          </a:prstGeom>
          <a:noFill/>
          <a:ln/>
        </p:spPr>
        <p:txBody>
          <a:bodyPr wrap="square" lIns="0" tIns="0" rIns="0" bIns="0" rtlCol="0" anchor="t"/>
          <a:lstStyle/>
          <a:p>
            <a:pPr indent="0" marL="0">
              <a:buNone/>
            </a:pPr>
            <a:r>
              <a:rPr lang="en-US" sz="1800" b="1" dirty="0">
                <a:solidFill>
                  <a:srgbClr val="174A3A"/>
                </a:solidFill>
                <a:latin typeface="Cambria" pitchFamily="34" charset="0"/>
                <a:ea typeface="Cambria" pitchFamily="34" charset="-122"/>
                <a:cs typeface="Cambria" pitchFamily="34" charset="-120"/>
              </a:rPr>
              <a:t>Rink-hockey</a:t>
            </a:r>
            <a:endParaRPr lang="en-US" sz="1800" dirty="0"/>
          </a:p>
        </p:txBody>
      </p:sp>
      <p:sp>
        <p:nvSpPr>
          <p:cNvPr id="12" name="Text 8"/>
          <p:cNvSpPr txBox="1"/>
          <p:nvPr/>
        </p:nvSpPr>
        <p:spPr>
          <a:xfrm>
            <a:off x="8183880" y="2148840"/>
            <a:ext cx="3291840" cy="822960"/>
          </a:xfrm>
          <a:prstGeom prst="rect">
            <a:avLst/>
          </a:prstGeom>
          <a:noFill/>
          <a:ln/>
        </p:spPr>
        <p:txBody>
          <a:bodyPr wrap="square" lIns="0" tIns="0" rIns="0" bIns="0" rtlCol="0" anchor="t"/>
          <a:lstStyle/>
          <a:p>
            <a:pPr indent="0" marL="0">
              <a:buNone/>
            </a:pPr>
            <a:r>
              <a:rPr lang="en-US" sz="1300" dirty="0">
                <a:solidFill>
                  <a:srgbClr val="17211D"/>
                </a:solidFill>
                <a:latin typeface="Calibri" pitchFamily="34" charset="0"/>
                <a:ea typeface="Calibri" pitchFamily="34" charset="-122"/>
                <a:cs typeface="Calibri" pitchFamily="34" charset="-120"/>
              </a:rPr>
              <a:t>L'une des plus grandes nations du hockey sur patins à roulettes, avec plus de 15 titres de champion du monde.</a:t>
            </a:r>
            <a:endParaRPr lang="en-US" sz="1300" dirty="0"/>
          </a:p>
        </p:txBody>
      </p:sp>
      <p:sp>
        <p:nvSpPr>
          <p:cNvPr id="13" name="Shape 9"/>
          <p:cNvSpPr/>
          <p:nvPr/>
        </p:nvSpPr>
        <p:spPr>
          <a:xfrm>
            <a:off x="6355080" y="3172968"/>
            <a:ext cx="5285232" cy="1417320"/>
          </a:xfrm>
          <a:prstGeom prst="roundRect">
            <a:avLst>
              <a:gd name="adj" fmla="val 5161"/>
            </a:avLst>
          </a:prstGeom>
          <a:solidFill>
            <a:srgbClr val="F1F4F2"/>
          </a:solidFill>
          <a:ln w="12700">
            <a:solidFill>
              <a:srgbClr val="F1F4F2"/>
            </a:solidFill>
            <a:prstDash val="solid"/>
          </a:ln>
          <a:effectLst>
            <a:outerShdw sx="100000" sy="100000" kx="0" ky="0" algn="bl" rotWithShape="0" blurRad="101600" dist="38100" dir="5400000">
              <a:srgbClr val="000000">
                <a:alpha val="18000"/>
              </a:srgbClr>
            </a:outerShdw>
          </a:effectLst>
        </p:spPr>
      </p:sp>
      <p:sp>
        <p:nvSpPr>
          <p:cNvPr id="14" name="Shape 10"/>
          <p:cNvSpPr/>
          <p:nvPr/>
        </p:nvSpPr>
        <p:spPr>
          <a:xfrm>
            <a:off x="6949440" y="3648456"/>
            <a:ext cx="457200" cy="457200"/>
          </a:xfrm>
          <a:prstGeom prst="ellipse">
            <a:avLst/>
          </a:prstGeom>
          <a:solidFill>
            <a:srgbClr val="1E4F8F"/>
          </a:solidFill>
          <a:ln w="12700">
            <a:solidFill>
              <a:srgbClr val="1E4F8F"/>
            </a:solidFill>
            <a:prstDash val="solid"/>
          </a:ln>
        </p:spPr>
      </p:sp>
      <p:sp>
        <p:nvSpPr>
          <p:cNvPr id="15" name="Text 11"/>
          <p:cNvSpPr txBox="1"/>
          <p:nvPr/>
        </p:nvSpPr>
        <p:spPr>
          <a:xfrm>
            <a:off x="8183880" y="3310128"/>
            <a:ext cx="3291840" cy="365760"/>
          </a:xfrm>
          <a:prstGeom prst="rect">
            <a:avLst/>
          </a:prstGeom>
          <a:noFill/>
          <a:ln/>
        </p:spPr>
        <p:txBody>
          <a:bodyPr wrap="square" lIns="0" tIns="0" rIns="0" bIns="0" rtlCol="0" anchor="t"/>
          <a:lstStyle/>
          <a:p>
            <a:pPr indent="0" marL="0">
              <a:buNone/>
            </a:pPr>
            <a:r>
              <a:rPr lang="en-US" sz="1800" b="1" dirty="0">
                <a:solidFill>
                  <a:srgbClr val="174A3A"/>
                </a:solidFill>
                <a:latin typeface="Cambria" pitchFamily="34" charset="0"/>
                <a:ea typeface="Cambria" pitchFamily="34" charset="-122"/>
                <a:cs typeface="Cambria" pitchFamily="34" charset="-120"/>
              </a:rPr>
              <a:t>Athlétisme</a:t>
            </a:r>
            <a:endParaRPr lang="en-US" sz="1800" dirty="0"/>
          </a:p>
        </p:txBody>
      </p:sp>
      <p:sp>
        <p:nvSpPr>
          <p:cNvPr id="16" name="Text 12"/>
          <p:cNvSpPr txBox="1"/>
          <p:nvPr/>
        </p:nvSpPr>
        <p:spPr>
          <a:xfrm>
            <a:off x="8183880" y="3721608"/>
            <a:ext cx="3291840" cy="822960"/>
          </a:xfrm>
          <a:prstGeom prst="rect">
            <a:avLst/>
          </a:prstGeom>
          <a:noFill/>
          <a:ln/>
        </p:spPr>
        <p:txBody>
          <a:bodyPr wrap="square" lIns="0" tIns="0" rIns="0" bIns="0" rtlCol="0" anchor="t"/>
          <a:lstStyle/>
          <a:p>
            <a:pPr indent="0" marL="0">
              <a:buNone/>
            </a:pPr>
            <a:r>
              <a:rPr lang="en-US" sz="1300" dirty="0">
                <a:solidFill>
                  <a:srgbClr val="17211D"/>
                </a:solidFill>
                <a:latin typeface="Calibri" pitchFamily="34" charset="0"/>
                <a:ea typeface="Calibri" pitchFamily="34" charset="-122"/>
                <a:cs typeface="Calibri" pitchFamily="34" charset="-120"/>
              </a:rPr>
              <a:t>Carlos Lopes (1984) et Rosa Mota (1988) ont remporté l'or olympique au marathon.</a:t>
            </a:r>
            <a:endParaRPr lang="en-US" sz="1300" dirty="0"/>
          </a:p>
        </p:txBody>
      </p:sp>
      <p:sp>
        <p:nvSpPr>
          <p:cNvPr id="17" name="Shape 13"/>
          <p:cNvSpPr/>
          <p:nvPr/>
        </p:nvSpPr>
        <p:spPr>
          <a:xfrm>
            <a:off x="6355080" y="4745736"/>
            <a:ext cx="5285232" cy="1417320"/>
          </a:xfrm>
          <a:prstGeom prst="roundRect">
            <a:avLst>
              <a:gd name="adj" fmla="val 5161"/>
            </a:avLst>
          </a:prstGeom>
          <a:solidFill>
            <a:srgbClr val="F1F4F2"/>
          </a:solidFill>
          <a:ln w="12700">
            <a:solidFill>
              <a:srgbClr val="F1F4F2"/>
            </a:solidFill>
            <a:prstDash val="solid"/>
          </a:ln>
          <a:effectLst>
            <a:outerShdw sx="100000" sy="100000" kx="0" ky="0" algn="bl" rotWithShape="0" blurRad="101600" dist="38100" dir="5400000">
              <a:srgbClr val="000000">
                <a:alpha val="18000"/>
              </a:srgbClr>
            </a:outerShdw>
          </a:effectLst>
        </p:spPr>
      </p:sp>
      <p:sp>
        <p:nvSpPr>
          <p:cNvPr id="18" name="Shape 14"/>
          <p:cNvSpPr/>
          <p:nvPr/>
        </p:nvSpPr>
        <p:spPr>
          <a:xfrm>
            <a:off x="6949440" y="5221224"/>
            <a:ext cx="457200" cy="457200"/>
          </a:xfrm>
          <a:prstGeom prst="ellipse">
            <a:avLst/>
          </a:prstGeom>
          <a:solidFill>
            <a:srgbClr val="B8955A"/>
          </a:solidFill>
          <a:ln w="12700">
            <a:solidFill>
              <a:srgbClr val="B8955A"/>
            </a:solidFill>
            <a:prstDash val="solid"/>
          </a:ln>
        </p:spPr>
      </p:sp>
      <p:sp>
        <p:nvSpPr>
          <p:cNvPr id="19" name="Text 15"/>
          <p:cNvSpPr txBox="1"/>
          <p:nvPr/>
        </p:nvSpPr>
        <p:spPr>
          <a:xfrm>
            <a:off x="8183880" y="4882896"/>
            <a:ext cx="3291840" cy="365760"/>
          </a:xfrm>
          <a:prstGeom prst="rect">
            <a:avLst/>
          </a:prstGeom>
          <a:noFill/>
          <a:ln/>
        </p:spPr>
        <p:txBody>
          <a:bodyPr wrap="square" lIns="0" tIns="0" rIns="0" bIns="0" rtlCol="0" anchor="t"/>
          <a:lstStyle/>
          <a:p>
            <a:pPr indent="0" marL="0">
              <a:buNone/>
            </a:pPr>
            <a:r>
              <a:rPr lang="en-US" sz="1800" b="1" dirty="0">
                <a:solidFill>
                  <a:srgbClr val="174A3A"/>
                </a:solidFill>
                <a:latin typeface="Cambria" pitchFamily="34" charset="0"/>
                <a:ea typeface="Cambria" pitchFamily="34" charset="-122"/>
                <a:cs typeface="Cambria" pitchFamily="34" charset="-120"/>
              </a:rPr>
              <a:t>Futsal</a:t>
            </a:r>
            <a:endParaRPr lang="en-US" sz="1800" dirty="0"/>
          </a:p>
        </p:txBody>
      </p:sp>
      <p:sp>
        <p:nvSpPr>
          <p:cNvPr id="20" name="Text 16"/>
          <p:cNvSpPr txBox="1"/>
          <p:nvPr/>
        </p:nvSpPr>
        <p:spPr>
          <a:xfrm>
            <a:off x="8183880" y="5294376"/>
            <a:ext cx="3291840" cy="822960"/>
          </a:xfrm>
          <a:prstGeom prst="rect">
            <a:avLst/>
          </a:prstGeom>
          <a:noFill/>
          <a:ln/>
        </p:spPr>
        <p:txBody>
          <a:bodyPr wrap="square" lIns="0" tIns="0" rIns="0" bIns="0" rtlCol="0" anchor="t"/>
          <a:lstStyle/>
          <a:p>
            <a:pPr indent="0" marL="0">
              <a:buNone/>
            </a:pPr>
            <a:r>
              <a:rPr lang="en-US" sz="1300" dirty="0">
                <a:solidFill>
                  <a:srgbClr val="17211D"/>
                </a:solidFill>
                <a:latin typeface="Calibri" pitchFamily="34" charset="0"/>
                <a:ea typeface="Calibri" pitchFamily="34" charset="-122"/>
                <a:cs typeface="Calibri" pitchFamily="34" charset="-120"/>
              </a:rPr>
              <a:t>Champion du monde en 2021, champion d'Europe en 2018 et 2022, finaliste en 2026.</a:t>
            </a:r>
            <a:endParaRPr lang="en-US" sz="130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18D"/>
                </a:solidFill>
                <a:latin typeface="Calibri"/>
                <a:ea typeface="Calibri"/>
                <a:cs typeface="Calibri"/>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pic>
        <p:nvPicPr>
          <p:cNvPr id="2" name="Image 0" descr="/home/user/Portugal-Website/images/luis/lopes-mota.jpg">    </p:cNvPr>
          <p:cNvPicPr>
            <a:picLocks noChangeAspect="1"/>
          </p:cNvPicPr>
          <p:nvPr/>
        </p:nvPicPr>
        <p:blipFill>
          <a:blip r:embed="rId1"/>
          <a:srcRect l="0" r="0" t="0" b="0"/>
          <a:stretch/>
        </p:blipFill>
        <p:spPr>
          <a:xfrm>
            <a:off x="0" y="0"/>
            <a:ext cx="5760720" cy="6858000"/>
          </a:xfrm>
          <a:prstGeom prst="rect">
            <a:avLst/>
          </a:prstGeom>
        </p:spPr>
      </p:pic>
      <p:sp>
        <p:nvSpPr>
          <p:cNvPr id="3" name="Shape 0"/>
          <p:cNvSpPr/>
          <p:nvPr/>
        </p:nvSpPr>
        <p:spPr>
          <a:xfrm>
            <a:off x="0" y="6108192"/>
            <a:ext cx="5760720" cy="384048"/>
          </a:xfrm>
          <a:prstGeom prst="rect">
            <a:avLst/>
          </a:prstGeom>
          <a:solidFill>
            <a:srgbClr val="000000">
              <a:alpha val="55000"/>
            </a:srgbClr>
          </a:solidFill>
          <a:ln w="12700">
            <a:solidFill>
              <a:srgbClr val="000000">
                <a:alpha val="0"/>
              </a:srgbClr>
            </a:solidFill>
            <a:prstDash val="solid"/>
          </a:ln>
        </p:spPr>
      </p:sp>
      <p:sp>
        <p:nvSpPr>
          <p:cNvPr id="4" name="Text 1"/>
          <p:cNvSpPr txBox="1"/>
          <p:nvPr/>
        </p:nvSpPr>
        <p:spPr>
          <a:xfrm>
            <a:off x="109728" y="6144768"/>
            <a:ext cx="5541264" cy="31089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Rosa Mota et Carlos Lopes lors d'une course populaire à Faro.</a:t>
            </a:r>
            <a:endParaRPr lang="en-US" sz="1100" dirty="0"/>
          </a:p>
        </p:txBody>
      </p:sp>
      <p:sp>
        <p:nvSpPr>
          <p:cNvPr id="5" name="Text 2"/>
          <p:cNvSpPr txBox="1"/>
          <p:nvPr/>
        </p:nvSpPr>
        <p:spPr>
          <a:xfrm>
            <a:off x="6217920" y="548640"/>
            <a:ext cx="5394960" cy="274320"/>
          </a:xfrm>
          <a:prstGeom prst="rect">
            <a:avLst/>
          </a:prstGeom>
          <a:noFill/>
          <a:ln/>
        </p:spPr>
        <p:txBody>
          <a:bodyPr wrap="square" lIns="0" tIns="0" rIns="0" bIns="0" rtlCol="0" anchor="t"/>
          <a:lstStyle/>
          <a:p>
            <a:pPr indent="0" marL="0">
              <a:buNone/>
            </a:pPr>
            <a:r>
              <a:rPr lang="en-US" sz="1200" b="1" spc="200" kern="0" dirty="0">
                <a:solidFill>
                  <a:srgbClr val="A83232"/>
                </a:solidFill>
                <a:latin typeface="Calibri" pitchFamily="34" charset="0"/>
                <a:ea typeface="Calibri" pitchFamily="34" charset="-122"/>
                <a:cs typeface="Calibri" pitchFamily="34" charset="-120"/>
              </a:rPr>
              <a:t>ATHLÉTISME</a:t>
            </a:r>
            <a:endParaRPr lang="en-US" sz="1200" dirty="0"/>
          </a:p>
        </p:txBody>
      </p:sp>
      <p:sp>
        <p:nvSpPr>
          <p:cNvPr id="6" name="Text 3"/>
          <p:cNvSpPr txBox="1"/>
          <p:nvPr/>
        </p:nvSpPr>
        <p:spPr>
          <a:xfrm>
            <a:off x="6217920" y="868680"/>
            <a:ext cx="5394960" cy="731520"/>
          </a:xfrm>
          <a:prstGeom prst="rect">
            <a:avLst/>
          </a:prstGeom>
          <a:noFill/>
          <a:ln/>
        </p:spPr>
        <p:txBody>
          <a:bodyPr wrap="square" lIns="0" tIns="0" rIns="0" bIns="0" rtlCol="0" anchor="t"/>
          <a:lstStyle/>
          <a:p>
            <a:pPr indent="0" marL="0">
              <a:buNone/>
            </a:pPr>
            <a:r>
              <a:rPr lang="en-US" sz="3200" b="1" dirty="0">
                <a:solidFill>
                  <a:srgbClr val="174A3A"/>
                </a:solidFill>
                <a:latin typeface="Cambria" pitchFamily="34" charset="0"/>
                <a:ea typeface="Cambria" pitchFamily="34" charset="-122"/>
                <a:cs typeface="Cambria" pitchFamily="34" charset="-120"/>
              </a:rPr>
              <a:t>Les rois du marathon</a:t>
            </a:r>
            <a:endParaRPr lang="en-US" sz="3200" dirty="0"/>
          </a:p>
        </p:txBody>
      </p:sp>
      <p:sp>
        <p:nvSpPr>
          <p:cNvPr id="7" name="Text 4"/>
          <p:cNvSpPr txBox="1"/>
          <p:nvPr/>
        </p:nvSpPr>
        <p:spPr>
          <a:xfrm>
            <a:off x="6217920" y="1737360"/>
            <a:ext cx="5394960" cy="411480"/>
          </a:xfrm>
          <a:prstGeom prst="rect">
            <a:avLst/>
          </a:prstGeom>
          <a:noFill/>
          <a:ln/>
        </p:spPr>
        <p:txBody>
          <a:bodyPr wrap="square" lIns="0" tIns="0" rIns="0" bIns="0" rtlCol="0" anchor="t"/>
          <a:lstStyle/>
          <a:p>
            <a:pPr indent="0" marL="0">
              <a:buNone/>
            </a:pPr>
            <a:r>
              <a:rPr lang="en-US" sz="1900" b="1" dirty="0">
                <a:solidFill>
                  <a:srgbClr val="1E4F8F"/>
                </a:solidFill>
                <a:latin typeface="Cambria" pitchFamily="34" charset="0"/>
                <a:ea typeface="Cambria" pitchFamily="34" charset="-122"/>
                <a:cs typeface="Cambria" pitchFamily="34" charset="-120"/>
              </a:rPr>
              <a:t>Carlos Lopes</a:t>
            </a:r>
            <a:endParaRPr lang="en-US" sz="1900" dirty="0"/>
          </a:p>
        </p:txBody>
      </p:sp>
      <p:sp>
        <p:nvSpPr>
          <p:cNvPr id="8" name="Text 5"/>
          <p:cNvSpPr txBox="1"/>
          <p:nvPr/>
        </p:nvSpPr>
        <p:spPr>
          <a:xfrm>
            <a:off x="6217920" y="2148840"/>
            <a:ext cx="5394960" cy="1188720"/>
          </a:xfrm>
          <a:prstGeom prst="rect">
            <a:avLst/>
          </a:prstGeom>
          <a:noFill/>
          <a:ln/>
        </p:spPr>
        <p:txBody>
          <a:bodyPr wrap="square" lIns="0" tIns="0" rIns="0" bIns="0" rtlCol="0" anchor="t"/>
          <a:lstStyle/>
          <a:p>
            <a:pPr indent="0" marL="0">
              <a:buNone/>
            </a:pPr>
            <a:r>
              <a:rPr lang="en-US" sz="1300" dirty="0">
                <a:solidFill>
                  <a:srgbClr val="17211D"/>
                </a:solidFill>
                <a:latin typeface="Calibri" pitchFamily="34" charset="0"/>
                <a:ea typeface="Calibri" pitchFamily="34" charset="-122"/>
                <a:cs typeface="Calibri" pitchFamily="34" charset="-120"/>
              </a:rPr>
              <a:t>Champion olympique du marathon à Los Angeles en 1984, à 37 ans, puis record du monde en 2 h 07 min 12 s à Rotterdam en 1985. Il a aussi été trois fois champion du monde de cross-country.</a:t>
            </a:r>
            <a:endParaRPr lang="en-US" sz="1300" dirty="0"/>
          </a:p>
        </p:txBody>
      </p:sp>
      <p:sp>
        <p:nvSpPr>
          <p:cNvPr id="9" name="Text 6"/>
          <p:cNvSpPr txBox="1"/>
          <p:nvPr/>
        </p:nvSpPr>
        <p:spPr>
          <a:xfrm>
            <a:off x="6217920" y="3429000"/>
            <a:ext cx="5394960" cy="411480"/>
          </a:xfrm>
          <a:prstGeom prst="rect">
            <a:avLst/>
          </a:prstGeom>
          <a:noFill/>
          <a:ln/>
        </p:spPr>
        <p:txBody>
          <a:bodyPr wrap="square" lIns="0" tIns="0" rIns="0" bIns="0" rtlCol="0" anchor="t"/>
          <a:lstStyle/>
          <a:p>
            <a:pPr indent="0" marL="0">
              <a:buNone/>
            </a:pPr>
            <a:r>
              <a:rPr lang="en-US" sz="1900" b="1" dirty="0">
                <a:solidFill>
                  <a:srgbClr val="1E4F8F"/>
                </a:solidFill>
                <a:latin typeface="Cambria" pitchFamily="34" charset="0"/>
                <a:ea typeface="Cambria" pitchFamily="34" charset="-122"/>
                <a:cs typeface="Cambria" pitchFamily="34" charset="-120"/>
              </a:rPr>
              <a:t>Rosa Mota</a:t>
            </a:r>
            <a:endParaRPr lang="en-US" sz="1900" dirty="0"/>
          </a:p>
        </p:txBody>
      </p:sp>
      <p:sp>
        <p:nvSpPr>
          <p:cNvPr id="10" name="Text 7"/>
          <p:cNvSpPr txBox="1"/>
          <p:nvPr/>
        </p:nvSpPr>
        <p:spPr>
          <a:xfrm>
            <a:off x="6217920" y="3840480"/>
            <a:ext cx="5394960" cy="1188720"/>
          </a:xfrm>
          <a:prstGeom prst="rect">
            <a:avLst/>
          </a:prstGeom>
          <a:noFill/>
          <a:ln/>
        </p:spPr>
        <p:txBody>
          <a:bodyPr wrap="square" lIns="0" tIns="0" rIns="0" bIns="0" rtlCol="0" anchor="t"/>
          <a:lstStyle/>
          <a:p>
            <a:pPr indent="0" marL="0">
              <a:buNone/>
            </a:pPr>
            <a:r>
              <a:rPr lang="en-US" sz="1300" dirty="0">
                <a:solidFill>
                  <a:srgbClr val="17211D"/>
                </a:solidFill>
                <a:latin typeface="Calibri" pitchFamily="34" charset="0"/>
                <a:ea typeface="Calibri" pitchFamily="34" charset="-122"/>
                <a:cs typeface="Calibri" pitchFamily="34" charset="-120"/>
              </a:rPr>
              <a:t>Bronze en 1984, puis championne olympique du marathon à Séoul en 1988 : la première Portugaise sacrée aux Jeux. Championne du monde en 1987 et trois fois championne d'Europe.</a:t>
            </a:r>
            <a:endParaRPr lang="en-US" sz="1300" dirty="0"/>
          </a:p>
        </p:txBody>
      </p:sp>
      <p:sp>
        <p:nvSpPr>
          <p:cNvPr id="11" name="Text 8"/>
          <p:cNvSpPr txBox="1"/>
          <p:nvPr/>
        </p:nvSpPr>
        <p:spPr>
          <a:xfrm>
            <a:off x="6217920" y="5257800"/>
            <a:ext cx="1737360" cy="685800"/>
          </a:xfrm>
          <a:prstGeom prst="rect">
            <a:avLst/>
          </a:prstGeom>
          <a:noFill/>
          <a:ln/>
        </p:spPr>
        <p:txBody>
          <a:bodyPr wrap="square" lIns="0" tIns="0" rIns="0" bIns="0" rtlCol="0" anchor="t"/>
          <a:lstStyle/>
          <a:p>
            <a:pPr indent="0" marL="0">
              <a:buNone/>
            </a:pPr>
            <a:r>
              <a:rPr lang="en-US" sz="3600" b="1" dirty="0">
                <a:solidFill>
                  <a:srgbClr val="174A3A"/>
                </a:solidFill>
                <a:latin typeface="Cambria" pitchFamily="34" charset="0"/>
                <a:ea typeface="Cambria" pitchFamily="34" charset="-122"/>
                <a:cs typeface="Cambria" pitchFamily="34" charset="-120"/>
              </a:rPr>
              <a:t>1984</a:t>
            </a:r>
            <a:endParaRPr lang="en-US" sz="3600" dirty="0"/>
          </a:p>
        </p:txBody>
      </p:sp>
      <p:sp>
        <p:nvSpPr>
          <p:cNvPr id="12" name="Text 9"/>
          <p:cNvSpPr txBox="1"/>
          <p:nvPr/>
        </p:nvSpPr>
        <p:spPr>
          <a:xfrm>
            <a:off x="6217920" y="5943600"/>
            <a:ext cx="1737360" cy="548640"/>
          </a:xfrm>
          <a:prstGeom prst="rect">
            <a:avLst/>
          </a:prstGeom>
          <a:noFill/>
          <a:ln/>
        </p:spPr>
        <p:txBody>
          <a:bodyPr wrap="square" lIns="0" tIns="0" rIns="0" bIns="0" rtlCol="0" anchor="t"/>
          <a:lstStyle/>
          <a:p>
            <a:pPr indent="0" marL="0">
              <a:buNone/>
            </a:pPr>
            <a:r>
              <a:rPr lang="en-US" sz="1300" b="1" dirty="0">
                <a:solidFill>
                  <a:srgbClr val="4A524E"/>
                </a:solidFill>
                <a:latin typeface="Calibri" pitchFamily="34" charset="0"/>
                <a:ea typeface="Calibri" pitchFamily="34" charset="-122"/>
                <a:cs typeface="Calibri" pitchFamily="34" charset="-120"/>
              </a:rPr>
              <a:t>OR — C. LOPES</a:t>
            </a:r>
            <a:endParaRPr lang="en-US" sz="1300" dirty="0"/>
          </a:p>
        </p:txBody>
      </p:sp>
      <p:sp>
        <p:nvSpPr>
          <p:cNvPr id="13" name="Text 10"/>
          <p:cNvSpPr txBox="1"/>
          <p:nvPr/>
        </p:nvSpPr>
        <p:spPr>
          <a:xfrm>
            <a:off x="8046720" y="5257800"/>
            <a:ext cx="1737360" cy="685800"/>
          </a:xfrm>
          <a:prstGeom prst="rect">
            <a:avLst/>
          </a:prstGeom>
          <a:noFill/>
          <a:ln/>
        </p:spPr>
        <p:txBody>
          <a:bodyPr wrap="square" lIns="0" tIns="0" rIns="0" bIns="0" rtlCol="0" anchor="t"/>
          <a:lstStyle/>
          <a:p>
            <a:pPr indent="0" marL="0">
              <a:buNone/>
            </a:pPr>
            <a:r>
              <a:rPr lang="en-US" sz="3600" b="1" dirty="0">
                <a:solidFill>
                  <a:srgbClr val="A83232"/>
                </a:solidFill>
                <a:latin typeface="Cambria" pitchFamily="34" charset="0"/>
                <a:ea typeface="Cambria" pitchFamily="34" charset="-122"/>
                <a:cs typeface="Cambria" pitchFamily="34" charset="-120"/>
              </a:rPr>
              <a:t>1988</a:t>
            </a:r>
            <a:endParaRPr lang="en-US" sz="3600" dirty="0"/>
          </a:p>
        </p:txBody>
      </p:sp>
      <p:sp>
        <p:nvSpPr>
          <p:cNvPr id="14" name="Text 11"/>
          <p:cNvSpPr txBox="1"/>
          <p:nvPr/>
        </p:nvSpPr>
        <p:spPr>
          <a:xfrm>
            <a:off x="8046720" y="5943600"/>
            <a:ext cx="1737360" cy="548640"/>
          </a:xfrm>
          <a:prstGeom prst="rect">
            <a:avLst/>
          </a:prstGeom>
          <a:noFill/>
          <a:ln/>
        </p:spPr>
        <p:txBody>
          <a:bodyPr wrap="square" lIns="0" tIns="0" rIns="0" bIns="0" rtlCol="0" anchor="t"/>
          <a:lstStyle/>
          <a:p>
            <a:pPr indent="0" marL="0">
              <a:buNone/>
            </a:pPr>
            <a:r>
              <a:rPr lang="en-US" sz="1300" b="1" dirty="0">
                <a:solidFill>
                  <a:srgbClr val="4A524E"/>
                </a:solidFill>
                <a:latin typeface="Calibri" pitchFamily="34" charset="0"/>
                <a:ea typeface="Calibri" pitchFamily="34" charset="-122"/>
                <a:cs typeface="Calibri" pitchFamily="34" charset="-120"/>
              </a:rPr>
              <a:t>OR — R. MOTA</a:t>
            </a:r>
            <a:endParaRPr lang="en-US" sz="1300" dirty="0"/>
          </a:p>
        </p:txBody>
      </p:sp>
      <p:sp>
        <p:nvSpPr>
          <p:cNvPr id="15" name="Text 12"/>
          <p:cNvSpPr txBox="1"/>
          <p:nvPr/>
        </p:nvSpPr>
        <p:spPr>
          <a:xfrm>
            <a:off x="9875520" y="5257800"/>
            <a:ext cx="1737360" cy="685800"/>
          </a:xfrm>
          <a:prstGeom prst="rect">
            <a:avLst/>
          </a:prstGeom>
          <a:noFill/>
          <a:ln/>
        </p:spPr>
        <p:txBody>
          <a:bodyPr wrap="square" lIns="0" tIns="0" rIns="0" bIns="0" rtlCol="0" anchor="t"/>
          <a:lstStyle/>
          <a:p>
            <a:pPr indent="0" marL="0">
              <a:buNone/>
            </a:pPr>
            <a:r>
              <a:rPr lang="en-US" sz="3600" b="1" dirty="0">
                <a:solidFill>
                  <a:srgbClr val="1E4F8F"/>
                </a:solidFill>
                <a:latin typeface="Cambria" pitchFamily="34" charset="0"/>
                <a:ea typeface="Cambria" pitchFamily="34" charset="-122"/>
                <a:cs typeface="Cambria" pitchFamily="34" charset="-120"/>
              </a:rPr>
              <a:t>2:07:12</a:t>
            </a:r>
            <a:endParaRPr lang="en-US" sz="3600" dirty="0"/>
          </a:p>
        </p:txBody>
      </p:sp>
      <p:sp>
        <p:nvSpPr>
          <p:cNvPr id="16" name="Text 13"/>
          <p:cNvSpPr txBox="1"/>
          <p:nvPr/>
        </p:nvSpPr>
        <p:spPr>
          <a:xfrm>
            <a:off x="9875520" y="5943600"/>
            <a:ext cx="1737360" cy="548640"/>
          </a:xfrm>
          <a:prstGeom prst="rect">
            <a:avLst/>
          </a:prstGeom>
          <a:noFill/>
          <a:ln/>
        </p:spPr>
        <p:txBody>
          <a:bodyPr wrap="square" lIns="0" tIns="0" rIns="0" bIns="0" rtlCol="0" anchor="t"/>
          <a:lstStyle/>
          <a:p>
            <a:pPr indent="0" marL="0">
              <a:buNone/>
            </a:pPr>
            <a:r>
              <a:rPr lang="en-US" sz="1300" b="1" dirty="0">
                <a:solidFill>
                  <a:srgbClr val="4A524E"/>
                </a:solidFill>
                <a:latin typeface="Calibri" pitchFamily="34" charset="0"/>
                <a:ea typeface="Calibri" pitchFamily="34" charset="-122"/>
                <a:cs typeface="Calibri" pitchFamily="34" charset="-120"/>
              </a:rPr>
              <a:t>RECORD DU MONDE (1985)</a:t>
            </a:r>
            <a:endParaRPr lang="en-US" sz="130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18D"/>
                </a:solidFill>
                <a:latin typeface="Calibri"/>
                <a:ea typeface="Calibri"/>
                <a:cs typeface="Calibri"/>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F2A4F"/>
        </a:solidFill>
      </p:bgPr>
    </p:bg>
    <p:spTree>
      <p:nvGrpSpPr>
        <p:cNvPr id="1" name=""/>
        <p:cNvGrpSpPr/>
        <p:nvPr/>
      </p:nvGrpSpPr>
      <p:grpSpPr>
        <a:xfrm>
          <a:off x="0" y="0"/>
          <a:ext cx="0" cy="0"/>
          <a:chOff x="0" y="0"/>
          <a:chExt cx="0" cy="0"/>
        </a:xfrm>
      </p:grpSpPr>
      <p:pic>
        <p:nvPicPr>
          <p:cNvPr id="2" name="Image 0" descr="/home/user/Portugal-Website/images/photos/s-rbar.jpg">    </p:cNvPr>
          <p:cNvPicPr>
            <a:picLocks noChangeAspect="1"/>
          </p:cNvPicPr>
          <p:nvPr/>
        </p:nvPicPr>
        <p:blipFill>
          <a:blip r:embed="rId1"/>
          <a:srcRect l="0" r="0" t="0" b="0"/>
          <a:stretch/>
        </p:blipFill>
        <p:spPr>
          <a:xfrm>
            <a:off x="0" y="0"/>
            <a:ext cx="6583680" cy="6858000"/>
          </a:xfrm>
          <a:prstGeom prst="rect">
            <a:avLst/>
          </a:prstGeom>
        </p:spPr>
      </p:pic>
      <p:sp>
        <p:nvSpPr>
          <p:cNvPr id="3" name="Text 0"/>
          <p:cNvSpPr txBox="1"/>
          <p:nvPr/>
        </p:nvSpPr>
        <p:spPr>
          <a:xfrm>
            <a:off x="7040880" y="1005840"/>
            <a:ext cx="4754880" cy="365760"/>
          </a:xfrm>
          <a:prstGeom prst="rect">
            <a:avLst/>
          </a:prstGeom>
          <a:noFill/>
          <a:ln/>
        </p:spPr>
        <p:txBody>
          <a:bodyPr wrap="square" lIns="0" tIns="0" rIns="0" bIns="0" rtlCol="0" anchor="t"/>
          <a:lstStyle/>
          <a:p>
            <a:pPr indent="0" marL="0">
              <a:buNone/>
            </a:pPr>
            <a:r>
              <a:rPr lang="en-US" sz="1200" b="1" spc="200" kern="0" dirty="0">
                <a:solidFill>
                  <a:srgbClr val="F2C14E"/>
                </a:solidFill>
                <a:latin typeface="Calibri" pitchFamily="34" charset="0"/>
                <a:ea typeface="Calibri" pitchFamily="34" charset="-122"/>
                <a:cs typeface="Calibri" pitchFamily="34" charset="-120"/>
              </a:rPr>
              <a:t>PORTO &amp; GAIA, AU-DESSUS DU DOURO</a:t>
            </a:r>
            <a:endParaRPr lang="en-US" sz="1200" dirty="0"/>
          </a:p>
        </p:txBody>
      </p:sp>
      <p:sp>
        <p:nvSpPr>
          <p:cNvPr id="4" name="Text 1"/>
          <p:cNvSpPr txBox="1"/>
          <p:nvPr/>
        </p:nvSpPr>
        <p:spPr>
          <a:xfrm>
            <a:off x="7040880" y="1371600"/>
            <a:ext cx="4846320" cy="731520"/>
          </a:xfrm>
          <a:prstGeom prst="rect">
            <a:avLst/>
          </a:prstGeom>
          <a:noFill/>
          <a:ln/>
        </p:spPr>
        <p:txBody>
          <a:bodyPr wrap="square" lIns="0" tIns="0" rIns="0" bIns="0" rtlCol="0" anchor="t"/>
          <a:lstStyle/>
          <a:p>
            <a:pPr indent="0" marL="0">
              <a:buNone/>
            </a:pPr>
            <a:r>
              <a:rPr lang="en-US" sz="3600" b="1" i="1" dirty="0">
                <a:solidFill>
                  <a:srgbClr val="FFFFFF"/>
                </a:solidFill>
                <a:latin typeface="Calibri" pitchFamily="34" charset="0"/>
                <a:ea typeface="Calibri" pitchFamily="34" charset="-122"/>
                <a:cs typeface="Calibri" pitchFamily="34" charset="-120"/>
              </a:rPr>
              <a:t>RED BULL AIR RACE</a:t>
            </a:r>
            <a:endParaRPr lang="en-US" sz="3600" dirty="0"/>
          </a:p>
        </p:txBody>
      </p:sp>
      <p:sp>
        <p:nvSpPr>
          <p:cNvPr id="5" name="Text 2"/>
          <p:cNvSpPr txBox="1"/>
          <p:nvPr/>
        </p:nvSpPr>
        <p:spPr>
          <a:xfrm>
            <a:off x="7040880" y="2240280"/>
            <a:ext cx="4663440" cy="237744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En 2007, la course d'avions la plus rapide du monde arrive à Porto : les pilotes slaloment entre des pylônes gonflables à quelques mètres au-dessus du Douro, sous le pont Dom Luís. Environ 600 000 spectateurs envahissent les deux rives dès la première édition, puis près d'un million en 2008 : un record pour la compétition.</a:t>
            </a:r>
            <a:endParaRPr lang="en-US" sz="1500" dirty="0"/>
          </a:p>
        </p:txBody>
      </p:sp>
      <p:sp>
        <p:nvSpPr>
          <p:cNvPr id="6" name="Text 3"/>
          <p:cNvSpPr txBox="1"/>
          <p:nvPr/>
        </p:nvSpPr>
        <p:spPr>
          <a:xfrm>
            <a:off x="7040880" y="4754880"/>
            <a:ext cx="2103120" cy="685800"/>
          </a:xfrm>
          <a:prstGeom prst="rect">
            <a:avLst/>
          </a:prstGeom>
          <a:noFill/>
          <a:ln/>
        </p:spPr>
        <p:txBody>
          <a:bodyPr wrap="square" lIns="0" tIns="0" rIns="0" bIns="0" rtlCol="0" anchor="t"/>
          <a:lstStyle/>
          <a:p>
            <a:pPr indent="0" marL="0">
              <a:buNone/>
            </a:pPr>
            <a:r>
              <a:rPr lang="en-US" sz="3600" b="1" dirty="0">
                <a:solidFill>
                  <a:srgbClr val="F2C14E"/>
                </a:solidFill>
                <a:latin typeface="Cambria" pitchFamily="34" charset="0"/>
                <a:ea typeface="Cambria" pitchFamily="34" charset="-122"/>
                <a:cs typeface="Cambria" pitchFamily="34" charset="-120"/>
              </a:rPr>
              <a:t>2007</a:t>
            </a:r>
            <a:endParaRPr lang="en-US" sz="3600" dirty="0"/>
          </a:p>
        </p:txBody>
      </p:sp>
      <p:sp>
        <p:nvSpPr>
          <p:cNvPr id="7" name="Text 4"/>
          <p:cNvSpPr txBox="1"/>
          <p:nvPr/>
        </p:nvSpPr>
        <p:spPr>
          <a:xfrm>
            <a:off x="7040880" y="5440680"/>
            <a:ext cx="2103120" cy="548640"/>
          </a:xfrm>
          <a:prstGeom prst="rect">
            <a:avLst/>
          </a:prstGeom>
          <a:noFill/>
          <a:ln/>
        </p:spPr>
        <p:txBody>
          <a:bodyPr wrap="square" lIns="0" tIns="0" rIns="0" bIns="0" rtlCol="0" anchor="t"/>
          <a:lstStyle/>
          <a:p>
            <a:pPr indent="0" marL="0">
              <a:buNone/>
            </a:pPr>
            <a:r>
              <a:rPr lang="en-US" sz="1300" b="1" dirty="0">
                <a:solidFill>
                  <a:srgbClr val="E6ECE8"/>
                </a:solidFill>
                <a:latin typeface="Calibri" pitchFamily="34" charset="0"/>
                <a:ea typeface="Calibri" pitchFamily="34" charset="-122"/>
                <a:cs typeface="Calibri" pitchFamily="34" charset="-120"/>
              </a:rPr>
              <a:t>PREMIÈRE COURSE À PORTO</a:t>
            </a:r>
            <a:endParaRPr lang="en-US" sz="1300" dirty="0"/>
          </a:p>
        </p:txBody>
      </p:sp>
      <p:sp>
        <p:nvSpPr>
          <p:cNvPr id="8" name="Text 5"/>
          <p:cNvSpPr txBox="1"/>
          <p:nvPr/>
        </p:nvSpPr>
        <p:spPr>
          <a:xfrm>
            <a:off x="9235440" y="4754880"/>
            <a:ext cx="2560320" cy="685800"/>
          </a:xfrm>
          <a:prstGeom prst="rect">
            <a:avLst/>
          </a:prstGeom>
          <a:noFill/>
          <a:ln/>
        </p:spPr>
        <p:txBody>
          <a:bodyPr wrap="square" lIns="0" tIns="0" rIns="0" bIns="0" rtlCol="0" anchor="t"/>
          <a:lstStyle/>
          <a:p>
            <a:pPr indent="0" marL="0">
              <a:buNone/>
            </a:pPr>
            <a:r>
              <a:rPr lang="en-US" sz="3600" b="1" dirty="0">
                <a:solidFill>
                  <a:srgbClr val="F2C14E"/>
                </a:solidFill>
                <a:latin typeface="Cambria" pitchFamily="34" charset="0"/>
                <a:ea typeface="Cambria" pitchFamily="34" charset="-122"/>
                <a:cs typeface="Cambria" pitchFamily="34" charset="-120"/>
              </a:rPr>
              <a:t>1 000 000</a:t>
            </a:r>
            <a:endParaRPr lang="en-US" sz="3600" dirty="0"/>
          </a:p>
        </p:txBody>
      </p:sp>
      <p:sp>
        <p:nvSpPr>
          <p:cNvPr id="9" name="Text 6"/>
          <p:cNvSpPr txBox="1"/>
          <p:nvPr/>
        </p:nvSpPr>
        <p:spPr>
          <a:xfrm>
            <a:off x="9235440" y="5440680"/>
            <a:ext cx="2560320" cy="548640"/>
          </a:xfrm>
          <a:prstGeom prst="rect">
            <a:avLst/>
          </a:prstGeom>
          <a:noFill/>
          <a:ln/>
        </p:spPr>
        <p:txBody>
          <a:bodyPr wrap="square" lIns="0" tIns="0" rIns="0" bIns="0" rtlCol="0" anchor="t"/>
          <a:lstStyle/>
          <a:p>
            <a:pPr indent="0" marL="0">
              <a:buNone/>
            </a:pPr>
            <a:r>
              <a:rPr lang="en-US" sz="1300" b="1" dirty="0">
                <a:solidFill>
                  <a:srgbClr val="E6ECE8"/>
                </a:solidFill>
                <a:latin typeface="Calibri" pitchFamily="34" charset="0"/>
                <a:ea typeface="Calibri" pitchFamily="34" charset="-122"/>
                <a:cs typeface="Calibri" pitchFamily="34" charset="-120"/>
              </a:rPr>
              <a:t>SPECTATEURS EN 2008 (RECORD)</a:t>
            </a:r>
            <a:endParaRPr lang="en-US" sz="1300" dirty="0"/>
          </a:p>
        </p:txBody>
      </p:sp>
      <p:sp>
        <p:nvSpPr>
          <p:cNvPr id="10" name="Text 7"/>
          <p:cNvSpPr txBox="1"/>
          <p:nvPr/>
        </p:nvSpPr>
        <p:spPr>
          <a:xfrm>
            <a:off x="274320" y="6446520"/>
            <a:ext cx="6035040" cy="274320"/>
          </a:xfrm>
          <a:prstGeom prst="rect">
            <a:avLst/>
          </a:prstGeom>
          <a:noFill/>
          <a:ln/>
        </p:spPr>
        <p:txBody>
          <a:bodyPr wrap="square" lIns="0" tIns="0" rIns="0" bIns="0" rtlCol="0" anchor="t"/>
          <a:lstStyle/>
          <a:p>
            <a:pPr indent="0" marL="0">
              <a:buNone/>
            </a:pPr>
            <a:r>
              <a:rPr lang="en-US" sz="1000" dirty="0">
                <a:solidFill>
                  <a:srgbClr val="FFFFFF"/>
                </a:solidFill>
                <a:latin typeface="Calibri" pitchFamily="34" charset="0"/>
                <a:ea typeface="Calibri" pitchFamily="34" charset="-122"/>
                <a:cs typeface="Calibri" pitchFamily="34" charset="-120"/>
              </a:rPr>
              <a:t>Un avion de course au-dessus du Douro, face à Porto (édition 2017).</a:t>
            </a:r>
            <a:endParaRPr lang="en-US" sz="1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pic>
        <p:nvPicPr>
          <p:cNvPr id="2" name="Image 0" descr="/home/user/Portugal-Website/images/photos/hero-reg.jpg">    </p:cNvPr>
          <p:cNvPicPr>
            <a:picLocks noChangeAspect="1"/>
          </p:cNvPicPr>
          <p:nvPr/>
        </p:nvPicPr>
        <p:blipFill>
          <a:blip r:embed="rId1"/>
          <a:srcRect l="0" r="0" t="0" b="0"/>
          <a:stretch/>
        </p:blipFill>
        <p:spPr>
          <a:xfrm>
            <a:off x="0" y="0"/>
            <a:ext cx="12191695" cy="6858000"/>
          </a:xfrm>
          <a:prstGeom prst="rect">
            <a:avLst/>
          </a:prstGeom>
        </p:spPr>
      </p:pic>
      <p:sp>
        <p:nvSpPr>
          <p:cNvPr id="3" name="Shape 0"/>
          <p:cNvSpPr/>
          <p:nvPr/>
        </p:nvSpPr>
        <p:spPr>
          <a:xfrm>
            <a:off x="0" y="0"/>
            <a:ext cx="6766560" cy="6858000"/>
          </a:xfrm>
          <a:prstGeom prst="rect">
            <a:avLst/>
          </a:prstGeom>
          <a:solidFill>
            <a:srgbClr val="08140F">
              <a:alpha val="70000"/>
            </a:srgbClr>
          </a:solidFill>
          <a:ln w="12700">
            <a:solidFill>
              <a:srgbClr val="08140F">
                <a:alpha val="0"/>
              </a:srgbClr>
            </a:solidFill>
            <a:prstDash val="solid"/>
          </a:ln>
        </p:spPr>
      </p:sp>
      <p:sp>
        <p:nvSpPr>
          <p:cNvPr id="4" name="Text 1"/>
          <p:cNvSpPr txBox="1"/>
          <p:nvPr/>
        </p:nvSpPr>
        <p:spPr>
          <a:xfrm>
            <a:off x="822960" y="1828800"/>
            <a:ext cx="4572000" cy="365760"/>
          </a:xfrm>
          <a:prstGeom prst="rect">
            <a:avLst/>
          </a:prstGeom>
          <a:noFill/>
          <a:ln/>
        </p:spPr>
        <p:txBody>
          <a:bodyPr wrap="square" lIns="0" tIns="0" rIns="0" bIns="0" rtlCol="0" anchor="t"/>
          <a:lstStyle/>
          <a:p>
            <a:pPr indent="0" marL="0">
              <a:buNone/>
            </a:pPr>
            <a:r>
              <a:rPr lang="en-US" sz="1600" b="1" spc="300" kern="0" dirty="0">
                <a:solidFill>
                  <a:srgbClr val="F2C14E"/>
                </a:solidFill>
                <a:latin typeface="Calibri" pitchFamily="34" charset="0"/>
                <a:ea typeface="Calibri" pitchFamily="34" charset="-122"/>
                <a:cs typeface="Calibri" pitchFamily="34" charset="-120"/>
              </a:rPr>
              <a:t>06 / 08</a:t>
            </a:r>
            <a:endParaRPr lang="en-US" sz="1600" dirty="0"/>
          </a:p>
        </p:txBody>
      </p:sp>
      <p:sp>
        <p:nvSpPr>
          <p:cNvPr id="5" name="Text 2"/>
          <p:cNvSpPr txBox="1"/>
          <p:nvPr/>
        </p:nvSpPr>
        <p:spPr>
          <a:xfrm>
            <a:off x="822960" y="2240280"/>
            <a:ext cx="5760720" cy="1280160"/>
          </a:xfrm>
          <a:prstGeom prst="rect">
            <a:avLst/>
          </a:prstGeom>
          <a:noFill/>
          <a:ln/>
        </p:spPr>
        <p:txBody>
          <a:bodyPr wrap="square" lIns="0" tIns="0" rIns="0" bIns="0" rtlCol="0" anchor="t">
            <a:normAutofit/>
          </a:bodyPr>
          <a:lstStyle/>
          <a:p>
            <a:pPr indent="0" marL="0">
              <a:buNone/>
            </a:pPr>
            <a:r>
              <a:rPr lang="en-US" sz="6000" b="1" dirty="0">
                <a:solidFill>
                  <a:srgbClr val="FFFFFF"/>
                </a:solidFill>
                <a:latin typeface="Cambria" pitchFamily="34" charset="0"/>
                <a:ea typeface="Cambria" pitchFamily="34" charset="-122"/>
                <a:cs typeface="Cambria" pitchFamily="34" charset="-120"/>
              </a:rPr>
              <a:t>Régions</a:t>
            </a:r>
            <a:endParaRPr lang="en-US" sz="6000" dirty="0"/>
          </a:p>
        </p:txBody>
      </p:sp>
      <p:sp>
        <p:nvSpPr>
          <p:cNvPr id="6" name="Text 3"/>
          <p:cNvSpPr txBox="1"/>
          <p:nvPr/>
        </p:nvSpPr>
        <p:spPr>
          <a:xfrm>
            <a:off x="822960" y="3611880"/>
            <a:ext cx="5486400" cy="914400"/>
          </a:xfrm>
          <a:prstGeom prst="rect">
            <a:avLst/>
          </a:prstGeom>
          <a:noFill/>
          <a:ln/>
        </p:spPr>
        <p:txBody>
          <a:bodyPr wrap="square" lIns="0" tIns="0" rIns="0" bIns="0" rtlCol="0" anchor="t"/>
          <a:lstStyle/>
          <a:p>
            <a:pPr indent="0" marL="0">
              <a:buNone/>
            </a:pPr>
            <a:r>
              <a:rPr lang="en-US" sz="2400" i="1" dirty="0">
                <a:solidFill>
                  <a:srgbClr val="FFFFFF"/>
                </a:solidFill>
                <a:latin typeface="Cambria" pitchFamily="34" charset="0"/>
                <a:ea typeface="Cambria" pitchFamily="34" charset="-122"/>
                <a:cs typeface="Cambria" pitchFamily="34" charset="-120"/>
              </a:rPr>
              <a:t>Du Minho à l'Algarve, jusqu'au milieu de l'Atlantique</a:t>
            </a:r>
            <a:endParaRPr lang="en-US" sz="2400" dirty="0"/>
          </a:p>
        </p:txBody>
      </p:sp>
      <p:sp>
        <p:nvSpPr>
          <p:cNvPr id="7" name="Text 4"/>
          <p:cNvSpPr txBox="1"/>
          <p:nvPr/>
        </p:nvSpPr>
        <p:spPr>
          <a:xfrm>
            <a:off x="822960" y="4572000"/>
            <a:ext cx="5120640" cy="1005840"/>
          </a:xfrm>
          <a:prstGeom prst="rect">
            <a:avLst/>
          </a:prstGeom>
          <a:noFill/>
          <a:ln/>
        </p:spPr>
        <p:txBody>
          <a:bodyPr wrap="square" lIns="0" tIns="0" rIns="0" bIns="0" rtlCol="0" anchor="t"/>
          <a:lstStyle/>
          <a:p>
            <a:pPr indent="0" marL="0">
              <a:buNone/>
            </a:pPr>
            <a:r>
              <a:rPr lang="en-US" sz="1500" dirty="0">
                <a:solidFill>
                  <a:srgbClr val="E6ECE8"/>
                </a:solidFill>
                <a:latin typeface="Calibri" pitchFamily="34" charset="0"/>
                <a:ea typeface="Calibri" pitchFamily="34" charset="-122"/>
                <a:cs typeface="Calibri" pitchFamily="34" charset="-120"/>
              </a:rPr>
              <a:t>Cinq régions sur le continent et deux archipels autonomes : sept visages d'un même pays.</a:t>
            </a:r>
            <a:endParaRPr lang="en-US" sz="15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txBox="1"/>
          <p:nvPr/>
        </p:nvSpPr>
        <p:spPr>
          <a:xfrm>
            <a:off x="548640" y="411480"/>
            <a:ext cx="10972800" cy="274320"/>
          </a:xfrm>
          <a:prstGeom prst="rect">
            <a:avLst/>
          </a:prstGeom>
          <a:noFill/>
          <a:ln/>
        </p:spPr>
        <p:txBody>
          <a:bodyPr wrap="square" lIns="0" tIns="0" rIns="0" bIns="0" rtlCol="0" anchor="t"/>
          <a:lstStyle/>
          <a:p>
            <a:pPr indent="0" marL="0">
              <a:buNone/>
            </a:pPr>
            <a:r>
              <a:rPr lang="en-US" sz="1200" b="1" spc="300" kern="0" dirty="0">
                <a:solidFill>
                  <a:srgbClr val="A83232"/>
                </a:solidFill>
                <a:latin typeface="Calibri" pitchFamily="34" charset="0"/>
                <a:ea typeface="Calibri" pitchFamily="34" charset="-122"/>
                <a:cs typeface="Calibri" pitchFamily="34" charset="-120"/>
              </a:rPr>
              <a:t>SEPT RÉGIONS</a:t>
            </a:r>
            <a:endParaRPr lang="en-US" sz="1200" dirty="0"/>
          </a:p>
        </p:txBody>
      </p:sp>
      <p:sp>
        <p:nvSpPr>
          <p:cNvPr id="3" name="Text 1"/>
          <p:cNvSpPr txBox="1"/>
          <p:nvPr/>
        </p:nvSpPr>
        <p:spPr>
          <a:xfrm>
            <a:off x="548640" y="685800"/>
            <a:ext cx="10972800" cy="685800"/>
          </a:xfrm>
          <a:prstGeom prst="rect">
            <a:avLst/>
          </a:prstGeom>
          <a:noFill/>
          <a:ln/>
        </p:spPr>
        <p:txBody>
          <a:bodyPr wrap="square" lIns="0" tIns="0" rIns="0" bIns="0" rtlCol="0" anchor="t"/>
          <a:lstStyle/>
          <a:p>
            <a:pPr indent="0" marL="0">
              <a:buNone/>
            </a:pPr>
            <a:r>
              <a:rPr lang="en-US" sz="3400" b="1" dirty="0">
                <a:solidFill>
                  <a:srgbClr val="174A3A"/>
                </a:solidFill>
                <a:latin typeface="Cambria" pitchFamily="34" charset="0"/>
                <a:ea typeface="Cambria" pitchFamily="34" charset="-122"/>
                <a:cs typeface="Cambria" pitchFamily="34" charset="-120"/>
              </a:rPr>
              <a:t>Un voyage du nord au sud</a:t>
            </a:r>
            <a:endParaRPr lang="en-US" sz="3400" dirty="0"/>
          </a:p>
        </p:txBody>
      </p:sp>
      <p:pic>
        <p:nvPicPr>
          <p:cNvPr id="4" name="Image 0" descr="/home/user/Portugal-Website/images/photos/r-porto.jpg">    </p:cNvPr>
          <p:cNvPicPr>
            <a:picLocks noChangeAspect="1"/>
          </p:cNvPicPr>
          <p:nvPr/>
        </p:nvPicPr>
        <p:blipFill>
          <a:blip r:embed="rId1"/>
          <a:srcRect l="0" r="0" t="0" b="0"/>
          <a:stretch/>
        </p:blipFill>
        <p:spPr>
          <a:xfrm>
            <a:off x="548640" y="1600200"/>
            <a:ext cx="2624328" cy="1554480"/>
          </a:xfrm>
          <a:prstGeom prst="rect">
            <a:avLst/>
          </a:prstGeom>
        </p:spPr>
      </p:pic>
      <p:sp>
        <p:nvSpPr>
          <p:cNvPr id="5" name="Text 2"/>
          <p:cNvSpPr txBox="1"/>
          <p:nvPr/>
        </p:nvSpPr>
        <p:spPr>
          <a:xfrm>
            <a:off x="548640" y="3227832"/>
            <a:ext cx="2624328" cy="365760"/>
          </a:xfrm>
          <a:prstGeom prst="rect">
            <a:avLst/>
          </a:prstGeom>
          <a:noFill/>
          <a:ln/>
        </p:spPr>
        <p:txBody>
          <a:bodyPr wrap="square" lIns="0" tIns="0" rIns="0" bIns="0" rtlCol="0" anchor="t"/>
          <a:lstStyle/>
          <a:p>
            <a:pPr indent="0" marL="0">
              <a:buNone/>
            </a:pPr>
            <a:r>
              <a:rPr lang="en-US" sz="1800" b="1" dirty="0">
                <a:solidFill>
                  <a:srgbClr val="174A3A"/>
                </a:solidFill>
                <a:latin typeface="Cambria" pitchFamily="34" charset="0"/>
                <a:ea typeface="Cambria" pitchFamily="34" charset="-122"/>
                <a:cs typeface="Cambria" pitchFamily="34" charset="-120"/>
              </a:rPr>
              <a:t>Le Nord</a:t>
            </a:r>
            <a:endParaRPr lang="en-US" sz="1800" dirty="0"/>
          </a:p>
        </p:txBody>
      </p:sp>
      <p:sp>
        <p:nvSpPr>
          <p:cNvPr id="6" name="Text 3"/>
          <p:cNvSpPr txBox="1"/>
          <p:nvPr/>
        </p:nvSpPr>
        <p:spPr>
          <a:xfrm>
            <a:off x="548640" y="3566160"/>
            <a:ext cx="2624328" cy="274320"/>
          </a:xfrm>
          <a:prstGeom prst="rect">
            <a:avLst/>
          </a:prstGeom>
          <a:noFill/>
          <a:ln/>
        </p:spPr>
        <p:txBody>
          <a:bodyPr wrap="square" lIns="0" tIns="0" rIns="0" bIns="0" rtlCol="0" anchor="t"/>
          <a:lstStyle/>
          <a:p>
            <a:pPr indent="0" marL="0">
              <a:buNone/>
            </a:pPr>
            <a:r>
              <a:rPr lang="en-US" sz="1200" dirty="0">
                <a:solidFill>
                  <a:srgbClr val="4A524E"/>
                </a:solidFill>
                <a:latin typeface="Calibri" pitchFamily="34" charset="0"/>
                <a:ea typeface="Calibri" pitchFamily="34" charset="-122"/>
                <a:cs typeface="Calibri" pitchFamily="34" charset="-120"/>
              </a:rPr>
              <a:t>Porto · Braga · Guimarães</a:t>
            </a:r>
            <a:endParaRPr lang="en-US" sz="1200" dirty="0"/>
          </a:p>
        </p:txBody>
      </p:sp>
      <p:pic>
        <p:nvPicPr>
          <p:cNvPr id="7" name="Image 1" descr="/home/user/Portugal-Website/images/photos/r-coimbra.jpg">    </p:cNvPr>
          <p:cNvPicPr>
            <a:picLocks noChangeAspect="1"/>
          </p:cNvPicPr>
          <p:nvPr/>
        </p:nvPicPr>
        <p:blipFill>
          <a:blip r:embed="rId2"/>
          <a:srcRect l="0" r="0" t="0" b="0"/>
          <a:stretch/>
        </p:blipFill>
        <p:spPr>
          <a:xfrm>
            <a:off x="3355848" y="1600200"/>
            <a:ext cx="2624328" cy="1554480"/>
          </a:xfrm>
          <a:prstGeom prst="rect">
            <a:avLst/>
          </a:prstGeom>
        </p:spPr>
      </p:pic>
      <p:sp>
        <p:nvSpPr>
          <p:cNvPr id="8" name="Text 4"/>
          <p:cNvSpPr txBox="1"/>
          <p:nvPr/>
        </p:nvSpPr>
        <p:spPr>
          <a:xfrm>
            <a:off x="3355848" y="3227832"/>
            <a:ext cx="2624328" cy="365760"/>
          </a:xfrm>
          <a:prstGeom prst="rect">
            <a:avLst/>
          </a:prstGeom>
          <a:noFill/>
          <a:ln/>
        </p:spPr>
        <p:txBody>
          <a:bodyPr wrap="square" lIns="0" tIns="0" rIns="0" bIns="0" rtlCol="0" anchor="t"/>
          <a:lstStyle/>
          <a:p>
            <a:pPr indent="0" marL="0">
              <a:buNone/>
            </a:pPr>
            <a:r>
              <a:rPr lang="en-US" sz="1800" b="1" dirty="0">
                <a:solidFill>
                  <a:srgbClr val="A83232"/>
                </a:solidFill>
                <a:latin typeface="Cambria" pitchFamily="34" charset="0"/>
                <a:ea typeface="Cambria" pitchFamily="34" charset="-122"/>
                <a:cs typeface="Cambria" pitchFamily="34" charset="-120"/>
              </a:rPr>
              <a:t>Le Centre</a:t>
            </a:r>
            <a:endParaRPr lang="en-US" sz="1800" dirty="0"/>
          </a:p>
        </p:txBody>
      </p:sp>
      <p:sp>
        <p:nvSpPr>
          <p:cNvPr id="9" name="Text 5"/>
          <p:cNvSpPr txBox="1"/>
          <p:nvPr/>
        </p:nvSpPr>
        <p:spPr>
          <a:xfrm>
            <a:off x="3355848" y="3566160"/>
            <a:ext cx="2624328" cy="274320"/>
          </a:xfrm>
          <a:prstGeom prst="rect">
            <a:avLst/>
          </a:prstGeom>
          <a:noFill/>
          <a:ln/>
        </p:spPr>
        <p:txBody>
          <a:bodyPr wrap="square" lIns="0" tIns="0" rIns="0" bIns="0" rtlCol="0" anchor="t"/>
          <a:lstStyle/>
          <a:p>
            <a:pPr indent="0" marL="0">
              <a:buNone/>
            </a:pPr>
            <a:r>
              <a:rPr lang="en-US" sz="1200" dirty="0">
                <a:solidFill>
                  <a:srgbClr val="4A524E"/>
                </a:solidFill>
                <a:latin typeface="Calibri" pitchFamily="34" charset="0"/>
                <a:ea typeface="Calibri" pitchFamily="34" charset="-122"/>
                <a:cs typeface="Calibri" pitchFamily="34" charset="-120"/>
              </a:rPr>
              <a:t>Coimbra · Aveiro · Viseu ★</a:t>
            </a:r>
            <a:endParaRPr lang="en-US" sz="1200" dirty="0"/>
          </a:p>
        </p:txBody>
      </p:sp>
      <p:pic>
        <p:nvPicPr>
          <p:cNvPr id="10" name="Image 2" descr="/home/user/Portugal-Website/images/photos/r-lisboa.jpg">    </p:cNvPr>
          <p:cNvPicPr>
            <a:picLocks noChangeAspect="1"/>
          </p:cNvPicPr>
          <p:nvPr/>
        </p:nvPicPr>
        <p:blipFill>
          <a:blip r:embed="rId3"/>
          <a:srcRect l="0" r="0" t="0" b="0"/>
          <a:stretch/>
        </p:blipFill>
        <p:spPr>
          <a:xfrm>
            <a:off x="6163056" y="1600200"/>
            <a:ext cx="2624328" cy="1554480"/>
          </a:xfrm>
          <a:prstGeom prst="rect">
            <a:avLst/>
          </a:prstGeom>
        </p:spPr>
      </p:pic>
      <p:sp>
        <p:nvSpPr>
          <p:cNvPr id="11" name="Text 6"/>
          <p:cNvSpPr txBox="1"/>
          <p:nvPr/>
        </p:nvSpPr>
        <p:spPr>
          <a:xfrm>
            <a:off x="6163056" y="3227832"/>
            <a:ext cx="2624328" cy="365760"/>
          </a:xfrm>
          <a:prstGeom prst="rect">
            <a:avLst/>
          </a:prstGeom>
          <a:noFill/>
          <a:ln/>
        </p:spPr>
        <p:txBody>
          <a:bodyPr wrap="square" lIns="0" tIns="0" rIns="0" bIns="0" rtlCol="0" anchor="t"/>
          <a:lstStyle/>
          <a:p>
            <a:pPr indent="0" marL="0">
              <a:buNone/>
            </a:pPr>
            <a:r>
              <a:rPr lang="en-US" sz="1800" b="1" dirty="0">
                <a:solidFill>
                  <a:srgbClr val="174A3A"/>
                </a:solidFill>
                <a:latin typeface="Cambria" pitchFamily="34" charset="0"/>
                <a:ea typeface="Cambria" pitchFamily="34" charset="-122"/>
                <a:cs typeface="Cambria" pitchFamily="34" charset="-120"/>
              </a:rPr>
              <a:t>Lisbonne</a:t>
            </a:r>
            <a:endParaRPr lang="en-US" sz="1800" dirty="0"/>
          </a:p>
        </p:txBody>
      </p:sp>
      <p:sp>
        <p:nvSpPr>
          <p:cNvPr id="12" name="Text 7"/>
          <p:cNvSpPr txBox="1"/>
          <p:nvPr/>
        </p:nvSpPr>
        <p:spPr>
          <a:xfrm>
            <a:off x="6163056" y="3566160"/>
            <a:ext cx="2624328" cy="274320"/>
          </a:xfrm>
          <a:prstGeom prst="rect">
            <a:avLst/>
          </a:prstGeom>
          <a:noFill/>
          <a:ln/>
        </p:spPr>
        <p:txBody>
          <a:bodyPr wrap="square" lIns="0" tIns="0" rIns="0" bIns="0" rtlCol="0" anchor="t"/>
          <a:lstStyle/>
          <a:p>
            <a:pPr indent="0" marL="0">
              <a:buNone/>
            </a:pPr>
            <a:r>
              <a:rPr lang="en-US" sz="1200" dirty="0">
                <a:solidFill>
                  <a:srgbClr val="4A524E"/>
                </a:solidFill>
                <a:latin typeface="Calibri" pitchFamily="34" charset="0"/>
                <a:ea typeface="Calibri" pitchFamily="34" charset="-122"/>
                <a:cs typeface="Calibri" pitchFamily="34" charset="-120"/>
              </a:rPr>
              <a:t>Lisboa · Sintra · Cascais</a:t>
            </a:r>
            <a:endParaRPr lang="en-US" sz="1200" dirty="0"/>
          </a:p>
        </p:txBody>
      </p:sp>
      <p:pic>
        <p:nvPicPr>
          <p:cNvPr id="13" name="Image 3" descr="/home/user/Portugal-Website/images/photos/r-evora.jpg">    </p:cNvPr>
          <p:cNvPicPr>
            <a:picLocks noChangeAspect="1"/>
          </p:cNvPicPr>
          <p:nvPr/>
        </p:nvPicPr>
        <p:blipFill>
          <a:blip r:embed="rId4"/>
          <a:srcRect l="0" r="0" t="0" b="0"/>
          <a:stretch/>
        </p:blipFill>
        <p:spPr>
          <a:xfrm>
            <a:off x="8970264" y="1600200"/>
            <a:ext cx="2624328" cy="1554480"/>
          </a:xfrm>
          <a:prstGeom prst="rect">
            <a:avLst/>
          </a:prstGeom>
        </p:spPr>
      </p:pic>
      <p:sp>
        <p:nvSpPr>
          <p:cNvPr id="14" name="Text 8"/>
          <p:cNvSpPr txBox="1"/>
          <p:nvPr/>
        </p:nvSpPr>
        <p:spPr>
          <a:xfrm>
            <a:off x="8970264" y="3227832"/>
            <a:ext cx="2624328" cy="365760"/>
          </a:xfrm>
          <a:prstGeom prst="rect">
            <a:avLst/>
          </a:prstGeom>
          <a:noFill/>
          <a:ln/>
        </p:spPr>
        <p:txBody>
          <a:bodyPr wrap="square" lIns="0" tIns="0" rIns="0" bIns="0" rtlCol="0" anchor="t"/>
          <a:lstStyle/>
          <a:p>
            <a:pPr indent="0" marL="0">
              <a:buNone/>
            </a:pPr>
            <a:r>
              <a:rPr lang="en-US" sz="1800" b="1" dirty="0">
                <a:solidFill>
                  <a:srgbClr val="174A3A"/>
                </a:solidFill>
                <a:latin typeface="Cambria" pitchFamily="34" charset="0"/>
                <a:ea typeface="Cambria" pitchFamily="34" charset="-122"/>
                <a:cs typeface="Cambria" pitchFamily="34" charset="-120"/>
              </a:rPr>
              <a:t>L'Alentejo</a:t>
            </a:r>
            <a:endParaRPr lang="en-US" sz="1800" dirty="0"/>
          </a:p>
        </p:txBody>
      </p:sp>
      <p:sp>
        <p:nvSpPr>
          <p:cNvPr id="15" name="Text 9"/>
          <p:cNvSpPr txBox="1"/>
          <p:nvPr/>
        </p:nvSpPr>
        <p:spPr>
          <a:xfrm>
            <a:off x="8970264" y="3566160"/>
            <a:ext cx="2624328" cy="274320"/>
          </a:xfrm>
          <a:prstGeom prst="rect">
            <a:avLst/>
          </a:prstGeom>
          <a:noFill/>
          <a:ln/>
        </p:spPr>
        <p:txBody>
          <a:bodyPr wrap="square" lIns="0" tIns="0" rIns="0" bIns="0" rtlCol="0" anchor="t"/>
          <a:lstStyle/>
          <a:p>
            <a:pPr indent="0" marL="0">
              <a:buNone/>
            </a:pPr>
            <a:r>
              <a:rPr lang="en-US" sz="1200" dirty="0">
                <a:solidFill>
                  <a:srgbClr val="4A524E"/>
                </a:solidFill>
                <a:latin typeface="Calibri" pitchFamily="34" charset="0"/>
                <a:ea typeface="Calibri" pitchFamily="34" charset="-122"/>
                <a:cs typeface="Calibri" pitchFamily="34" charset="-120"/>
              </a:rPr>
              <a:t>Évora · Beja</a:t>
            </a:r>
            <a:endParaRPr lang="en-US" sz="1200" dirty="0"/>
          </a:p>
        </p:txBody>
      </p:sp>
      <p:pic>
        <p:nvPicPr>
          <p:cNvPr id="16" name="Image 4" descr="/home/user/Portugal-Website/images/photos/r-algarve.jpg">    </p:cNvPr>
          <p:cNvPicPr>
            <a:picLocks noChangeAspect="1"/>
          </p:cNvPicPr>
          <p:nvPr/>
        </p:nvPicPr>
        <p:blipFill>
          <a:blip r:embed="rId5"/>
          <a:srcRect l="0" r="0" t="0" b="0"/>
          <a:stretch/>
        </p:blipFill>
        <p:spPr>
          <a:xfrm>
            <a:off x="1947672" y="3977640"/>
            <a:ext cx="2624328" cy="1554480"/>
          </a:xfrm>
          <a:prstGeom prst="rect">
            <a:avLst/>
          </a:prstGeom>
        </p:spPr>
      </p:pic>
      <p:sp>
        <p:nvSpPr>
          <p:cNvPr id="17" name="Text 10"/>
          <p:cNvSpPr txBox="1"/>
          <p:nvPr/>
        </p:nvSpPr>
        <p:spPr>
          <a:xfrm>
            <a:off x="1947672" y="5605272"/>
            <a:ext cx="2624328" cy="365760"/>
          </a:xfrm>
          <a:prstGeom prst="rect">
            <a:avLst/>
          </a:prstGeom>
          <a:noFill/>
          <a:ln/>
        </p:spPr>
        <p:txBody>
          <a:bodyPr wrap="square" lIns="0" tIns="0" rIns="0" bIns="0" rtlCol="0" anchor="t"/>
          <a:lstStyle/>
          <a:p>
            <a:pPr indent="0" marL="0">
              <a:buNone/>
            </a:pPr>
            <a:r>
              <a:rPr lang="en-US" sz="1800" b="1" dirty="0">
                <a:solidFill>
                  <a:srgbClr val="174A3A"/>
                </a:solidFill>
                <a:latin typeface="Cambria" pitchFamily="34" charset="0"/>
                <a:ea typeface="Cambria" pitchFamily="34" charset="-122"/>
                <a:cs typeface="Cambria" pitchFamily="34" charset="-120"/>
              </a:rPr>
              <a:t>L'Algarve</a:t>
            </a:r>
            <a:endParaRPr lang="en-US" sz="1800" dirty="0"/>
          </a:p>
        </p:txBody>
      </p:sp>
      <p:sp>
        <p:nvSpPr>
          <p:cNvPr id="18" name="Text 11"/>
          <p:cNvSpPr txBox="1"/>
          <p:nvPr/>
        </p:nvSpPr>
        <p:spPr>
          <a:xfrm>
            <a:off x="1947672" y="5943600"/>
            <a:ext cx="2624328" cy="274320"/>
          </a:xfrm>
          <a:prstGeom prst="rect">
            <a:avLst/>
          </a:prstGeom>
          <a:noFill/>
          <a:ln/>
        </p:spPr>
        <p:txBody>
          <a:bodyPr wrap="square" lIns="0" tIns="0" rIns="0" bIns="0" rtlCol="0" anchor="t"/>
          <a:lstStyle/>
          <a:p>
            <a:pPr indent="0" marL="0">
              <a:buNone/>
            </a:pPr>
            <a:r>
              <a:rPr lang="en-US" sz="1200" dirty="0">
                <a:solidFill>
                  <a:srgbClr val="4A524E"/>
                </a:solidFill>
                <a:latin typeface="Calibri" pitchFamily="34" charset="0"/>
                <a:ea typeface="Calibri" pitchFamily="34" charset="-122"/>
                <a:cs typeface="Calibri" pitchFamily="34" charset="-120"/>
              </a:rPr>
              <a:t>Faro · Lagos</a:t>
            </a:r>
            <a:endParaRPr lang="en-US" sz="1200" dirty="0"/>
          </a:p>
        </p:txBody>
      </p:sp>
      <p:pic>
        <p:nvPicPr>
          <p:cNvPr id="19" name="Image 5" descr="/home/user/Portugal-Website/images/photos/r-acores.jpg">    </p:cNvPr>
          <p:cNvPicPr>
            <a:picLocks noChangeAspect="1"/>
          </p:cNvPicPr>
          <p:nvPr/>
        </p:nvPicPr>
        <p:blipFill>
          <a:blip r:embed="rId6"/>
          <a:srcRect l="0" r="0" t="0" b="0"/>
          <a:stretch/>
        </p:blipFill>
        <p:spPr>
          <a:xfrm>
            <a:off x="4754880" y="3977640"/>
            <a:ext cx="2624328" cy="1554480"/>
          </a:xfrm>
          <a:prstGeom prst="rect">
            <a:avLst/>
          </a:prstGeom>
        </p:spPr>
      </p:pic>
      <p:sp>
        <p:nvSpPr>
          <p:cNvPr id="20" name="Text 12"/>
          <p:cNvSpPr txBox="1"/>
          <p:nvPr/>
        </p:nvSpPr>
        <p:spPr>
          <a:xfrm>
            <a:off x="4754880" y="5605272"/>
            <a:ext cx="2624328" cy="365760"/>
          </a:xfrm>
          <a:prstGeom prst="rect">
            <a:avLst/>
          </a:prstGeom>
          <a:noFill/>
          <a:ln/>
        </p:spPr>
        <p:txBody>
          <a:bodyPr wrap="square" lIns="0" tIns="0" rIns="0" bIns="0" rtlCol="0" anchor="t"/>
          <a:lstStyle/>
          <a:p>
            <a:pPr indent="0" marL="0">
              <a:buNone/>
            </a:pPr>
            <a:r>
              <a:rPr lang="en-US" sz="1800" b="1" dirty="0">
                <a:solidFill>
                  <a:srgbClr val="174A3A"/>
                </a:solidFill>
                <a:latin typeface="Cambria" pitchFamily="34" charset="0"/>
                <a:ea typeface="Cambria" pitchFamily="34" charset="-122"/>
                <a:cs typeface="Cambria" pitchFamily="34" charset="-120"/>
              </a:rPr>
              <a:t>Les Açores</a:t>
            </a:r>
            <a:endParaRPr lang="en-US" sz="1800" dirty="0"/>
          </a:p>
        </p:txBody>
      </p:sp>
      <p:sp>
        <p:nvSpPr>
          <p:cNvPr id="21" name="Text 13"/>
          <p:cNvSpPr txBox="1"/>
          <p:nvPr/>
        </p:nvSpPr>
        <p:spPr>
          <a:xfrm>
            <a:off x="4754880" y="5943600"/>
            <a:ext cx="2624328" cy="274320"/>
          </a:xfrm>
          <a:prstGeom prst="rect">
            <a:avLst/>
          </a:prstGeom>
          <a:noFill/>
          <a:ln/>
        </p:spPr>
        <p:txBody>
          <a:bodyPr wrap="square" lIns="0" tIns="0" rIns="0" bIns="0" rtlCol="0" anchor="t"/>
          <a:lstStyle/>
          <a:p>
            <a:pPr indent="0" marL="0">
              <a:buNone/>
            </a:pPr>
            <a:r>
              <a:rPr lang="en-US" sz="1200" dirty="0">
                <a:solidFill>
                  <a:srgbClr val="4A524E"/>
                </a:solidFill>
                <a:latin typeface="Calibri" pitchFamily="34" charset="0"/>
                <a:ea typeface="Calibri" pitchFamily="34" charset="-122"/>
                <a:cs typeface="Calibri" pitchFamily="34" charset="-120"/>
              </a:rPr>
              <a:t>Ponta Delgada</a:t>
            </a:r>
            <a:endParaRPr lang="en-US" sz="1200" dirty="0"/>
          </a:p>
        </p:txBody>
      </p:sp>
      <p:pic>
        <p:nvPicPr>
          <p:cNvPr id="22" name="Image 6" descr="/home/user/Portugal-Website/images/photos/r-madeira.jpg">    </p:cNvPr>
          <p:cNvPicPr>
            <a:picLocks noChangeAspect="1"/>
          </p:cNvPicPr>
          <p:nvPr/>
        </p:nvPicPr>
        <p:blipFill>
          <a:blip r:embed="rId7"/>
          <a:srcRect l="0" r="0" t="0" b="0"/>
          <a:stretch/>
        </p:blipFill>
        <p:spPr>
          <a:xfrm>
            <a:off x="7562088" y="3977640"/>
            <a:ext cx="2624328" cy="1554480"/>
          </a:xfrm>
          <a:prstGeom prst="rect">
            <a:avLst/>
          </a:prstGeom>
        </p:spPr>
      </p:pic>
      <p:sp>
        <p:nvSpPr>
          <p:cNvPr id="23" name="Text 14"/>
          <p:cNvSpPr txBox="1"/>
          <p:nvPr/>
        </p:nvSpPr>
        <p:spPr>
          <a:xfrm>
            <a:off x="7562088" y="5605272"/>
            <a:ext cx="2624328" cy="365760"/>
          </a:xfrm>
          <a:prstGeom prst="rect">
            <a:avLst/>
          </a:prstGeom>
          <a:noFill/>
          <a:ln/>
        </p:spPr>
        <p:txBody>
          <a:bodyPr wrap="square" lIns="0" tIns="0" rIns="0" bIns="0" rtlCol="0" anchor="t"/>
          <a:lstStyle/>
          <a:p>
            <a:pPr indent="0" marL="0">
              <a:buNone/>
            </a:pPr>
            <a:r>
              <a:rPr lang="en-US" sz="1800" b="1" dirty="0">
                <a:solidFill>
                  <a:srgbClr val="174A3A"/>
                </a:solidFill>
                <a:latin typeface="Cambria" pitchFamily="34" charset="0"/>
                <a:ea typeface="Cambria" pitchFamily="34" charset="-122"/>
                <a:cs typeface="Cambria" pitchFamily="34" charset="-120"/>
              </a:rPr>
              <a:t>Madère</a:t>
            </a:r>
            <a:endParaRPr lang="en-US" sz="1800" dirty="0"/>
          </a:p>
        </p:txBody>
      </p:sp>
      <p:sp>
        <p:nvSpPr>
          <p:cNvPr id="24" name="Text 15"/>
          <p:cNvSpPr txBox="1"/>
          <p:nvPr/>
        </p:nvSpPr>
        <p:spPr>
          <a:xfrm>
            <a:off x="7562088" y="5943600"/>
            <a:ext cx="2624328" cy="274320"/>
          </a:xfrm>
          <a:prstGeom prst="rect">
            <a:avLst/>
          </a:prstGeom>
          <a:noFill/>
          <a:ln/>
        </p:spPr>
        <p:txBody>
          <a:bodyPr wrap="square" lIns="0" tIns="0" rIns="0" bIns="0" rtlCol="0" anchor="t"/>
          <a:lstStyle/>
          <a:p>
            <a:pPr indent="0" marL="0">
              <a:buNone/>
            </a:pPr>
            <a:r>
              <a:rPr lang="en-US" sz="1200" dirty="0">
                <a:solidFill>
                  <a:srgbClr val="4A524E"/>
                </a:solidFill>
                <a:latin typeface="Calibri" pitchFamily="34" charset="0"/>
                <a:ea typeface="Calibri" pitchFamily="34" charset="-122"/>
                <a:cs typeface="Calibri" pitchFamily="34" charset="-120"/>
              </a:rPr>
              <a:t>Funchal</a:t>
            </a:r>
            <a:endParaRPr lang="en-US" sz="120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18D"/>
                </a:solidFill>
                <a:latin typeface="Calibri"/>
                <a:ea typeface="Calibri"/>
                <a:cs typeface="Calibri"/>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pic>
        <p:nvPicPr>
          <p:cNvPr id="2" name="Image 0" descr="/home/user/Portugal-Website/images/luis/caramulo-vue.jpg">    </p:cNvPr>
          <p:cNvPicPr>
            <a:picLocks noChangeAspect="1"/>
          </p:cNvPicPr>
          <p:nvPr/>
        </p:nvPicPr>
        <p:blipFill>
          <a:blip r:embed="rId1"/>
          <a:srcRect l="0" r="0" t="0" b="0"/>
          <a:stretch/>
        </p:blipFill>
        <p:spPr>
          <a:xfrm>
            <a:off x="6675120" y="548640"/>
            <a:ext cx="4965192" cy="3566160"/>
          </a:xfrm>
          <a:prstGeom prst="rect">
            <a:avLst/>
          </a:prstGeom>
        </p:spPr>
      </p:pic>
      <p:pic>
        <p:nvPicPr>
          <p:cNvPr id="3" name="Image 1" descr="/home/user/Portugal-Website/images/photos/r-caramulo2.jpg">    </p:cNvPr>
          <p:cNvPicPr>
            <a:picLocks noChangeAspect="1"/>
          </p:cNvPicPr>
          <p:nvPr/>
        </p:nvPicPr>
        <p:blipFill>
          <a:blip r:embed="rId2"/>
          <a:srcRect l="0" r="0" t="0" b="0"/>
          <a:stretch/>
        </p:blipFill>
        <p:spPr>
          <a:xfrm>
            <a:off x="6675120" y="4251960"/>
            <a:ext cx="2395728" cy="1965960"/>
          </a:xfrm>
          <a:prstGeom prst="rect">
            <a:avLst/>
          </a:prstGeom>
        </p:spPr>
      </p:pic>
      <p:sp>
        <p:nvSpPr>
          <p:cNvPr id="4" name="Shape 0"/>
          <p:cNvSpPr/>
          <p:nvPr/>
        </p:nvSpPr>
        <p:spPr>
          <a:xfrm>
            <a:off x="9235440" y="4251960"/>
            <a:ext cx="2404872" cy="1965960"/>
          </a:xfrm>
          <a:prstGeom prst="roundRect">
            <a:avLst>
              <a:gd name="adj" fmla="val 3721"/>
            </a:avLst>
          </a:prstGeom>
          <a:solidFill>
            <a:srgbClr val="EAF0F8"/>
          </a:solidFill>
          <a:ln w="12700">
            <a:solidFill>
              <a:srgbClr val="EAF0F8"/>
            </a:solidFill>
            <a:prstDash val="solid"/>
          </a:ln>
          <a:effectLst>
            <a:outerShdw sx="100000" sy="100000" kx="0" ky="0" algn="bl" rotWithShape="0" blurRad="101600" dist="38100" dir="5400000">
              <a:srgbClr val="000000">
                <a:alpha val="18000"/>
              </a:srgbClr>
            </a:outerShdw>
          </a:effectLst>
        </p:spPr>
      </p:sp>
      <p:sp>
        <p:nvSpPr>
          <p:cNvPr id="5" name="Text 1"/>
          <p:cNvSpPr txBox="1"/>
          <p:nvPr/>
        </p:nvSpPr>
        <p:spPr>
          <a:xfrm>
            <a:off x="9372600" y="4434840"/>
            <a:ext cx="2194560" cy="548640"/>
          </a:xfrm>
          <a:prstGeom prst="rect">
            <a:avLst/>
          </a:prstGeom>
          <a:noFill/>
          <a:ln/>
        </p:spPr>
        <p:txBody>
          <a:bodyPr wrap="square" lIns="0" tIns="0" rIns="0" bIns="0" rtlCol="0" anchor="t"/>
          <a:lstStyle/>
          <a:p>
            <a:pPr indent="0" marL="0">
              <a:buNone/>
            </a:pPr>
            <a:r>
              <a:rPr lang="en-US" sz="2800" b="1" dirty="0">
                <a:solidFill>
                  <a:srgbClr val="1E4F8F"/>
                </a:solidFill>
                <a:latin typeface="Cambria" pitchFamily="34" charset="0"/>
                <a:ea typeface="Cambria" pitchFamily="34" charset="-122"/>
                <a:cs typeface="Cambria" pitchFamily="34" charset="-120"/>
              </a:rPr>
              <a:t>1 076 m</a:t>
            </a:r>
            <a:endParaRPr lang="en-US" sz="2800" dirty="0"/>
          </a:p>
        </p:txBody>
      </p:sp>
      <p:sp>
        <p:nvSpPr>
          <p:cNvPr id="6" name="Text 2"/>
          <p:cNvSpPr txBox="1"/>
          <p:nvPr/>
        </p:nvSpPr>
        <p:spPr>
          <a:xfrm>
            <a:off x="9372600" y="5029200"/>
            <a:ext cx="2148840" cy="1005840"/>
          </a:xfrm>
          <a:prstGeom prst="rect">
            <a:avLst/>
          </a:prstGeom>
          <a:noFill/>
          <a:ln/>
        </p:spPr>
        <p:txBody>
          <a:bodyPr wrap="square" lIns="0" tIns="0" rIns="0" bIns="0" rtlCol="0" anchor="t"/>
          <a:lstStyle/>
          <a:p>
            <a:pPr indent="0" marL="0">
              <a:buNone/>
            </a:pPr>
            <a:r>
              <a:rPr lang="en-US" sz="1200" dirty="0">
                <a:solidFill>
                  <a:srgbClr val="17211D"/>
                </a:solidFill>
                <a:latin typeface="Calibri" pitchFamily="34" charset="0"/>
                <a:ea typeface="Calibri" pitchFamily="34" charset="-122"/>
                <a:cs typeface="Calibri" pitchFamily="34" charset="-120"/>
              </a:rPr>
              <a:t>Altitude du Caramulinho, le sommet de la serra</a:t>
            </a:r>
            <a:endParaRPr lang="en-US" sz="1200" dirty="0"/>
          </a:p>
        </p:txBody>
      </p:sp>
      <p:sp>
        <p:nvSpPr>
          <p:cNvPr id="7" name="Text 3"/>
          <p:cNvSpPr txBox="1"/>
          <p:nvPr/>
        </p:nvSpPr>
        <p:spPr>
          <a:xfrm>
            <a:off x="548640" y="411480"/>
            <a:ext cx="10972800" cy="274320"/>
          </a:xfrm>
          <a:prstGeom prst="rect">
            <a:avLst/>
          </a:prstGeom>
          <a:noFill/>
          <a:ln/>
        </p:spPr>
        <p:txBody>
          <a:bodyPr wrap="square" lIns="0" tIns="0" rIns="0" bIns="0" rtlCol="0" anchor="t"/>
          <a:lstStyle/>
          <a:p>
            <a:pPr indent="0" marL="0">
              <a:buNone/>
            </a:pPr>
            <a:r>
              <a:rPr lang="en-US" sz="1200" b="1" spc="300" kern="0" dirty="0">
                <a:solidFill>
                  <a:srgbClr val="A83232"/>
                </a:solidFill>
                <a:latin typeface="Calibri" pitchFamily="34" charset="0"/>
                <a:ea typeface="Calibri" pitchFamily="34" charset="-122"/>
                <a:cs typeface="Calibri" pitchFamily="34" charset="-120"/>
              </a:rPr>
              <a:t>ZOOM SUR CHEZ MOI</a:t>
            </a:r>
            <a:endParaRPr lang="en-US" sz="1200" dirty="0"/>
          </a:p>
        </p:txBody>
      </p:sp>
      <p:sp>
        <p:nvSpPr>
          <p:cNvPr id="8" name="Text 4"/>
          <p:cNvSpPr txBox="1"/>
          <p:nvPr/>
        </p:nvSpPr>
        <p:spPr>
          <a:xfrm>
            <a:off x="548640" y="685800"/>
            <a:ext cx="5852160" cy="685800"/>
          </a:xfrm>
          <a:prstGeom prst="rect">
            <a:avLst/>
          </a:prstGeom>
          <a:noFill/>
          <a:ln/>
        </p:spPr>
        <p:txBody>
          <a:bodyPr wrap="square" lIns="0" tIns="0" rIns="0" bIns="0" rtlCol="0" anchor="t"/>
          <a:lstStyle/>
          <a:p>
            <a:pPr indent="0" marL="0">
              <a:buNone/>
            </a:pPr>
            <a:r>
              <a:rPr lang="en-US" sz="2600" b="1" dirty="0">
                <a:solidFill>
                  <a:srgbClr val="174A3A"/>
                </a:solidFill>
                <a:latin typeface="Cambria" pitchFamily="34" charset="0"/>
                <a:ea typeface="Cambria" pitchFamily="34" charset="-122"/>
                <a:cs typeface="Cambria" pitchFamily="34" charset="-120"/>
              </a:rPr>
              <a:t>Caramulo, la montagne de l'air pur</a:t>
            </a:r>
            <a:endParaRPr lang="en-US" sz="2600" dirty="0"/>
          </a:p>
        </p:txBody>
      </p:sp>
      <p:sp>
        <p:nvSpPr>
          <p:cNvPr id="9" name="Text 5"/>
          <p:cNvSpPr txBox="1"/>
          <p:nvPr/>
        </p:nvSpPr>
        <p:spPr>
          <a:xfrm>
            <a:off x="548640" y="1600200"/>
            <a:ext cx="5760720" cy="2743200"/>
          </a:xfrm>
          <a:prstGeom prst="rect">
            <a:avLst/>
          </a:prstGeom>
          <a:noFill/>
          <a:ln/>
        </p:spPr>
        <p:txBody>
          <a:bodyPr wrap="square" lIns="0" tIns="0" rIns="0" bIns="0" rtlCol="0" anchor="t"/>
          <a:lstStyle/>
          <a:p>
            <a:pPr indent="0" marL="0">
              <a:buNone/>
            </a:pPr>
            <a:r>
              <a:rPr lang="en-US" sz="1600" dirty="0">
                <a:solidFill>
                  <a:srgbClr val="17211D"/>
                </a:solidFill>
                <a:latin typeface="Calibri" pitchFamily="34" charset="0"/>
                <a:ea typeface="Calibri" pitchFamily="34" charset="-122"/>
                <a:cs typeface="Calibri" pitchFamily="34" charset="-120"/>
              </a:rPr>
              <a:t>En 1921, le docteur Jerónimo de Lacerda fonde à Caramulo une station sanatoriale, qui comptera jusqu'à une vingtaine de sanatoriums : on venait de tout le pays soigner la tuberculose grâce à l'air pur de la montagne. Plus tard, ses fils créent le Musée du Caramulo, qui réunit une collection d'art — de l'Égypte ancienne à Picasso — et une magnifique collection de voitures et de motos anciennes.</a:t>
            </a:r>
            <a:endParaRPr lang="en-US" sz="1600" dirty="0"/>
          </a:p>
        </p:txBody>
      </p:sp>
      <p:sp>
        <p:nvSpPr>
          <p:cNvPr id="10" name="Text 6"/>
          <p:cNvSpPr txBox="1"/>
          <p:nvPr/>
        </p:nvSpPr>
        <p:spPr>
          <a:xfrm>
            <a:off x="548640" y="4572000"/>
            <a:ext cx="2743200" cy="685800"/>
          </a:xfrm>
          <a:prstGeom prst="rect">
            <a:avLst/>
          </a:prstGeom>
          <a:noFill/>
          <a:ln/>
        </p:spPr>
        <p:txBody>
          <a:bodyPr wrap="square" lIns="0" tIns="0" rIns="0" bIns="0" rtlCol="0" anchor="t"/>
          <a:lstStyle/>
          <a:p>
            <a:pPr indent="0" marL="0">
              <a:buNone/>
            </a:pPr>
            <a:r>
              <a:rPr lang="en-US" sz="3600" b="1" dirty="0">
                <a:solidFill>
                  <a:srgbClr val="174A3A"/>
                </a:solidFill>
                <a:latin typeface="Cambria" pitchFamily="34" charset="0"/>
                <a:ea typeface="Cambria" pitchFamily="34" charset="-122"/>
                <a:cs typeface="Cambria" pitchFamily="34" charset="-120"/>
              </a:rPr>
              <a:t>1921</a:t>
            </a:r>
            <a:endParaRPr lang="en-US" sz="3600" dirty="0"/>
          </a:p>
        </p:txBody>
      </p:sp>
      <p:sp>
        <p:nvSpPr>
          <p:cNvPr id="11" name="Text 7"/>
          <p:cNvSpPr txBox="1"/>
          <p:nvPr/>
        </p:nvSpPr>
        <p:spPr>
          <a:xfrm>
            <a:off x="548640" y="5257800"/>
            <a:ext cx="2743200" cy="548640"/>
          </a:xfrm>
          <a:prstGeom prst="rect">
            <a:avLst/>
          </a:prstGeom>
          <a:noFill/>
          <a:ln/>
        </p:spPr>
        <p:txBody>
          <a:bodyPr wrap="square" lIns="0" tIns="0" rIns="0" bIns="0" rtlCol="0" anchor="t"/>
          <a:lstStyle/>
          <a:p>
            <a:pPr indent="0" marL="0">
              <a:buNone/>
            </a:pPr>
            <a:r>
              <a:rPr lang="en-US" sz="1300" b="1" dirty="0">
                <a:solidFill>
                  <a:srgbClr val="4A524E"/>
                </a:solidFill>
                <a:latin typeface="Calibri" pitchFamily="34" charset="0"/>
                <a:ea typeface="Calibri" pitchFamily="34" charset="-122"/>
                <a:cs typeface="Calibri" pitchFamily="34" charset="-120"/>
              </a:rPr>
              <a:t>Création de la station sanatoriale (une vingtaine de sanatoriums)</a:t>
            </a:r>
            <a:endParaRPr lang="en-US" sz="1300" dirty="0"/>
          </a:p>
        </p:txBody>
      </p:sp>
      <p:sp>
        <p:nvSpPr>
          <p:cNvPr id="12" name="Text 8"/>
          <p:cNvSpPr txBox="1"/>
          <p:nvPr/>
        </p:nvSpPr>
        <p:spPr>
          <a:xfrm>
            <a:off x="3474720" y="4572000"/>
            <a:ext cx="2743200" cy="685800"/>
          </a:xfrm>
          <a:prstGeom prst="rect">
            <a:avLst/>
          </a:prstGeom>
          <a:noFill/>
          <a:ln/>
        </p:spPr>
        <p:txBody>
          <a:bodyPr wrap="square" lIns="0" tIns="0" rIns="0" bIns="0" rtlCol="0" anchor="t"/>
          <a:lstStyle/>
          <a:p>
            <a:pPr indent="0" marL="0">
              <a:buNone/>
            </a:pPr>
            <a:r>
              <a:rPr lang="en-US" sz="3600" b="1" dirty="0">
                <a:solidFill>
                  <a:srgbClr val="A83232"/>
                </a:solidFill>
                <a:latin typeface="Cambria" pitchFamily="34" charset="0"/>
                <a:ea typeface="Cambria" pitchFamily="34" charset="-122"/>
                <a:cs typeface="Cambria" pitchFamily="34" charset="-120"/>
              </a:rPr>
              <a:t>1953</a:t>
            </a:r>
            <a:endParaRPr lang="en-US" sz="3600" dirty="0"/>
          </a:p>
        </p:txBody>
      </p:sp>
      <p:sp>
        <p:nvSpPr>
          <p:cNvPr id="13" name="Text 9"/>
          <p:cNvSpPr txBox="1"/>
          <p:nvPr/>
        </p:nvSpPr>
        <p:spPr>
          <a:xfrm>
            <a:off x="3474720" y="5257800"/>
            <a:ext cx="2743200" cy="548640"/>
          </a:xfrm>
          <a:prstGeom prst="rect">
            <a:avLst/>
          </a:prstGeom>
          <a:noFill/>
          <a:ln/>
        </p:spPr>
        <p:txBody>
          <a:bodyPr wrap="square" lIns="0" tIns="0" rIns="0" bIns="0" rtlCol="0" anchor="t"/>
          <a:lstStyle/>
          <a:p>
            <a:pPr indent="0" marL="0">
              <a:buNone/>
            </a:pPr>
            <a:r>
              <a:rPr lang="en-US" sz="1300" b="1" dirty="0">
                <a:solidFill>
                  <a:srgbClr val="4A524E"/>
                </a:solidFill>
                <a:latin typeface="Calibri" pitchFamily="34" charset="0"/>
                <a:ea typeface="Calibri" pitchFamily="34" charset="-122"/>
                <a:cs typeface="Calibri" pitchFamily="34" charset="-120"/>
              </a:rPr>
              <a:t>Fondation du Musée du Caramulo</a:t>
            </a:r>
            <a:endParaRPr lang="en-US" sz="130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18D"/>
                </a:solidFill>
                <a:latin typeface="Calibri"/>
                <a:ea typeface="Calibri"/>
                <a:cs typeface="Calibri"/>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pic>
        <p:nvPicPr>
          <p:cNvPr id="2" name="Image 0" descr="/home/user/Portugal-Website/images/luis/motorfestival.jpg">    </p:cNvPr>
          <p:cNvPicPr>
            <a:picLocks noChangeAspect="1"/>
          </p:cNvPicPr>
          <p:nvPr/>
        </p:nvPicPr>
        <p:blipFill>
          <a:blip r:embed="rId1"/>
          <a:srcRect l="0" r="0" t="0" b="0"/>
          <a:stretch/>
        </p:blipFill>
        <p:spPr>
          <a:xfrm>
            <a:off x="0" y="0"/>
            <a:ext cx="12191695" cy="6858000"/>
          </a:xfrm>
          <a:prstGeom prst="rect">
            <a:avLst/>
          </a:prstGeom>
        </p:spPr>
      </p:pic>
      <p:sp>
        <p:nvSpPr>
          <p:cNvPr id="3" name="Shape 0"/>
          <p:cNvSpPr/>
          <p:nvPr/>
        </p:nvSpPr>
        <p:spPr>
          <a:xfrm>
            <a:off x="0" y="0"/>
            <a:ext cx="7132320" cy="6858000"/>
          </a:xfrm>
          <a:prstGeom prst="rect">
            <a:avLst/>
          </a:prstGeom>
          <a:solidFill>
            <a:srgbClr val="1E0808">
              <a:alpha val="80000"/>
            </a:srgbClr>
          </a:solidFill>
          <a:ln w="12700">
            <a:solidFill>
              <a:srgbClr val="1E0808">
                <a:alpha val="0"/>
              </a:srgbClr>
            </a:solidFill>
            <a:prstDash val="solid"/>
          </a:ln>
        </p:spPr>
      </p:sp>
      <p:sp>
        <p:nvSpPr>
          <p:cNvPr id="4" name="Text 1"/>
          <p:cNvSpPr txBox="1"/>
          <p:nvPr/>
        </p:nvSpPr>
        <p:spPr>
          <a:xfrm>
            <a:off x="731520" y="822960"/>
            <a:ext cx="5943600" cy="365760"/>
          </a:xfrm>
          <a:prstGeom prst="rect">
            <a:avLst/>
          </a:prstGeom>
          <a:noFill/>
          <a:ln/>
        </p:spPr>
        <p:txBody>
          <a:bodyPr wrap="square" lIns="0" tIns="0" rIns="0" bIns="0" rtlCol="0" anchor="t"/>
          <a:lstStyle/>
          <a:p>
            <a:pPr indent="0" marL="0">
              <a:buNone/>
            </a:pPr>
            <a:r>
              <a:rPr lang="en-US" sz="1200" b="1" spc="200" kern="0" dirty="0">
                <a:solidFill>
                  <a:srgbClr val="F2C14E"/>
                </a:solidFill>
                <a:latin typeface="Calibri" pitchFamily="34" charset="0"/>
                <a:ea typeface="Calibri" pitchFamily="34" charset="-122"/>
                <a:cs typeface="Calibri" pitchFamily="34" charset="-120"/>
              </a:rPr>
              <a:t>CHAQUE SEPTEMBRE À CARAMULO</a:t>
            </a:r>
            <a:endParaRPr lang="en-US" sz="1200" dirty="0"/>
          </a:p>
        </p:txBody>
      </p:sp>
      <p:sp>
        <p:nvSpPr>
          <p:cNvPr id="5" name="Text 2"/>
          <p:cNvSpPr txBox="1"/>
          <p:nvPr/>
        </p:nvSpPr>
        <p:spPr>
          <a:xfrm>
            <a:off x="731520" y="1188720"/>
            <a:ext cx="6217920" cy="1188720"/>
          </a:xfrm>
          <a:prstGeom prst="rect">
            <a:avLst/>
          </a:prstGeom>
          <a:noFill/>
          <a:ln/>
        </p:spPr>
        <p:txBody>
          <a:bodyPr wrap="square" lIns="0" tIns="0" rIns="0" bIns="0" rtlCol="0" anchor="t"/>
          <a:lstStyle/>
          <a:p>
            <a:pPr indent="0" marL="0">
              <a:buNone/>
            </a:pPr>
            <a:r>
              <a:rPr lang="en-US" sz="4000" b="1" i="1" dirty="0">
                <a:solidFill>
                  <a:srgbClr val="FFFFFF"/>
                </a:solidFill>
                <a:latin typeface="Calibri" pitchFamily="34" charset="0"/>
                <a:ea typeface="Calibri" pitchFamily="34" charset="-122"/>
                <a:cs typeface="Calibri" pitchFamily="34" charset="-120"/>
              </a:rPr>
              <a:t>CARAMULO MOTORFESTIVAL</a:t>
            </a:r>
            <a:endParaRPr lang="en-US" sz="4000" dirty="0"/>
          </a:p>
        </p:txBody>
      </p:sp>
      <p:sp>
        <p:nvSpPr>
          <p:cNvPr id="6" name="Text 3"/>
          <p:cNvSpPr txBox="1"/>
          <p:nvPr/>
        </p:nvSpPr>
        <p:spPr>
          <a:xfrm>
            <a:off x="731520" y="2468880"/>
            <a:ext cx="5943600" cy="219456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Chaque année début septembre, Caramulo devient la capitale portugaise du moteur. Organisé par le Musée du Caramulo, le Caramulo Motorfestival est la plus grande fête automobile du Portugal : la Rampa Histórica, une course de côte de voitures anciennes et de compétition sur les routes de la serra, des défilés, des expositions et même un air show. L'entrée est libre ! En 2026, plus de 60 000 personnes sont venues à Caramulo.</a:t>
            </a:r>
            <a:endParaRPr lang="en-US" sz="1500" dirty="0"/>
          </a:p>
        </p:txBody>
      </p:sp>
      <p:sp>
        <p:nvSpPr>
          <p:cNvPr id="7" name="Text 4"/>
          <p:cNvSpPr txBox="1"/>
          <p:nvPr/>
        </p:nvSpPr>
        <p:spPr>
          <a:xfrm>
            <a:off x="731520" y="4709160"/>
            <a:ext cx="1920240" cy="685800"/>
          </a:xfrm>
          <a:prstGeom prst="rect">
            <a:avLst/>
          </a:prstGeom>
          <a:noFill/>
          <a:ln/>
        </p:spPr>
        <p:txBody>
          <a:bodyPr wrap="square" lIns="0" tIns="0" rIns="0" bIns="0" rtlCol="0" anchor="t"/>
          <a:lstStyle/>
          <a:p>
            <a:pPr indent="0" marL="0">
              <a:buNone/>
            </a:pPr>
            <a:r>
              <a:rPr lang="en-US" sz="3600" b="1" dirty="0">
                <a:solidFill>
                  <a:srgbClr val="F2C14E"/>
                </a:solidFill>
                <a:latin typeface="Cambria" pitchFamily="34" charset="0"/>
                <a:ea typeface="Cambria" pitchFamily="34" charset="-122"/>
                <a:cs typeface="Cambria" pitchFamily="34" charset="-120"/>
              </a:rPr>
              <a:t>60 000+</a:t>
            </a:r>
            <a:endParaRPr lang="en-US" sz="3600" dirty="0"/>
          </a:p>
        </p:txBody>
      </p:sp>
      <p:sp>
        <p:nvSpPr>
          <p:cNvPr id="8" name="Text 5"/>
          <p:cNvSpPr txBox="1"/>
          <p:nvPr/>
        </p:nvSpPr>
        <p:spPr>
          <a:xfrm>
            <a:off x="731520" y="5394960"/>
            <a:ext cx="1920240" cy="548640"/>
          </a:xfrm>
          <a:prstGeom prst="rect">
            <a:avLst/>
          </a:prstGeom>
          <a:noFill/>
          <a:ln/>
        </p:spPr>
        <p:txBody>
          <a:bodyPr wrap="square" lIns="0" tIns="0" rIns="0" bIns="0" rtlCol="0" anchor="t"/>
          <a:lstStyle/>
          <a:p>
            <a:pPr indent="0" marL="0">
              <a:buNone/>
            </a:pPr>
            <a:r>
              <a:rPr lang="en-US" sz="1300" b="1" dirty="0">
                <a:solidFill>
                  <a:srgbClr val="E6ECE8"/>
                </a:solidFill>
                <a:latin typeface="Calibri" pitchFamily="34" charset="0"/>
                <a:ea typeface="Calibri" pitchFamily="34" charset="-122"/>
                <a:cs typeface="Calibri" pitchFamily="34" charset="-120"/>
              </a:rPr>
              <a:t>VISITEURS EN 2026</a:t>
            </a:r>
            <a:endParaRPr lang="en-US" sz="1300" dirty="0"/>
          </a:p>
        </p:txBody>
      </p:sp>
      <p:sp>
        <p:nvSpPr>
          <p:cNvPr id="9" name="Text 6"/>
          <p:cNvSpPr txBox="1"/>
          <p:nvPr/>
        </p:nvSpPr>
        <p:spPr>
          <a:xfrm>
            <a:off x="2743200" y="4709160"/>
            <a:ext cx="1920240" cy="685800"/>
          </a:xfrm>
          <a:prstGeom prst="rect">
            <a:avLst/>
          </a:prstGeom>
          <a:noFill/>
          <a:ln/>
        </p:spPr>
        <p:txBody>
          <a:bodyPr wrap="square" lIns="0" tIns="0" rIns="0" bIns="0" rtlCol="0" anchor="t"/>
          <a:lstStyle/>
          <a:p>
            <a:pPr indent="0" marL="0">
              <a:buNone/>
            </a:pPr>
            <a:r>
              <a:rPr lang="en-US" sz="3600" b="1" dirty="0">
                <a:solidFill>
                  <a:srgbClr val="F2C14E"/>
                </a:solidFill>
                <a:latin typeface="Cambria" pitchFamily="34" charset="0"/>
                <a:ea typeface="Cambria" pitchFamily="34" charset="-122"/>
                <a:cs typeface="Cambria" pitchFamily="34" charset="-120"/>
              </a:rPr>
              <a:t>3</a:t>
            </a:r>
            <a:endParaRPr lang="en-US" sz="3600" dirty="0"/>
          </a:p>
        </p:txBody>
      </p:sp>
      <p:sp>
        <p:nvSpPr>
          <p:cNvPr id="10" name="Text 7"/>
          <p:cNvSpPr txBox="1"/>
          <p:nvPr/>
        </p:nvSpPr>
        <p:spPr>
          <a:xfrm>
            <a:off x="2743200" y="5394960"/>
            <a:ext cx="1920240" cy="548640"/>
          </a:xfrm>
          <a:prstGeom prst="rect">
            <a:avLst/>
          </a:prstGeom>
          <a:noFill/>
          <a:ln/>
        </p:spPr>
        <p:txBody>
          <a:bodyPr wrap="square" lIns="0" tIns="0" rIns="0" bIns="0" rtlCol="0" anchor="t"/>
          <a:lstStyle/>
          <a:p>
            <a:pPr indent="0" marL="0">
              <a:buNone/>
            </a:pPr>
            <a:r>
              <a:rPr lang="en-US" sz="1300" b="1" dirty="0">
                <a:solidFill>
                  <a:srgbClr val="E6ECE8"/>
                </a:solidFill>
                <a:latin typeface="Calibri" pitchFamily="34" charset="0"/>
                <a:ea typeface="Calibri" pitchFamily="34" charset="-122"/>
                <a:cs typeface="Calibri" pitchFamily="34" charset="-120"/>
              </a:rPr>
              <a:t>JOURS DE FÊTE</a:t>
            </a:r>
            <a:endParaRPr lang="en-US" sz="1300" dirty="0"/>
          </a:p>
        </p:txBody>
      </p:sp>
      <p:sp>
        <p:nvSpPr>
          <p:cNvPr id="11" name="Text 8"/>
          <p:cNvSpPr txBox="1"/>
          <p:nvPr/>
        </p:nvSpPr>
        <p:spPr>
          <a:xfrm>
            <a:off x="4754880" y="4709160"/>
            <a:ext cx="1920240" cy="685800"/>
          </a:xfrm>
          <a:prstGeom prst="rect">
            <a:avLst/>
          </a:prstGeom>
          <a:noFill/>
          <a:ln/>
        </p:spPr>
        <p:txBody>
          <a:bodyPr wrap="square" lIns="0" tIns="0" rIns="0" bIns="0" rtlCol="0" anchor="t"/>
          <a:lstStyle/>
          <a:p>
            <a:pPr indent="0" marL="0">
              <a:buNone/>
            </a:pPr>
            <a:r>
              <a:rPr lang="en-US" sz="3600" b="1" dirty="0">
                <a:solidFill>
                  <a:srgbClr val="F2C14E"/>
                </a:solidFill>
                <a:latin typeface="Cambria" pitchFamily="34" charset="0"/>
                <a:ea typeface="Cambria" pitchFamily="34" charset="-122"/>
                <a:cs typeface="Cambria" pitchFamily="34" charset="-120"/>
              </a:rPr>
              <a:t>180+</a:t>
            </a:r>
            <a:endParaRPr lang="en-US" sz="3600" dirty="0"/>
          </a:p>
        </p:txBody>
      </p:sp>
      <p:sp>
        <p:nvSpPr>
          <p:cNvPr id="12" name="Text 9"/>
          <p:cNvSpPr txBox="1"/>
          <p:nvPr/>
        </p:nvSpPr>
        <p:spPr>
          <a:xfrm>
            <a:off x="4754880" y="5394960"/>
            <a:ext cx="1920240" cy="548640"/>
          </a:xfrm>
          <a:prstGeom prst="rect">
            <a:avLst/>
          </a:prstGeom>
          <a:noFill/>
          <a:ln/>
        </p:spPr>
        <p:txBody>
          <a:bodyPr wrap="square" lIns="0" tIns="0" rIns="0" bIns="0" rtlCol="0" anchor="t"/>
          <a:lstStyle/>
          <a:p>
            <a:pPr indent="0" marL="0">
              <a:buNone/>
            </a:pPr>
            <a:r>
              <a:rPr lang="en-US" sz="1300" b="1" dirty="0">
                <a:solidFill>
                  <a:srgbClr val="E6ECE8"/>
                </a:solidFill>
                <a:latin typeface="Calibri" pitchFamily="34" charset="0"/>
                <a:ea typeface="Calibri" pitchFamily="34" charset="-122"/>
                <a:cs typeface="Calibri" pitchFamily="34" charset="-120"/>
              </a:rPr>
              <a:t>VOITURES SUR LA RAMPA HISTÓRICA (RECORD)</a:t>
            </a:r>
            <a:endParaRPr lang="en-US" sz="1300" dirty="0"/>
          </a:p>
        </p:txBody>
      </p:sp>
      <p:sp>
        <p:nvSpPr>
          <p:cNvPr id="13" name="Shape 10"/>
          <p:cNvSpPr/>
          <p:nvPr/>
        </p:nvSpPr>
        <p:spPr>
          <a:xfrm>
            <a:off x="731520" y="5989320"/>
            <a:ext cx="2560320" cy="457200"/>
          </a:xfrm>
          <a:prstGeom prst="roundRect">
            <a:avLst>
              <a:gd name="adj" fmla="val 50000"/>
            </a:avLst>
          </a:prstGeom>
          <a:solidFill>
            <a:srgbClr val="A83232"/>
          </a:solidFill>
          <a:ln w="12700">
            <a:solidFill>
              <a:srgbClr val="A83232"/>
            </a:solidFill>
            <a:prstDash val="solid"/>
          </a:ln>
        </p:spPr>
      </p:sp>
      <p:sp>
        <p:nvSpPr>
          <p:cNvPr id="14" name="Text 11"/>
          <p:cNvSpPr txBox="1"/>
          <p:nvPr/>
        </p:nvSpPr>
        <p:spPr>
          <a:xfrm>
            <a:off x="731520" y="5989320"/>
            <a:ext cx="2560320" cy="457200"/>
          </a:xfrm>
          <a:prstGeom prst="rect">
            <a:avLst/>
          </a:prstGeom>
          <a:noFill/>
          <a:ln/>
        </p:spPr>
        <p:txBody>
          <a:bodyPr wrap="square" lIns="0" tIns="0" rIns="0" bIns="0" rtlCol="0" anchor="ctr"/>
          <a:lstStyle/>
          <a:p>
            <a:pPr algn="ctr" indent="0" marL="0">
              <a:buNone/>
            </a:pPr>
            <a:r>
              <a:rPr lang="en-US" sz="1400" b="1"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  Regarder la vidéo</a:t>
            </a:r>
            <a:endParaRPr lang="en-US" sz="14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pic>
        <p:nvPicPr>
          <p:cNvPr id="2" name="Image 0" descr="/home/user/Portugal-Website/images/photos/smf-castle.jpg">    </p:cNvPr>
          <p:cNvPicPr>
            <a:picLocks noChangeAspect="1"/>
          </p:cNvPicPr>
          <p:nvPr/>
        </p:nvPicPr>
        <p:blipFill>
          <a:blip r:embed="rId1"/>
          <a:srcRect l="0" r="0" t="0" b="0"/>
          <a:stretch/>
        </p:blipFill>
        <p:spPr>
          <a:xfrm>
            <a:off x="0" y="0"/>
            <a:ext cx="5669280" cy="6858000"/>
          </a:xfrm>
          <a:prstGeom prst="rect">
            <a:avLst/>
          </a:prstGeom>
        </p:spPr>
      </p:pic>
      <p:sp>
        <p:nvSpPr>
          <p:cNvPr id="3" name="Text 0"/>
          <p:cNvSpPr txBox="1"/>
          <p:nvPr/>
        </p:nvSpPr>
        <p:spPr>
          <a:xfrm>
            <a:off x="6172200" y="548640"/>
            <a:ext cx="5486400" cy="457200"/>
          </a:xfrm>
          <a:prstGeom prst="rect">
            <a:avLst/>
          </a:prstGeom>
          <a:noFill/>
          <a:ln/>
        </p:spPr>
        <p:txBody>
          <a:bodyPr wrap="square" lIns="0" tIns="0" rIns="0" bIns="0" rtlCol="0" anchor="t"/>
          <a:lstStyle/>
          <a:p>
            <a:pPr indent="0" marL="0">
              <a:buNone/>
            </a:pPr>
            <a:r>
              <a:rPr lang="en-US" sz="1200" b="1" spc="200" kern="0" dirty="0">
                <a:solidFill>
                  <a:srgbClr val="A83232"/>
                </a:solidFill>
                <a:latin typeface="Calibri" pitchFamily="34" charset="0"/>
                <a:ea typeface="Calibri" pitchFamily="34" charset="-122"/>
                <a:cs typeface="Calibri" pitchFamily="34" charset="-120"/>
              </a:rPr>
              <a:t>SANTA MARIA DA FEIRA — LÀ OÙ J'AI VÉCU</a:t>
            </a:r>
            <a:endParaRPr lang="en-US" sz="1200" dirty="0"/>
          </a:p>
        </p:txBody>
      </p:sp>
      <p:sp>
        <p:nvSpPr>
          <p:cNvPr id="4" name="Text 1"/>
          <p:cNvSpPr txBox="1"/>
          <p:nvPr/>
        </p:nvSpPr>
        <p:spPr>
          <a:xfrm>
            <a:off x="6172200" y="960120"/>
            <a:ext cx="5486400" cy="822960"/>
          </a:xfrm>
          <a:prstGeom prst="rect">
            <a:avLst/>
          </a:prstGeom>
          <a:noFill/>
          <a:ln/>
        </p:spPr>
        <p:txBody>
          <a:bodyPr wrap="square" lIns="0" tIns="0" rIns="0" bIns="0" rtlCol="0" anchor="t"/>
          <a:lstStyle/>
          <a:p>
            <a:pPr indent="0" marL="0">
              <a:buNone/>
            </a:pPr>
            <a:r>
              <a:rPr lang="en-US" sz="2400" b="1" dirty="0">
                <a:solidFill>
                  <a:srgbClr val="174A3A"/>
                </a:solidFill>
                <a:latin typeface="Cambria" pitchFamily="34" charset="0"/>
                <a:ea typeface="Cambria" pitchFamily="34" charset="-122"/>
                <a:cs typeface="Cambria" pitchFamily="34" charset="-120"/>
              </a:rPr>
              <a:t>Une ville de château et de chevaliers</a:t>
            </a:r>
            <a:endParaRPr lang="en-US" sz="2400" dirty="0"/>
          </a:p>
        </p:txBody>
      </p:sp>
      <p:sp>
        <p:nvSpPr>
          <p:cNvPr id="5" name="Text 2"/>
          <p:cNvSpPr txBox="1"/>
          <p:nvPr/>
        </p:nvSpPr>
        <p:spPr>
          <a:xfrm>
            <a:off x="6172200" y="1828800"/>
            <a:ext cx="5486400" cy="1143000"/>
          </a:xfrm>
          <a:prstGeom prst="rect">
            <a:avLst/>
          </a:prstGeom>
          <a:noFill/>
          <a:ln/>
        </p:spPr>
        <p:txBody>
          <a:bodyPr wrap="square" lIns="0" tIns="0" rIns="0" bIns="0" rtlCol="0" anchor="t"/>
          <a:lstStyle/>
          <a:p>
            <a:pPr indent="0" marL="0">
              <a:buNone/>
            </a:pPr>
            <a:r>
              <a:rPr lang="en-US" sz="1500" dirty="0">
                <a:solidFill>
                  <a:srgbClr val="17211D"/>
                </a:solidFill>
                <a:latin typeface="Calibri" pitchFamily="34" charset="0"/>
                <a:ea typeface="Calibri" pitchFamily="34" charset="-122"/>
                <a:cs typeface="Calibri" pitchFamily="34" charset="-120"/>
              </a:rPr>
              <a:t>Avant de partir pour la Suisse, j'ai vécu à Santa Maria da Feira, à une trentaine de kilomètres au sud de Porto. La ville est dominée par l'un des plus beaux châteaux médiévaux du Portugal.</a:t>
            </a:r>
            <a:endParaRPr lang="en-US" sz="1500" dirty="0"/>
          </a:p>
        </p:txBody>
      </p:sp>
      <p:sp>
        <p:nvSpPr>
          <p:cNvPr id="6" name="Text 3"/>
          <p:cNvSpPr txBox="1"/>
          <p:nvPr/>
        </p:nvSpPr>
        <p:spPr>
          <a:xfrm>
            <a:off x="6172200" y="3017520"/>
            <a:ext cx="5486400" cy="457200"/>
          </a:xfrm>
          <a:prstGeom prst="rect">
            <a:avLst/>
          </a:prstGeom>
          <a:noFill/>
          <a:ln/>
        </p:spPr>
        <p:txBody>
          <a:bodyPr wrap="square" lIns="0" tIns="0" rIns="0" bIns="0" rtlCol="0" anchor="t"/>
          <a:lstStyle/>
          <a:p>
            <a:pPr indent="0" marL="0">
              <a:buNone/>
            </a:pPr>
            <a:r>
              <a:rPr lang="en-US" sz="2200" b="1" dirty="0">
                <a:solidFill>
                  <a:srgbClr val="1E4F8F"/>
                </a:solidFill>
                <a:latin typeface="Cambria" pitchFamily="34" charset="0"/>
                <a:ea typeface="Cambria" pitchFamily="34" charset="-122"/>
                <a:cs typeface="Cambria" pitchFamily="34" charset="-120"/>
              </a:rPr>
              <a:t>Viagem Medieval</a:t>
            </a:r>
            <a:endParaRPr lang="en-US" sz="2200" dirty="0"/>
          </a:p>
        </p:txBody>
      </p:sp>
      <p:sp>
        <p:nvSpPr>
          <p:cNvPr id="7" name="Text 4"/>
          <p:cNvSpPr txBox="1"/>
          <p:nvPr/>
        </p:nvSpPr>
        <p:spPr>
          <a:xfrm>
            <a:off x="6172200" y="3474720"/>
            <a:ext cx="5486400" cy="1280160"/>
          </a:xfrm>
          <a:prstGeom prst="rect">
            <a:avLst/>
          </a:prstGeom>
          <a:noFill/>
          <a:ln/>
        </p:spPr>
        <p:txBody>
          <a:bodyPr wrap="square" lIns="0" tIns="0" rIns="0" bIns="0" rtlCol="0" anchor="t"/>
          <a:lstStyle/>
          <a:p>
            <a:pPr indent="0" marL="0">
              <a:buNone/>
            </a:pPr>
            <a:r>
              <a:rPr lang="en-US" sz="1400" dirty="0">
                <a:solidFill>
                  <a:srgbClr val="17211D"/>
                </a:solidFill>
                <a:latin typeface="Calibri" pitchFamily="34" charset="0"/>
                <a:ea typeface="Calibri" pitchFamily="34" charset="-122"/>
                <a:cs typeface="Calibri" pitchFamily="34" charset="-120"/>
              </a:rPr>
              <a:t>Chaque été depuis 1996, toute la ville remonte le temps pendant une douzaine de jours : tournois de chevaliers, spectacles, musique, fauconnerie et marchés d'époque. C'est la plus grande reconstitution médiévale de la péninsule Ibérique, avec des centaines de milliers de visiteurs.</a:t>
            </a:r>
            <a:endParaRPr lang="en-US" sz="1400" dirty="0"/>
          </a:p>
        </p:txBody>
      </p:sp>
      <p:sp>
        <p:nvSpPr>
          <p:cNvPr id="8" name="Text 5"/>
          <p:cNvSpPr txBox="1"/>
          <p:nvPr/>
        </p:nvSpPr>
        <p:spPr>
          <a:xfrm>
            <a:off x="6172200" y="4754880"/>
            <a:ext cx="1737360" cy="685800"/>
          </a:xfrm>
          <a:prstGeom prst="rect">
            <a:avLst/>
          </a:prstGeom>
          <a:noFill/>
          <a:ln/>
        </p:spPr>
        <p:txBody>
          <a:bodyPr wrap="square" lIns="0" tIns="0" rIns="0" bIns="0" rtlCol="0" anchor="t"/>
          <a:lstStyle/>
          <a:p>
            <a:pPr indent="0" marL="0">
              <a:buNone/>
            </a:pPr>
            <a:r>
              <a:rPr lang="en-US" sz="3600" b="1" dirty="0">
                <a:solidFill>
                  <a:srgbClr val="174A3A"/>
                </a:solidFill>
                <a:latin typeface="Cambria" pitchFamily="34" charset="0"/>
                <a:ea typeface="Cambria" pitchFamily="34" charset="-122"/>
                <a:cs typeface="Cambria" pitchFamily="34" charset="-120"/>
              </a:rPr>
              <a:t>650 000</a:t>
            </a:r>
            <a:endParaRPr lang="en-US" sz="3600" dirty="0"/>
          </a:p>
        </p:txBody>
      </p:sp>
      <p:sp>
        <p:nvSpPr>
          <p:cNvPr id="9" name="Text 6"/>
          <p:cNvSpPr txBox="1"/>
          <p:nvPr/>
        </p:nvSpPr>
        <p:spPr>
          <a:xfrm>
            <a:off x="6172200" y="5440680"/>
            <a:ext cx="1737360" cy="548640"/>
          </a:xfrm>
          <a:prstGeom prst="rect">
            <a:avLst/>
          </a:prstGeom>
          <a:noFill/>
          <a:ln/>
        </p:spPr>
        <p:txBody>
          <a:bodyPr wrap="square" lIns="0" tIns="0" rIns="0" bIns="0" rtlCol="0" anchor="t"/>
          <a:lstStyle/>
          <a:p>
            <a:pPr indent="0" marL="0">
              <a:buNone/>
            </a:pPr>
            <a:r>
              <a:rPr lang="en-US" sz="1300" b="1" dirty="0">
                <a:solidFill>
                  <a:srgbClr val="4A524E"/>
                </a:solidFill>
                <a:latin typeface="Calibri" pitchFamily="34" charset="0"/>
                <a:ea typeface="Calibri" pitchFamily="34" charset="-122"/>
                <a:cs typeface="Calibri" pitchFamily="34" charset="-120"/>
              </a:rPr>
              <a:t>VISITEURS EN 2025</a:t>
            </a:r>
            <a:endParaRPr lang="en-US" sz="1300" dirty="0"/>
          </a:p>
        </p:txBody>
      </p:sp>
      <p:sp>
        <p:nvSpPr>
          <p:cNvPr id="10" name="Text 7"/>
          <p:cNvSpPr txBox="1"/>
          <p:nvPr/>
        </p:nvSpPr>
        <p:spPr>
          <a:xfrm>
            <a:off x="8001000" y="4754880"/>
            <a:ext cx="1737360" cy="685800"/>
          </a:xfrm>
          <a:prstGeom prst="rect">
            <a:avLst/>
          </a:prstGeom>
          <a:noFill/>
          <a:ln/>
        </p:spPr>
        <p:txBody>
          <a:bodyPr wrap="square" lIns="0" tIns="0" rIns="0" bIns="0" rtlCol="0" anchor="t"/>
          <a:lstStyle/>
          <a:p>
            <a:pPr indent="0" marL="0">
              <a:buNone/>
            </a:pPr>
            <a:r>
              <a:rPr lang="en-US" sz="3600" b="1" dirty="0">
                <a:solidFill>
                  <a:srgbClr val="A83232"/>
                </a:solidFill>
                <a:latin typeface="Cambria" pitchFamily="34" charset="0"/>
                <a:ea typeface="Cambria" pitchFamily="34" charset="-122"/>
                <a:cs typeface="Cambria" pitchFamily="34" charset="-120"/>
              </a:rPr>
              <a:t>12</a:t>
            </a:r>
            <a:endParaRPr lang="en-US" sz="3600" dirty="0"/>
          </a:p>
        </p:txBody>
      </p:sp>
      <p:sp>
        <p:nvSpPr>
          <p:cNvPr id="11" name="Text 8"/>
          <p:cNvSpPr txBox="1"/>
          <p:nvPr/>
        </p:nvSpPr>
        <p:spPr>
          <a:xfrm>
            <a:off x="8001000" y="5440680"/>
            <a:ext cx="1737360" cy="548640"/>
          </a:xfrm>
          <a:prstGeom prst="rect">
            <a:avLst/>
          </a:prstGeom>
          <a:noFill/>
          <a:ln/>
        </p:spPr>
        <p:txBody>
          <a:bodyPr wrap="square" lIns="0" tIns="0" rIns="0" bIns="0" rtlCol="0" anchor="t"/>
          <a:lstStyle/>
          <a:p>
            <a:pPr indent="0" marL="0">
              <a:buNone/>
            </a:pPr>
            <a:r>
              <a:rPr lang="en-US" sz="1300" b="1" dirty="0">
                <a:solidFill>
                  <a:srgbClr val="4A524E"/>
                </a:solidFill>
                <a:latin typeface="Calibri" pitchFamily="34" charset="0"/>
                <a:ea typeface="Calibri" pitchFamily="34" charset="-122"/>
                <a:cs typeface="Calibri" pitchFamily="34" charset="-120"/>
              </a:rPr>
              <a:t>JOURS DE FÊTE</a:t>
            </a:r>
            <a:endParaRPr lang="en-US" sz="1300" dirty="0"/>
          </a:p>
        </p:txBody>
      </p:sp>
      <p:sp>
        <p:nvSpPr>
          <p:cNvPr id="12" name="Text 9"/>
          <p:cNvSpPr txBox="1"/>
          <p:nvPr/>
        </p:nvSpPr>
        <p:spPr>
          <a:xfrm>
            <a:off x="9829800" y="4754880"/>
            <a:ext cx="1737360" cy="685800"/>
          </a:xfrm>
          <a:prstGeom prst="rect">
            <a:avLst/>
          </a:prstGeom>
          <a:noFill/>
          <a:ln/>
        </p:spPr>
        <p:txBody>
          <a:bodyPr wrap="square" lIns="0" tIns="0" rIns="0" bIns="0" rtlCol="0" anchor="t"/>
          <a:lstStyle/>
          <a:p>
            <a:pPr indent="0" marL="0">
              <a:buNone/>
            </a:pPr>
            <a:r>
              <a:rPr lang="en-US" sz="3600" b="1" dirty="0">
                <a:solidFill>
                  <a:srgbClr val="1E4F8F"/>
                </a:solidFill>
                <a:latin typeface="Cambria" pitchFamily="34" charset="0"/>
                <a:ea typeface="Cambria" pitchFamily="34" charset="-122"/>
                <a:cs typeface="Cambria" pitchFamily="34" charset="-120"/>
              </a:rPr>
              <a:t>1996</a:t>
            </a:r>
            <a:endParaRPr lang="en-US" sz="3600" dirty="0"/>
          </a:p>
        </p:txBody>
      </p:sp>
      <p:sp>
        <p:nvSpPr>
          <p:cNvPr id="13" name="Text 10"/>
          <p:cNvSpPr txBox="1"/>
          <p:nvPr/>
        </p:nvSpPr>
        <p:spPr>
          <a:xfrm>
            <a:off x="9829800" y="5440680"/>
            <a:ext cx="1737360" cy="548640"/>
          </a:xfrm>
          <a:prstGeom prst="rect">
            <a:avLst/>
          </a:prstGeom>
          <a:noFill/>
          <a:ln/>
        </p:spPr>
        <p:txBody>
          <a:bodyPr wrap="square" lIns="0" tIns="0" rIns="0" bIns="0" rtlCol="0" anchor="t"/>
          <a:lstStyle/>
          <a:p>
            <a:pPr indent="0" marL="0">
              <a:buNone/>
            </a:pPr>
            <a:r>
              <a:rPr lang="en-US" sz="1300" b="1" dirty="0">
                <a:solidFill>
                  <a:srgbClr val="4A524E"/>
                </a:solidFill>
                <a:latin typeface="Calibri" pitchFamily="34" charset="0"/>
                <a:ea typeface="Calibri" pitchFamily="34" charset="-122"/>
                <a:cs typeface="Calibri" pitchFamily="34" charset="-120"/>
              </a:rPr>
              <a:t>PREMIÈRE ÉDITION</a:t>
            </a:r>
            <a:endParaRPr lang="en-US" sz="1300" dirty="0"/>
          </a:p>
        </p:txBody>
      </p:sp>
      <p:sp>
        <p:nvSpPr>
          <p:cNvPr id="14" name="Shape 11"/>
          <p:cNvSpPr/>
          <p:nvPr/>
        </p:nvSpPr>
        <p:spPr>
          <a:xfrm>
            <a:off x="6172200" y="5897880"/>
            <a:ext cx="2560320" cy="457200"/>
          </a:xfrm>
          <a:prstGeom prst="roundRect">
            <a:avLst>
              <a:gd name="adj" fmla="val 50000"/>
            </a:avLst>
          </a:prstGeom>
          <a:solidFill>
            <a:srgbClr val="A83232"/>
          </a:solidFill>
          <a:ln w="12700">
            <a:solidFill>
              <a:srgbClr val="A83232"/>
            </a:solidFill>
            <a:prstDash val="solid"/>
          </a:ln>
        </p:spPr>
      </p:sp>
      <p:sp>
        <p:nvSpPr>
          <p:cNvPr id="15" name="Text 12"/>
          <p:cNvSpPr txBox="1"/>
          <p:nvPr/>
        </p:nvSpPr>
        <p:spPr>
          <a:xfrm>
            <a:off x="6172200" y="5897880"/>
            <a:ext cx="2560320" cy="457200"/>
          </a:xfrm>
          <a:prstGeom prst="rect">
            <a:avLst/>
          </a:prstGeom>
          <a:noFill/>
          <a:ln/>
        </p:spPr>
        <p:txBody>
          <a:bodyPr wrap="square" lIns="0" tIns="0" rIns="0" bIns="0" rtlCol="0" anchor="ctr"/>
          <a:lstStyle/>
          <a:p>
            <a:pPr algn="ctr" indent="0" marL="0">
              <a:buNone/>
            </a:pPr>
            <a:r>
              <a:rPr lang="en-US" sz="1400" b="1"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  Regarder la vidéo</a:t>
            </a:r>
            <a:endParaRPr lang="en-US" sz="140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18D"/>
                </a:solidFill>
                <a:latin typeface="Calibri"/>
                <a:ea typeface="Calibri"/>
                <a:cs typeface="Calibri"/>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pic>
        <p:nvPicPr>
          <p:cNvPr id="2" name="Image 0" descr="/home/user/Portugal-Website/images/photos/hero-merv.jpg">    </p:cNvPr>
          <p:cNvPicPr>
            <a:picLocks noChangeAspect="1"/>
          </p:cNvPicPr>
          <p:nvPr/>
        </p:nvPicPr>
        <p:blipFill>
          <a:blip r:embed="rId1"/>
          <a:srcRect l="0" r="0" t="0" b="0"/>
          <a:stretch/>
        </p:blipFill>
        <p:spPr>
          <a:xfrm>
            <a:off x="0" y="0"/>
            <a:ext cx="12191695" cy="6858000"/>
          </a:xfrm>
          <a:prstGeom prst="rect">
            <a:avLst/>
          </a:prstGeom>
        </p:spPr>
      </p:pic>
      <p:sp>
        <p:nvSpPr>
          <p:cNvPr id="3" name="Shape 0"/>
          <p:cNvSpPr/>
          <p:nvPr/>
        </p:nvSpPr>
        <p:spPr>
          <a:xfrm>
            <a:off x="0" y="0"/>
            <a:ext cx="6766560" cy="6858000"/>
          </a:xfrm>
          <a:prstGeom prst="rect">
            <a:avLst/>
          </a:prstGeom>
          <a:solidFill>
            <a:srgbClr val="08140F">
              <a:alpha val="70000"/>
            </a:srgbClr>
          </a:solidFill>
          <a:ln w="12700">
            <a:solidFill>
              <a:srgbClr val="08140F">
                <a:alpha val="0"/>
              </a:srgbClr>
            </a:solidFill>
            <a:prstDash val="solid"/>
          </a:ln>
        </p:spPr>
      </p:sp>
      <p:sp>
        <p:nvSpPr>
          <p:cNvPr id="4" name="Text 1"/>
          <p:cNvSpPr txBox="1"/>
          <p:nvPr/>
        </p:nvSpPr>
        <p:spPr>
          <a:xfrm>
            <a:off x="822960" y="1828800"/>
            <a:ext cx="4572000" cy="365760"/>
          </a:xfrm>
          <a:prstGeom prst="rect">
            <a:avLst/>
          </a:prstGeom>
          <a:noFill/>
          <a:ln/>
        </p:spPr>
        <p:txBody>
          <a:bodyPr wrap="square" lIns="0" tIns="0" rIns="0" bIns="0" rtlCol="0" anchor="t"/>
          <a:lstStyle/>
          <a:p>
            <a:pPr indent="0" marL="0">
              <a:buNone/>
            </a:pPr>
            <a:r>
              <a:rPr lang="en-US" sz="1600" b="1" spc="300" kern="0" dirty="0">
                <a:solidFill>
                  <a:srgbClr val="F2C14E"/>
                </a:solidFill>
                <a:latin typeface="Calibri" pitchFamily="34" charset="0"/>
                <a:ea typeface="Calibri" pitchFamily="34" charset="-122"/>
                <a:cs typeface="Calibri" pitchFamily="34" charset="-120"/>
              </a:rPr>
              <a:t>07 / 08</a:t>
            </a:r>
            <a:endParaRPr lang="en-US" sz="1600" dirty="0"/>
          </a:p>
        </p:txBody>
      </p:sp>
      <p:sp>
        <p:nvSpPr>
          <p:cNvPr id="5" name="Text 2"/>
          <p:cNvSpPr txBox="1"/>
          <p:nvPr/>
        </p:nvSpPr>
        <p:spPr>
          <a:xfrm>
            <a:off x="822960" y="2240280"/>
            <a:ext cx="5760720" cy="1280160"/>
          </a:xfrm>
          <a:prstGeom prst="rect">
            <a:avLst/>
          </a:prstGeom>
          <a:noFill/>
          <a:ln/>
        </p:spPr>
        <p:txBody>
          <a:bodyPr wrap="square" lIns="0" tIns="0" rIns="0" bIns="0" rtlCol="0" anchor="t">
            <a:normAutofit/>
          </a:bodyPr>
          <a:lstStyle/>
          <a:p>
            <a:pPr indent="0" marL="0">
              <a:buNone/>
            </a:pPr>
            <a:r>
              <a:rPr lang="en-US" sz="6000" b="1" dirty="0">
                <a:solidFill>
                  <a:srgbClr val="FFFFFF"/>
                </a:solidFill>
                <a:latin typeface="Cambria" pitchFamily="34" charset="0"/>
                <a:ea typeface="Cambria" pitchFamily="34" charset="-122"/>
                <a:cs typeface="Cambria" pitchFamily="34" charset="-120"/>
              </a:rPr>
              <a:t>Merveilles</a:t>
            </a:r>
            <a:endParaRPr lang="en-US" sz="6000" dirty="0"/>
          </a:p>
        </p:txBody>
      </p:sp>
      <p:sp>
        <p:nvSpPr>
          <p:cNvPr id="6" name="Text 3"/>
          <p:cNvSpPr txBox="1"/>
          <p:nvPr/>
        </p:nvSpPr>
        <p:spPr>
          <a:xfrm>
            <a:off x="822960" y="3611880"/>
            <a:ext cx="5486400" cy="914400"/>
          </a:xfrm>
          <a:prstGeom prst="rect">
            <a:avLst/>
          </a:prstGeom>
          <a:noFill/>
          <a:ln/>
        </p:spPr>
        <p:txBody>
          <a:bodyPr wrap="square" lIns="0" tIns="0" rIns="0" bIns="0" rtlCol="0" anchor="t"/>
          <a:lstStyle/>
          <a:p>
            <a:pPr indent="0" marL="0">
              <a:buNone/>
            </a:pPr>
            <a:r>
              <a:rPr lang="en-US" sz="2400" i="1" dirty="0">
                <a:solidFill>
                  <a:srgbClr val="FFFFFF"/>
                </a:solidFill>
                <a:latin typeface="Cambria" pitchFamily="34" charset="0"/>
                <a:ea typeface="Cambria" pitchFamily="34" charset="-122"/>
                <a:cs typeface="Cambria" pitchFamily="34" charset="-120"/>
              </a:rPr>
              <a:t>Les trésors du Portugal, du nord au sud</a:t>
            </a:r>
            <a:endParaRPr lang="en-US" sz="2400" dirty="0"/>
          </a:p>
        </p:txBody>
      </p:sp>
      <p:sp>
        <p:nvSpPr>
          <p:cNvPr id="7" name="Text 4"/>
          <p:cNvSpPr txBox="1"/>
          <p:nvPr/>
        </p:nvSpPr>
        <p:spPr>
          <a:xfrm>
            <a:off x="822960" y="4572000"/>
            <a:ext cx="5120640" cy="1005840"/>
          </a:xfrm>
          <a:prstGeom prst="rect">
            <a:avLst/>
          </a:prstGeom>
          <a:noFill/>
          <a:ln/>
        </p:spPr>
        <p:txBody>
          <a:bodyPr wrap="square" lIns="0" tIns="0" rIns="0" bIns="0" rtlCol="0" anchor="t"/>
          <a:lstStyle/>
          <a:p>
            <a:pPr indent="0" marL="0">
              <a:buNone/>
            </a:pPr>
            <a:r>
              <a:rPr lang="en-US" sz="1500" dirty="0">
                <a:solidFill>
                  <a:srgbClr val="E6ECE8"/>
                </a:solidFill>
                <a:latin typeface="Calibri" pitchFamily="34" charset="0"/>
                <a:ea typeface="Calibri" pitchFamily="34" charset="-122"/>
                <a:cs typeface="Calibri" pitchFamily="34" charset="-120"/>
              </a:rPr>
              <a:t>Vignobles, monastères, palais, ponts et lacs : faites défiler la page et suivez la carte.</a:t>
            </a:r>
            <a:endParaRPr lang="en-US" sz="15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pic>
        <p:nvPicPr>
          <p:cNvPr id="2" name="Image 0" descr="/tmp/claude-0/-home-user-Portugal-Website/75cb938f-c0b0-5bfa-87a7-b5b5dc4ddeb0/scratchpad/ppt/map.png">    </p:cNvPr>
          <p:cNvPicPr>
            <a:picLocks noChangeAspect="1"/>
          </p:cNvPicPr>
          <p:nvPr/>
        </p:nvPicPr>
        <p:blipFill>
          <a:blip r:embed="rId1"/>
          <a:stretch>
            <a:fillRect/>
          </a:stretch>
        </p:blipFill>
        <p:spPr>
          <a:xfrm>
            <a:off x="548640" y="411480"/>
            <a:ext cx="2651760" cy="5733288"/>
          </a:xfrm>
          <a:prstGeom prst="rect">
            <a:avLst/>
          </a:prstGeom>
        </p:spPr>
      </p:pic>
      <p:sp>
        <p:nvSpPr>
          <p:cNvPr id="3" name="Text 0"/>
          <p:cNvSpPr txBox="1"/>
          <p:nvPr/>
        </p:nvSpPr>
        <p:spPr>
          <a:xfrm>
            <a:off x="3657600" y="411480"/>
            <a:ext cx="7772400" cy="274320"/>
          </a:xfrm>
          <a:prstGeom prst="rect">
            <a:avLst/>
          </a:prstGeom>
          <a:noFill/>
          <a:ln/>
        </p:spPr>
        <p:txBody>
          <a:bodyPr wrap="square" lIns="0" tIns="0" rIns="0" bIns="0" rtlCol="0" anchor="t"/>
          <a:lstStyle/>
          <a:p>
            <a:pPr indent="0" marL="0">
              <a:buNone/>
            </a:pPr>
            <a:r>
              <a:rPr lang="en-US" sz="1200" b="1" spc="300" kern="0" dirty="0">
                <a:solidFill>
                  <a:srgbClr val="A83232"/>
                </a:solidFill>
                <a:latin typeface="Calibri" pitchFamily="34" charset="0"/>
                <a:ea typeface="Calibri" pitchFamily="34" charset="-122"/>
                <a:cs typeface="Calibri" pitchFamily="34" charset="-120"/>
              </a:rPr>
              <a:t>UN VOYAGE SUR LA CARTE</a:t>
            </a:r>
            <a:endParaRPr lang="en-US" sz="1200" dirty="0"/>
          </a:p>
        </p:txBody>
      </p:sp>
      <p:sp>
        <p:nvSpPr>
          <p:cNvPr id="4" name="Text 1"/>
          <p:cNvSpPr txBox="1"/>
          <p:nvPr/>
        </p:nvSpPr>
        <p:spPr>
          <a:xfrm>
            <a:off x="3657600" y="685800"/>
            <a:ext cx="7955280" cy="685800"/>
          </a:xfrm>
          <a:prstGeom prst="rect">
            <a:avLst/>
          </a:prstGeom>
          <a:noFill/>
          <a:ln/>
        </p:spPr>
        <p:txBody>
          <a:bodyPr wrap="square" lIns="0" tIns="0" rIns="0" bIns="0" rtlCol="0" anchor="t"/>
          <a:lstStyle/>
          <a:p>
            <a:pPr indent="0" marL="0">
              <a:buNone/>
            </a:pPr>
            <a:r>
              <a:rPr lang="en-US" sz="3400" b="1" dirty="0">
                <a:solidFill>
                  <a:srgbClr val="174A3A"/>
                </a:solidFill>
                <a:latin typeface="Cambria" pitchFamily="34" charset="0"/>
                <a:ea typeface="Cambria" pitchFamily="34" charset="-122"/>
                <a:cs typeface="Cambria" pitchFamily="34" charset="-120"/>
              </a:rPr>
              <a:t>Dix merveilles à découvrir</a:t>
            </a:r>
            <a:endParaRPr lang="en-US" sz="3400" dirty="0"/>
          </a:p>
        </p:txBody>
      </p:sp>
      <p:sp>
        <p:nvSpPr>
          <p:cNvPr id="5" name="Shape 2"/>
          <p:cNvSpPr/>
          <p:nvPr/>
        </p:nvSpPr>
        <p:spPr>
          <a:xfrm>
            <a:off x="3657600" y="1600200"/>
            <a:ext cx="457200" cy="457200"/>
          </a:xfrm>
          <a:prstGeom prst="ellipse">
            <a:avLst/>
          </a:prstGeom>
          <a:solidFill>
            <a:srgbClr val="A83232"/>
          </a:solidFill>
          <a:ln w="12700">
            <a:solidFill>
              <a:srgbClr val="A83232"/>
            </a:solidFill>
            <a:prstDash val="solid"/>
          </a:ln>
        </p:spPr>
      </p:sp>
      <p:sp>
        <p:nvSpPr>
          <p:cNvPr id="6" name="Text 3"/>
          <p:cNvSpPr txBox="1"/>
          <p:nvPr/>
        </p:nvSpPr>
        <p:spPr>
          <a:xfrm>
            <a:off x="3657600" y="1600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7" name="Text 4"/>
          <p:cNvSpPr txBox="1"/>
          <p:nvPr/>
        </p:nvSpPr>
        <p:spPr>
          <a:xfrm>
            <a:off x="4297680" y="1618488"/>
            <a:ext cx="3291840" cy="457200"/>
          </a:xfrm>
          <a:prstGeom prst="rect">
            <a:avLst/>
          </a:prstGeom>
          <a:noFill/>
          <a:ln/>
        </p:spPr>
        <p:txBody>
          <a:bodyPr wrap="square" lIns="0" tIns="0" rIns="0" bIns="0" rtlCol="0" anchor="ctr"/>
          <a:lstStyle/>
          <a:p>
            <a:pPr indent="0" marL="0">
              <a:buNone/>
            </a:pPr>
            <a:r>
              <a:rPr lang="en-US" sz="1500" b="1" dirty="0">
                <a:solidFill>
                  <a:srgbClr val="17211D"/>
                </a:solidFill>
                <a:latin typeface="Cambria" pitchFamily="34" charset="0"/>
                <a:ea typeface="Cambria" pitchFamily="34" charset="-122"/>
                <a:cs typeface="Cambria" pitchFamily="34" charset="-120"/>
              </a:rPr>
              <a:t>La vallée du Douro</a:t>
            </a:r>
            <a:endParaRPr lang="en-US" sz="1500" dirty="0"/>
          </a:p>
        </p:txBody>
      </p:sp>
      <p:sp>
        <p:nvSpPr>
          <p:cNvPr id="8" name="Text 5"/>
          <p:cNvSpPr txBox="1"/>
          <p:nvPr/>
        </p:nvSpPr>
        <p:spPr>
          <a:xfrm>
            <a:off x="4297680" y="2020824"/>
            <a:ext cx="3291840" cy="274320"/>
          </a:xfrm>
          <a:prstGeom prst="rect">
            <a:avLst/>
          </a:prstGeom>
          <a:noFill/>
          <a:ln/>
        </p:spPr>
        <p:txBody>
          <a:bodyPr wrap="square" lIns="0" tIns="0" rIns="0" bIns="0" rtlCol="0" anchor="t"/>
          <a:lstStyle/>
          <a:p>
            <a:pPr indent="0" marL="0">
              <a:buNone/>
            </a:pPr>
            <a:r>
              <a:rPr lang="en-US" sz="950" b="1" spc="100" kern="0" dirty="0">
                <a:solidFill>
                  <a:srgbClr val="4A524E"/>
                </a:solidFill>
                <a:latin typeface="Calibri" pitchFamily="34" charset="0"/>
                <a:ea typeface="Calibri" pitchFamily="34" charset="-122"/>
                <a:cs typeface="Calibri" pitchFamily="34" charset="-120"/>
              </a:rPr>
              <a:t>NORD · ALTO DOURO</a:t>
            </a:r>
            <a:endParaRPr lang="en-US" sz="950" dirty="0"/>
          </a:p>
        </p:txBody>
      </p:sp>
      <p:sp>
        <p:nvSpPr>
          <p:cNvPr id="9" name="Shape 6"/>
          <p:cNvSpPr/>
          <p:nvPr/>
        </p:nvSpPr>
        <p:spPr>
          <a:xfrm>
            <a:off x="3657600" y="2423160"/>
            <a:ext cx="457200" cy="457200"/>
          </a:xfrm>
          <a:prstGeom prst="ellipse">
            <a:avLst/>
          </a:prstGeom>
          <a:solidFill>
            <a:srgbClr val="1E4F8F"/>
          </a:solidFill>
          <a:ln w="12700">
            <a:solidFill>
              <a:srgbClr val="1E4F8F"/>
            </a:solidFill>
            <a:prstDash val="solid"/>
          </a:ln>
        </p:spPr>
      </p:sp>
      <p:sp>
        <p:nvSpPr>
          <p:cNvPr id="10" name="Text 7"/>
          <p:cNvSpPr txBox="1"/>
          <p:nvPr/>
        </p:nvSpPr>
        <p:spPr>
          <a:xfrm>
            <a:off x="3657600" y="24231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8"/>
          <p:cNvSpPr txBox="1"/>
          <p:nvPr/>
        </p:nvSpPr>
        <p:spPr>
          <a:xfrm>
            <a:off x="4297680" y="2441448"/>
            <a:ext cx="3291840" cy="457200"/>
          </a:xfrm>
          <a:prstGeom prst="rect">
            <a:avLst/>
          </a:prstGeom>
          <a:noFill/>
          <a:ln/>
        </p:spPr>
        <p:txBody>
          <a:bodyPr wrap="square" lIns="0" tIns="0" rIns="0" bIns="0" rtlCol="0" anchor="ctr"/>
          <a:lstStyle/>
          <a:p>
            <a:pPr indent="0" marL="0">
              <a:buNone/>
            </a:pPr>
            <a:r>
              <a:rPr lang="en-US" sz="1500" b="1" dirty="0">
                <a:solidFill>
                  <a:srgbClr val="17211D"/>
                </a:solidFill>
                <a:latin typeface="Cambria" pitchFamily="34" charset="0"/>
                <a:ea typeface="Cambria" pitchFamily="34" charset="-122"/>
                <a:cs typeface="Cambria" pitchFamily="34" charset="-120"/>
              </a:rPr>
              <a:t>Porto et le pont Dom Luís I</a:t>
            </a:r>
            <a:endParaRPr lang="en-US" sz="1500" dirty="0"/>
          </a:p>
        </p:txBody>
      </p:sp>
      <p:sp>
        <p:nvSpPr>
          <p:cNvPr id="12" name="Text 9"/>
          <p:cNvSpPr txBox="1"/>
          <p:nvPr/>
        </p:nvSpPr>
        <p:spPr>
          <a:xfrm>
            <a:off x="4297680" y="2843784"/>
            <a:ext cx="3291840" cy="274320"/>
          </a:xfrm>
          <a:prstGeom prst="rect">
            <a:avLst/>
          </a:prstGeom>
          <a:noFill/>
          <a:ln/>
        </p:spPr>
        <p:txBody>
          <a:bodyPr wrap="square" lIns="0" tIns="0" rIns="0" bIns="0" rtlCol="0" anchor="t"/>
          <a:lstStyle/>
          <a:p>
            <a:pPr indent="0" marL="0">
              <a:buNone/>
            </a:pPr>
            <a:r>
              <a:rPr lang="en-US" sz="950" b="1" spc="100" kern="0" dirty="0">
                <a:solidFill>
                  <a:srgbClr val="4A524E"/>
                </a:solidFill>
                <a:latin typeface="Calibri" pitchFamily="34" charset="0"/>
                <a:ea typeface="Calibri" pitchFamily="34" charset="-122"/>
                <a:cs typeface="Calibri" pitchFamily="34" charset="-120"/>
              </a:rPr>
              <a:t>NORD · PORTO</a:t>
            </a:r>
            <a:endParaRPr lang="en-US" sz="950" dirty="0"/>
          </a:p>
        </p:txBody>
      </p:sp>
      <p:sp>
        <p:nvSpPr>
          <p:cNvPr id="13" name="Shape 10"/>
          <p:cNvSpPr/>
          <p:nvPr/>
        </p:nvSpPr>
        <p:spPr>
          <a:xfrm>
            <a:off x="3657600" y="3246120"/>
            <a:ext cx="457200" cy="457200"/>
          </a:xfrm>
          <a:prstGeom prst="ellipse">
            <a:avLst/>
          </a:prstGeom>
          <a:solidFill>
            <a:srgbClr val="A83232"/>
          </a:solidFill>
          <a:ln w="12700">
            <a:solidFill>
              <a:srgbClr val="A83232"/>
            </a:solidFill>
            <a:prstDash val="solid"/>
          </a:ln>
        </p:spPr>
      </p:sp>
      <p:sp>
        <p:nvSpPr>
          <p:cNvPr id="14" name="Text 11"/>
          <p:cNvSpPr txBox="1"/>
          <p:nvPr/>
        </p:nvSpPr>
        <p:spPr>
          <a:xfrm>
            <a:off x="3657600" y="32461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5" name="Text 12"/>
          <p:cNvSpPr txBox="1"/>
          <p:nvPr/>
        </p:nvSpPr>
        <p:spPr>
          <a:xfrm>
            <a:off x="4297680" y="3264408"/>
            <a:ext cx="3291840" cy="457200"/>
          </a:xfrm>
          <a:prstGeom prst="rect">
            <a:avLst/>
          </a:prstGeom>
          <a:noFill/>
          <a:ln/>
        </p:spPr>
        <p:txBody>
          <a:bodyPr wrap="square" lIns="0" tIns="0" rIns="0" bIns="0" rtlCol="0" anchor="ctr"/>
          <a:lstStyle/>
          <a:p>
            <a:pPr indent="0" marL="0">
              <a:buNone/>
            </a:pPr>
            <a:r>
              <a:rPr lang="en-US" sz="1500" b="1" dirty="0">
                <a:solidFill>
                  <a:srgbClr val="17211D"/>
                </a:solidFill>
                <a:latin typeface="Cambria" pitchFamily="34" charset="0"/>
                <a:ea typeface="Cambria" pitchFamily="34" charset="-122"/>
                <a:cs typeface="Cambria" pitchFamily="34" charset="-120"/>
              </a:rPr>
              <a:t>Aveiro, la « Venise du Portugal »</a:t>
            </a:r>
            <a:endParaRPr lang="en-US" sz="1500" dirty="0"/>
          </a:p>
        </p:txBody>
      </p:sp>
      <p:sp>
        <p:nvSpPr>
          <p:cNvPr id="16" name="Text 13"/>
          <p:cNvSpPr txBox="1"/>
          <p:nvPr/>
        </p:nvSpPr>
        <p:spPr>
          <a:xfrm>
            <a:off x="4297680" y="3666744"/>
            <a:ext cx="3291840" cy="274320"/>
          </a:xfrm>
          <a:prstGeom prst="rect">
            <a:avLst/>
          </a:prstGeom>
          <a:noFill/>
          <a:ln/>
        </p:spPr>
        <p:txBody>
          <a:bodyPr wrap="square" lIns="0" tIns="0" rIns="0" bIns="0" rtlCol="0" anchor="t"/>
          <a:lstStyle/>
          <a:p>
            <a:pPr indent="0" marL="0">
              <a:buNone/>
            </a:pPr>
            <a:r>
              <a:rPr lang="en-US" sz="950" b="1" spc="100" kern="0" dirty="0">
                <a:solidFill>
                  <a:srgbClr val="4A524E"/>
                </a:solidFill>
                <a:latin typeface="Calibri" pitchFamily="34" charset="0"/>
                <a:ea typeface="Calibri" pitchFamily="34" charset="-122"/>
                <a:cs typeface="Calibri" pitchFamily="34" charset="-120"/>
              </a:rPr>
              <a:t>CENTRE · RIA DE AVEIRO</a:t>
            </a:r>
            <a:endParaRPr lang="en-US" sz="950" dirty="0"/>
          </a:p>
        </p:txBody>
      </p:sp>
      <p:sp>
        <p:nvSpPr>
          <p:cNvPr id="17" name="Shape 14"/>
          <p:cNvSpPr/>
          <p:nvPr/>
        </p:nvSpPr>
        <p:spPr>
          <a:xfrm>
            <a:off x="3657600" y="4069080"/>
            <a:ext cx="457200" cy="457200"/>
          </a:xfrm>
          <a:prstGeom prst="ellipse">
            <a:avLst/>
          </a:prstGeom>
          <a:solidFill>
            <a:srgbClr val="1E4F8F"/>
          </a:solidFill>
          <a:ln w="12700">
            <a:solidFill>
              <a:srgbClr val="1E4F8F"/>
            </a:solidFill>
            <a:prstDash val="solid"/>
          </a:ln>
        </p:spPr>
      </p:sp>
      <p:sp>
        <p:nvSpPr>
          <p:cNvPr id="18" name="Text 15"/>
          <p:cNvSpPr txBox="1"/>
          <p:nvPr/>
        </p:nvSpPr>
        <p:spPr>
          <a:xfrm>
            <a:off x="3657600" y="40690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9" name="Text 16"/>
          <p:cNvSpPr txBox="1"/>
          <p:nvPr/>
        </p:nvSpPr>
        <p:spPr>
          <a:xfrm>
            <a:off x="4297680" y="4087368"/>
            <a:ext cx="3291840" cy="457200"/>
          </a:xfrm>
          <a:prstGeom prst="rect">
            <a:avLst/>
          </a:prstGeom>
          <a:noFill/>
          <a:ln/>
        </p:spPr>
        <p:txBody>
          <a:bodyPr wrap="square" lIns="0" tIns="0" rIns="0" bIns="0" rtlCol="0" anchor="ctr"/>
          <a:lstStyle/>
          <a:p>
            <a:pPr indent="0" marL="0">
              <a:buNone/>
            </a:pPr>
            <a:r>
              <a:rPr lang="en-US" sz="1500" b="1" dirty="0">
                <a:solidFill>
                  <a:srgbClr val="17211D"/>
                </a:solidFill>
                <a:latin typeface="Cambria" pitchFamily="34" charset="0"/>
                <a:ea typeface="Cambria" pitchFamily="34" charset="-122"/>
                <a:cs typeface="Cambria" pitchFamily="34" charset="-120"/>
              </a:rPr>
              <a:t>Le monastère de Batalha</a:t>
            </a:r>
            <a:endParaRPr lang="en-US" sz="1500" dirty="0"/>
          </a:p>
        </p:txBody>
      </p:sp>
      <p:sp>
        <p:nvSpPr>
          <p:cNvPr id="20" name="Text 17"/>
          <p:cNvSpPr txBox="1"/>
          <p:nvPr/>
        </p:nvSpPr>
        <p:spPr>
          <a:xfrm>
            <a:off x="4297680" y="4489704"/>
            <a:ext cx="3291840" cy="274320"/>
          </a:xfrm>
          <a:prstGeom prst="rect">
            <a:avLst/>
          </a:prstGeom>
          <a:noFill/>
          <a:ln/>
        </p:spPr>
        <p:txBody>
          <a:bodyPr wrap="square" lIns="0" tIns="0" rIns="0" bIns="0" rtlCol="0" anchor="t"/>
          <a:lstStyle/>
          <a:p>
            <a:pPr indent="0" marL="0">
              <a:buNone/>
            </a:pPr>
            <a:r>
              <a:rPr lang="en-US" sz="950" b="1" spc="100" kern="0" dirty="0">
                <a:solidFill>
                  <a:srgbClr val="4A524E"/>
                </a:solidFill>
                <a:latin typeface="Calibri" pitchFamily="34" charset="0"/>
                <a:ea typeface="Calibri" pitchFamily="34" charset="-122"/>
                <a:cs typeface="Calibri" pitchFamily="34" charset="-120"/>
              </a:rPr>
              <a:t>CENTRE · LEIRIA</a:t>
            </a:r>
            <a:endParaRPr lang="en-US" sz="950" dirty="0"/>
          </a:p>
        </p:txBody>
      </p:sp>
      <p:sp>
        <p:nvSpPr>
          <p:cNvPr id="21" name="Shape 18"/>
          <p:cNvSpPr/>
          <p:nvPr/>
        </p:nvSpPr>
        <p:spPr>
          <a:xfrm>
            <a:off x="3657600" y="4892040"/>
            <a:ext cx="457200" cy="457200"/>
          </a:xfrm>
          <a:prstGeom prst="ellipse">
            <a:avLst/>
          </a:prstGeom>
          <a:solidFill>
            <a:srgbClr val="A83232"/>
          </a:solidFill>
          <a:ln w="12700">
            <a:solidFill>
              <a:srgbClr val="A83232"/>
            </a:solidFill>
            <a:prstDash val="solid"/>
          </a:ln>
        </p:spPr>
      </p:sp>
      <p:sp>
        <p:nvSpPr>
          <p:cNvPr id="22" name="Text 19"/>
          <p:cNvSpPr txBox="1"/>
          <p:nvPr/>
        </p:nvSpPr>
        <p:spPr>
          <a:xfrm>
            <a:off x="3657600" y="48920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3" name="Text 20"/>
          <p:cNvSpPr txBox="1"/>
          <p:nvPr/>
        </p:nvSpPr>
        <p:spPr>
          <a:xfrm>
            <a:off x="4297680" y="4910328"/>
            <a:ext cx="3291840" cy="457200"/>
          </a:xfrm>
          <a:prstGeom prst="rect">
            <a:avLst/>
          </a:prstGeom>
          <a:noFill/>
          <a:ln/>
        </p:spPr>
        <p:txBody>
          <a:bodyPr wrap="square" lIns="0" tIns="0" rIns="0" bIns="0" rtlCol="0" anchor="ctr"/>
          <a:lstStyle/>
          <a:p>
            <a:pPr indent="0" marL="0">
              <a:buNone/>
            </a:pPr>
            <a:r>
              <a:rPr lang="en-US" sz="1500" b="1" dirty="0">
                <a:solidFill>
                  <a:srgbClr val="17211D"/>
                </a:solidFill>
                <a:latin typeface="Cambria" pitchFamily="34" charset="0"/>
                <a:ea typeface="Cambria" pitchFamily="34" charset="-122"/>
                <a:cs typeface="Cambria" pitchFamily="34" charset="-120"/>
              </a:rPr>
              <a:t>Le palais de la Pena, Sintra</a:t>
            </a:r>
            <a:endParaRPr lang="en-US" sz="1500" dirty="0"/>
          </a:p>
        </p:txBody>
      </p:sp>
      <p:sp>
        <p:nvSpPr>
          <p:cNvPr id="24" name="Text 21"/>
          <p:cNvSpPr txBox="1"/>
          <p:nvPr/>
        </p:nvSpPr>
        <p:spPr>
          <a:xfrm>
            <a:off x="4297680" y="5312664"/>
            <a:ext cx="3291840" cy="274320"/>
          </a:xfrm>
          <a:prstGeom prst="rect">
            <a:avLst/>
          </a:prstGeom>
          <a:noFill/>
          <a:ln/>
        </p:spPr>
        <p:txBody>
          <a:bodyPr wrap="square" lIns="0" tIns="0" rIns="0" bIns="0" rtlCol="0" anchor="t"/>
          <a:lstStyle/>
          <a:p>
            <a:pPr indent="0" marL="0">
              <a:buNone/>
            </a:pPr>
            <a:r>
              <a:rPr lang="en-US" sz="950" b="1" spc="100" kern="0" dirty="0">
                <a:solidFill>
                  <a:srgbClr val="4A524E"/>
                </a:solidFill>
                <a:latin typeface="Calibri" pitchFamily="34" charset="0"/>
                <a:ea typeface="Calibri" pitchFamily="34" charset="-122"/>
                <a:cs typeface="Calibri" pitchFamily="34" charset="-120"/>
              </a:rPr>
              <a:t>LISBONNE · SERRA DE SINTRA</a:t>
            </a:r>
            <a:endParaRPr lang="en-US" sz="950" dirty="0"/>
          </a:p>
        </p:txBody>
      </p:sp>
      <p:sp>
        <p:nvSpPr>
          <p:cNvPr id="25" name="Shape 22"/>
          <p:cNvSpPr/>
          <p:nvPr/>
        </p:nvSpPr>
        <p:spPr>
          <a:xfrm>
            <a:off x="7680960" y="1600200"/>
            <a:ext cx="457200" cy="457200"/>
          </a:xfrm>
          <a:prstGeom prst="ellipse">
            <a:avLst/>
          </a:prstGeom>
          <a:solidFill>
            <a:srgbClr val="1E4F8F"/>
          </a:solidFill>
          <a:ln w="12700">
            <a:solidFill>
              <a:srgbClr val="1E4F8F"/>
            </a:solidFill>
            <a:prstDash val="solid"/>
          </a:ln>
        </p:spPr>
      </p:sp>
      <p:sp>
        <p:nvSpPr>
          <p:cNvPr id="26" name="Text 23"/>
          <p:cNvSpPr txBox="1"/>
          <p:nvPr/>
        </p:nvSpPr>
        <p:spPr>
          <a:xfrm>
            <a:off x="7680960" y="1600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27" name="Text 24"/>
          <p:cNvSpPr txBox="1"/>
          <p:nvPr/>
        </p:nvSpPr>
        <p:spPr>
          <a:xfrm>
            <a:off x="8321040" y="1618488"/>
            <a:ext cx="3291840" cy="457200"/>
          </a:xfrm>
          <a:prstGeom prst="rect">
            <a:avLst/>
          </a:prstGeom>
          <a:noFill/>
          <a:ln/>
        </p:spPr>
        <p:txBody>
          <a:bodyPr wrap="square" lIns="0" tIns="0" rIns="0" bIns="0" rtlCol="0" anchor="ctr"/>
          <a:lstStyle/>
          <a:p>
            <a:pPr indent="0" marL="0">
              <a:buNone/>
            </a:pPr>
            <a:r>
              <a:rPr lang="en-US" sz="1500" b="1" dirty="0">
                <a:solidFill>
                  <a:srgbClr val="17211D"/>
                </a:solidFill>
                <a:latin typeface="Cambria" pitchFamily="34" charset="0"/>
                <a:ea typeface="Cambria" pitchFamily="34" charset="-122"/>
                <a:cs typeface="Cambria" pitchFamily="34" charset="-120"/>
              </a:rPr>
              <a:t>La tour de Belém</a:t>
            </a:r>
            <a:endParaRPr lang="en-US" sz="1500" dirty="0"/>
          </a:p>
        </p:txBody>
      </p:sp>
      <p:sp>
        <p:nvSpPr>
          <p:cNvPr id="28" name="Text 25"/>
          <p:cNvSpPr txBox="1"/>
          <p:nvPr/>
        </p:nvSpPr>
        <p:spPr>
          <a:xfrm>
            <a:off x="8321040" y="2020824"/>
            <a:ext cx="3291840" cy="274320"/>
          </a:xfrm>
          <a:prstGeom prst="rect">
            <a:avLst/>
          </a:prstGeom>
          <a:noFill/>
          <a:ln/>
        </p:spPr>
        <p:txBody>
          <a:bodyPr wrap="square" lIns="0" tIns="0" rIns="0" bIns="0" rtlCol="0" anchor="t"/>
          <a:lstStyle/>
          <a:p>
            <a:pPr indent="0" marL="0">
              <a:buNone/>
            </a:pPr>
            <a:r>
              <a:rPr lang="en-US" sz="950" b="1" spc="100" kern="0" dirty="0">
                <a:solidFill>
                  <a:srgbClr val="4A524E"/>
                </a:solidFill>
                <a:latin typeface="Calibri" pitchFamily="34" charset="0"/>
                <a:ea typeface="Calibri" pitchFamily="34" charset="-122"/>
                <a:cs typeface="Calibri" pitchFamily="34" charset="-120"/>
              </a:rPr>
              <a:t>LISBONNE · BELÉM</a:t>
            </a:r>
            <a:endParaRPr lang="en-US" sz="950" dirty="0"/>
          </a:p>
        </p:txBody>
      </p:sp>
      <p:sp>
        <p:nvSpPr>
          <p:cNvPr id="29" name="Shape 26"/>
          <p:cNvSpPr/>
          <p:nvPr/>
        </p:nvSpPr>
        <p:spPr>
          <a:xfrm>
            <a:off x="7680960" y="2423160"/>
            <a:ext cx="457200" cy="457200"/>
          </a:xfrm>
          <a:prstGeom prst="ellipse">
            <a:avLst/>
          </a:prstGeom>
          <a:solidFill>
            <a:srgbClr val="A83232"/>
          </a:solidFill>
          <a:ln w="12700">
            <a:solidFill>
              <a:srgbClr val="A83232"/>
            </a:solidFill>
            <a:prstDash val="solid"/>
          </a:ln>
        </p:spPr>
      </p:sp>
      <p:sp>
        <p:nvSpPr>
          <p:cNvPr id="30" name="Text 27"/>
          <p:cNvSpPr txBox="1"/>
          <p:nvPr/>
        </p:nvSpPr>
        <p:spPr>
          <a:xfrm>
            <a:off x="7680960" y="24231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7</a:t>
            </a:r>
            <a:endParaRPr lang="en-US" sz="1400" dirty="0"/>
          </a:p>
        </p:txBody>
      </p:sp>
      <p:sp>
        <p:nvSpPr>
          <p:cNvPr id="31" name="Text 28"/>
          <p:cNvSpPr txBox="1"/>
          <p:nvPr/>
        </p:nvSpPr>
        <p:spPr>
          <a:xfrm>
            <a:off x="8321040" y="2441448"/>
            <a:ext cx="3291840" cy="457200"/>
          </a:xfrm>
          <a:prstGeom prst="rect">
            <a:avLst/>
          </a:prstGeom>
          <a:noFill/>
          <a:ln/>
        </p:spPr>
        <p:txBody>
          <a:bodyPr wrap="square" lIns="0" tIns="0" rIns="0" bIns="0" rtlCol="0" anchor="ctr"/>
          <a:lstStyle/>
          <a:p>
            <a:pPr indent="0" marL="0">
              <a:buNone/>
            </a:pPr>
            <a:r>
              <a:rPr lang="en-US" sz="1500" b="1" dirty="0">
                <a:solidFill>
                  <a:srgbClr val="17211D"/>
                </a:solidFill>
                <a:latin typeface="Cambria" pitchFamily="34" charset="0"/>
                <a:ea typeface="Cambria" pitchFamily="34" charset="-122"/>
                <a:cs typeface="Cambria" pitchFamily="34" charset="-120"/>
              </a:rPr>
              <a:t>Le monastère des Hiéronymites</a:t>
            </a:r>
            <a:endParaRPr lang="en-US" sz="1500" dirty="0"/>
          </a:p>
        </p:txBody>
      </p:sp>
      <p:sp>
        <p:nvSpPr>
          <p:cNvPr id="32" name="Text 29"/>
          <p:cNvSpPr txBox="1"/>
          <p:nvPr/>
        </p:nvSpPr>
        <p:spPr>
          <a:xfrm>
            <a:off x="8321040" y="2843784"/>
            <a:ext cx="3291840" cy="274320"/>
          </a:xfrm>
          <a:prstGeom prst="rect">
            <a:avLst/>
          </a:prstGeom>
          <a:noFill/>
          <a:ln/>
        </p:spPr>
        <p:txBody>
          <a:bodyPr wrap="square" lIns="0" tIns="0" rIns="0" bIns="0" rtlCol="0" anchor="t"/>
          <a:lstStyle/>
          <a:p>
            <a:pPr indent="0" marL="0">
              <a:buNone/>
            </a:pPr>
            <a:r>
              <a:rPr lang="en-US" sz="950" b="1" spc="100" kern="0" dirty="0">
                <a:solidFill>
                  <a:srgbClr val="4A524E"/>
                </a:solidFill>
                <a:latin typeface="Calibri" pitchFamily="34" charset="0"/>
                <a:ea typeface="Calibri" pitchFamily="34" charset="-122"/>
                <a:cs typeface="Calibri" pitchFamily="34" charset="-120"/>
              </a:rPr>
              <a:t>LISBONNE · BELÉM</a:t>
            </a:r>
            <a:endParaRPr lang="en-US" sz="950" dirty="0"/>
          </a:p>
        </p:txBody>
      </p:sp>
      <p:sp>
        <p:nvSpPr>
          <p:cNvPr id="33" name="Shape 30"/>
          <p:cNvSpPr/>
          <p:nvPr/>
        </p:nvSpPr>
        <p:spPr>
          <a:xfrm>
            <a:off x="7680960" y="3246120"/>
            <a:ext cx="457200" cy="457200"/>
          </a:xfrm>
          <a:prstGeom prst="ellipse">
            <a:avLst/>
          </a:prstGeom>
          <a:solidFill>
            <a:srgbClr val="1E4F8F"/>
          </a:solidFill>
          <a:ln w="12700">
            <a:solidFill>
              <a:srgbClr val="1E4F8F"/>
            </a:solidFill>
            <a:prstDash val="solid"/>
          </a:ln>
        </p:spPr>
      </p:sp>
      <p:sp>
        <p:nvSpPr>
          <p:cNvPr id="34" name="Text 31"/>
          <p:cNvSpPr txBox="1"/>
          <p:nvPr/>
        </p:nvSpPr>
        <p:spPr>
          <a:xfrm>
            <a:off x="7680960" y="32461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8</a:t>
            </a:r>
            <a:endParaRPr lang="en-US" sz="1400" dirty="0"/>
          </a:p>
        </p:txBody>
      </p:sp>
      <p:sp>
        <p:nvSpPr>
          <p:cNvPr id="35" name="Text 32"/>
          <p:cNvSpPr txBox="1"/>
          <p:nvPr/>
        </p:nvSpPr>
        <p:spPr>
          <a:xfrm>
            <a:off x="8321040" y="3264408"/>
            <a:ext cx="3291840" cy="457200"/>
          </a:xfrm>
          <a:prstGeom prst="rect">
            <a:avLst/>
          </a:prstGeom>
          <a:noFill/>
          <a:ln/>
        </p:spPr>
        <p:txBody>
          <a:bodyPr wrap="square" lIns="0" tIns="0" rIns="0" bIns="0" rtlCol="0" anchor="ctr"/>
          <a:lstStyle/>
          <a:p>
            <a:pPr indent="0" marL="0">
              <a:buNone/>
            </a:pPr>
            <a:r>
              <a:rPr lang="en-US" sz="1500" b="1" dirty="0">
                <a:solidFill>
                  <a:srgbClr val="17211D"/>
                </a:solidFill>
                <a:latin typeface="Cambria" pitchFamily="34" charset="0"/>
                <a:ea typeface="Cambria" pitchFamily="34" charset="-122"/>
                <a:cs typeface="Cambria" pitchFamily="34" charset="-120"/>
              </a:rPr>
              <a:t>Le pont Vasco de Gama et l'Expo 98</a:t>
            </a:r>
            <a:endParaRPr lang="en-US" sz="1500" dirty="0"/>
          </a:p>
        </p:txBody>
      </p:sp>
      <p:sp>
        <p:nvSpPr>
          <p:cNvPr id="36" name="Text 33"/>
          <p:cNvSpPr txBox="1"/>
          <p:nvPr/>
        </p:nvSpPr>
        <p:spPr>
          <a:xfrm>
            <a:off x="8321040" y="3666744"/>
            <a:ext cx="3291840" cy="274320"/>
          </a:xfrm>
          <a:prstGeom prst="rect">
            <a:avLst/>
          </a:prstGeom>
          <a:noFill/>
          <a:ln/>
        </p:spPr>
        <p:txBody>
          <a:bodyPr wrap="square" lIns="0" tIns="0" rIns="0" bIns="0" rtlCol="0" anchor="t"/>
          <a:lstStyle/>
          <a:p>
            <a:pPr indent="0" marL="0">
              <a:buNone/>
            </a:pPr>
            <a:r>
              <a:rPr lang="en-US" sz="950" b="1" spc="100" kern="0" dirty="0">
                <a:solidFill>
                  <a:srgbClr val="4A524E"/>
                </a:solidFill>
                <a:latin typeface="Calibri" pitchFamily="34" charset="0"/>
                <a:ea typeface="Calibri" pitchFamily="34" charset="-122"/>
                <a:cs typeface="Calibri" pitchFamily="34" charset="-120"/>
              </a:rPr>
              <a:t>LISBONNE · PARQUE DAS NAÇÕES</a:t>
            </a:r>
            <a:endParaRPr lang="en-US" sz="950" dirty="0"/>
          </a:p>
        </p:txBody>
      </p:sp>
      <p:sp>
        <p:nvSpPr>
          <p:cNvPr id="37" name="Shape 34"/>
          <p:cNvSpPr/>
          <p:nvPr/>
        </p:nvSpPr>
        <p:spPr>
          <a:xfrm>
            <a:off x="7680960" y="4069080"/>
            <a:ext cx="457200" cy="457200"/>
          </a:xfrm>
          <a:prstGeom prst="ellipse">
            <a:avLst/>
          </a:prstGeom>
          <a:solidFill>
            <a:srgbClr val="A83232"/>
          </a:solidFill>
          <a:ln w="12700">
            <a:solidFill>
              <a:srgbClr val="A83232"/>
            </a:solidFill>
            <a:prstDash val="solid"/>
          </a:ln>
        </p:spPr>
      </p:sp>
      <p:sp>
        <p:nvSpPr>
          <p:cNvPr id="38" name="Text 35"/>
          <p:cNvSpPr txBox="1"/>
          <p:nvPr/>
        </p:nvSpPr>
        <p:spPr>
          <a:xfrm>
            <a:off x="7680960" y="40690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9</a:t>
            </a:r>
            <a:endParaRPr lang="en-US" sz="1400" dirty="0"/>
          </a:p>
        </p:txBody>
      </p:sp>
      <p:sp>
        <p:nvSpPr>
          <p:cNvPr id="39" name="Text 36"/>
          <p:cNvSpPr txBox="1"/>
          <p:nvPr/>
        </p:nvSpPr>
        <p:spPr>
          <a:xfrm>
            <a:off x="8321040" y="4087368"/>
            <a:ext cx="3291840" cy="457200"/>
          </a:xfrm>
          <a:prstGeom prst="rect">
            <a:avLst/>
          </a:prstGeom>
          <a:noFill/>
          <a:ln/>
        </p:spPr>
        <p:txBody>
          <a:bodyPr wrap="square" lIns="0" tIns="0" rIns="0" bIns="0" rtlCol="0" anchor="ctr"/>
          <a:lstStyle/>
          <a:p>
            <a:pPr indent="0" marL="0">
              <a:buNone/>
            </a:pPr>
            <a:r>
              <a:rPr lang="en-US" sz="1500" b="1" dirty="0">
                <a:solidFill>
                  <a:srgbClr val="17211D"/>
                </a:solidFill>
                <a:latin typeface="Cambria" pitchFamily="34" charset="0"/>
                <a:ea typeface="Cambria" pitchFamily="34" charset="-122"/>
                <a:cs typeface="Cambria" pitchFamily="34" charset="-120"/>
              </a:rPr>
              <a:t>Le lac d'Alqueva</a:t>
            </a:r>
            <a:endParaRPr lang="en-US" sz="1500" dirty="0"/>
          </a:p>
        </p:txBody>
      </p:sp>
      <p:sp>
        <p:nvSpPr>
          <p:cNvPr id="40" name="Text 37"/>
          <p:cNvSpPr txBox="1"/>
          <p:nvPr/>
        </p:nvSpPr>
        <p:spPr>
          <a:xfrm>
            <a:off x="8321040" y="4489704"/>
            <a:ext cx="3291840" cy="274320"/>
          </a:xfrm>
          <a:prstGeom prst="rect">
            <a:avLst/>
          </a:prstGeom>
          <a:noFill/>
          <a:ln/>
        </p:spPr>
        <p:txBody>
          <a:bodyPr wrap="square" lIns="0" tIns="0" rIns="0" bIns="0" rtlCol="0" anchor="t"/>
          <a:lstStyle/>
          <a:p>
            <a:pPr indent="0" marL="0">
              <a:buNone/>
            </a:pPr>
            <a:r>
              <a:rPr lang="en-US" sz="950" b="1" spc="100" kern="0" dirty="0">
                <a:solidFill>
                  <a:srgbClr val="4A524E"/>
                </a:solidFill>
                <a:latin typeface="Calibri" pitchFamily="34" charset="0"/>
                <a:ea typeface="Calibri" pitchFamily="34" charset="-122"/>
                <a:cs typeface="Calibri" pitchFamily="34" charset="-120"/>
              </a:rPr>
              <a:t>ALENTEJO · FLEUVE GUADIANA</a:t>
            </a:r>
            <a:endParaRPr lang="en-US" sz="950" dirty="0"/>
          </a:p>
        </p:txBody>
      </p:sp>
      <p:sp>
        <p:nvSpPr>
          <p:cNvPr id="41" name="Shape 38"/>
          <p:cNvSpPr/>
          <p:nvPr/>
        </p:nvSpPr>
        <p:spPr>
          <a:xfrm>
            <a:off x="7680960" y="4892040"/>
            <a:ext cx="457200" cy="457200"/>
          </a:xfrm>
          <a:prstGeom prst="ellipse">
            <a:avLst/>
          </a:prstGeom>
          <a:solidFill>
            <a:srgbClr val="1E4F8F"/>
          </a:solidFill>
          <a:ln w="12700">
            <a:solidFill>
              <a:srgbClr val="1E4F8F"/>
            </a:solidFill>
            <a:prstDash val="solid"/>
          </a:ln>
        </p:spPr>
      </p:sp>
      <p:sp>
        <p:nvSpPr>
          <p:cNvPr id="42" name="Text 39"/>
          <p:cNvSpPr txBox="1"/>
          <p:nvPr/>
        </p:nvSpPr>
        <p:spPr>
          <a:xfrm>
            <a:off x="7680960" y="48920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10</a:t>
            </a:r>
            <a:endParaRPr lang="en-US" sz="1400" dirty="0"/>
          </a:p>
        </p:txBody>
      </p:sp>
      <p:sp>
        <p:nvSpPr>
          <p:cNvPr id="43" name="Text 40"/>
          <p:cNvSpPr txBox="1"/>
          <p:nvPr/>
        </p:nvSpPr>
        <p:spPr>
          <a:xfrm>
            <a:off x="8321040" y="4910328"/>
            <a:ext cx="3291840" cy="457200"/>
          </a:xfrm>
          <a:prstGeom prst="rect">
            <a:avLst/>
          </a:prstGeom>
          <a:noFill/>
          <a:ln/>
        </p:spPr>
        <p:txBody>
          <a:bodyPr wrap="square" lIns="0" tIns="0" rIns="0" bIns="0" rtlCol="0" anchor="ctr"/>
          <a:lstStyle/>
          <a:p>
            <a:pPr indent="0" marL="0">
              <a:buNone/>
            </a:pPr>
            <a:r>
              <a:rPr lang="en-US" sz="1500" b="1" dirty="0">
                <a:solidFill>
                  <a:srgbClr val="17211D"/>
                </a:solidFill>
                <a:latin typeface="Cambria" pitchFamily="34" charset="0"/>
                <a:ea typeface="Cambria" pitchFamily="34" charset="-122"/>
                <a:cs typeface="Cambria" pitchFamily="34" charset="-120"/>
              </a:rPr>
              <a:t>La grotte de Benagil</a:t>
            </a:r>
            <a:endParaRPr lang="en-US" sz="1500" dirty="0"/>
          </a:p>
        </p:txBody>
      </p:sp>
      <p:sp>
        <p:nvSpPr>
          <p:cNvPr id="44" name="Text 41"/>
          <p:cNvSpPr txBox="1"/>
          <p:nvPr/>
        </p:nvSpPr>
        <p:spPr>
          <a:xfrm>
            <a:off x="8321040" y="5312664"/>
            <a:ext cx="3291840" cy="274320"/>
          </a:xfrm>
          <a:prstGeom prst="rect">
            <a:avLst/>
          </a:prstGeom>
          <a:noFill/>
          <a:ln/>
        </p:spPr>
        <p:txBody>
          <a:bodyPr wrap="square" lIns="0" tIns="0" rIns="0" bIns="0" rtlCol="0" anchor="t"/>
          <a:lstStyle/>
          <a:p>
            <a:pPr indent="0" marL="0">
              <a:buNone/>
            </a:pPr>
            <a:r>
              <a:rPr lang="en-US" sz="950" b="1" spc="100" kern="0" dirty="0">
                <a:solidFill>
                  <a:srgbClr val="4A524E"/>
                </a:solidFill>
                <a:latin typeface="Calibri" pitchFamily="34" charset="0"/>
                <a:ea typeface="Calibri" pitchFamily="34" charset="-122"/>
                <a:cs typeface="Calibri" pitchFamily="34" charset="-120"/>
              </a:rPr>
              <a:t>ALGARVE · LAGOA</a:t>
            </a:r>
            <a:endParaRPr lang="en-US" sz="950" dirty="0"/>
          </a:p>
        </p:txBody>
      </p:sp>
      <p:sp>
        <p:nvSpPr>
          <p:cNvPr id="45" name="Shape 42"/>
          <p:cNvSpPr/>
          <p:nvPr/>
        </p:nvSpPr>
        <p:spPr>
          <a:xfrm>
            <a:off x="3703320" y="5916168"/>
            <a:ext cx="457200" cy="0"/>
          </a:xfrm>
          <a:prstGeom prst="line">
            <a:avLst/>
          </a:prstGeom>
          <a:noFill/>
          <a:ln w="38100">
            <a:solidFill>
              <a:srgbClr val="C8102E"/>
            </a:solidFill>
            <a:prstDash val="dash"/>
          </a:ln>
        </p:spPr>
      </p:sp>
      <p:sp>
        <p:nvSpPr>
          <p:cNvPr id="46" name="Text 43"/>
          <p:cNvSpPr txBox="1"/>
          <p:nvPr/>
        </p:nvSpPr>
        <p:spPr>
          <a:xfrm>
            <a:off x="4297680" y="5760720"/>
            <a:ext cx="7315200" cy="320040"/>
          </a:xfrm>
          <a:prstGeom prst="rect">
            <a:avLst/>
          </a:prstGeom>
          <a:noFill/>
          <a:ln/>
        </p:spPr>
        <p:txBody>
          <a:bodyPr wrap="square" lIns="0" tIns="0" rIns="0" bIns="0" rtlCol="0" anchor="t"/>
          <a:lstStyle/>
          <a:p>
            <a:pPr indent="0" marL="0">
              <a:buNone/>
            </a:pPr>
            <a:r>
              <a:rPr lang="en-US" sz="1200" b="1" dirty="0">
                <a:solidFill>
                  <a:srgbClr val="C8102E"/>
                </a:solidFill>
                <a:latin typeface="Calibri" pitchFamily="34" charset="0"/>
                <a:ea typeface="Calibri" pitchFamily="34" charset="-122"/>
                <a:cs typeface="Calibri" pitchFamily="34" charset="-120"/>
              </a:rPr>
              <a:t>N222 — « Meilleure route du monde à conduire » (étude Avis, 2015)</a:t>
            </a:r>
            <a:endParaRPr lang="en-US" sz="120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18D"/>
                </a:solidFill>
                <a:latin typeface="Calibri"/>
                <a:ea typeface="Calibri"/>
                <a:cs typeface="Calibri"/>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pic>
        <p:nvPicPr>
          <p:cNvPr id="2" name="Image 0" descr="/home/user/Portugal-Website/images/photos/w-douro.jpg">    </p:cNvPr>
          <p:cNvPicPr>
            <a:picLocks noChangeAspect="1"/>
          </p:cNvPicPr>
          <p:nvPr/>
        </p:nvPicPr>
        <p:blipFill>
          <a:blip r:embed="rId1"/>
          <a:srcRect l="0" r="0" t="0" b="0"/>
          <a:stretch/>
        </p:blipFill>
        <p:spPr>
          <a:xfrm>
            <a:off x="0" y="0"/>
            <a:ext cx="5760720" cy="6858000"/>
          </a:xfrm>
          <a:prstGeom prst="rect">
            <a:avLst/>
          </a:prstGeom>
        </p:spPr>
      </p:pic>
      <p:sp>
        <p:nvSpPr>
          <p:cNvPr id="3" name="Shape 0"/>
          <p:cNvSpPr/>
          <p:nvPr/>
        </p:nvSpPr>
        <p:spPr>
          <a:xfrm>
            <a:off x="365760" y="6035040"/>
            <a:ext cx="3291840" cy="457200"/>
          </a:xfrm>
          <a:prstGeom prst="roundRect">
            <a:avLst>
              <a:gd name="adj" fmla="val 50000"/>
            </a:avLst>
          </a:prstGeom>
          <a:solidFill>
            <a:srgbClr val="A83232"/>
          </a:solidFill>
          <a:ln w="12700">
            <a:solidFill>
              <a:srgbClr val="A83232"/>
            </a:solidFill>
            <a:prstDash val="solid"/>
          </a:ln>
        </p:spPr>
      </p:sp>
      <p:sp>
        <p:nvSpPr>
          <p:cNvPr id="4" name="Text 1"/>
          <p:cNvSpPr txBox="1"/>
          <p:nvPr/>
        </p:nvSpPr>
        <p:spPr>
          <a:xfrm>
            <a:off x="365760" y="6035040"/>
            <a:ext cx="3291840" cy="457200"/>
          </a:xfrm>
          <a:prstGeom prst="rect">
            <a:avLst/>
          </a:prstGeom>
          <a:noFill/>
          <a:ln/>
        </p:spPr>
        <p:txBody>
          <a:bodyPr wrap="square" lIns="0" tIns="0" rIns="0" bIns="0" rtlCol="0" anchor="ctr"/>
          <a:lstStyle/>
          <a:p>
            <a:pPr algn="ctr" indent="0" marL="0">
              <a:buNone/>
            </a:pPr>
            <a:r>
              <a:rPr lang="en-US" sz="1400" b="1"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  Regarder la vidéo du Douro</a:t>
            </a:r>
            <a:endParaRPr lang="en-US" sz="1400" dirty="0"/>
          </a:p>
        </p:txBody>
      </p:sp>
      <p:sp>
        <p:nvSpPr>
          <p:cNvPr id="5" name="Shape 2"/>
          <p:cNvSpPr/>
          <p:nvPr/>
        </p:nvSpPr>
        <p:spPr>
          <a:xfrm>
            <a:off x="6217920" y="502920"/>
            <a:ext cx="457200" cy="457200"/>
          </a:xfrm>
          <a:prstGeom prst="ellipse">
            <a:avLst/>
          </a:prstGeom>
          <a:solidFill>
            <a:srgbClr val="A83232"/>
          </a:solidFill>
          <a:ln w="12700">
            <a:solidFill>
              <a:srgbClr val="A83232"/>
            </a:solidFill>
            <a:prstDash val="solid"/>
          </a:ln>
        </p:spPr>
      </p:sp>
      <p:sp>
        <p:nvSpPr>
          <p:cNvPr id="6" name="Text 3"/>
          <p:cNvSpPr txBox="1"/>
          <p:nvPr/>
        </p:nvSpPr>
        <p:spPr>
          <a:xfrm>
            <a:off x="6217920" y="5029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7" name="Text 4"/>
          <p:cNvSpPr txBox="1"/>
          <p:nvPr/>
        </p:nvSpPr>
        <p:spPr>
          <a:xfrm>
            <a:off x="6858000" y="502920"/>
            <a:ext cx="4800600" cy="274320"/>
          </a:xfrm>
          <a:prstGeom prst="rect">
            <a:avLst/>
          </a:prstGeom>
          <a:noFill/>
          <a:ln/>
        </p:spPr>
        <p:txBody>
          <a:bodyPr wrap="square" lIns="0" tIns="0" rIns="0" bIns="0" rtlCol="0" anchor="t"/>
          <a:lstStyle/>
          <a:p>
            <a:pPr indent="0" marL="0">
              <a:buNone/>
            </a:pPr>
            <a:r>
              <a:rPr lang="en-US" sz="1100" b="1" spc="200" kern="0" dirty="0">
                <a:solidFill>
                  <a:srgbClr val="1E4F8F"/>
                </a:solidFill>
                <a:latin typeface="Calibri" pitchFamily="34" charset="0"/>
                <a:ea typeface="Calibri" pitchFamily="34" charset="-122"/>
                <a:cs typeface="Calibri" pitchFamily="34" charset="-120"/>
              </a:rPr>
              <a:t>NORD · ALTO DOURO</a:t>
            </a:r>
            <a:endParaRPr lang="en-US" sz="1100" dirty="0"/>
          </a:p>
        </p:txBody>
      </p:sp>
      <p:sp>
        <p:nvSpPr>
          <p:cNvPr id="8" name="Text 5"/>
          <p:cNvSpPr txBox="1"/>
          <p:nvPr/>
        </p:nvSpPr>
        <p:spPr>
          <a:xfrm>
            <a:off x="6858000" y="749808"/>
            <a:ext cx="4800600" cy="822960"/>
          </a:xfrm>
          <a:prstGeom prst="rect">
            <a:avLst/>
          </a:prstGeom>
          <a:noFill/>
          <a:ln/>
        </p:spPr>
        <p:txBody>
          <a:bodyPr wrap="square" lIns="0" tIns="0" rIns="0" bIns="0" rtlCol="0" anchor="t"/>
          <a:lstStyle/>
          <a:p>
            <a:pPr indent="0" marL="0">
              <a:buNone/>
            </a:pPr>
            <a:r>
              <a:rPr lang="en-US" sz="2600" b="1" dirty="0">
                <a:solidFill>
                  <a:srgbClr val="174A3A"/>
                </a:solidFill>
                <a:latin typeface="Cambria" pitchFamily="34" charset="0"/>
                <a:ea typeface="Cambria" pitchFamily="34" charset="-122"/>
                <a:cs typeface="Cambria" pitchFamily="34" charset="-120"/>
              </a:rPr>
              <a:t>La vallée du Douro</a:t>
            </a:r>
            <a:endParaRPr lang="en-US" sz="2600" dirty="0"/>
          </a:p>
        </p:txBody>
      </p:sp>
      <p:sp>
        <p:nvSpPr>
          <p:cNvPr id="9" name="Text 6"/>
          <p:cNvSpPr txBox="1"/>
          <p:nvPr/>
        </p:nvSpPr>
        <p:spPr>
          <a:xfrm>
            <a:off x="6217920" y="1691640"/>
            <a:ext cx="5440680" cy="1600200"/>
          </a:xfrm>
          <a:prstGeom prst="rect">
            <a:avLst/>
          </a:prstGeom>
          <a:noFill/>
          <a:ln/>
        </p:spPr>
        <p:txBody>
          <a:bodyPr wrap="square" lIns="0" tIns="0" rIns="0" bIns="0" rtlCol="0" anchor="t"/>
          <a:lstStyle/>
          <a:p>
            <a:pPr indent="0" marL="0">
              <a:buNone/>
            </a:pPr>
            <a:r>
              <a:rPr lang="en-US" sz="1400" dirty="0">
                <a:solidFill>
                  <a:srgbClr val="17211D"/>
                </a:solidFill>
                <a:latin typeface="Calibri" pitchFamily="34" charset="0"/>
                <a:ea typeface="Calibri" pitchFamily="34" charset="-122"/>
                <a:cs typeface="Calibri" pitchFamily="34" charset="-120"/>
              </a:rPr>
              <a:t>Pendant des siècles, les hommes ont taillé à la main des terrasses dans les collines de schiste pour y planter la vigne. C'est ici que naît le célèbre vin de Porto, transporté autrefois jusqu'à Porto sur les bateaux rabelos.</a:t>
            </a:r>
            <a:endParaRPr lang="en-US" sz="1400" dirty="0"/>
          </a:p>
        </p:txBody>
      </p:sp>
      <p:sp>
        <p:nvSpPr>
          <p:cNvPr id="10" name="Shape 7"/>
          <p:cNvSpPr/>
          <p:nvPr/>
        </p:nvSpPr>
        <p:spPr>
          <a:xfrm>
            <a:off x="6217920" y="3383280"/>
            <a:ext cx="5440680" cy="502920"/>
          </a:xfrm>
          <a:prstGeom prst="roundRect">
            <a:avLst>
              <a:gd name="adj" fmla="val 14545"/>
            </a:avLst>
          </a:prstGeom>
          <a:solidFill>
            <a:srgbClr val="EAF0F8"/>
          </a:solidFill>
          <a:ln w="12700">
            <a:solidFill>
              <a:srgbClr val="EAF0F8"/>
            </a:solidFill>
            <a:prstDash val="solid"/>
          </a:ln>
          <a:effectLst>
            <a:outerShdw sx="100000" sy="100000" kx="0" ky="0" algn="bl" rotWithShape="0" blurRad="101600" dist="38100" dir="5400000">
              <a:srgbClr val="000000">
                <a:alpha val="18000"/>
              </a:srgbClr>
            </a:outerShdw>
          </a:effectLst>
        </p:spPr>
      </p:sp>
      <p:sp>
        <p:nvSpPr>
          <p:cNvPr id="11" name="Text 8"/>
          <p:cNvSpPr txBox="1"/>
          <p:nvPr/>
        </p:nvSpPr>
        <p:spPr>
          <a:xfrm>
            <a:off x="6400800" y="3383280"/>
            <a:ext cx="5166360" cy="502920"/>
          </a:xfrm>
          <a:prstGeom prst="rect">
            <a:avLst/>
          </a:prstGeom>
          <a:noFill/>
          <a:ln/>
        </p:spPr>
        <p:txBody>
          <a:bodyPr wrap="square" lIns="0" tIns="0" rIns="0" bIns="0" rtlCol="0" anchor="ctr"/>
          <a:lstStyle/>
          <a:p>
            <a:pPr indent="0" marL="0">
              <a:buNone/>
            </a:pPr>
            <a:r>
              <a:rPr lang="en-US" sz="1300" b="1" dirty="0">
                <a:solidFill>
                  <a:srgbClr val="17211D"/>
                </a:solidFill>
                <a:latin typeface="Calibri" pitchFamily="34" charset="0"/>
                <a:ea typeface="Calibri" pitchFamily="34" charset="-122"/>
                <a:cs typeface="Calibri" pitchFamily="34" charset="-120"/>
              </a:rPr>
              <a:t>Patrimoine mondial de l'UNESCO depuis 2001</a:t>
            </a:r>
            <a:endParaRPr lang="en-US" sz="1300" dirty="0"/>
          </a:p>
        </p:txBody>
      </p:sp>
      <p:sp>
        <p:nvSpPr>
          <p:cNvPr id="12" name="Shape 9"/>
          <p:cNvSpPr/>
          <p:nvPr/>
        </p:nvSpPr>
        <p:spPr>
          <a:xfrm>
            <a:off x="6217920" y="4005072"/>
            <a:ext cx="5440680" cy="502920"/>
          </a:xfrm>
          <a:prstGeom prst="roundRect">
            <a:avLst>
              <a:gd name="adj" fmla="val 14545"/>
            </a:avLst>
          </a:prstGeom>
          <a:solidFill>
            <a:srgbClr val="EAF0F8"/>
          </a:solidFill>
          <a:ln w="12700">
            <a:solidFill>
              <a:srgbClr val="EAF0F8"/>
            </a:solidFill>
            <a:prstDash val="solid"/>
          </a:ln>
          <a:effectLst>
            <a:outerShdw sx="100000" sy="100000" kx="0" ky="0" algn="bl" rotWithShape="0" blurRad="101600" dist="38100" dir="5400000">
              <a:srgbClr val="000000">
                <a:alpha val="18000"/>
              </a:srgbClr>
            </a:outerShdw>
          </a:effectLst>
        </p:spPr>
      </p:sp>
      <p:sp>
        <p:nvSpPr>
          <p:cNvPr id="13" name="Text 10"/>
          <p:cNvSpPr txBox="1"/>
          <p:nvPr/>
        </p:nvSpPr>
        <p:spPr>
          <a:xfrm>
            <a:off x="6400800" y="4005072"/>
            <a:ext cx="5166360" cy="502920"/>
          </a:xfrm>
          <a:prstGeom prst="rect">
            <a:avLst/>
          </a:prstGeom>
          <a:noFill/>
          <a:ln/>
        </p:spPr>
        <p:txBody>
          <a:bodyPr wrap="square" lIns="0" tIns="0" rIns="0" bIns="0" rtlCol="0" anchor="ctr"/>
          <a:lstStyle/>
          <a:p>
            <a:pPr indent="0" marL="0">
              <a:buNone/>
            </a:pPr>
            <a:r>
              <a:rPr lang="en-US" sz="1300" b="1" dirty="0">
                <a:solidFill>
                  <a:srgbClr val="17211D"/>
                </a:solidFill>
                <a:latin typeface="Calibri" pitchFamily="34" charset="0"/>
                <a:ea typeface="Calibri" pitchFamily="34" charset="-122"/>
                <a:cs typeface="Calibri" pitchFamily="34" charset="-120"/>
              </a:rPr>
              <a:t>Région viticole délimitée dès 1756, l'une des plus anciennes du monde</a:t>
            </a:r>
            <a:endParaRPr lang="en-US" sz="130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18D"/>
                </a:solidFill>
                <a:latin typeface="Calibri"/>
                <a:ea typeface="Calibri"/>
                <a:cs typeface="Calibri"/>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pic>
        <p:nvPicPr>
          <p:cNvPr id="2" name="Image 0" descr="/home/user/Portugal-Website/images/photos/x-dluis.jpg">    </p:cNvPr>
          <p:cNvPicPr>
            <a:picLocks noChangeAspect="1"/>
          </p:cNvPicPr>
          <p:nvPr/>
        </p:nvPicPr>
        <p:blipFill>
          <a:blip r:embed="rId1"/>
          <a:srcRect l="0" r="0" t="0" b="0"/>
          <a:stretch/>
        </p:blipFill>
        <p:spPr>
          <a:xfrm>
            <a:off x="0" y="0"/>
            <a:ext cx="5760720" cy="4206240"/>
          </a:xfrm>
          <a:prstGeom prst="rect">
            <a:avLst/>
          </a:prstGeom>
        </p:spPr>
      </p:pic>
      <p:pic>
        <p:nvPicPr>
          <p:cNvPr id="3" name="Image 1" descr="/home/user/Portugal-Website/images/photos/x-caves.jpg">    </p:cNvPr>
          <p:cNvPicPr>
            <a:picLocks noChangeAspect="1"/>
          </p:cNvPicPr>
          <p:nvPr/>
        </p:nvPicPr>
        <p:blipFill>
          <a:blip r:embed="rId2"/>
          <a:srcRect l="0" r="0" t="0" b="0"/>
          <a:stretch/>
        </p:blipFill>
        <p:spPr>
          <a:xfrm>
            <a:off x="0" y="4297680"/>
            <a:ext cx="5760720" cy="2560320"/>
          </a:xfrm>
          <a:prstGeom prst="rect">
            <a:avLst/>
          </a:prstGeom>
        </p:spPr>
      </p:pic>
      <p:sp>
        <p:nvSpPr>
          <p:cNvPr id="4" name="Shape 0"/>
          <p:cNvSpPr/>
          <p:nvPr/>
        </p:nvSpPr>
        <p:spPr>
          <a:xfrm>
            <a:off x="0" y="6473952"/>
            <a:ext cx="5760720" cy="384048"/>
          </a:xfrm>
          <a:prstGeom prst="rect">
            <a:avLst/>
          </a:prstGeom>
          <a:solidFill>
            <a:srgbClr val="000000">
              <a:alpha val="55000"/>
            </a:srgbClr>
          </a:solidFill>
          <a:ln w="12700">
            <a:solidFill>
              <a:srgbClr val="000000">
                <a:alpha val="0"/>
              </a:srgbClr>
            </a:solidFill>
            <a:prstDash val="solid"/>
          </a:ln>
        </p:spPr>
      </p:sp>
      <p:sp>
        <p:nvSpPr>
          <p:cNvPr id="5" name="Text 1"/>
          <p:cNvSpPr txBox="1"/>
          <p:nvPr/>
        </p:nvSpPr>
        <p:spPr>
          <a:xfrm>
            <a:off x="109728" y="6510528"/>
            <a:ext cx="5541264" cy="31089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En face, à Gaia, le vin de Porto vieillit dans les caves, comme autrefois quand il descendait le Douro sur les bateaux rabelos.</a:t>
            </a:r>
            <a:endParaRPr lang="en-US" sz="1100" dirty="0"/>
          </a:p>
        </p:txBody>
      </p:sp>
      <p:sp>
        <p:nvSpPr>
          <p:cNvPr id="6" name="Shape 2"/>
          <p:cNvSpPr/>
          <p:nvPr/>
        </p:nvSpPr>
        <p:spPr>
          <a:xfrm>
            <a:off x="6217920" y="502920"/>
            <a:ext cx="457200" cy="457200"/>
          </a:xfrm>
          <a:prstGeom prst="ellipse">
            <a:avLst/>
          </a:prstGeom>
          <a:solidFill>
            <a:srgbClr val="A83232"/>
          </a:solidFill>
          <a:ln w="12700">
            <a:solidFill>
              <a:srgbClr val="A83232"/>
            </a:solidFill>
            <a:prstDash val="solid"/>
          </a:ln>
        </p:spPr>
      </p:sp>
      <p:sp>
        <p:nvSpPr>
          <p:cNvPr id="7" name="Text 3"/>
          <p:cNvSpPr txBox="1"/>
          <p:nvPr/>
        </p:nvSpPr>
        <p:spPr>
          <a:xfrm>
            <a:off x="6217920" y="5029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8" name="Text 4"/>
          <p:cNvSpPr txBox="1"/>
          <p:nvPr/>
        </p:nvSpPr>
        <p:spPr>
          <a:xfrm>
            <a:off x="6858000" y="502920"/>
            <a:ext cx="4800600" cy="274320"/>
          </a:xfrm>
          <a:prstGeom prst="rect">
            <a:avLst/>
          </a:prstGeom>
          <a:noFill/>
          <a:ln/>
        </p:spPr>
        <p:txBody>
          <a:bodyPr wrap="square" lIns="0" tIns="0" rIns="0" bIns="0" rtlCol="0" anchor="t"/>
          <a:lstStyle/>
          <a:p>
            <a:pPr indent="0" marL="0">
              <a:buNone/>
            </a:pPr>
            <a:r>
              <a:rPr lang="en-US" sz="1100" b="1" spc="200" kern="0" dirty="0">
                <a:solidFill>
                  <a:srgbClr val="1E4F8F"/>
                </a:solidFill>
                <a:latin typeface="Calibri" pitchFamily="34" charset="0"/>
                <a:ea typeface="Calibri" pitchFamily="34" charset="-122"/>
                <a:cs typeface="Calibri" pitchFamily="34" charset="-120"/>
              </a:rPr>
              <a:t>NORD · PORTO</a:t>
            </a:r>
            <a:endParaRPr lang="en-US" sz="1100" dirty="0"/>
          </a:p>
        </p:txBody>
      </p:sp>
      <p:sp>
        <p:nvSpPr>
          <p:cNvPr id="9" name="Text 5"/>
          <p:cNvSpPr txBox="1"/>
          <p:nvPr/>
        </p:nvSpPr>
        <p:spPr>
          <a:xfrm>
            <a:off x="6858000" y="749808"/>
            <a:ext cx="4800600" cy="822960"/>
          </a:xfrm>
          <a:prstGeom prst="rect">
            <a:avLst/>
          </a:prstGeom>
          <a:noFill/>
          <a:ln/>
        </p:spPr>
        <p:txBody>
          <a:bodyPr wrap="square" lIns="0" tIns="0" rIns="0" bIns="0" rtlCol="0" anchor="t"/>
          <a:lstStyle/>
          <a:p>
            <a:pPr indent="0" marL="0">
              <a:buNone/>
            </a:pPr>
            <a:r>
              <a:rPr lang="en-US" sz="2600" b="1" dirty="0">
                <a:solidFill>
                  <a:srgbClr val="174A3A"/>
                </a:solidFill>
                <a:latin typeface="Cambria" pitchFamily="34" charset="0"/>
                <a:ea typeface="Cambria" pitchFamily="34" charset="-122"/>
                <a:cs typeface="Cambria" pitchFamily="34" charset="-120"/>
              </a:rPr>
              <a:t>Porto et le pont Dom Luís I</a:t>
            </a:r>
            <a:endParaRPr lang="en-US" sz="2600" dirty="0"/>
          </a:p>
        </p:txBody>
      </p:sp>
      <p:sp>
        <p:nvSpPr>
          <p:cNvPr id="10" name="Text 6"/>
          <p:cNvSpPr txBox="1"/>
          <p:nvPr/>
        </p:nvSpPr>
        <p:spPr>
          <a:xfrm>
            <a:off x="6217920" y="1691640"/>
            <a:ext cx="5440680" cy="1600200"/>
          </a:xfrm>
          <a:prstGeom prst="rect">
            <a:avLst/>
          </a:prstGeom>
          <a:noFill/>
          <a:ln/>
        </p:spPr>
        <p:txBody>
          <a:bodyPr wrap="square" lIns="0" tIns="0" rIns="0" bIns="0" rtlCol="0" anchor="t"/>
          <a:lstStyle/>
          <a:p>
            <a:pPr indent="0" marL="0">
              <a:buNone/>
            </a:pPr>
            <a:r>
              <a:rPr lang="en-US" sz="1400" dirty="0">
                <a:solidFill>
                  <a:srgbClr val="17211D"/>
                </a:solidFill>
                <a:latin typeface="Calibri" pitchFamily="34" charset="0"/>
                <a:ea typeface="Calibri" pitchFamily="34" charset="-122"/>
                <a:cs typeface="Calibri" pitchFamily="34" charset="-120"/>
              </a:rPr>
              <a:t>Inauguré en 1886, le pont Dom Luís I relie Porto à Vila Nova de Gaia par une arche de fer de 172 m. Il a été conçu par Théophile Seyrig, ancien associé de Gustave Eiffel. À ses pieds, les maisons colorées de la Ribeira se reflètent dans le Douro.</a:t>
            </a:r>
            <a:endParaRPr lang="en-US" sz="1400" dirty="0"/>
          </a:p>
        </p:txBody>
      </p:sp>
      <p:sp>
        <p:nvSpPr>
          <p:cNvPr id="11" name="Shape 7"/>
          <p:cNvSpPr/>
          <p:nvPr/>
        </p:nvSpPr>
        <p:spPr>
          <a:xfrm>
            <a:off x="6217920" y="3383280"/>
            <a:ext cx="5440680" cy="502920"/>
          </a:xfrm>
          <a:prstGeom prst="roundRect">
            <a:avLst>
              <a:gd name="adj" fmla="val 14545"/>
            </a:avLst>
          </a:prstGeom>
          <a:solidFill>
            <a:srgbClr val="EAF0F8"/>
          </a:solidFill>
          <a:ln w="12700">
            <a:solidFill>
              <a:srgbClr val="EAF0F8"/>
            </a:solidFill>
            <a:prstDash val="solid"/>
          </a:ln>
          <a:effectLst>
            <a:outerShdw sx="100000" sy="100000" kx="0" ky="0" algn="bl" rotWithShape="0" blurRad="101600" dist="38100" dir="5400000">
              <a:srgbClr val="000000">
                <a:alpha val="18000"/>
              </a:srgbClr>
            </a:outerShdw>
          </a:effectLst>
        </p:spPr>
      </p:sp>
      <p:sp>
        <p:nvSpPr>
          <p:cNvPr id="12" name="Text 8"/>
          <p:cNvSpPr txBox="1"/>
          <p:nvPr/>
        </p:nvSpPr>
        <p:spPr>
          <a:xfrm>
            <a:off x="6400800" y="3383280"/>
            <a:ext cx="5166360" cy="502920"/>
          </a:xfrm>
          <a:prstGeom prst="rect">
            <a:avLst/>
          </a:prstGeom>
          <a:noFill/>
          <a:ln/>
        </p:spPr>
        <p:txBody>
          <a:bodyPr wrap="square" lIns="0" tIns="0" rIns="0" bIns="0" rtlCol="0" anchor="ctr"/>
          <a:lstStyle/>
          <a:p>
            <a:pPr indent="0" marL="0">
              <a:buNone/>
            </a:pPr>
            <a:r>
              <a:rPr lang="en-US" sz="1300" b="1" dirty="0">
                <a:solidFill>
                  <a:srgbClr val="17211D"/>
                </a:solidFill>
                <a:latin typeface="Calibri" pitchFamily="34" charset="0"/>
                <a:ea typeface="Calibri" pitchFamily="34" charset="-122"/>
                <a:cs typeface="Calibri" pitchFamily="34" charset="-120"/>
              </a:rPr>
              <a:t>Deux tabliers : le métro en haut, les voitures en bas</a:t>
            </a:r>
            <a:endParaRPr lang="en-US" sz="1300" dirty="0"/>
          </a:p>
        </p:txBody>
      </p:sp>
      <p:sp>
        <p:nvSpPr>
          <p:cNvPr id="13" name="Shape 9"/>
          <p:cNvSpPr/>
          <p:nvPr/>
        </p:nvSpPr>
        <p:spPr>
          <a:xfrm>
            <a:off x="6217920" y="4005072"/>
            <a:ext cx="5440680" cy="502920"/>
          </a:xfrm>
          <a:prstGeom prst="roundRect">
            <a:avLst>
              <a:gd name="adj" fmla="val 14545"/>
            </a:avLst>
          </a:prstGeom>
          <a:solidFill>
            <a:srgbClr val="EAF0F8"/>
          </a:solidFill>
          <a:ln w="12700">
            <a:solidFill>
              <a:srgbClr val="EAF0F8"/>
            </a:solidFill>
            <a:prstDash val="solid"/>
          </a:ln>
          <a:effectLst>
            <a:outerShdw sx="100000" sy="100000" kx="0" ky="0" algn="bl" rotWithShape="0" blurRad="101600" dist="38100" dir="5400000">
              <a:srgbClr val="000000">
                <a:alpha val="18000"/>
              </a:srgbClr>
            </a:outerShdw>
          </a:effectLst>
        </p:spPr>
      </p:sp>
      <p:sp>
        <p:nvSpPr>
          <p:cNvPr id="14" name="Text 10"/>
          <p:cNvSpPr txBox="1"/>
          <p:nvPr/>
        </p:nvSpPr>
        <p:spPr>
          <a:xfrm>
            <a:off x="6400800" y="4005072"/>
            <a:ext cx="5166360" cy="502920"/>
          </a:xfrm>
          <a:prstGeom prst="rect">
            <a:avLst/>
          </a:prstGeom>
          <a:noFill/>
          <a:ln/>
        </p:spPr>
        <p:txBody>
          <a:bodyPr wrap="square" lIns="0" tIns="0" rIns="0" bIns="0" rtlCol="0" anchor="ctr"/>
          <a:lstStyle/>
          <a:p>
            <a:pPr indent="0" marL="0">
              <a:buNone/>
            </a:pPr>
            <a:r>
              <a:rPr lang="en-US" sz="1300" b="1" dirty="0">
                <a:solidFill>
                  <a:srgbClr val="17211D"/>
                </a:solidFill>
                <a:latin typeface="Calibri" pitchFamily="34" charset="0"/>
                <a:ea typeface="Calibri" pitchFamily="34" charset="-122"/>
                <a:cs typeface="Calibri" pitchFamily="34" charset="-120"/>
              </a:rPr>
              <a:t>Centre historique classé à l'UNESCO en 1996</a:t>
            </a:r>
            <a:endParaRPr lang="en-US" sz="130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18D"/>
                </a:solidFill>
                <a:latin typeface="Calibri"/>
                <a:ea typeface="Calibri"/>
                <a:cs typeface="Calibri"/>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pic>
        <p:nvPicPr>
          <p:cNvPr id="2" name="Image 0" descr="/home/user/Portugal-Website/images/photos/w-aveiro.jpg">    </p:cNvPr>
          <p:cNvPicPr>
            <a:picLocks noChangeAspect="1"/>
          </p:cNvPicPr>
          <p:nvPr/>
        </p:nvPicPr>
        <p:blipFill>
          <a:blip r:embed="rId1"/>
          <a:srcRect l="0" r="0" t="0" b="0"/>
          <a:stretch/>
        </p:blipFill>
        <p:spPr>
          <a:xfrm>
            <a:off x="0" y="0"/>
            <a:ext cx="5760720" cy="4206240"/>
          </a:xfrm>
          <a:prstGeom prst="rect">
            <a:avLst/>
          </a:prstGeom>
        </p:spPr>
      </p:pic>
      <p:pic>
        <p:nvPicPr>
          <p:cNvPr id="3" name="Image 1" descr="/home/user/Portugal-Website/images/luis/salinas-aveiro.jpg">    </p:cNvPr>
          <p:cNvPicPr>
            <a:picLocks noChangeAspect="1"/>
          </p:cNvPicPr>
          <p:nvPr/>
        </p:nvPicPr>
        <p:blipFill>
          <a:blip r:embed="rId2"/>
          <a:srcRect l="0" r="0" t="0" b="0"/>
          <a:stretch/>
        </p:blipFill>
        <p:spPr>
          <a:xfrm>
            <a:off x="0" y="4297680"/>
            <a:ext cx="5760720" cy="2560320"/>
          </a:xfrm>
          <a:prstGeom prst="rect">
            <a:avLst/>
          </a:prstGeom>
        </p:spPr>
      </p:pic>
      <p:sp>
        <p:nvSpPr>
          <p:cNvPr id="4" name="Shape 0"/>
          <p:cNvSpPr/>
          <p:nvPr/>
        </p:nvSpPr>
        <p:spPr>
          <a:xfrm>
            <a:off x="0" y="6473952"/>
            <a:ext cx="5760720" cy="384048"/>
          </a:xfrm>
          <a:prstGeom prst="rect">
            <a:avLst/>
          </a:prstGeom>
          <a:solidFill>
            <a:srgbClr val="000000">
              <a:alpha val="55000"/>
            </a:srgbClr>
          </a:solidFill>
          <a:ln w="12700">
            <a:solidFill>
              <a:srgbClr val="000000">
                <a:alpha val="0"/>
              </a:srgbClr>
            </a:solidFill>
            <a:prstDash val="solid"/>
          </a:ln>
        </p:spPr>
      </p:sp>
      <p:sp>
        <p:nvSpPr>
          <p:cNvPr id="5" name="Text 1"/>
          <p:cNvSpPr txBox="1"/>
          <p:nvPr/>
        </p:nvSpPr>
        <p:spPr>
          <a:xfrm>
            <a:off x="109728" y="6510528"/>
            <a:ext cx="5541264" cy="31089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Les salines d'Aveiro</a:t>
            </a:r>
            <a:endParaRPr lang="en-US" sz="1100" dirty="0"/>
          </a:p>
        </p:txBody>
      </p:sp>
      <p:sp>
        <p:nvSpPr>
          <p:cNvPr id="6" name="Shape 2"/>
          <p:cNvSpPr/>
          <p:nvPr/>
        </p:nvSpPr>
        <p:spPr>
          <a:xfrm>
            <a:off x="6217920" y="502920"/>
            <a:ext cx="457200" cy="457200"/>
          </a:xfrm>
          <a:prstGeom prst="ellipse">
            <a:avLst/>
          </a:prstGeom>
          <a:solidFill>
            <a:srgbClr val="A83232"/>
          </a:solidFill>
          <a:ln w="12700">
            <a:solidFill>
              <a:srgbClr val="A83232"/>
            </a:solidFill>
            <a:prstDash val="solid"/>
          </a:ln>
        </p:spPr>
      </p:sp>
      <p:sp>
        <p:nvSpPr>
          <p:cNvPr id="7" name="Text 3"/>
          <p:cNvSpPr txBox="1"/>
          <p:nvPr/>
        </p:nvSpPr>
        <p:spPr>
          <a:xfrm>
            <a:off x="6217920" y="5029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8" name="Text 4"/>
          <p:cNvSpPr txBox="1"/>
          <p:nvPr/>
        </p:nvSpPr>
        <p:spPr>
          <a:xfrm>
            <a:off x="6858000" y="502920"/>
            <a:ext cx="4800600" cy="274320"/>
          </a:xfrm>
          <a:prstGeom prst="rect">
            <a:avLst/>
          </a:prstGeom>
          <a:noFill/>
          <a:ln/>
        </p:spPr>
        <p:txBody>
          <a:bodyPr wrap="square" lIns="0" tIns="0" rIns="0" bIns="0" rtlCol="0" anchor="t"/>
          <a:lstStyle/>
          <a:p>
            <a:pPr indent="0" marL="0">
              <a:buNone/>
            </a:pPr>
            <a:r>
              <a:rPr lang="en-US" sz="1100" b="1" spc="200" kern="0" dirty="0">
                <a:solidFill>
                  <a:srgbClr val="1E4F8F"/>
                </a:solidFill>
                <a:latin typeface="Calibri" pitchFamily="34" charset="0"/>
                <a:ea typeface="Calibri" pitchFamily="34" charset="-122"/>
                <a:cs typeface="Calibri" pitchFamily="34" charset="-120"/>
              </a:rPr>
              <a:t>CENTRE · RIA DE AVEIRO</a:t>
            </a:r>
            <a:endParaRPr lang="en-US" sz="1100" dirty="0"/>
          </a:p>
        </p:txBody>
      </p:sp>
      <p:sp>
        <p:nvSpPr>
          <p:cNvPr id="9" name="Text 5"/>
          <p:cNvSpPr txBox="1"/>
          <p:nvPr/>
        </p:nvSpPr>
        <p:spPr>
          <a:xfrm>
            <a:off x="6858000" y="749808"/>
            <a:ext cx="4800600" cy="822960"/>
          </a:xfrm>
          <a:prstGeom prst="rect">
            <a:avLst/>
          </a:prstGeom>
          <a:noFill/>
          <a:ln/>
        </p:spPr>
        <p:txBody>
          <a:bodyPr wrap="square" lIns="0" tIns="0" rIns="0" bIns="0" rtlCol="0" anchor="t"/>
          <a:lstStyle/>
          <a:p>
            <a:pPr indent="0" marL="0">
              <a:buNone/>
            </a:pPr>
            <a:r>
              <a:rPr lang="en-US" sz="2600" b="1" dirty="0">
                <a:solidFill>
                  <a:srgbClr val="174A3A"/>
                </a:solidFill>
                <a:latin typeface="Cambria" pitchFamily="34" charset="0"/>
                <a:ea typeface="Cambria" pitchFamily="34" charset="-122"/>
                <a:cs typeface="Cambria" pitchFamily="34" charset="-120"/>
              </a:rPr>
              <a:t>Aveiro, la « Venise du Portugal »</a:t>
            </a:r>
            <a:endParaRPr lang="en-US" sz="2600" dirty="0"/>
          </a:p>
        </p:txBody>
      </p:sp>
      <p:sp>
        <p:nvSpPr>
          <p:cNvPr id="10" name="Text 6"/>
          <p:cNvSpPr txBox="1"/>
          <p:nvPr/>
        </p:nvSpPr>
        <p:spPr>
          <a:xfrm>
            <a:off x="6217920" y="1691640"/>
            <a:ext cx="5440680" cy="1600200"/>
          </a:xfrm>
          <a:prstGeom prst="rect">
            <a:avLst/>
          </a:prstGeom>
          <a:noFill/>
          <a:ln/>
        </p:spPr>
        <p:txBody>
          <a:bodyPr wrap="square" lIns="0" tIns="0" rIns="0" bIns="0" rtlCol="0" anchor="t"/>
          <a:lstStyle/>
          <a:p>
            <a:pPr indent="0" marL="0">
              <a:buNone/>
            </a:pPr>
            <a:r>
              <a:rPr lang="en-US" sz="1400" dirty="0">
                <a:solidFill>
                  <a:srgbClr val="17211D"/>
                </a:solidFill>
                <a:latin typeface="Calibri" pitchFamily="34" charset="0"/>
                <a:ea typeface="Calibri" pitchFamily="34" charset="-122"/>
                <a:cs typeface="Calibri" pitchFamily="34" charset="-120"/>
              </a:rPr>
              <a:t>Ses canaux sont parcourus par les moliceiros, des bateaux colorés qui servaient autrefois à récolter le moliço, une algue utilisée comme engrais. Autour de la ville, les salines produisent depuis des siècles un sel marin récolté à la main.</a:t>
            </a:r>
            <a:endParaRPr lang="en-US" sz="1400" dirty="0"/>
          </a:p>
        </p:txBody>
      </p:sp>
      <p:sp>
        <p:nvSpPr>
          <p:cNvPr id="11" name="Shape 7"/>
          <p:cNvSpPr/>
          <p:nvPr/>
        </p:nvSpPr>
        <p:spPr>
          <a:xfrm>
            <a:off x="6217920" y="3383280"/>
            <a:ext cx="5440680" cy="502920"/>
          </a:xfrm>
          <a:prstGeom prst="roundRect">
            <a:avLst>
              <a:gd name="adj" fmla="val 14545"/>
            </a:avLst>
          </a:prstGeom>
          <a:solidFill>
            <a:srgbClr val="EAF0F8"/>
          </a:solidFill>
          <a:ln w="12700">
            <a:solidFill>
              <a:srgbClr val="EAF0F8"/>
            </a:solidFill>
            <a:prstDash val="solid"/>
          </a:ln>
          <a:effectLst>
            <a:outerShdw sx="100000" sy="100000" kx="0" ky="0" algn="bl" rotWithShape="0" blurRad="101600" dist="38100" dir="5400000">
              <a:srgbClr val="000000">
                <a:alpha val="18000"/>
              </a:srgbClr>
            </a:outerShdw>
          </a:effectLst>
        </p:spPr>
      </p:sp>
      <p:sp>
        <p:nvSpPr>
          <p:cNvPr id="12" name="Text 8"/>
          <p:cNvSpPr txBox="1"/>
          <p:nvPr/>
        </p:nvSpPr>
        <p:spPr>
          <a:xfrm>
            <a:off x="6400800" y="3383280"/>
            <a:ext cx="5166360" cy="502920"/>
          </a:xfrm>
          <a:prstGeom prst="rect">
            <a:avLst/>
          </a:prstGeom>
          <a:noFill/>
          <a:ln/>
        </p:spPr>
        <p:txBody>
          <a:bodyPr wrap="square" lIns="0" tIns="0" rIns="0" bIns="0" rtlCol="0" anchor="ctr"/>
          <a:lstStyle/>
          <a:p>
            <a:pPr indent="0" marL="0">
              <a:buNone/>
            </a:pPr>
            <a:r>
              <a:rPr lang="en-US" sz="1300" b="1" dirty="0">
                <a:solidFill>
                  <a:srgbClr val="17211D"/>
                </a:solidFill>
                <a:latin typeface="Calibri" pitchFamily="34" charset="0"/>
                <a:ea typeface="Calibri" pitchFamily="34" charset="-122"/>
                <a:cs typeface="Calibri" pitchFamily="34" charset="-120"/>
              </a:rPr>
              <a:t>Environ 2 600 hectares de salines dans la Ria</a:t>
            </a:r>
            <a:endParaRPr lang="en-US" sz="1300" dirty="0"/>
          </a:p>
        </p:txBody>
      </p:sp>
      <p:sp>
        <p:nvSpPr>
          <p:cNvPr id="13" name="Shape 9"/>
          <p:cNvSpPr/>
          <p:nvPr/>
        </p:nvSpPr>
        <p:spPr>
          <a:xfrm>
            <a:off x="6217920" y="4005072"/>
            <a:ext cx="5440680" cy="502920"/>
          </a:xfrm>
          <a:prstGeom prst="roundRect">
            <a:avLst>
              <a:gd name="adj" fmla="val 14545"/>
            </a:avLst>
          </a:prstGeom>
          <a:solidFill>
            <a:srgbClr val="EAF0F8"/>
          </a:solidFill>
          <a:ln w="12700">
            <a:solidFill>
              <a:srgbClr val="EAF0F8"/>
            </a:solidFill>
            <a:prstDash val="solid"/>
          </a:ln>
          <a:effectLst>
            <a:outerShdw sx="100000" sy="100000" kx="0" ky="0" algn="bl" rotWithShape="0" blurRad="101600" dist="38100" dir="5400000">
              <a:srgbClr val="000000">
                <a:alpha val="18000"/>
              </a:srgbClr>
            </a:outerShdw>
          </a:effectLst>
        </p:spPr>
      </p:sp>
      <p:sp>
        <p:nvSpPr>
          <p:cNvPr id="14" name="Text 10"/>
          <p:cNvSpPr txBox="1"/>
          <p:nvPr/>
        </p:nvSpPr>
        <p:spPr>
          <a:xfrm>
            <a:off x="6400800" y="4005072"/>
            <a:ext cx="5166360" cy="502920"/>
          </a:xfrm>
          <a:prstGeom prst="rect">
            <a:avLst/>
          </a:prstGeom>
          <a:noFill/>
          <a:ln/>
        </p:spPr>
        <p:txBody>
          <a:bodyPr wrap="square" lIns="0" tIns="0" rIns="0" bIns="0" rtlCol="0" anchor="ctr"/>
          <a:lstStyle/>
          <a:p>
            <a:pPr indent="0" marL="0">
              <a:buNone/>
            </a:pPr>
            <a:r>
              <a:rPr lang="en-US" sz="1300" b="1" dirty="0">
                <a:solidFill>
                  <a:srgbClr val="17211D"/>
                </a:solidFill>
                <a:latin typeface="Calibri" pitchFamily="34" charset="0"/>
                <a:ea typeface="Calibri" pitchFamily="34" charset="-122"/>
                <a:cs typeface="Calibri" pitchFamily="34" charset="-120"/>
              </a:rPr>
              <a:t>La fleur de sel : la fine couche de sel récoltée à la surface</a:t>
            </a:r>
            <a:endParaRPr lang="en-US" sz="130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18D"/>
                </a:solidFill>
                <a:latin typeface="Calibri"/>
                <a:ea typeface="Calibri"/>
                <a:cs typeface="Calibri"/>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pic>
        <p:nvPicPr>
          <p:cNvPr id="2" name="Image 0" descr="/home/user/Portugal-Website/images/photos/w-batalha.jpg">    </p:cNvPr>
          <p:cNvPicPr>
            <a:picLocks noChangeAspect="1"/>
          </p:cNvPicPr>
          <p:nvPr/>
        </p:nvPicPr>
        <p:blipFill>
          <a:blip r:embed="rId1"/>
          <a:srcRect l="0" r="0" t="0" b="0"/>
          <a:stretch/>
        </p:blipFill>
        <p:spPr>
          <a:xfrm>
            <a:off x="0" y="0"/>
            <a:ext cx="5760720" cy="6858000"/>
          </a:xfrm>
          <a:prstGeom prst="rect">
            <a:avLst/>
          </a:prstGeom>
        </p:spPr>
      </p:pic>
      <p:sp>
        <p:nvSpPr>
          <p:cNvPr id="3" name="Shape 0"/>
          <p:cNvSpPr/>
          <p:nvPr/>
        </p:nvSpPr>
        <p:spPr>
          <a:xfrm>
            <a:off x="6217920" y="502920"/>
            <a:ext cx="457200" cy="457200"/>
          </a:xfrm>
          <a:prstGeom prst="ellipse">
            <a:avLst/>
          </a:prstGeom>
          <a:solidFill>
            <a:srgbClr val="A83232"/>
          </a:solidFill>
          <a:ln w="12700">
            <a:solidFill>
              <a:srgbClr val="A83232"/>
            </a:solidFill>
            <a:prstDash val="solid"/>
          </a:ln>
        </p:spPr>
      </p:sp>
      <p:sp>
        <p:nvSpPr>
          <p:cNvPr id="4" name="Text 1"/>
          <p:cNvSpPr txBox="1"/>
          <p:nvPr/>
        </p:nvSpPr>
        <p:spPr>
          <a:xfrm>
            <a:off x="6217920" y="5029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5" name="Text 2"/>
          <p:cNvSpPr txBox="1"/>
          <p:nvPr/>
        </p:nvSpPr>
        <p:spPr>
          <a:xfrm>
            <a:off x="6858000" y="502920"/>
            <a:ext cx="4800600" cy="274320"/>
          </a:xfrm>
          <a:prstGeom prst="rect">
            <a:avLst/>
          </a:prstGeom>
          <a:noFill/>
          <a:ln/>
        </p:spPr>
        <p:txBody>
          <a:bodyPr wrap="square" lIns="0" tIns="0" rIns="0" bIns="0" rtlCol="0" anchor="t"/>
          <a:lstStyle/>
          <a:p>
            <a:pPr indent="0" marL="0">
              <a:buNone/>
            </a:pPr>
            <a:r>
              <a:rPr lang="en-US" sz="1100" b="1" spc="200" kern="0" dirty="0">
                <a:solidFill>
                  <a:srgbClr val="1E4F8F"/>
                </a:solidFill>
                <a:latin typeface="Calibri" pitchFamily="34" charset="0"/>
                <a:ea typeface="Calibri" pitchFamily="34" charset="-122"/>
                <a:cs typeface="Calibri" pitchFamily="34" charset="-120"/>
              </a:rPr>
              <a:t>CENTRE · LEIRIA</a:t>
            </a:r>
            <a:endParaRPr lang="en-US" sz="1100" dirty="0"/>
          </a:p>
        </p:txBody>
      </p:sp>
      <p:sp>
        <p:nvSpPr>
          <p:cNvPr id="6" name="Text 3"/>
          <p:cNvSpPr txBox="1"/>
          <p:nvPr/>
        </p:nvSpPr>
        <p:spPr>
          <a:xfrm>
            <a:off x="6858000" y="749808"/>
            <a:ext cx="4800600" cy="822960"/>
          </a:xfrm>
          <a:prstGeom prst="rect">
            <a:avLst/>
          </a:prstGeom>
          <a:noFill/>
          <a:ln/>
        </p:spPr>
        <p:txBody>
          <a:bodyPr wrap="square" lIns="0" tIns="0" rIns="0" bIns="0" rtlCol="0" anchor="t"/>
          <a:lstStyle/>
          <a:p>
            <a:pPr indent="0" marL="0">
              <a:buNone/>
            </a:pPr>
            <a:r>
              <a:rPr lang="en-US" sz="2600" b="1" dirty="0">
                <a:solidFill>
                  <a:srgbClr val="174A3A"/>
                </a:solidFill>
                <a:latin typeface="Cambria" pitchFamily="34" charset="0"/>
                <a:ea typeface="Cambria" pitchFamily="34" charset="-122"/>
                <a:cs typeface="Cambria" pitchFamily="34" charset="-120"/>
              </a:rPr>
              <a:t>Le monastère de Batalha</a:t>
            </a:r>
            <a:endParaRPr lang="en-US" sz="2600" dirty="0"/>
          </a:p>
        </p:txBody>
      </p:sp>
      <p:sp>
        <p:nvSpPr>
          <p:cNvPr id="7" name="Shape 4"/>
          <p:cNvSpPr/>
          <p:nvPr/>
        </p:nvSpPr>
        <p:spPr>
          <a:xfrm>
            <a:off x="6217920" y="1691640"/>
            <a:ext cx="4206240" cy="384048"/>
          </a:xfrm>
          <a:prstGeom prst="roundRect">
            <a:avLst>
              <a:gd name="adj" fmla="val 50000"/>
            </a:avLst>
          </a:prstGeom>
          <a:solidFill>
            <a:srgbClr val="FBF1D9"/>
          </a:solidFill>
          <a:ln w="12700">
            <a:solidFill>
              <a:srgbClr val="EBD6A2"/>
            </a:solidFill>
            <a:prstDash val="solid"/>
          </a:ln>
        </p:spPr>
      </p:sp>
      <p:sp>
        <p:nvSpPr>
          <p:cNvPr id="8" name="Text 5"/>
          <p:cNvSpPr txBox="1"/>
          <p:nvPr/>
        </p:nvSpPr>
        <p:spPr>
          <a:xfrm>
            <a:off x="6355080" y="1691640"/>
            <a:ext cx="4023360" cy="384048"/>
          </a:xfrm>
          <a:prstGeom prst="rect">
            <a:avLst/>
          </a:prstGeom>
          <a:noFill/>
          <a:ln/>
        </p:spPr>
        <p:txBody>
          <a:bodyPr wrap="square" lIns="0" tIns="0" rIns="0" bIns="0" rtlCol="0" anchor="ctr"/>
          <a:lstStyle/>
          <a:p>
            <a:pPr indent="0" marL="0">
              <a:buNone/>
            </a:pPr>
            <a:r>
              <a:rPr lang="en-US" sz="1200" b="1" dirty="0">
                <a:solidFill>
                  <a:srgbClr val="7A5A18"/>
                </a:solidFill>
                <a:latin typeface="Calibri" pitchFamily="34" charset="0"/>
                <a:ea typeface="Calibri" pitchFamily="34" charset="-122"/>
                <a:cs typeface="Calibri" pitchFamily="34" charset="-120"/>
              </a:rPr>
              <a:t>★  L'une des « 7 Merveilles du Portugal » (2007)</a:t>
            </a:r>
            <a:endParaRPr lang="en-US" sz="1200" dirty="0"/>
          </a:p>
        </p:txBody>
      </p:sp>
      <p:sp>
        <p:nvSpPr>
          <p:cNvPr id="9" name="Text 6"/>
          <p:cNvSpPr txBox="1"/>
          <p:nvPr/>
        </p:nvSpPr>
        <p:spPr>
          <a:xfrm>
            <a:off x="6217920" y="2240280"/>
            <a:ext cx="5440680" cy="1600200"/>
          </a:xfrm>
          <a:prstGeom prst="rect">
            <a:avLst/>
          </a:prstGeom>
          <a:noFill/>
          <a:ln/>
        </p:spPr>
        <p:txBody>
          <a:bodyPr wrap="square" lIns="0" tIns="0" rIns="0" bIns="0" rtlCol="0" anchor="t"/>
          <a:lstStyle/>
          <a:p>
            <a:pPr indent="0" marL="0">
              <a:buNone/>
            </a:pPr>
            <a:r>
              <a:rPr lang="en-US" sz="1400" dirty="0">
                <a:solidFill>
                  <a:srgbClr val="17211D"/>
                </a:solidFill>
                <a:latin typeface="Calibri" pitchFamily="34" charset="0"/>
                <a:ea typeface="Calibri" pitchFamily="34" charset="-122"/>
                <a:cs typeface="Calibri" pitchFamily="34" charset="-120"/>
              </a:rPr>
              <a:t>Le roi Jean Ier le fait construire à partir de 1386 pour remercier la Vierge de la victoire d'Aljubarrota contre la Castille (1385), qui sauve l'indépendance du Portugal. Il y repose avec son épouse anglaise, Philippa de Lancastre, et leur fils, Henri le Navigateur.</a:t>
            </a:r>
            <a:endParaRPr lang="en-US" sz="1400" dirty="0"/>
          </a:p>
        </p:txBody>
      </p:sp>
      <p:sp>
        <p:nvSpPr>
          <p:cNvPr id="10" name="Shape 7"/>
          <p:cNvSpPr/>
          <p:nvPr/>
        </p:nvSpPr>
        <p:spPr>
          <a:xfrm>
            <a:off x="6217920" y="3931920"/>
            <a:ext cx="5440680" cy="502920"/>
          </a:xfrm>
          <a:prstGeom prst="roundRect">
            <a:avLst>
              <a:gd name="adj" fmla="val 14545"/>
            </a:avLst>
          </a:prstGeom>
          <a:solidFill>
            <a:srgbClr val="EAF0F8"/>
          </a:solidFill>
          <a:ln w="12700">
            <a:solidFill>
              <a:srgbClr val="EAF0F8"/>
            </a:solidFill>
            <a:prstDash val="solid"/>
          </a:ln>
          <a:effectLst>
            <a:outerShdw sx="100000" sy="100000" kx="0" ky="0" algn="bl" rotWithShape="0" blurRad="101600" dist="38100" dir="5400000">
              <a:srgbClr val="000000">
                <a:alpha val="18000"/>
              </a:srgbClr>
            </a:outerShdw>
          </a:effectLst>
        </p:spPr>
      </p:sp>
      <p:sp>
        <p:nvSpPr>
          <p:cNvPr id="11" name="Text 8"/>
          <p:cNvSpPr txBox="1"/>
          <p:nvPr/>
        </p:nvSpPr>
        <p:spPr>
          <a:xfrm>
            <a:off x="6400800" y="3931920"/>
            <a:ext cx="5166360" cy="502920"/>
          </a:xfrm>
          <a:prstGeom prst="rect">
            <a:avLst/>
          </a:prstGeom>
          <a:noFill/>
          <a:ln/>
        </p:spPr>
        <p:txBody>
          <a:bodyPr wrap="square" lIns="0" tIns="0" rIns="0" bIns="0" rtlCol="0" anchor="ctr"/>
          <a:lstStyle/>
          <a:p>
            <a:pPr indent="0" marL="0">
              <a:buNone/>
            </a:pPr>
            <a:r>
              <a:rPr lang="en-US" sz="1300" b="1" dirty="0">
                <a:solidFill>
                  <a:srgbClr val="17211D"/>
                </a:solidFill>
                <a:latin typeface="Calibri" pitchFamily="34" charset="0"/>
                <a:ea typeface="Calibri" pitchFamily="34" charset="-122"/>
                <a:cs typeface="Calibri" pitchFamily="34" charset="-120"/>
              </a:rPr>
              <a:t>Patrimoine mondial de l'UNESCO depuis 1983</a:t>
            </a:r>
            <a:endParaRPr lang="en-US" sz="1300" dirty="0"/>
          </a:p>
        </p:txBody>
      </p:sp>
      <p:sp>
        <p:nvSpPr>
          <p:cNvPr id="12" name="Shape 9"/>
          <p:cNvSpPr/>
          <p:nvPr/>
        </p:nvSpPr>
        <p:spPr>
          <a:xfrm>
            <a:off x="6217920" y="4553712"/>
            <a:ext cx="5440680" cy="502920"/>
          </a:xfrm>
          <a:prstGeom prst="roundRect">
            <a:avLst>
              <a:gd name="adj" fmla="val 14545"/>
            </a:avLst>
          </a:prstGeom>
          <a:solidFill>
            <a:srgbClr val="EAF0F8"/>
          </a:solidFill>
          <a:ln w="12700">
            <a:solidFill>
              <a:srgbClr val="EAF0F8"/>
            </a:solidFill>
            <a:prstDash val="solid"/>
          </a:ln>
          <a:effectLst>
            <a:outerShdw sx="100000" sy="100000" kx="0" ky="0" algn="bl" rotWithShape="0" blurRad="101600" dist="38100" dir="5400000">
              <a:srgbClr val="000000">
                <a:alpha val="18000"/>
              </a:srgbClr>
            </a:outerShdw>
          </a:effectLst>
        </p:spPr>
      </p:sp>
      <p:sp>
        <p:nvSpPr>
          <p:cNvPr id="13" name="Text 10"/>
          <p:cNvSpPr txBox="1"/>
          <p:nvPr/>
        </p:nvSpPr>
        <p:spPr>
          <a:xfrm>
            <a:off x="6400800" y="4553712"/>
            <a:ext cx="5166360" cy="502920"/>
          </a:xfrm>
          <a:prstGeom prst="rect">
            <a:avLst/>
          </a:prstGeom>
          <a:noFill/>
          <a:ln/>
        </p:spPr>
        <p:txBody>
          <a:bodyPr wrap="square" lIns="0" tIns="0" rIns="0" bIns="0" rtlCol="0" anchor="ctr"/>
          <a:lstStyle/>
          <a:p>
            <a:pPr indent="0" marL="0">
              <a:buNone/>
            </a:pPr>
            <a:r>
              <a:rPr lang="en-US" sz="1300" b="1" dirty="0">
                <a:solidFill>
                  <a:srgbClr val="17211D"/>
                </a:solidFill>
                <a:latin typeface="Calibri" pitchFamily="34" charset="0"/>
                <a:ea typeface="Calibri" pitchFamily="34" charset="-122"/>
                <a:cs typeface="Calibri" pitchFamily="34" charset="-120"/>
              </a:rPr>
              <a:t>Plus d'un siècle de travaux, du gothique au manuélin</a:t>
            </a:r>
            <a:endParaRPr lang="en-US" sz="130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18D"/>
                </a:solidFill>
                <a:latin typeface="Calibri"/>
                <a:ea typeface="Calibri"/>
                <a:cs typeface="Calibri"/>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pic>
        <p:nvPicPr>
          <p:cNvPr id="2" name="Image 0" descr="/home/user/Portugal-Website/images/photos/w-pena.jpg">    </p:cNvPr>
          <p:cNvPicPr>
            <a:picLocks noChangeAspect="1"/>
          </p:cNvPicPr>
          <p:nvPr/>
        </p:nvPicPr>
        <p:blipFill>
          <a:blip r:embed="rId1"/>
          <a:srcRect l="0" r="0" t="0" b="0"/>
          <a:stretch/>
        </p:blipFill>
        <p:spPr>
          <a:xfrm>
            <a:off x="0" y="0"/>
            <a:ext cx="5760720" cy="6858000"/>
          </a:xfrm>
          <a:prstGeom prst="rect">
            <a:avLst/>
          </a:prstGeom>
        </p:spPr>
      </p:pic>
      <p:sp>
        <p:nvSpPr>
          <p:cNvPr id="3" name="Shape 0"/>
          <p:cNvSpPr/>
          <p:nvPr/>
        </p:nvSpPr>
        <p:spPr>
          <a:xfrm>
            <a:off x="6217920" y="502920"/>
            <a:ext cx="457200" cy="457200"/>
          </a:xfrm>
          <a:prstGeom prst="ellipse">
            <a:avLst/>
          </a:prstGeom>
          <a:solidFill>
            <a:srgbClr val="A83232"/>
          </a:solidFill>
          <a:ln w="12700">
            <a:solidFill>
              <a:srgbClr val="A83232"/>
            </a:solidFill>
            <a:prstDash val="solid"/>
          </a:ln>
        </p:spPr>
      </p:sp>
      <p:sp>
        <p:nvSpPr>
          <p:cNvPr id="4" name="Text 1"/>
          <p:cNvSpPr txBox="1"/>
          <p:nvPr/>
        </p:nvSpPr>
        <p:spPr>
          <a:xfrm>
            <a:off x="6217920" y="5029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5" name="Text 2"/>
          <p:cNvSpPr txBox="1"/>
          <p:nvPr/>
        </p:nvSpPr>
        <p:spPr>
          <a:xfrm>
            <a:off x="6858000" y="502920"/>
            <a:ext cx="4800600" cy="274320"/>
          </a:xfrm>
          <a:prstGeom prst="rect">
            <a:avLst/>
          </a:prstGeom>
          <a:noFill/>
          <a:ln/>
        </p:spPr>
        <p:txBody>
          <a:bodyPr wrap="square" lIns="0" tIns="0" rIns="0" bIns="0" rtlCol="0" anchor="t"/>
          <a:lstStyle/>
          <a:p>
            <a:pPr indent="0" marL="0">
              <a:buNone/>
            </a:pPr>
            <a:r>
              <a:rPr lang="en-US" sz="1100" b="1" spc="200" kern="0" dirty="0">
                <a:solidFill>
                  <a:srgbClr val="1E4F8F"/>
                </a:solidFill>
                <a:latin typeface="Calibri" pitchFamily="34" charset="0"/>
                <a:ea typeface="Calibri" pitchFamily="34" charset="-122"/>
                <a:cs typeface="Calibri" pitchFamily="34" charset="-120"/>
              </a:rPr>
              <a:t>LISBONNE · SERRA DE SINTRA</a:t>
            </a:r>
            <a:endParaRPr lang="en-US" sz="1100" dirty="0"/>
          </a:p>
        </p:txBody>
      </p:sp>
      <p:sp>
        <p:nvSpPr>
          <p:cNvPr id="6" name="Text 3"/>
          <p:cNvSpPr txBox="1"/>
          <p:nvPr/>
        </p:nvSpPr>
        <p:spPr>
          <a:xfrm>
            <a:off x="6858000" y="749808"/>
            <a:ext cx="4800600" cy="822960"/>
          </a:xfrm>
          <a:prstGeom prst="rect">
            <a:avLst/>
          </a:prstGeom>
          <a:noFill/>
          <a:ln/>
        </p:spPr>
        <p:txBody>
          <a:bodyPr wrap="square" lIns="0" tIns="0" rIns="0" bIns="0" rtlCol="0" anchor="t"/>
          <a:lstStyle/>
          <a:p>
            <a:pPr indent="0" marL="0">
              <a:buNone/>
            </a:pPr>
            <a:r>
              <a:rPr lang="en-US" sz="2600" b="1" dirty="0">
                <a:solidFill>
                  <a:srgbClr val="174A3A"/>
                </a:solidFill>
                <a:latin typeface="Cambria" pitchFamily="34" charset="0"/>
                <a:ea typeface="Cambria" pitchFamily="34" charset="-122"/>
                <a:cs typeface="Cambria" pitchFamily="34" charset="-120"/>
              </a:rPr>
              <a:t>Le palais de la Pena, Sintra</a:t>
            </a:r>
            <a:endParaRPr lang="en-US" sz="2600" dirty="0"/>
          </a:p>
        </p:txBody>
      </p:sp>
      <p:sp>
        <p:nvSpPr>
          <p:cNvPr id="7" name="Shape 4"/>
          <p:cNvSpPr/>
          <p:nvPr/>
        </p:nvSpPr>
        <p:spPr>
          <a:xfrm>
            <a:off x="6217920" y="1691640"/>
            <a:ext cx="4206240" cy="384048"/>
          </a:xfrm>
          <a:prstGeom prst="roundRect">
            <a:avLst>
              <a:gd name="adj" fmla="val 50000"/>
            </a:avLst>
          </a:prstGeom>
          <a:solidFill>
            <a:srgbClr val="FBF1D9"/>
          </a:solidFill>
          <a:ln w="12700">
            <a:solidFill>
              <a:srgbClr val="EBD6A2"/>
            </a:solidFill>
            <a:prstDash val="solid"/>
          </a:ln>
        </p:spPr>
      </p:sp>
      <p:sp>
        <p:nvSpPr>
          <p:cNvPr id="8" name="Text 5"/>
          <p:cNvSpPr txBox="1"/>
          <p:nvPr/>
        </p:nvSpPr>
        <p:spPr>
          <a:xfrm>
            <a:off x="6355080" y="1691640"/>
            <a:ext cx="4023360" cy="384048"/>
          </a:xfrm>
          <a:prstGeom prst="rect">
            <a:avLst/>
          </a:prstGeom>
          <a:noFill/>
          <a:ln/>
        </p:spPr>
        <p:txBody>
          <a:bodyPr wrap="square" lIns="0" tIns="0" rIns="0" bIns="0" rtlCol="0" anchor="ctr"/>
          <a:lstStyle/>
          <a:p>
            <a:pPr indent="0" marL="0">
              <a:buNone/>
            </a:pPr>
            <a:r>
              <a:rPr lang="en-US" sz="1200" b="1" dirty="0">
                <a:solidFill>
                  <a:srgbClr val="7A5A18"/>
                </a:solidFill>
                <a:latin typeface="Calibri" pitchFamily="34" charset="0"/>
                <a:ea typeface="Calibri" pitchFamily="34" charset="-122"/>
                <a:cs typeface="Calibri" pitchFamily="34" charset="-120"/>
              </a:rPr>
              <a:t>★  L'une des « 7 Merveilles du Portugal » (2007)</a:t>
            </a:r>
            <a:endParaRPr lang="en-US" sz="1200" dirty="0"/>
          </a:p>
        </p:txBody>
      </p:sp>
      <p:sp>
        <p:nvSpPr>
          <p:cNvPr id="9" name="Text 6"/>
          <p:cNvSpPr txBox="1"/>
          <p:nvPr/>
        </p:nvSpPr>
        <p:spPr>
          <a:xfrm>
            <a:off x="6217920" y="2240280"/>
            <a:ext cx="5440680" cy="1600200"/>
          </a:xfrm>
          <a:prstGeom prst="rect">
            <a:avLst/>
          </a:prstGeom>
          <a:noFill/>
          <a:ln/>
        </p:spPr>
        <p:txBody>
          <a:bodyPr wrap="square" lIns="0" tIns="0" rIns="0" bIns="0" rtlCol="0" anchor="t"/>
          <a:lstStyle/>
          <a:p>
            <a:pPr indent="0" marL="0">
              <a:buNone/>
            </a:pPr>
            <a:r>
              <a:rPr lang="en-US" sz="1400" dirty="0">
                <a:solidFill>
                  <a:srgbClr val="17211D"/>
                </a:solidFill>
                <a:latin typeface="Calibri" pitchFamily="34" charset="0"/>
                <a:ea typeface="Calibri" pitchFamily="34" charset="-122"/>
                <a:cs typeface="Calibri" pitchFamily="34" charset="-120"/>
              </a:rPr>
              <a:t>Perché au sommet de la serra, ce palais aux couleurs vives a été construit au XIXe siècle pour le roi Ferdinand II. Avec ses jardins, ses châteaux et ses forêts, Sintra ressemble à un conte de fées.</a:t>
            </a:r>
            <a:endParaRPr lang="en-US" sz="1400" dirty="0"/>
          </a:p>
        </p:txBody>
      </p:sp>
      <p:sp>
        <p:nvSpPr>
          <p:cNvPr id="10" name="Shape 7"/>
          <p:cNvSpPr/>
          <p:nvPr/>
        </p:nvSpPr>
        <p:spPr>
          <a:xfrm>
            <a:off x="6217920" y="3931920"/>
            <a:ext cx="5440680" cy="502920"/>
          </a:xfrm>
          <a:prstGeom prst="roundRect">
            <a:avLst>
              <a:gd name="adj" fmla="val 14545"/>
            </a:avLst>
          </a:prstGeom>
          <a:solidFill>
            <a:srgbClr val="EAF0F8"/>
          </a:solidFill>
          <a:ln w="12700">
            <a:solidFill>
              <a:srgbClr val="EAF0F8"/>
            </a:solidFill>
            <a:prstDash val="solid"/>
          </a:ln>
          <a:effectLst>
            <a:outerShdw sx="100000" sy="100000" kx="0" ky="0" algn="bl" rotWithShape="0" blurRad="101600" dist="38100" dir="5400000">
              <a:srgbClr val="000000">
                <a:alpha val="18000"/>
              </a:srgbClr>
            </a:outerShdw>
          </a:effectLst>
        </p:spPr>
      </p:sp>
      <p:sp>
        <p:nvSpPr>
          <p:cNvPr id="11" name="Text 8"/>
          <p:cNvSpPr txBox="1"/>
          <p:nvPr/>
        </p:nvSpPr>
        <p:spPr>
          <a:xfrm>
            <a:off x="6400800" y="3931920"/>
            <a:ext cx="5166360" cy="502920"/>
          </a:xfrm>
          <a:prstGeom prst="rect">
            <a:avLst/>
          </a:prstGeom>
          <a:noFill/>
          <a:ln/>
        </p:spPr>
        <p:txBody>
          <a:bodyPr wrap="square" lIns="0" tIns="0" rIns="0" bIns="0" rtlCol="0" anchor="ctr"/>
          <a:lstStyle/>
          <a:p>
            <a:pPr indent="0" marL="0">
              <a:buNone/>
            </a:pPr>
            <a:r>
              <a:rPr lang="en-US" sz="1300" b="1" dirty="0">
                <a:solidFill>
                  <a:srgbClr val="17211D"/>
                </a:solidFill>
                <a:latin typeface="Calibri" pitchFamily="34" charset="0"/>
                <a:ea typeface="Calibri" pitchFamily="34" charset="-122"/>
                <a:cs typeface="Calibri" pitchFamily="34" charset="-120"/>
              </a:rPr>
              <a:t>Paysage culturel de Sintra : UNESCO depuis 1995</a:t>
            </a:r>
            <a:endParaRPr lang="en-US" sz="1300" dirty="0"/>
          </a:p>
        </p:txBody>
      </p:sp>
      <p:sp>
        <p:nvSpPr>
          <p:cNvPr id="12" name="Shape 9"/>
          <p:cNvSpPr/>
          <p:nvPr/>
        </p:nvSpPr>
        <p:spPr>
          <a:xfrm>
            <a:off x="6217920" y="4553712"/>
            <a:ext cx="5440680" cy="502920"/>
          </a:xfrm>
          <a:prstGeom prst="roundRect">
            <a:avLst>
              <a:gd name="adj" fmla="val 14545"/>
            </a:avLst>
          </a:prstGeom>
          <a:solidFill>
            <a:srgbClr val="EAF0F8"/>
          </a:solidFill>
          <a:ln w="12700">
            <a:solidFill>
              <a:srgbClr val="EAF0F8"/>
            </a:solidFill>
            <a:prstDash val="solid"/>
          </a:ln>
          <a:effectLst>
            <a:outerShdw sx="100000" sy="100000" kx="0" ky="0" algn="bl" rotWithShape="0" blurRad="101600" dist="38100" dir="5400000">
              <a:srgbClr val="000000">
                <a:alpha val="18000"/>
              </a:srgbClr>
            </a:outerShdw>
          </a:effectLst>
        </p:spPr>
      </p:sp>
      <p:sp>
        <p:nvSpPr>
          <p:cNvPr id="13" name="Text 10"/>
          <p:cNvSpPr txBox="1"/>
          <p:nvPr/>
        </p:nvSpPr>
        <p:spPr>
          <a:xfrm>
            <a:off x="6400800" y="4553712"/>
            <a:ext cx="5166360" cy="502920"/>
          </a:xfrm>
          <a:prstGeom prst="rect">
            <a:avLst/>
          </a:prstGeom>
          <a:noFill/>
          <a:ln/>
        </p:spPr>
        <p:txBody>
          <a:bodyPr wrap="square" lIns="0" tIns="0" rIns="0" bIns="0" rtlCol="0" anchor="ctr"/>
          <a:lstStyle/>
          <a:p>
            <a:pPr indent="0" marL="0">
              <a:buNone/>
            </a:pPr>
            <a:r>
              <a:rPr lang="en-US" sz="1300" b="1" dirty="0">
                <a:solidFill>
                  <a:srgbClr val="17211D"/>
                </a:solidFill>
                <a:latin typeface="Calibri" pitchFamily="34" charset="0"/>
                <a:ea typeface="Calibri" pitchFamily="34" charset="-122"/>
                <a:cs typeface="Calibri" pitchFamily="34" charset="-120"/>
              </a:rPr>
              <a:t>Chef-d'œuvre du romantisme en Europe</a:t>
            </a:r>
            <a:endParaRPr lang="en-US" sz="130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18D"/>
                </a:solidFill>
                <a:latin typeface="Calibri"/>
                <a:ea typeface="Calibri"/>
                <a:cs typeface="Calibri"/>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pic>
        <p:nvPicPr>
          <p:cNvPr id="2" name="Image 0" descr="/home/user/Portugal-Website/images/photos/hero-hist.jpg">    </p:cNvPr>
          <p:cNvPicPr>
            <a:picLocks noChangeAspect="1"/>
          </p:cNvPicPr>
          <p:nvPr/>
        </p:nvPicPr>
        <p:blipFill>
          <a:blip r:embed="rId1"/>
          <a:srcRect l="0" r="0" t="0" b="0"/>
          <a:stretch/>
        </p:blipFill>
        <p:spPr>
          <a:xfrm>
            <a:off x="0" y="0"/>
            <a:ext cx="5760720" cy="6858000"/>
          </a:xfrm>
          <a:prstGeom prst="rect">
            <a:avLst/>
          </a:prstGeom>
        </p:spPr>
      </p:pic>
      <p:sp>
        <p:nvSpPr>
          <p:cNvPr id="3" name="Shape 0"/>
          <p:cNvSpPr/>
          <p:nvPr/>
        </p:nvSpPr>
        <p:spPr>
          <a:xfrm>
            <a:off x="6217920" y="502920"/>
            <a:ext cx="457200" cy="457200"/>
          </a:xfrm>
          <a:prstGeom prst="ellipse">
            <a:avLst/>
          </a:prstGeom>
          <a:solidFill>
            <a:srgbClr val="A83232"/>
          </a:solidFill>
          <a:ln w="12700">
            <a:solidFill>
              <a:srgbClr val="A83232"/>
            </a:solidFill>
            <a:prstDash val="solid"/>
          </a:ln>
        </p:spPr>
      </p:sp>
      <p:sp>
        <p:nvSpPr>
          <p:cNvPr id="4" name="Text 1"/>
          <p:cNvSpPr txBox="1"/>
          <p:nvPr/>
        </p:nvSpPr>
        <p:spPr>
          <a:xfrm>
            <a:off x="6217920" y="5029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5" name="Text 2"/>
          <p:cNvSpPr txBox="1"/>
          <p:nvPr/>
        </p:nvSpPr>
        <p:spPr>
          <a:xfrm>
            <a:off x="6858000" y="502920"/>
            <a:ext cx="4800600" cy="274320"/>
          </a:xfrm>
          <a:prstGeom prst="rect">
            <a:avLst/>
          </a:prstGeom>
          <a:noFill/>
          <a:ln/>
        </p:spPr>
        <p:txBody>
          <a:bodyPr wrap="square" lIns="0" tIns="0" rIns="0" bIns="0" rtlCol="0" anchor="t"/>
          <a:lstStyle/>
          <a:p>
            <a:pPr indent="0" marL="0">
              <a:buNone/>
            </a:pPr>
            <a:r>
              <a:rPr lang="en-US" sz="1100" b="1" spc="200" kern="0" dirty="0">
                <a:solidFill>
                  <a:srgbClr val="1E4F8F"/>
                </a:solidFill>
                <a:latin typeface="Calibri" pitchFamily="34" charset="0"/>
                <a:ea typeface="Calibri" pitchFamily="34" charset="-122"/>
                <a:cs typeface="Calibri" pitchFamily="34" charset="-120"/>
              </a:rPr>
              <a:t>LISBONNE · BELÉM</a:t>
            </a:r>
            <a:endParaRPr lang="en-US" sz="1100" dirty="0"/>
          </a:p>
        </p:txBody>
      </p:sp>
      <p:sp>
        <p:nvSpPr>
          <p:cNvPr id="6" name="Text 3"/>
          <p:cNvSpPr txBox="1"/>
          <p:nvPr/>
        </p:nvSpPr>
        <p:spPr>
          <a:xfrm>
            <a:off x="6858000" y="749808"/>
            <a:ext cx="4800600" cy="822960"/>
          </a:xfrm>
          <a:prstGeom prst="rect">
            <a:avLst/>
          </a:prstGeom>
          <a:noFill/>
          <a:ln/>
        </p:spPr>
        <p:txBody>
          <a:bodyPr wrap="square" lIns="0" tIns="0" rIns="0" bIns="0" rtlCol="0" anchor="t"/>
          <a:lstStyle/>
          <a:p>
            <a:pPr indent="0" marL="0">
              <a:buNone/>
            </a:pPr>
            <a:r>
              <a:rPr lang="en-US" sz="2600" b="1" dirty="0">
                <a:solidFill>
                  <a:srgbClr val="174A3A"/>
                </a:solidFill>
                <a:latin typeface="Cambria" pitchFamily="34" charset="0"/>
                <a:ea typeface="Cambria" pitchFamily="34" charset="-122"/>
                <a:cs typeface="Cambria" pitchFamily="34" charset="-120"/>
              </a:rPr>
              <a:t>La tour de Belém</a:t>
            </a:r>
            <a:endParaRPr lang="en-US" sz="2600" dirty="0"/>
          </a:p>
        </p:txBody>
      </p:sp>
      <p:sp>
        <p:nvSpPr>
          <p:cNvPr id="7" name="Shape 4"/>
          <p:cNvSpPr/>
          <p:nvPr/>
        </p:nvSpPr>
        <p:spPr>
          <a:xfrm>
            <a:off x="6217920" y="1691640"/>
            <a:ext cx="4206240" cy="384048"/>
          </a:xfrm>
          <a:prstGeom prst="roundRect">
            <a:avLst>
              <a:gd name="adj" fmla="val 50000"/>
            </a:avLst>
          </a:prstGeom>
          <a:solidFill>
            <a:srgbClr val="FBF1D9"/>
          </a:solidFill>
          <a:ln w="12700">
            <a:solidFill>
              <a:srgbClr val="EBD6A2"/>
            </a:solidFill>
            <a:prstDash val="solid"/>
          </a:ln>
        </p:spPr>
      </p:sp>
      <p:sp>
        <p:nvSpPr>
          <p:cNvPr id="8" name="Text 5"/>
          <p:cNvSpPr txBox="1"/>
          <p:nvPr/>
        </p:nvSpPr>
        <p:spPr>
          <a:xfrm>
            <a:off x="6355080" y="1691640"/>
            <a:ext cx="4023360" cy="384048"/>
          </a:xfrm>
          <a:prstGeom prst="rect">
            <a:avLst/>
          </a:prstGeom>
          <a:noFill/>
          <a:ln/>
        </p:spPr>
        <p:txBody>
          <a:bodyPr wrap="square" lIns="0" tIns="0" rIns="0" bIns="0" rtlCol="0" anchor="ctr"/>
          <a:lstStyle/>
          <a:p>
            <a:pPr indent="0" marL="0">
              <a:buNone/>
            </a:pPr>
            <a:r>
              <a:rPr lang="en-US" sz="1200" b="1" dirty="0">
                <a:solidFill>
                  <a:srgbClr val="7A5A18"/>
                </a:solidFill>
                <a:latin typeface="Calibri" pitchFamily="34" charset="0"/>
                <a:ea typeface="Calibri" pitchFamily="34" charset="-122"/>
                <a:cs typeface="Calibri" pitchFamily="34" charset="-120"/>
              </a:rPr>
              <a:t>★  L'une des « 7 Merveilles du Portugal » (2007)</a:t>
            </a:r>
            <a:endParaRPr lang="en-US" sz="1200" dirty="0"/>
          </a:p>
        </p:txBody>
      </p:sp>
      <p:sp>
        <p:nvSpPr>
          <p:cNvPr id="9" name="Text 6"/>
          <p:cNvSpPr txBox="1"/>
          <p:nvPr/>
        </p:nvSpPr>
        <p:spPr>
          <a:xfrm>
            <a:off x="6217920" y="2240280"/>
            <a:ext cx="5440680" cy="1600200"/>
          </a:xfrm>
          <a:prstGeom prst="rect">
            <a:avLst/>
          </a:prstGeom>
          <a:noFill/>
          <a:ln/>
        </p:spPr>
        <p:txBody>
          <a:bodyPr wrap="square" lIns="0" tIns="0" rIns="0" bIns="0" rtlCol="0" anchor="t"/>
          <a:lstStyle/>
          <a:p>
            <a:pPr indent="0" marL="0">
              <a:buNone/>
            </a:pPr>
            <a:r>
              <a:rPr lang="en-US" sz="1400" dirty="0">
                <a:solidFill>
                  <a:srgbClr val="17211D"/>
                </a:solidFill>
                <a:latin typeface="Calibri" pitchFamily="34" charset="0"/>
                <a:ea typeface="Calibri" pitchFamily="34" charset="-122"/>
                <a:cs typeface="Calibri" pitchFamily="34" charset="-120"/>
              </a:rPr>
              <a:t>Construite de 1514 à 1519 sur le Tage, elle protégeait l'entrée de Lisbonne et saluait les navigateurs qui partaient vers l'Afrique, l'Inde et le Brésil. C'est l'un des symboles de l'époque des Découvertes.</a:t>
            </a:r>
            <a:endParaRPr lang="en-US" sz="1400" dirty="0"/>
          </a:p>
        </p:txBody>
      </p:sp>
      <p:sp>
        <p:nvSpPr>
          <p:cNvPr id="10" name="Shape 7"/>
          <p:cNvSpPr/>
          <p:nvPr/>
        </p:nvSpPr>
        <p:spPr>
          <a:xfrm>
            <a:off x="6217920" y="3931920"/>
            <a:ext cx="5440680" cy="502920"/>
          </a:xfrm>
          <a:prstGeom prst="roundRect">
            <a:avLst>
              <a:gd name="adj" fmla="val 14545"/>
            </a:avLst>
          </a:prstGeom>
          <a:solidFill>
            <a:srgbClr val="EAF0F8"/>
          </a:solidFill>
          <a:ln w="12700">
            <a:solidFill>
              <a:srgbClr val="EAF0F8"/>
            </a:solidFill>
            <a:prstDash val="solid"/>
          </a:ln>
          <a:effectLst>
            <a:outerShdw sx="100000" sy="100000" kx="0" ky="0" algn="bl" rotWithShape="0" blurRad="101600" dist="38100" dir="5400000">
              <a:srgbClr val="000000">
                <a:alpha val="18000"/>
              </a:srgbClr>
            </a:outerShdw>
          </a:effectLst>
        </p:spPr>
      </p:sp>
      <p:sp>
        <p:nvSpPr>
          <p:cNvPr id="11" name="Text 8"/>
          <p:cNvSpPr txBox="1"/>
          <p:nvPr/>
        </p:nvSpPr>
        <p:spPr>
          <a:xfrm>
            <a:off x="6400800" y="3931920"/>
            <a:ext cx="5166360" cy="502920"/>
          </a:xfrm>
          <a:prstGeom prst="rect">
            <a:avLst/>
          </a:prstGeom>
          <a:noFill/>
          <a:ln/>
        </p:spPr>
        <p:txBody>
          <a:bodyPr wrap="square" lIns="0" tIns="0" rIns="0" bIns="0" rtlCol="0" anchor="ctr"/>
          <a:lstStyle/>
          <a:p>
            <a:pPr indent="0" marL="0">
              <a:buNone/>
            </a:pPr>
            <a:r>
              <a:rPr lang="en-US" sz="1300" b="1" dirty="0">
                <a:solidFill>
                  <a:srgbClr val="17211D"/>
                </a:solidFill>
                <a:latin typeface="Calibri" pitchFamily="34" charset="0"/>
                <a:ea typeface="Calibri" pitchFamily="34" charset="-122"/>
                <a:cs typeface="Calibri" pitchFamily="34" charset="-120"/>
              </a:rPr>
              <a:t>Patrimoine mondial de l'UNESCO depuis 1983</a:t>
            </a:r>
            <a:endParaRPr lang="en-US" sz="1300" dirty="0"/>
          </a:p>
        </p:txBody>
      </p:sp>
      <p:sp>
        <p:nvSpPr>
          <p:cNvPr id="12" name="Shape 9"/>
          <p:cNvSpPr/>
          <p:nvPr/>
        </p:nvSpPr>
        <p:spPr>
          <a:xfrm>
            <a:off x="6217920" y="4553712"/>
            <a:ext cx="5440680" cy="502920"/>
          </a:xfrm>
          <a:prstGeom prst="roundRect">
            <a:avLst>
              <a:gd name="adj" fmla="val 14545"/>
            </a:avLst>
          </a:prstGeom>
          <a:solidFill>
            <a:srgbClr val="EAF0F8"/>
          </a:solidFill>
          <a:ln w="12700">
            <a:solidFill>
              <a:srgbClr val="EAF0F8"/>
            </a:solidFill>
            <a:prstDash val="solid"/>
          </a:ln>
          <a:effectLst>
            <a:outerShdw sx="100000" sy="100000" kx="0" ky="0" algn="bl" rotWithShape="0" blurRad="101600" dist="38100" dir="5400000">
              <a:srgbClr val="000000">
                <a:alpha val="18000"/>
              </a:srgbClr>
            </a:outerShdw>
          </a:effectLst>
        </p:spPr>
      </p:sp>
      <p:sp>
        <p:nvSpPr>
          <p:cNvPr id="13" name="Text 10"/>
          <p:cNvSpPr txBox="1"/>
          <p:nvPr/>
        </p:nvSpPr>
        <p:spPr>
          <a:xfrm>
            <a:off x="6400800" y="4553712"/>
            <a:ext cx="5166360" cy="502920"/>
          </a:xfrm>
          <a:prstGeom prst="rect">
            <a:avLst/>
          </a:prstGeom>
          <a:noFill/>
          <a:ln/>
        </p:spPr>
        <p:txBody>
          <a:bodyPr wrap="square" lIns="0" tIns="0" rIns="0" bIns="0" rtlCol="0" anchor="ctr"/>
          <a:lstStyle/>
          <a:p>
            <a:pPr indent="0" marL="0">
              <a:buNone/>
            </a:pPr>
            <a:r>
              <a:rPr lang="en-US" sz="1300" b="1" dirty="0">
                <a:solidFill>
                  <a:srgbClr val="17211D"/>
                </a:solidFill>
                <a:latin typeface="Calibri" pitchFamily="34" charset="0"/>
                <a:ea typeface="Calibri" pitchFamily="34" charset="-122"/>
                <a:cs typeface="Calibri" pitchFamily="34" charset="-120"/>
              </a:rPr>
              <a:t>Chef-d'œuvre du style manuélin</a:t>
            </a:r>
            <a:endParaRPr lang="en-US" sz="130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18D"/>
                </a:solidFill>
                <a:latin typeface="Calibri"/>
                <a:ea typeface="Calibri"/>
                <a:cs typeface="Calibri"/>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pic>
        <p:nvPicPr>
          <p:cNvPr id="2" name="Image 0" descr="/home/user/Portugal-Website/images/photos/w-jeronimos.jpg">    </p:cNvPr>
          <p:cNvPicPr>
            <a:picLocks noChangeAspect="1"/>
          </p:cNvPicPr>
          <p:nvPr/>
        </p:nvPicPr>
        <p:blipFill>
          <a:blip r:embed="rId1"/>
          <a:srcRect l="0" r="0" t="0" b="0"/>
          <a:stretch/>
        </p:blipFill>
        <p:spPr>
          <a:xfrm>
            <a:off x="0" y="0"/>
            <a:ext cx="5760720" cy="6858000"/>
          </a:xfrm>
          <a:prstGeom prst="rect">
            <a:avLst/>
          </a:prstGeom>
        </p:spPr>
      </p:pic>
      <p:sp>
        <p:nvSpPr>
          <p:cNvPr id="3" name="Shape 0"/>
          <p:cNvSpPr/>
          <p:nvPr/>
        </p:nvSpPr>
        <p:spPr>
          <a:xfrm>
            <a:off x="6217920" y="502920"/>
            <a:ext cx="457200" cy="457200"/>
          </a:xfrm>
          <a:prstGeom prst="ellipse">
            <a:avLst/>
          </a:prstGeom>
          <a:solidFill>
            <a:srgbClr val="A83232"/>
          </a:solidFill>
          <a:ln w="12700">
            <a:solidFill>
              <a:srgbClr val="A83232"/>
            </a:solidFill>
            <a:prstDash val="solid"/>
          </a:ln>
        </p:spPr>
      </p:sp>
      <p:sp>
        <p:nvSpPr>
          <p:cNvPr id="4" name="Text 1"/>
          <p:cNvSpPr txBox="1"/>
          <p:nvPr/>
        </p:nvSpPr>
        <p:spPr>
          <a:xfrm>
            <a:off x="6217920" y="5029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7</a:t>
            </a:r>
            <a:endParaRPr lang="en-US" sz="1400" dirty="0"/>
          </a:p>
        </p:txBody>
      </p:sp>
      <p:sp>
        <p:nvSpPr>
          <p:cNvPr id="5" name="Text 2"/>
          <p:cNvSpPr txBox="1"/>
          <p:nvPr/>
        </p:nvSpPr>
        <p:spPr>
          <a:xfrm>
            <a:off x="6858000" y="502920"/>
            <a:ext cx="4800600" cy="274320"/>
          </a:xfrm>
          <a:prstGeom prst="rect">
            <a:avLst/>
          </a:prstGeom>
          <a:noFill/>
          <a:ln/>
        </p:spPr>
        <p:txBody>
          <a:bodyPr wrap="square" lIns="0" tIns="0" rIns="0" bIns="0" rtlCol="0" anchor="t"/>
          <a:lstStyle/>
          <a:p>
            <a:pPr indent="0" marL="0">
              <a:buNone/>
            </a:pPr>
            <a:r>
              <a:rPr lang="en-US" sz="1100" b="1" spc="200" kern="0" dirty="0">
                <a:solidFill>
                  <a:srgbClr val="1E4F8F"/>
                </a:solidFill>
                <a:latin typeface="Calibri" pitchFamily="34" charset="0"/>
                <a:ea typeface="Calibri" pitchFamily="34" charset="-122"/>
                <a:cs typeface="Calibri" pitchFamily="34" charset="-120"/>
              </a:rPr>
              <a:t>LISBONNE · BELÉM</a:t>
            </a:r>
            <a:endParaRPr lang="en-US" sz="1100" dirty="0"/>
          </a:p>
        </p:txBody>
      </p:sp>
      <p:sp>
        <p:nvSpPr>
          <p:cNvPr id="6" name="Text 3"/>
          <p:cNvSpPr txBox="1"/>
          <p:nvPr/>
        </p:nvSpPr>
        <p:spPr>
          <a:xfrm>
            <a:off x="6858000" y="749808"/>
            <a:ext cx="4800600" cy="822960"/>
          </a:xfrm>
          <a:prstGeom prst="rect">
            <a:avLst/>
          </a:prstGeom>
          <a:noFill/>
          <a:ln/>
        </p:spPr>
        <p:txBody>
          <a:bodyPr wrap="square" lIns="0" tIns="0" rIns="0" bIns="0" rtlCol="0" anchor="t"/>
          <a:lstStyle/>
          <a:p>
            <a:pPr indent="0" marL="0">
              <a:buNone/>
            </a:pPr>
            <a:r>
              <a:rPr lang="en-US" sz="2600" b="1" dirty="0">
                <a:solidFill>
                  <a:srgbClr val="174A3A"/>
                </a:solidFill>
                <a:latin typeface="Cambria" pitchFamily="34" charset="0"/>
                <a:ea typeface="Cambria" pitchFamily="34" charset="-122"/>
                <a:cs typeface="Cambria" pitchFamily="34" charset="-120"/>
              </a:rPr>
              <a:t>Le monastère des Hiéronymites</a:t>
            </a:r>
            <a:endParaRPr lang="en-US" sz="2600" dirty="0"/>
          </a:p>
        </p:txBody>
      </p:sp>
      <p:sp>
        <p:nvSpPr>
          <p:cNvPr id="7" name="Shape 4"/>
          <p:cNvSpPr/>
          <p:nvPr/>
        </p:nvSpPr>
        <p:spPr>
          <a:xfrm>
            <a:off x="6217920" y="1691640"/>
            <a:ext cx="4206240" cy="384048"/>
          </a:xfrm>
          <a:prstGeom prst="roundRect">
            <a:avLst>
              <a:gd name="adj" fmla="val 50000"/>
            </a:avLst>
          </a:prstGeom>
          <a:solidFill>
            <a:srgbClr val="FBF1D9"/>
          </a:solidFill>
          <a:ln w="12700">
            <a:solidFill>
              <a:srgbClr val="EBD6A2"/>
            </a:solidFill>
            <a:prstDash val="solid"/>
          </a:ln>
        </p:spPr>
      </p:sp>
      <p:sp>
        <p:nvSpPr>
          <p:cNvPr id="8" name="Text 5"/>
          <p:cNvSpPr txBox="1"/>
          <p:nvPr/>
        </p:nvSpPr>
        <p:spPr>
          <a:xfrm>
            <a:off x="6355080" y="1691640"/>
            <a:ext cx="4023360" cy="384048"/>
          </a:xfrm>
          <a:prstGeom prst="rect">
            <a:avLst/>
          </a:prstGeom>
          <a:noFill/>
          <a:ln/>
        </p:spPr>
        <p:txBody>
          <a:bodyPr wrap="square" lIns="0" tIns="0" rIns="0" bIns="0" rtlCol="0" anchor="ctr"/>
          <a:lstStyle/>
          <a:p>
            <a:pPr indent="0" marL="0">
              <a:buNone/>
            </a:pPr>
            <a:r>
              <a:rPr lang="en-US" sz="1200" b="1" dirty="0">
                <a:solidFill>
                  <a:srgbClr val="7A5A18"/>
                </a:solidFill>
                <a:latin typeface="Calibri" pitchFamily="34" charset="0"/>
                <a:ea typeface="Calibri" pitchFamily="34" charset="-122"/>
                <a:cs typeface="Calibri" pitchFamily="34" charset="-120"/>
              </a:rPr>
              <a:t>★  L'une des « 7 Merveilles du Portugal » (2007)</a:t>
            </a:r>
            <a:endParaRPr lang="en-US" sz="1200" dirty="0"/>
          </a:p>
        </p:txBody>
      </p:sp>
      <p:sp>
        <p:nvSpPr>
          <p:cNvPr id="9" name="Text 6"/>
          <p:cNvSpPr txBox="1"/>
          <p:nvPr/>
        </p:nvSpPr>
        <p:spPr>
          <a:xfrm>
            <a:off x="6217920" y="2240280"/>
            <a:ext cx="5440680" cy="1600200"/>
          </a:xfrm>
          <a:prstGeom prst="rect">
            <a:avLst/>
          </a:prstGeom>
          <a:noFill/>
          <a:ln/>
        </p:spPr>
        <p:txBody>
          <a:bodyPr wrap="square" lIns="0" tIns="0" rIns="0" bIns="0" rtlCol="0" anchor="t"/>
          <a:lstStyle/>
          <a:p>
            <a:pPr indent="0" marL="0">
              <a:buNone/>
            </a:pPr>
            <a:r>
              <a:rPr lang="en-US" sz="1400" dirty="0">
                <a:solidFill>
                  <a:srgbClr val="17211D"/>
                </a:solidFill>
                <a:latin typeface="Calibri" pitchFamily="34" charset="0"/>
                <a:ea typeface="Calibri" pitchFamily="34" charset="-122"/>
                <a:cs typeface="Calibri" pitchFamily="34" charset="-120"/>
              </a:rPr>
              <a:t>Commandé par le roi Manuel Ier au début du XVIe siècle et financé grâce au commerce des épices, il célèbre le voyage de Vasco de Gama. On y trouve les tombeaux de Vasco de Gama et du poète Luís de Camões. Et c'est de ses moines que vient la recette du pastel de nata !</a:t>
            </a:r>
            <a:endParaRPr lang="en-US" sz="1400" dirty="0"/>
          </a:p>
        </p:txBody>
      </p:sp>
      <p:sp>
        <p:nvSpPr>
          <p:cNvPr id="10" name="Shape 7"/>
          <p:cNvSpPr/>
          <p:nvPr/>
        </p:nvSpPr>
        <p:spPr>
          <a:xfrm>
            <a:off x="6217920" y="3931920"/>
            <a:ext cx="5440680" cy="502920"/>
          </a:xfrm>
          <a:prstGeom prst="roundRect">
            <a:avLst>
              <a:gd name="adj" fmla="val 14545"/>
            </a:avLst>
          </a:prstGeom>
          <a:solidFill>
            <a:srgbClr val="EAF0F8"/>
          </a:solidFill>
          <a:ln w="12700">
            <a:solidFill>
              <a:srgbClr val="EAF0F8"/>
            </a:solidFill>
            <a:prstDash val="solid"/>
          </a:ln>
          <a:effectLst>
            <a:outerShdw sx="100000" sy="100000" kx="0" ky="0" algn="bl" rotWithShape="0" blurRad="101600" dist="38100" dir="5400000">
              <a:srgbClr val="000000">
                <a:alpha val="18000"/>
              </a:srgbClr>
            </a:outerShdw>
          </a:effectLst>
        </p:spPr>
      </p:sp>
      <p:sp>
        <p:nvSpPr>
          <p:cNvPr id="11" name="Text 8"/>
          <p:cNvSpPr txBox="1"/>
          <p:nvPr/>
        </p:nvSpPr>
        <p:spPr>
          <a:xfrm>
            <a:off x="6400800" y="3931920"/>
            <a:ext cx="5166360" cy="502920"/>
          </a:xfrm>
          <a:prstGeom prst="rect">
            <a:avLst/>
          </a:prstGeom>
          <a:noFill/>
          <a:ln/>
        </p:spPr>
        <p:txBody>
          <a:bodyPr wrap="square" lIns="0" tIns="0" rIns="0" bIns="0" rtlCol="0" anchor="ctr"/>
          <a:lstStyle/>
          <a:p>
            <a:pPr indent="0" marL="0">
              <a:buNone/>
            </a:pPr>
            <a:r>
              <a:rPr lang="en-US" sz="1300" b="1" dirty="0">
                <a:solidFill>
                  <a:srgbClr val="17211D"/>
                </a:solidFill>
                <a:latin typeface="Calibri" pitchFamily="34" charset="0"/>
                <a:ea typeface="Calibri" pitchFamily="34" charset="-122"/>
                <a:cs typeface="Calibri" pitchFamily="34" charset="-120"/>
              </a:rPr>
              <a:t>Patrimoine mondial de l'UNESCO depuis 1983</a:t>
            </a:r>
            <a:endParaRPr lang="en-US" sz="1300" dirty="0"/>
          </a:p>
        </p:txBody>
      </p:sp>
      <p:sp>
        <p:nvSpPr>
          <p:cNvPr id="12" name="Shape 9"/>
          <p:cNvSpPr/>
          <p:nvPr/>
        </p:nvSpPr>
        <p:spPr>
          <a:xfrm>
            <a:off x="6217920" y="4553712"/>
            <a:ext cx="5440680" cy="502920"/>
          </a:xfrm>
          <a:prstGeom prst="roundRect">
            <a:avLst>
              <a:gd name="adj" fmla="val 14545"/>
            </a:avLst>
          </a:prstGeom>
          <a:solidFill>
            <a:srgbClr val="EAF0F8"/>
          </a:solidFill>
          <a:ln w="12700">
            <a:solidFill>
              <a:srgbClr val="EAF0F8"/>
            </a:solidFill>
            <a:prstDash val="solid"/>
          </a:ln>
          <a:effectLst>
            <a:outerShdw sx="100000" sy="100000" kx="0" ky="0" algn="bl" rotWithShape="0" blurRad="101600" dist="38100" dir="5400000">
              <a:srgbClr val="000000">
                <a:alpha val="18000"/>
              </a:srgbClr>
            </a:outerShdw>
          </a:effectLst>
        </p:spPr>
      </p:sp>
      <p:sp>
        <p:nvSpPr>
          <p:cNvPr id="13" name="Text 10"/>
          <p:cNvSpPr txBox="1"/>
          <p:nvPr/>
        </p:nvSpPr>
        <p:spPr>
          <a:xfrm>
            <a:off x="6400800" y="4553712"/>
            <a:ext cx="5166360" cy="502920"/>
          </a:xfrm>
          <a:prstGeom prst="rect">
            <a:avLst/>
          </a:prstGeom>
          <a:noFill/>
          <a:ln/>
        </p:spPr>
        <p:txBody>
          <a:bodyPr wrap="square" lIns="0" tIns="0" rIns="0" bIns="0" rtlCol="0" anchor="ctr"/>
          <a:lstStyle/>
          <a:p>
            <a:pPr indent="0" marL="0">
              <a:buNone/>
            </a:pPr>
            <a:r>
              <a:rPr lang="en-US" sz="1300" b="1" dirty="0">
                <a:solidFill>
                  <a:srgbClr val="17211D"/>
                </a:solidFill>
                <a:latin typeface="Calibri" pitchFamily="34" charset="0"/>
                <a:ea typeface="Calibri" pitchFamily="34" charset="-122"/>
                <a:cs typeface="Calibri" pitchFamily="34" charset="-120"/>
              </a:rPr>
              <a:t>Tombeaux de Vasco de Gama et de Camões</a:t>
            </a:r>
            <a:endParaRPr lang="en-US" sz="130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18D"/>
                </a:solidFill>
                <a:latin typeface="Calibri"/>
                <a:ea typeface="Calibri"/>
                <a:cs typeface="Calibri"/>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pic>
        <p:nvPicPr>
          <p:cNvPr id="2" name="Image 0" descr="/home/user/Portugal-Website/images/photos/w-vgama.jpg">    </p:cNvPr>
          <p:cNvPicPr>
            <a:picLocks noChangeAspect="1"/>
          </p:cNvPicPr>
          <p:nvPr/>
        </p:nvPicPr>
        <p:blipFill>
          <a:blip r:embed="rId1"/>
          <a:srcRect l="0" r="0" t="0" b="0"/>
          <a:stretch/>
        </p:blipFill>
        <p:spPr>
          <a:xfrm>
            <a:off x="0" y="0"/>
            <a:ext cx="5760720" cy="4206240"/>
          </a:xfrm>
          <a:prstGeom prst="rect">
            <a:avLst/>
          </a:prstGeom>
        </p:spPr>
      </p:pic>
      <p:pic>
        <p:nvPicPr>
          <p:cNvPr id="3" name="Image 1" descr="/home/user/Portugal-Website/images/photos/w-oceanario.jpg">    </p:cNvPr>
          <p:cNvPicPr>
            <a:picLocks noChangeAspect="1"/>
          </p:cNvPicPr>
          <p:nvPr/>
        </p:nvPicPr>
        <p:blipFill>
          <a:blip r:embed="rId2"/>
          <a:srcRect l="0" r="0" t="0" b="0"/>
          <a:stretch/>
        </p:blipFill>
        <p:spPr>
          <a:xfrm>
            <a:off x="0" y="4297680"/>
            <a:ext cx="5760720" cy="2560320"/>
          </a:xfrm>
          <a:prstGeom prst="rect">
            <a:avLst/>
          </a:prstGeom>
        </p:spPr>
      </p:pic>
      <p:sp>
        <p:nvSpPr>
          <p:cNvPr id="4" name="Shape 0"/>
          <p:cNvSpPr/>
          <p:nvPr/>
        </p:nvSpPr>
        <p:spPr>
          <a:xfrm>
            <a:off x="0" y="6473952"/>
            <a:ext cx="5760720" cy="384048"/>
          </a:xfrm>
          <a:prstGeom prst="rect">
            <a:avLst/>
          </a:prstGeom>
          <a:solidFill>
            <a:srgbClr val="000000">
              <a:alpha val="55000"/>
            </a:srgbClr>
          </a:solidFill>
          <a:ln w="12700">
            <a:solidFill>
              <a:srgbClr val="000000">
                <a:alpha val="0"/>
              </a:srgbClr>
            </a:solidFill>
            <a:prstDash val="solid"/>
          </a:ln>
        </p:spPr>
      </p:sp>
      <p:sp>
        <p:nvSpPr>
          <p:cNvPr id="5" name="Text 1"/>
          <p:cNvSpPr txBox="1"/>
          <p:nvPr/>
        </p:nvSpPr>
        <p:spPr>
          <a:xfrm>
            <a:off x="109728" y="6510528"/>
            <a:ext cx="5541264" cy="31089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L'Oceanário de Lisbonne</a:t>
            </a:r>
            <a:endParaRPr lang="en-US" sz="1100" dirty="0"/>
          </a:p>
        </p:txBody>
      </p:sp>
      <p:sp>
        <p:nvSpPr>
          <p:cNvPr id="6" name="Shape 2"/>
          <p:cNvSpPr/>
          <p:nvPr/>
        </p:nvSpPr>
        <p:spPr>
          <a:xfrm>
            <a:off x="6217920" y="502920"/>
            <a:ext cx="457200" cy="457200"/>
          </a:xfrm>
          <a:prstGeom prst="ellipse">
            <a:avLst/>
          </a:prstGeom>
          <a:solidFill>
            <a:srgbClr val="A83232"/>
          </a:solidFill>
          <a:ln w="12700">
            <a:solidFill>
              <a:srgbClr val="A83232"/>
            </a:solidFill>
            <a:prstDash val="solid"/>
          </a:ln>
        </p:spPr>
      </p:sp>
      <p:sp>
        <p:nvSpPr>
          <p:cNvPr id="7" name="Text 3"/>
          <p:cNvSpPr txBox="1"/>
          <p:nvPr/>
        </p:nvSpPr>
        <p:spPr>
          <a:xfrm>
            <a:off x="6217920" y="5029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8</a:t>
            </a:r>
            <a:endParaRPr lang="en-US" sz="1400" dirty="0"/>
          </a:p>
        </p:txBody>
      </p:sp>
      <p:sp>
        <p:nvSpPr>
          <p:cNvPr id="8" name="Text 4"/>
          <p:cNvSpPr txBox="1"/>
          <p:nvPr/>
        </p:nvSpPr>
        <p:spPr>
          <a:xfrm>
            <a:off x="6858000" y="502920"/>
            <a:ext cx="4800600" cy="274320"/>
          </a:xfrm>
          <a:prstGeom prst="rect">
            <a:avLst/>
          </a:prstGeom>
          <a:noFill/>
          <a:ln/>
        </p:spPr>
        <p:txBody>
          <a:bodyPr wrap="square" lIns="0" tIns="0" rIns="0" bIns="0" rtlCol="0" anchor="t"/>
          <a:lstStyle/>
          <a:p>
            <a:pPr indent="0" marL="0">
              <a:buNone/>
            </a:pPr>
            <a:r>
              <a:rPr lang="en-US" sz="1100" b="1" spc="200" kern="0" dirty="0">
                <a:solidFill>
                  <a:srgbClr val="1E4F8F"/>
                </a:solidFill>
                <a:latin typeface="Calibri" pitchFamily="34" charset="0"/>
                <a:ea typeface="Calibri" pitchFamily="34" charset="-122"/>
                <a:cs typeface="Calibri" pitchFamily="34" charset="-120"/>
              </a:rPr>
              <a:t>LISBONNE · PARQUE DAS NAÇÕES</a:t>
            </a:r>
            <a:endParaRPr lang="en-US" sz="1100" dirty="0"/>
          </a:p>
        </p:txBody>
      </p:sp>
      <p:sp>
        <p:nvSpPr>
          <p:cNvPr id="9" name="Text 5"/>
          <p:cNvSpPr txBox="1"/>
          <p:nvPr/>
        </p:nvSpPr>
        <p:spPr>
          <a:xfrm>
            <a:off x="6858000" y="749808"/>
            <a:ext cx="4800600" cy="822960"/>
          </a:xfrm>
          <a:prstGeom prst="rect">
            <a:avLst/>
          </a:prstGeom>
          <a:noFill/>
          <a:ln/>
        </p:spPr>
        <p:txBody>
          <a:bodyPr wrap="square" lIns="0" tIns="0" rIns="0" bIns="0" rtlCol="0" anchor="t"/>
          <a:lstStyle/>
          <a:p>
            <a:pPr indent="0" marL="0">
              <a:buNone/>
            </a:pPr>
            <a:r>
              <a:rPr lang="en-US" sz="2600" b="1" dirty="0">
                <a:solidFill>
                  <a:srgbClr val="174A3A"/>
                </a:solidFill>
                <a:latin typeface="Cambria" pitchFamily="34" charset="0"/>
                <a:ea typeface="Cambria" pitchFamily="34" charset="-122"/>
                <a:cs typeface="Cambria" pitchFamily="34" charset="-120"/>
              </a:rPr>
              <a:t>Le pont Vasco de Gama et l'Expo 98</a:t>
            </a:r>
            <a:endParaRPr lang="en-US" sz="2600" dirty="0"/>
          </a:p>
        </p:txBody>
      </p:sp>
      <p:sp>
        <p:nvSpPr>
          <p:cNvPr id="10" name="Text 6"/>
          <p:cNvSpPr txBox="1"/>
          <p:nvPr/>
        </p:nvSpPr>
        <p:spPr>
          <a:xfrm>
            <a:off x="6217920" y="1691640"/>
            <a:ext cx="5440680" cy="1737360"/>
          </a:xfrm>
          <a:prstGeom prst="rect">
            <a:avLst/>
          </a:prstGeom>
          <a:noFill/>
          <a:ln/>
        </p:spPr>
        <p:txBody>
          <a:bodyPr wrap="square" lIns="0" tIns="0" rIns="0" bIns="0" rtlCol="0" anchor="t"/>
          <a:lstStyle/>
          <a:p>
            <a:pPr indent="0" marL="0">
              <a:buNone/>
            </a:pPr>
            <a:r>
              <a:rPr lang="en-US" sz="1400" dirty="0">
                <a:solidFill>
                  <a:srgbClr val="17211D"/>
                </a:solidFill>
                <a:latin typeface="Calibri" pitchFamily="34" charset="0"/>
                <a:ea typeface="Calibri" pitchFamily="34" charset="-122"/>
                <a:cs typeface="Calibri" pitchFamily="34" charset="-120"/>
              </a:rPr>
              <a:t>Inauguré le 29 mars 1998 pour l'Exposition universelle, 500 ans après l'arrivée de Vasco de Gama en Inde, ce pont à haubans traverse l'estuaire du Tage. L'Expo 98, sur le thème « Les océans, un patrimoine pour le futur », a accueilli plus de 10 millions de visiteurs et a transformé tout un quartier de Lisbonne.</a:t>
            </a:r>
            <a:endParaRPr lang="en-US" sz="1400" dirty="0"/>
          </a:p>
        </p:txBody>
      </p:sp>
      <p:sp>
        <p:nvSpPr>
          <p:cNvPr id="11" name="Shape 7"/>
          <p:cNvSpPr/>
          <p:nvPr/>
        </p:nvSpPr>
        <p:spPr>
          <a:xfrm>
            <a:off x="6217920" y="3520440"/>
            <a:ext cx="5440680" cy="502920"/>
          </a:xfrm>
          <a:prstGeom prst="roundRect">
            <a:avLst>
              <a:gd name="adj" fmla="val 14545"/>
            </a:avLst>
          </a:prstGeom>
          <a:solidFill>
            <a:srgbClr val="EAF0F8"/>
          </a:solidFill>
          <a:ln w="12700">
            <a:solidFill>
              <a:srgbClr val="EAF0F8"/>
            </a:solidFill>
            <a:prstDash val="solid"/>
          </a:ln>
          <a:effectLst>
            <a:outerShdw sx="100000" sy="100000" kx="0" ky="0" algn="bl" rotWithShape="0" blurRad="101600" dist="38100" dir="5400000">
              <a:srgbClr val="000000">
                <a:alpha val="18000"/>
              </a:srgbClr>
            </a:outerShdw>
          </a:effectLst>
        </p:spPr>
      </p:sp>
      <p:sp>
        <p:nvSpPr>
          <p:cNvPr id="12" name="Text 8"/>
          <p:cNvSpPr txBox="1"/>
          <p:nvPr/>
        </p:nvSpPr>
        <p:spPr>
          <a:xfrm>
            <a:off x="6400800" y="3520440"/>
            <a:ext cx="5166360" cy="502920"/>
          </a:xfrm>
          <a:prstGeom prst="rect">
            <a:avLst/>
          </a:prstGeom>
          <a:noFill/>
          <a:ln/>
        </p:spPr>
        <p:txBody>
          <a:bodyPr wrap="square" lIns="0" tIns="0" rIns="0" bIns="0" rtlCol="0" anchor="ctr"/>
          <a:lstStyle/>
          <a:p>
            <a:pPr indent="0" marL="0">
              <a:buNone/>
            </a:pPr>
            <a:r>
              <a:rPr lang="en-US" sz="1300" b="1" dirty="0">
                <a:solidFill>
                  <a:srgbClr val="17211D"/>
                </a:solidFill>
                <a:latin typeface="Calibri" pitchFamily="34" charset="0"/>
                <a:ea typeface="Calibri" pitchFamily="34" charset="-122"/>
                <a:cs typeface="Calibri" pitchFamily="34" charset="-120"/>
              </a:rPr>
              <a:t>17,2 km de long, dont 12,3 km au-dessus de l'eau</a:t>
            </a:r>
            <a:endParaRPr lang="en-US" sz="1300" dirty="0"/>
          </a:p>
        </p:txBody>
      </p:sp>
      <p:sp>
        <p:nvSpPr>
          <p:cNvPr id="13" name="Shape 9"/>
          <p:cNvSpPr/>
          <p:nvPr/>
        </p:nvSpPr>
        <p:spPr>
          <a:xfrm>
            <a:off x="6217920" y="4142232"/>
            <a:ext cx="5440680" cy="502920"/>
          </a:xfrm>
          <a:prstGeom prst="roundRect">
            <a:avLst>
              <a:gd name="adj" fmla="val 14545"/>
            </a:avLst>
          </a:prstGeom>
          <a:solidFill>
            <a:srgbClr val="EAF0F8"/>
          </a:solidFill>
          <a:ln w="12700">
            <a:solidFill>
              <a:srgbClr val="EAF0F8"/>
            </a:solidFill>
            <a:prstDash val="solid"/>
          </a:ln>
          <a:effectLst>
            <a:outerShdw sx="100000" sy="100000" kx="0" ky="0" algn="bl" rotWithShape="0" blurRad="101600" dist="38100" dir="5400000">
              <a:srgbClr val="000000">
                <a:alpha val="18000"/>
              </a:srgbClr>
            </a:outerShdw>
          </a:effectLst>
        </p:spPr>
      </p:sp>
      <p:sp>
        <p:nvSpPr>
          <p:cNvPr id="14" name="Text 10"/>
          <p:cNvSpPr txBox="1"/>
          <p:nvPr/>
        </p:nvSpPr>
        <p:spPr>
          <a:xfrm>
            <a:off x="6400800" y="4142232"/>
            <a:ext cx="5166360" cy="502920"/>
          </a:xfrm>
          <a:prstGeom prst="rect">
            <a:avLst/>
          </a:prstGeom>
          <a:noFill/>
          <a:ln/>
        </p:spPr>
        <p:txBody>
          <a:bodyPr wrap="square" lIns="0" tIns="0" rIns="0" bIns="0" rtlCol="0" anchor="ctr"/>
          <a:lstStyle/>
          <a:p>
            <a:pPr indent="0" marL="0">
              <a:buNone/>
            </a:pPr>
            <a:r>
              <a:rPr lang="en-US" sz="1300" b="1" dirty="0">
                <a:solidFill>
                  <a:srgbClr val="17211D"/>
                </a:solidFill>
                <a:latin typeface="Calibri" pitchFamily="34" charset="0"/>
                <a:ea typeface="Calibri" pitchFamily="34" charset="-122"/>
                <a:cs typeface="Calibri" pitchFamily="34" charset="-120"/>
              </a:rPr>
              <a:t>Le plus long pont d'Europe à son ouverture</a:t>
            </a:r>
            <a:endParaRPr lang="en-US" sz="1300" dirty="0"/>
          </a:p>
        </p:txBody>
      </p:sp>
      <p:sp>
        <p:nvSpPr>
          <p:cNvPr id="15" name="Text 11"/>
          <p:cNvSpPr txBox="1"/>
          <p:nvPr/>
        </p:nvSpPr>
        <p:spPr>
          <a:xfrm>
            <a:off x="6217920" y="4809744"/>
            <a:ext cx="5440680" cy="1005840"/>
          </a:xfrm>
          <a:prstGeom prst="rect">
            <a:avLst/>
          </a:prstGeom>
          <a:noFill/>
          <a:ln/>
        </p:spPr>
        <p:txBody>
          <a:bodyPr wrap="square" lIns="0" tIns="0" rIns="0" bIns="0" rtlCol="0" anchor="t"/>
          <a:lstStyle/>
          <a:p>
            <a:pPr indent="0" marL="0">
              <a:buNone/>
            </a:pPr>
            <a:r>
              <a:rPr lang="en-US" sz="1200" dirty="0">
                <a:solidFill>
                  <a:srgbClr val="4A524E"/>
                </a:solidFill>
                <a:latin typeface="Calibri" pitchFamily="34" charset="0"/>
                <a:ea typeface="Calibri" pitchFamily="34" charset="-122"/>
                <a:cs typeface="Calibri" pitchFamily="34" charset="-120"/>
              </a:rPr>
              <a:t>L'Oceanário de Lisbonne — Construit pour l'Expo 98, c'est l'un des plus grands aquariums d'Europe, avec un bassin central de 5 millions de litres. Les voyageurs de TripAdvisor l'ont élu meilleur aquarium du monde en 2015, 2017 et 2018.</a:t>
            </a:r>
            <a:endParaRPr lang="en-US" sz="120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18D"/>
                </a:solidFill>
                <a:latin typeface="Calibri"/>
                <a:ea typeface="Calibri"/>
                <a:cs typeface="Calibri"/>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pic>
        <p:nvPicPr>
          <p:cNvPr id="2" name="Image 0" descr="/home/user/Portugal-Website/images/photos/w-alqueva.jpg">    </p:cNvPr>
          <p:cNvPicPr>
            <a:picLocks noChangeAspect="1"/>
          </p:cNvPicPr>
          <p:nvPr/>
        </p:nvPicPr>
        <p:blipFill>
          <a:blip r:embed="rId1"/>
          <a:srcRect l="0" r="0" t="0" b="0"/>
          <a:stretch/>
        </p:blipFill>
        <p:spPr>
          <a:xfrm>
            <a:off x="0" y="0"/>
            <a:ext cx="5760720" cy="6858000"/>
          </a:xfrm>
          <a:prstGeom prst="rect">
            <a:avLst/>
          </a:prstGeom>
        </p:spPr>
      </p:pic>
      <p:sp>
        <p:nvSpPr>
          <p:cNvPr id="3" name="Shape 0"/>
          <p:cNvSpPr/>
          <p:nvPr/>
        </p:nvSpPr>
        <p:spPr>
          <a:xfrm>
            <a:off x="6217920" y="502920"/>
            <a:ext cx="457200" cy="457200"/>
          </a:xfrm>
          <a:prstGeom prst="ellipse">
            <a:avLst/>
          </a:prstGeom>
          <a:solidFill>
            <a:srgbClr val="A83232"/>
          </a:solidFill>
          <a:ln w="12700">
            <a:solidFill>
              <a:srgbClr val="A83232"/>
            </a:solidFill>
            <a:prstDash val="solid"/>
          </a:ln>
        </p:spPr>
      </p:sp>
      <p:sp>
        <p:nvSpPr>
          <p:cNvPr id="4" name="Text 1"/>
          <p:cNvSpPr txBox="1"/>
          <p:nvPr/>
        </p:nvSpPr>
        <p:spPr>
          <a:xfrm>
            <a:off x="6217920" y="5029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9</a:t>
            </a:r>
            <a:endParaRPr lang="en-US" sz="1400" dirty="0"/>
          </a:p>
        </p:txBody>
      </p:sp>
      <p:sp>
        <p:nvSpPr>
          <p:cNvPr id="5" name="Text 2"/>
          <p:cNvSpPr txBox="1"/>
          <p:nvPr/>
        </p:nvSpPr>
        <p:spPr>
          <a:xfrm>
            <a:off x="6858000" y="502920"/>
            <a:ext cx="4800600" cy="274320"/>
          </a:xfrm>
          <a:prstGeom prst="rect">
            <a:avLst/>
          </a:prstGeom>
          <a:noFill/>
          <a:ln/>
        </p:spPr>
        <p:txBody>
          <a:bodyPr wrap="square" lIns="0" tIns="0" rIns="0" bIns="0" rtlCol="0" anchor="t"/>
          <a:lstStyle/>
          <a:p>
            <a:pPr indent="0" marL="0">
              <a:buNone/>
            </a:pPr>
            <a:r>
              <a:rPr lang="en-US" sz="1100" b="1" spc="200" kern="0" dirty="0">
                <a:solidFill>
                  <a:srgbClr val="1E4F8F"/>
                </a:solidFill>
                <a:latin typeface="Calibri" pitchFamily="34" charset="0"/>
                <a:ea typeface="Calibri" pitchFamily="34" charset="-122"/>
                <a:cs typeface="Calibri" pitchFamily="34" charset="-120"/>
              </a:rPr>
              <a:t>ALENTEJO · FLEUVE GUADIANA</a:t>
            </a:r>
            <a:endParaRPr lang="en-US" sz="1100" dirty="0"/>
          </a:p>
        </p:txBody>
      </p:sp>
      <p:sp>
        <p:nvSpPr>
          <p:cNvPr id="6" name="Text 3"/>
          <p:cNvSpPr txBox="1"/>
          <p:nvPr/>
        </p:nvSpPr>
        <p:spPr>
          <a:xfrm>
            <a:off x="6858000" y="749808"/>
            <a:ext cx="4800600" cy="822960"/>
          </a:xfrm>
          <a:prstGeom prst="rect">
            <a:avLst/>
          </a:prstGeom>
          <a:noFill/>
          <a:ln/>
        </p:spPr>
        <p:txBody>
          <a:bodyPr wrap="square" lIns="0" tIns="0" rIns="0" bIns="0" rtlCol="0" anchor="t"/>
          <a:lstStyle/>
          <a:p>
            <a:pPr indent="0" marL="0">
              <a:buNone/>
            </a:pPr>
            <a:r>
              <a:rPr lang="en-US" sz="2600" b="1" dirty="0">
                <a:solidFill>
                  <a:srgbClr val="174A3A"/>
                </a:solidFill>
                <a:latin typeface="Cambria" pitchFamily="34" charset="0"/>
                <a:ea typeface="Cambria" pitchFamily="34" charset="-122"/>
                <a:cs typeface="Cambria" pitchFamily="34" charset="-120"/>
              </a:rPr>
              <a:t>Le lac d'Alqueva</a:t>
            </a:r>
            <a:endParaRPr lang="en-US" sz="2600" dirty="0"/>
          </a:p>
        </p:txBody>
      </p:sp>
      <p:sp>
        <p:nvSpPr>
          <p:cNvPr id="7" name="Text 4"/>
          <p:cNvSpPr txBox="1"/>
          <p:nvPr/>
        </p:nvSpPr>
        <p:spPr>
          <a:xfrm>
            <a:off x="6217920" y="1691640"/>
            <a:ext cx="5440680" cy="1600200"/>
          </a:xfrm>
          <a:prstGeom prst="rect">
            <a:avLst/>
          </a:prstGeom>
          <a:noFill/>
          <a:ln/>
        </p:spPr>
        <p:txBody>
          <a:bodyPr wrap="square" lIns="0" tIns="0" rIns="0" bIns="0" rtlCol="0" anchor="t"/>
          <a:lstStyle/>
          <a:p>
            <a:pPr indent="0" marL="0">
              <a:buNone/>
            </a:pPr>
            <a:r>
              <a:rPr lang="en-US" sz="1400" dirty="0">
                <a:solidFill>
                  <a:srgbClr val="17211D"/>
                </a:solidFill>
                <a:latin typeface="Calibri" pitchFamily="34" charset="0"/>
                <a:ea typeface="Calibri" pitchFamily="34" charset="-122"/>
                <a:cs typeface="Calibri" pitchFamily="34" charset="-120"/>
              </a:rPr>
              <a:t>Créé par le barrage d'Alqueva sur le Guadiana et rempli en 2010, ce lac immense irrigue l'Alentejo, produit de l'électricité et offre un ciel parmi les plus étoilés d'Europe.</a:t>
            </a:r>
            <a:endParaRPr lang="en-US" sz="1400" dirty="0"/>
          </a:p>
        </p:txBody>
      </p:sp>
      <p:sp>
        <p:nvSpPr>
          <p:cNvPr id="8" name="Shape 5"/>
          <p:cNvSpPr/>
          <p:nvPr/>
        </p:nvSpPr>
        <p:spPr>
          <a:xfrm>
            <a:off x="6217920" y="3383280"/>
            <a:ext cx="5440680" cy="502920"/>
          </a:xfrm>
          <a:prstGeom prst="roundRect">
            <a:avLst>
              <a:gd name="adj" fmla="val 14545"/>
            </a:avLst>
          </a:prstGeom>
          <a:solidFill>
            <a:srgbClr val="EAF0F8"/>
          </a:solidFill>
          <a:ln w="12700">
            <a:solidFill>
              <a:srgbClr val="EAF0F8"/>
            </a:solidFill>
            <a:prstDash val="solid"/>
          </a:ln>
          <a:effectLst>
            <a:outerShdw sx="100000" sy="100000" kx="0" ky="0" algn="bl" rotWithShape="0" blurRad="101600" dist="38100" dir="5400000">
              <a:srgbClr val="000000">
                <a:alpha val="18000"/>
              </a:srgbClr>
            </a:outerShdw>
          </a:effectLst>
        </p:spPr>
      </p:sp>
      <p:sp>
        <p:nvSpPr>
          <p:cNvPr id="9" name="Text 6"/>
          <p:cNvSpPr txBox="1"/>
          <p:nvPr/>
        </p:nvSpPr>
        <p:spPr>
          <a:xfrm>
            <a:off x="6400800" y="3383280"/>
            <a:ext cx="5166360" cy="502920"/>
          </a:xfrm>
          <a:prstGeom prst="rect">
            <a:avLst/>
          </a:prstGeom>
          <a:noFill/>
          <a:ln/>
        </p:spPr>
        <p:txBody>
          <a:bodyPr wrap="square" lIns="0" tIns="0" rIns="0" bIns="0" rtlCol="0" anchor="ctr"/>
          <a:lstStyle/>
          <a:p>
            <a:pPr indent="0" marL="0">
              <a:buNone/>
            </a:pPr>
            <a:r>
              <a:rPr lang="en-US" sz="1300" b="1" dirty="0">
                <a:solidFill>
                  <a:srgbClr val="17211D"/>
                </a:solidFill>
                <a:latin typeface="Calibri" pitchFamily="34" charset="0"/>
                <a:ea typeface="Calibri" pitchFamily="34" charset="-122"/>
                <a:cs typeface="Calibri" pitchFamily="34" charset="-120"/>
              </a:rPr>
              <a:t>Le plus grand lac artificiel d'Europe occidentale : environ 250 km²</a:t>
            </a:r>
            <a:endParaRPr lang="en-US" sz="1300" dirty="0"/>
          </a:p>
        </p:txBody>
      </p:sp>
      <p:sp>
        <p:nvSpPr>
          <p:cNvPr id="10" name="Shape 7"/>
          <p:cNvSpPr/>
          <p:nvPr/>
        </p:nvSpPr>
        <p:spPr>
          <a:xfrm>
            <a:off x="6217920" y="4005072"/>
            <a:ext cx="5440680" cy="502920"/>
          </a:xfrm>
          <a:prstGeom prst="roundRect">
            <a:avLst>
              <a:gd name="adj" fmla="val 14545"/>
            </a:avLst>
          </a:prstGeom>
          <a:solidFill>
            <a:srgbClr val="EAF0F8"/>
          </a:solidFill>
          <a:ln w="12700">
            <a:solidFill>
              <a:srgbClr val="EAF0F8"/>
            </a:solidFill>
            <a:prstDash val="solid"/>
          </a:ln>
          <a:effectLst>
            <a:outerShdw sx="100000" sy="100000" kx="0" ky="0" algn="bl" rotWithShape="0" blurRad="101600" dist="38100" dir="5400000">
              <a:srgbClr val="000000">
                <a:alpha val="18000"/>
              </a:srgbClr>
            </a:outerShdw>
          </a:effectLst>
        </p:spPr>
      </p:sp>
      <p:sp>
        <p:nvSpPr>
          <p:cNvPr id="11" name="Text 8"/>
          <p:cNvSpPr txBox="1"/>
          <p:nvPr/>
        </p:nvSpPr>
        <p:spPr>
          <a:xfrm>
            <a:off x="6400800" y="4005072"/>
            <a:ext cx="5166360" cy="502920"/>
          </a:xfrm>
          <a:prstGeom prst="rect">
            <a:avLst/>
          </a:prstGeom>
          <a:noFill/>
          <a:ln/>
        </p:spPr>
        <p:txBody>
          <a:bodyPr wrap="square" lIns="0" tIns="0" rIns="0" bIns="0" rtlCol="0" anchor="ctr"/>
          <a:lstStyle/>
          <a:p>
            <a:pPr indent="0" marL="0">
              <a:buNone/>
            </a:pPr>
            <a:r>
              <a:rPr lang="en-US" sz="1300" b="1" dirty="0">
                <a:solidFill>
                  <a:srgbClr val="17211D"/>
                </a:solidFill>
                <a:latin typeface="Calibri" pitchFamily="34" charset="0"/>
                <a:ea typeface="Calibri" pitchFamily="34" charset="-122"/>
                <a:cs typeface="Calibri" pitchFamily="34" charset="-120"/>
              </a:rPr>
              <a:t>Plus de 1 100 km de rives : plus que toute la côte du Portugal continental !</a:t>
            </a:r>
            <a:endParaRPr lang="en-US" sz="130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18D"/>
                </a:solidFill>
                <a:latin typeface="Calibri"/>
                <a:ea typeface="Calibri"/>
                <a:cs typeface="Calibri"/>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pic>
        <p:nvPicPr>
          <p:cNvPr id="2" name="Image 0" descr="/home/user/Portugal-Website/images/luis/benagil.jpg">    </p:cNvPr>
          <p:cNvPicPr>
            <a:picLocks noChangeAspect="1"/>
          </p:cNvPicPr>
          <p:nvPr/>
        </p:nvPicPr>
        <p:blipFill>
          <a:blip r:embed="rId1"/>
          <a:srcRect l="0" r="0" t="0" b="0"/>
          <a:stretch/>
        </p:blipFill>
        <p:spPr>
          <a:xfrm>
            <a:off x="0" y="0"/>
            <a:ext cx="5760720" cy="6858000"/>
          </a:xfrm>
          <a:prstGeom prst="rect">
            <a:avLst/>
          </a:prstGeom>
        </p:spPr>
      </p:pic>
      <p:sp>
        <p:nvSpPr>
          <p:cNvPr id="3" name="Shape 0"/>
          <p:cNvSpPr/>
          <p:nvPr/>
        </p:nvSpPr>
        <p:spPr>
          <a:xfrm>
            <a:off x="6217920" y="502920"/>
            <a:ext cx="457200" cy="457200"/>
          </a:xfrm>
          <a:prstGeom prst="ellipse">
            <a:avLst/>
          </a:prstGeom>
          <a:solidFill>
            <a:srgbClr val="A83232"/>
          </a:solidFill>
          <a:ln w="12700">
            <a:solidFill>
              <a:srgbClr val="A83232"/>
            </a:solidFill>
            <a:prstDash val="solid"/>
          </a:ln>
        </p:spPr>
      </p:sp>
      <p:sp>
        <p:nvSpPr>
          <p:cNvPr id="4" name="Text 1"/>
          <p:cNvSpPr txBox="1"/>
          <p:nvPr/>
        </p:nvSpPr>
        <p:spPr>
          <a:xfrm>
            <a:off x="6217920" y="5029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10</a:t>
            </a:r>
            <a:endParaRPr lang="en-US" sz="1400" dirty="0"/>
          </a:p>
        </p:txBody>
      </p:sp>
      <p:sp>
        <p:nvSpPr>
          <p:cNvPr id="5" name="Text 2"/>
          <p:cNvSpPr txBox="1"/>
          <p:nvPr/>
        </p:nvSpPr>
        <p:spPr>
          <a:xfrm>
            <a:off x="6858000" y="502920"/>
            <a:ext cx="4800600" cy="274320"/>
          </a:xfrm>
          <a:prstGeom prst="rect">
            <a:avLst/>
          </a:prstGeom>
          <a:noFill/>
          <a:ln/>
        </p:spPr>
        <p:txBody>
          <a:bodyPr wrap="square" lIns="0" tIns="0" rIns="0" bIns="0" rtlCol="0" anchor="t"/>
          <a:lstStyle/>
          <a:p>
            <a:pPr indent="0" marL="0">
              <a:buNone/>
            </a:pPr>
            <a:r>
              <a:rPr lang="en-US" sz="1100" b="1" spc="200" kern="0" dirty="0">
                <a:solidFill>
                  <a:srgbClr val="1E4F8F"/>
                </a:solidFill>
                <a:latin typeface="Calibri" pitchFamily="34" charset="0"/>
                <a:ea typeface="Calibri" pitchFamily="34" charset="-122"/>
                <a:cs typeface="Calibri" pitchFamily="34" charset="-120"/>
              </a:rPr>
              <a:t>ALGARVE · LAGOA</a:t>
            </a:r>
            <a:endParaRPr lang="en-US" sz="1100" dirty="0"/>
          </a:p>
        </p:txBody>
      </p:sp>
      <p:sp>
        <p:nvSpPr>
          <p:cNvPr id="6" name="Text 3"/>
          <p:cNvSpPr txBox="1"/>
          <p:nvPr/>
        </p:nvSpPr>
        <p:spPr>
          <a:xfrm>
            <a:off x="6858000" y="749808"/>
            <a:ext cx="4800600" cy="822960"/>
          </a:xfrm>
          <a:prstGeom prst="rect">
            <a:avLst/>
          </a:prstGeom>
          <a:noFill/>
          <a:ln/>
        </p:spPr>
        <p:txBody>
          <a:bodyPr wrap="square" lIns="0" tIns="0" rIns="0" bIns="0" rtlCol="0" anchor="t"/>
          <a:lstStyle/>
          <a:p>
            <a:pPr indent="0" marL="0">
              <a:buNone/>
            </a:pPr>
            <a:r>
              <a:rPr lang="en-US" sz="2600" b="1" dirty="0">
                <a:solidFill>
                  <a:srgbClr val="174A3A"/>
                </a:solidFill>
                <a:latin typeface="Cambria" pitchFamily="34" charset="0"/>
                <a:ea typeface="Cambria" pitchFamily="34" charset="-122"/>
                <a:cs typeface="Cambria" pitchFamily="34" charset="-120"/>
              </a:rPr>
              <a:t>La grotte de Benagil</a:t>
            </a:r>
            <a:endParaRPr lang="en-US" sz="2600" dirty="0"/>
          </a:p>
        </p:txBody>
      </p:sp>
      <p:sp>
        <p:nvSpPr>
          <p:cNvPr id="7" name="Text 4"/>
          <p:cNvSpPr txBox="1"/>
          <p:nvPr/>
        </p:nvSpPr>
        <p:spPr>
          <a:xfrm>
            <a:off x="6217920" y="1691640"/>
            <a:ext cx="5440680" cy="1600200"/>
          </a:xfrm>
          <a:prstGeom prst="rect">
            <a:avLst/>
          </a:prstGeom>
          <a:noFill/>
          <a:ln/>
        </p:spPr>
        <p:txBody>
          <a:bodyPr wrap="square" lIns="0" tIns="0" rIns="0" bIns="0" rtlCol="0" anchor="t"/>
          <a:lstStyle/>
          <a:p>
            <a:pPr indent="0" marL="0">
              <a:buNone/>
            </a:pPr>
            <a:r>
              <a:rPr lang="en-US" sz="1400" dirty="0">
                <a:solidFill>
                  <a:srgbClr val="17211D"/>
                </a:solidFill>
                <a:latin typeface="Calibri" pitchFamily="34" charset="0"/>
                <a:ea typeface="Calibri" pitchFamily="34" charset="-122"/>
                <a:cs typeface="Calibri" pitchFamily="34" charset="-120"/>
              </a:rPr>
              <a:t>Creusée par la mer dans les falaises dorées de l'Algarve, cette grotte possède une ouverture dans son plafond : « l'œil », par où entre la lumière du soleil. On ne peut l'atteindre que par la mer, en bateau ou en kayak.</a:t>
            </a:r>
            <a:endParaRPr lang="en-US" sz="1400" dirty="0"/>
          </a:p>
        </p:txBody>
      </p:sp>
      <p:sp>
        <p:nvSpPr>
          <p:cNvPr id="8" name="Shape 5"/>
          <p:cNvSpPr/>
          <p:nvPr/>
        </p:nvSpPr>
        <p:spPr>
          <a:xfrm>
            <a:off x="6217920" y="3383280"/>
            <a:ext cx="5440680" cy="502920"/>
          </a:xfrm>
          <a:prstGeom prst="roundRect">
            <a:avLst>
              <a:gd name="adj" fmla="val 14545"/>
            </a:avLst>
          </a:prstGeom>
          <a:solidFill>
            <a:srgbClr val="EAF0F8"/>
          </a:solidFill>
          <a:ln w="12700">
            <a:solidFill>
              <a:srgbClr val="EAF0F8"/>
            </a:solidFill>
            <a:prstDash val="solid"/>
          </a:ln>
          <a:effectLst>
            <a:outerShdw sx="100000" sy="100000" kx="0" ky="0" algn="bl" rotWithShape="0" blurRad="101600" dist="38100" dir="5400000">
              <a:srgbClr val="000000">
                <a:alpha val="18000"/>
              </a:srgbClr>
            </a:outerShdw>
          </a:effectLst>
        </p:spPr>
      </p:sp>
      <p:sp>
        <p:nvSpPr>
          <p:cNvPr id="9" name="Text 6"/>
          <p:cNvSpPr txBox="1"/>
          <p:nvPr/>
        </p:nvSpPr>
        <p:spPr>
          <a:xfrm>
            <a:off x="6400800" y="3383280"/>
            <a:ext cx="5166360" cy="502920"/>
          </a:xfrm>
          <a:prstGeom prst="rect">
            <a:avLst/>
          </a:prstGeom>
          <a:noFill/>
          <a:ln/>
        </p:spPr>
        <p:txBody>
          <a:bodyPr wrap="square" lIns="0" tIns="0" rIns="0" bIns="0" rtlCol="0" anchor="ctr"/>
          <a:lstStyle/>
          <a:p>
            <a:pPr indent="0" marL="0">
              <a:buNone/>
            </a:pPr>
            <a:r>
              <a:rPr lang="en-US" sz="1300" b="1" dirty="0">
                <a:solidFill>
                  <a:srgbClr val="17211D"/>
                </a:solidFill>
                <a:latin typeface="Calibri" pitchFamily="34" charset="0"/>
                <a:ea typeface="Calibri" pitchFamily="34" charset="-122"/>
                <a:cs typeface="Calibri" pitchFamily="34" charset="-120"/>
              </a:rPr>
              <a:t>Accessible uniquement par la mer</a:t>
            </a:r>
            <a:endParaRPr lang="en-US" sz="1300" dirty="0"/>
          </a:p>
        </p:txBody>
      </p:sp>
      <p:sp>
        <p:nvSpPr>
          <p:cNvPr id="10" name="Shape 7"/>
          <p:cNvSpPr/>
          <p:nvPr/>
        </p:nvSpPr>
        <p:spPr>
          <a:xfrm>
            <a:off x="6217920" y="4005072"/>
            <a:ext cx="5440680" cy="502920"/>
          </a:xfrm>
          <a:prstGeom prst="roundRect">
            <a:avLst>
              <a:gd name="adj" fmla="val 14545"/>
            </a:avLst>
          </a:prstGeom>
          <a:solidFill>
            <a:srgbClr val="EAF0F8"/>
          </a:solidFill>
          <a:ln w="12700">
            <a:solidFill>
              <a:srgbClr val="EAF0F8"/>
            </a:solidFill>
            <a:prstDash val="solid"/>
          </a:ln>
          <a:effectLst>
            <a:outerShdw sx="100000" sy="100000" kx="0" ky="0" algn="bl" rotWithShape="0" blurRad="101600" dist="38100" dir="5400000">
              <a:srgbClr val="000000">
                <a:alpha val="18000"/>
              </a:srgbClr>
            </a:outerShdw>
          </a:effectLst>
        </p:spPr>
      </p:sp>
      <p:sp>
        <p:nvSpPr>
          <p:cNvPr id="11" name="Text 8"/>
          <p:cNvSpPr txBox="1"/>
          <p:nvPr/>
        </p:nvSpPr>
        <p:spPr>
          <a:xfrm>
            <a:off x="6400800" y="4005072"/>
            <a:ext cx="5166360" cy="502920"/>
          </a:xfrm>
          <a:prstGeom prst="rect">
            <a:avLst/>
          </a:prstGeom>
          <a:noFill/>
          <a:ln/>
        </p:spPr>
        <p:txBody>
          <a:bodyPr wrap="square" lIns="0" tIns="0" rIns="0" bIns="0" rtlCol="0" anchor="ctr"/>
          <a:lstStyle/>
          <a:p>
            <a:pPr indent="0" marL="0">
              <a:buNone/>
            </a:pPr>
            <a:r>
              <a:rPr lang="en-US" sz="1300" b="1" dirty="0">
                <a:solidFill>
                  <a:srgbClr val="17211D"/>
                </a:solidFill>
                <a:latin typeface="Calibri" pitchFamily="34" charset="0"/>
                <a:ea typeface="Calibri" pitchFamily="34" charset="-122"/>
                <a:cs typeface="Calibri" pitchFamily="34" charset="-120"/>
              </a:rPr>
              <a:t>Parmi les grottes marines les plus célèbres du monde</a:t>
            </a:r>
            <a:endParaRPr lang="en-US" sz="130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18D"/>
                </a:solidFill>
                <a:latin typeface="Calibri"/>
                <a:ea typeface="Calibri"/>
                <a:cs typeface="Calibri"/>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pic>
        <p:nvPicPr>
          <p:cNvPr id="2" name="Image 0" descr="/home/user/Portugal-Website/images/photos/z-n222.jpg">    </p:cNvPr>
          <p:cNvPicPr>
            <a:picLocks noChangeAspect="1"/>
          </p:cNvPicPr>
          <p:nvPr/>
        </p:nvPicPr>
        <p:blipFill>
          <a:blip r:embed="rId1"/>
          <a:srcRect l="0" r="0" t="0" b="0"/>
          <a:stretch/>
        </p:blipFill>
        <p:spPr>
          <a:xfrm>
            <a:off x="0" y="0"/>
            <a:ext cx="5760720" cy="4206240"/>
          </a:xfrm>
          <a:prstGeom prst="rect">
            <a:avLst/>
          </a:prstGeom>
        </p:spPr>
      </p:pic>
      <p:pic>
        <p:nvPicPr>
          <p:cNvPr id="3" name="Image 1" descr="/home/user/Portugal-Website/images/photos/z-n222b.jpg">    </p:cNvPr>
          <p:cNvPicPr>
            <a:picLocks noChangeAspect="1"/>
          </p:cNvPicPr>
          <p:nvPr/>
        </p:nvPicPr>
        <p:blipFill>
          <a:blip r:embed="rId2"/>
          <a:srcRect l="0" r="0" t="0" b="0"/>
          <a:stretch/>
        </p:blipFill>
        <p:spPr>
          <a:xfrm>
            <a:off x="0" y="4297680"/>
            <a:ext cx="5760720" cy="2560320"/>
          </a:xfrm>
          <a:prstGeom prst="rect">
            <a:avLst/>
          </a:prstGeom>
        </p:spPr>
      </p:pic>
      <p:sp>
        <p:nvSpPr>
          <p:cNvPr id="4" name="Shape 0"/>
          <p:cNvSpPr/>
          <p:nvPr/>
        </p:nvSpPr>
        <p:spPr>
          <a:xfrm>
            <a:off x="6217920" y="502920"/>
            <a:ext cx="1005840" cy="457200"/>
          </a:xfrm>
          <a:prstGeom prst="roundRect">
            <a:avLst>
              <a:gd name="adj" fmla="val 50000"/>
            </a:avLst>
          </a:prstGeom>
          <a:solidFill>
            <a:srgbClr val="C8102E"/>
          </a:solidFill>
          <a:ln w="12700">
            <a:solidFill>
              <a:srgbClr val="C8102E"/>
            </a:solidFill>
            <a:prstDash val="solid"/>
          </a:ln>
        </p:spPr>
      </p:sp>
      <p:sp>
        <p:nvSpPr>
          <p:cNvPr id="5" name="Text 1"/>
          <p:cNvSpPr txBox="1"/>
          <p:nvPr/>
        </p:nvSpPr>
        <p:spPr>
          <a:xfrm>
            <a:off x="6217920" y="502920"/>
            <a:ext cx="100584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N222</a:t>
            </a:r>
            <a:endParaRPr lang="en-US" sz="1400" dirty="0"/>
          </a:p>
        </p:txBody>
      </p:sp>
      <p:sp>
        <p:nvSpPr>
          <p:cNvPr id="6" name="Text 2"/>
          <p:cNvSpPr txBox="1"/>
          <p:nvPr/>
        </p:nvSpPr>
        <p:spPr>
          <a:xfrm>
            <a:off x="7406640" y="502920"/>
            <a:ext cx="4251960" cy="274320"/>
          </a:xfrm>
          <a:prstGeom prst="rect">
            <a:avLst/>
          </a:prstGeom>
          <a:noFill/>
          <a:ln/>
        </p:spPr>
        <p:txBody>
          <a:bodyPr wrap="square" lIns="0" tIns="0" rIns="0" bIns="0" rtlCol="0" anchor="t"/>
          <a:lstStyle/>
          <a:p>
            <a:pPr indent="0" marL="0">
              <a:buNone/>
            </a:pPr>
            <a:r>
              <a:rPr lang="en-US" sz="1100" b="1" spc="200" kern="0" dirty="0">
                <a:solidFill>
                  <a:srgbClr val="1E4F8F"/>
                </a:solidFill>
                <a:latin typeface="Calibri" pitchFamily="34" charset="0"/>
                <a:ea typeface="Calibri" pitchFamily="34" charset="-122"/>
                <a:cs typeface="Calibri" pitchFamily="34" charset="-120"/>
              </a:rPr>
              <a:t>DOURO · DE GAIA À ALMENDRA</a:t>
            </a:r>
            <a:endParaRPr lang="en-US" sz="1100" dirty="0"/>
          </a:p>
        </p:txBody>
      </p:sp>
      <p:sp>
        <p:nvSpPr>
          <p:cNvPr id="7" name="Text 3"/>
          <p:cNvSpPr txBox="1"/>
          <p:nvPr/>
        </p:nvSpPr>
        <p:spPr>
          <a:xfrm>
            <a:off x="7406640" y="749808"/>
            <a:ext cx="4251960" cy="640080"/>
          </a:xfrm>
          <a:prstGeom prst="rect">
            <a:avLst/>
          </a:prstGeom>
          <a:noFill/>
          <a:ln/>
        </p:spPr>
        <p:txBody>
          <a:bodyPr wrap="square" lIns="0" tIns="0" rIns="0" bIns="0" rtlCol="0" anchor="t"/>
          <a:lstStyle/>
          <a:p>
            <a:pPr indent="0" marL="0">
              <a:buNone/>
            </a:pPr>
            <a:r>
              <a:rPr lang="en-US" sz="2600" b="1" dirty="0">
                <a:solidFill>
                  <a:srgbClr val="174A3A"/>
                </a:solidFill>
                <a:latin typeface="Cambria" pitchFamily="34" charset="0"/>
                <a:ea typeface="Cambria" pitchFamily="34" charset="-122"/>
                <a:cs typeface="Cambria" pitchFamily="34" charset="-120"/>
              </a:rPr>
              <a:t>La route N222</a:t>
            </a:r>
            <a:endParaRPr lang="en-US" sz="2600" dirty="0"/>
          </a:p>
        </p:txBody>
      </p:sp>
      <p:sp>
        <p:nvSpPr>
          <p:cNvPr id="8" name="Text 4"/>
          <p:cNvSpPr txBox="1"/>
          <p:nvPr/>
        </p:nvSpPr>
        <p:spPr>
          <a:xfrm>
            <a:off x="6217920" y="1600200"/>
            <a:ext cx="5440680" cy="2377440"/>
          </a:xfrm>
          <a:prstGeom prst="rect">
            <a:avLst/>
          </a:prstGeom>
          <a:noFill/>
          <a:ln/>
        </p:spPr>
        <p:txBody>
          <a:bodyPr wrap="square" lIns="0" tIns="0" rIns="0" bIns="0" rtlCol="0" anchor="t"/>
          <a:lstStyle/>
          <a:p>
            <a:pPr indent="0" marL="0">
              <a:buNone/>
            </a:pPr>
            <a:r>
              <a:rPr lang="en-US" sz="1400" dirty="0">
                <a:solidFill>
                  <a:srgbClr val="17211D"/>
                </a:solidFill>
                <a:latin typeface="Calibri" pitchFamily="34" charset="0"/>
                <a:ea typeface="Calibri" pitchFamily="34" charset="-122"/>
                <a:cs typeface="Calibri" pitchFamily="34" charset="-120"/>
              </a:rPr>
              <a:t>La route nationale 222 longe le Douro sur environ 226 km, de Vila Nova de Gaia jusqu'à Almendra, près de Vila Nova de Foz Côa. Son tronçon le plus célèbre, entre Peso da Régua et Pinhão, serpente au bord du fleuve, au milieu des vignobles en terrasses. En 2015, une étude du loueur de voitures Avis l'a classée meilleure route du monde à conduire.</a:t>
            </a:r>
            <a:endParaRPr lang="en-US" sz="1400" dirty="0"/>
          </a:p>
        </p:txBody>
      </p:sp>
      <p:sp>
        <p:nvSpPr>
          <p:cNvPr id="9" name="Shape 5"/>
          <p:cNvSpPr/>
          <p:nvPr/>
        </p:nvSpPr>
        <p:spPr>
          <a:xfrm>
            <a:off x="6217920" y="4069080"/>
            <a:ext cx="5440680" cy="502920"/>
          </a:xfrm>
          <a:prstGeom prst="roundRect">
            <a:avLst>
              <a:gd name="adj" fmla="val 14545"/>
            </a:avLst>
          </a:prstGeom>
          <a:solidFill>
            <a:srgbClr val="EAF0F8"/>
          </a:solidFill>
          <a:ln w="12700">
            <a:solidFill>
              <a:srgbClr val="EAF0F8"/>
            </a:solidFill>
            <a:prstDash val="solid"/>
          </a:ln>
          <a:effectLst>
            <a:outerShdw sx="100000" sy="100000" kx="0" ky="0" algn="bl" rotWithShape="0" blurRad="101600" dist="38100" dir="5400000">
              <a:srgbClr val="000000">
                <a:alpha val="18000"/>
              </a:srgbClr>
            </a:outerShdw>
          </a:effectLst>
        </p:spPr>
      </p:sp>
      <p:sp>
        <p:nvSpPr>
          <p:cNvPr id="10" name="Text 6"/>
          <p:cNvSpPr txBox="1"/>
          <p:nvPr/>
        </p:nvSpPr>
        <p:spPr>
          <a:xfrm>
            <a:off x="6400800" y="4069080"/>
            <a:ext cx="5166360" cy="502920"/>
          </a:xfrm>
          <a:prstGeom prst="rect">
            <a:avLst/>
          </a:prstGeom>
          <a:noFill/>
          <a:ln/>
        </p:spPr>
        <p:txBody>
          <a:bodyPr wrap="square" lIns="0" tIns="0" rIns="0" bIns="0" rtlCol="0" anchor="ctr"/>
          <a:lstStyle/>
          <a:p>
            <a:pPr indent="0" marL="0">
              <a:buNone/>
            </a:pPr>
            <a:r>
              <a:rPr lang="en-US" sz="1250" b="1" dirty="0">
                <a:solidFill>
                  <a:srgbClr val="17211D"/>
                </a:solidFill>
                <a:latin typeface="Calibri" pitchFamily="34" charset="0"/>
                <a:ea typeface="Calibri" pitchFamily="34" charset="-122"/>
                <a:cs typeface="Calibri" pitchFamily="34" charset="-120"/>
              </a:rPr>
              <a:t>27 km et 93 virages entre Régua et Pinhão</a:t>
            </a:r>
            <a:endParaRPr lang="en-US" sz="1250" dirty="0"/>
          </a:p>
        </p:txBody>
      </p:sp>
      <p:sp>
        <p:nvSpPr>
          <p:cNvPr id="11" name="Shape 7"/>
          <p:cNvSpPr/>
          <p:nvPr/>
        </p:nvSpPr>
        <p:spPr>
          <a:xfrm>
            <a:off x="6217920" y="4690872"/>
            <a:ext cx="5440680" cy="502920"/>
          </a:xfrm>
          <a:prstGeom prst="roundRect">
            <a:avLst>
              <a:gd name="adj" fmla="val 14545"/>
            </a:avLst>
          </a:prstGeom>
          <a:solidFill>
            <a:srgbClr val="EAF0F8"/>
          </a:solidFill>
          <a:ln w="12700">
            <a:solidFill>
              <a:srgbClr val="EAF0F8"/>
            </a:solidFill>
            <a:prstDash val="solid"/>
          </a:ln>
          <a:effectLst>
            <a:outerShdw sx="100000" sy="100000" kx="0" ky="0" algn="bl" rotWithShape="0" blurRad="101600" dist="38100" dir="5400000">
              <a:srgbClr val="000000">
                <a:alpha val="18000"/>
              </a:srgbClr>
            </a:outerShdw>
          </a:effectLst>
        </p:spPr>
      </p:sp>
      <p:sp>
        <p:nvSpPr>
          <p:cNvPr id="12" name="Text 8"/>
          <p:cNvSpPr txBox="1"/>
          <p:nvPr/>
        </p:nvSpPr>
        <p:spPr>
          <a:xfrm>
            <a:off x="6400800" y="4690872"/>
            <a:ext cx="5166360" cy="502920"/>
          </a:xfrm>
          <a:prstGeom prst="rect">
            <a:avLst/>
          </a:prstGeom>
          <a:noFill/>
          <a:ln/>
        </p:spPr>
        <p:txBody>
          <a:bodyPr wrap="square" lIns="0" tIns="0" rIns="0" bIns="0" rtlCol="0" anchor="ctr"/>
          <a:lstStyle/>
          <a:p>
            <a:pPr indent="0" marL="0">
              <a:buNone/>
            </a:pPr>
            <a:r>
              <a:rPr lang="en-US" sz="1250" b="1" dirty="0">
                <a:solidFill>
                  <a:srgbClr val="17211D"/>
                </a:solidFill>
                <a:latin typeface="Calibri" pitchFamily="34" charset="0"/>
                <a:ea typeface="Calibri" pitchFamily="34" charset="-122"/>
                <a:cs typeface="Calibri" pitchFamily="34" charset="-120"/>
              </a:rPr>
              <a:t>« Meilleure route du monde à conduire » (étude Avis, 2015)</a:t>
            </a:r>
            <a:endParaRPr lang="en-US" sz="1250" dirty="0"/>
          </a:p>
        </p:txBody>
      </p:sp>
      <p:sp>
        <p:nvSpPr>
          <p:cNvPr id="13" name="Shape 9"/>
          <p:cNvSpPr/>
          <p:nvPr/>
        </p:nvSpPr>
        <p:spPr>
          <a:xfrm>
            <a:off x="6217920" y="5312664"/>
            <a:ext cx="5440680" cy="502920"/>
          </a:xfrm>
          <a:prstGeom prst="roundRect">
            <a:avLst>
              <a:gd name="adj" fmla="val 14545"/>
            </a:avLst>
          </a:prstGeom>
          <a:solidFill>
            <a:srgbClr val="EAF0F8"/>
          </a:solidFill>
          <a:ln w="12700">
            <a:solidFill>
              <a:srgbClr val="EAF0F8"/>
            </a:solidFill>
            <a:prstDash val="solid"/>
          </a:ln>
          <a:effectLst>
            <a:outerShdw sx="100000" sy="100000" kx="0" ky="0" algn="bl" rotWithShape="0" blurRad="101600" dist="38100" dir="5400000">
              <a:srgbClr val="000000">
                <a:alpha val="18000"/>
              </a:srgbClr>
            </a:outerShdw>
          </a:effectLst>
        </p:spPr>
      </p:sp>
      <p:sp>
        <p:nvSpPr>
          <p:cNvPr id="14" name="Text 10"/>
          <p:cNvSpPr txBox="1"/>
          <p:nvPr/>
        </p:nvSpPr>
        <p:spPr>
          <a:xfrm>
            <a:off x="6400800" y="5312664"/>
            <a:ext cx="5166360" cy="502920"/>
          </a:xfrm>
          <a:prstGeom prst="rect">
            <a:avLst/>
          </a:prstGeom>
          <a:noFill/>
          <a:ln/>
        </p:spPr>
        <p:txBody>
          <a:bodyPr wrap="square" lIns="0" tIns="0" rIns="0" bIns="0" rtlCol="0" anchor="ctr"/>
          <a:lstStyle/>
          <a:p>
            <a:pPr indent="0" marL="0">
              <a:buNone/>
            </a:pPr>
            <a:r>
              <a:rPr lang="en-US" sz="1250" b="1" dirty="0">
                <a:solidFill>
                  <a:srgbClr val="17211D"/>
                </a:solidFill>
                <a:latin typeface="Calibri" pitchFamily="34" charset="0"/>
                <a:ea typeface="Calibri" pitchFamily="34" charset="-122"/>
                <a:cs typeface="Calibri" pitchFamily="34" charset="-120"/>
              </a:rPr>
              <a:t>Au cœur du Haut-Douro viticole, classé à l'UNESCO en 2001</a:t>
            </a:r>
            <a:endParaRPr lang="en-US" sz="125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18D"/>
                </a:solidFill>
                <a:latin typeface="Calibri"/>
                <a:ea typeface="Calibri"/>
                <a:cs typeface="Calibri"/>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pic>
        <p:nvPicPr>
          <p:cNvPr id="2" name="Image 0" descr="/home/user/Portugal-Website/images/photos/hero-concl.jpg">    </p:cNvPr>
          <p:cNvPicPr>
            <a:picLocks noChangeAspect="1"/>
          </p:cNvPicPr>
          <p:nvPr/>
        </p:nvPicPr>
        <p:blipFill>
          <a:blip r:embed="rId1"/>
          <a:srcRect l="0" r="0" t="0" b="0"/>
          <a:stretch/>
        </p:blipFill>
        <p:spPr>
          <a:xfrm>
            <a:off x="0" y="0"/>
            <a:ext cx="12191695" cy="6858000"/>
          </a:xfrm>
          <a:prstGeom prst="rect">
            <a:avLst/>
          </a:prstGeom>
        </p:spPr>
      </p:pic>
      <p:sp>
        <p:nvSpPr>
          <p:cNvPr id="3" name="Shape 0"/>
          <p:cNvSpPr/>
          <p:nvPr/>
        </p:nvSpPr>
        <p:spPr>
          <a:xfrm>
            <a:off x="0" y="0"/>
            <a:ext cx="6766560" cy="6858000"/>
          </a:xfrm>
          <a:prstGeom prst="rect">
            <a:avLst/>
          </a:prstGeom>
          <a:solidFill>
            <a:srgbClr val="08140F">
              <a:alpha val="70000"/>
            </a:srgbClr>
          </a:solidFill>
          <a:ln w="12700">
            <a:solidFill>
              <a:srgbClr val="08140F">
                <a:alpha val="0"/>
              </a:srgbClr>
            </a:solidFill>
            <a:prstDash val="solid"/>
          </a:ln>
        </p:spPr>
      </p:sp>
      <p:sp>
        <p:nvSpPr>
          <p:cNvPr id="4" name="Text 1"/>
          <p:cNvSpPr txBox="1"/>
          <p:nvPr/>
        </p:nvSpPr>
        <p:spPr>
          <a:xfrm>
            <a:off x="822960" y="1828800"/>
            <a:ext cx="4572000" cy="365760"/>
          </a:xfrm>
          <a:prstGeom prst="rect">
            <a:avLst/>
          </a:prstGeom>
          <a:noFill/>
          <a:ln/>
        </p:spPr>
        <p:txBody>
          <a:bodyPr wrap="square" lIns="0" tIns="0" rIns="0" bIns="0" rtlCol="0" anchor="t"/>
          <a:lstStyle/>
          <a:p>
            <a:pPr indent="0" marL="0">
              <a:buNone/>
            </a:pPr>
            <a:r>
              <a:rPr lang="en-US" sz="1600" b="1" spc="300" kern="0" dirty="0">
                <a:solidFill>
                  <a:srgbClr val="F2C14E"/>
                </a:solidFill>
                <a:latin typeface="Calibri" pitchFamily="34" charset="0"/>
                <a:ea typeface="Calibri" pitchFamily="34" charset="-122"/>
                <a:cs typeface="Calibri" pitchFamily="34" charset="-120"/>
              </a:rPr>
              <a:t>08 / 08</a:t>
            </a:r>
            <a:endParaRPr lang="en-US" sz="1600" dirty="0"/>
          </a:p>
        </p:txBody>
      </p:sp>
      <p:sp>
        <p:nvSpPr>
          <p:cNvPr id="5" name="Text 2"/>
          <p:cNvSpPr txBox="1"/>
          <p:nvPr/>
        </p:nvSpPr>
        <p:spPr>
          <a:xfrm>
            <a:off x="822960" y="2240280"/>
            <a:ext cx="5760720" cy="1280160"/>
          </a:xfrm>
          <a:prstGeom prst="rect">
            <a:avLst/>
          </a:prstGeom>
          <a:noFill/>
          <a:ln/>
        </p:spPr>
        <p:txBody>
          <a:bodyPr wrap="square" lIns="0" tIns="0" rIns="0" bIns="0" rtlCol="0" anchor="t">
            <a:normAutofit/>
          </a:bodyPr>
          <a:lstStyle/>
          <a:p>
            <a:pPr indent="0" marL="0">
              <a:buNone/>
            </a:pPr>
            <a:r>
              <a:rPr lang="en-US" sz="6000" b="1" dirty="0">
                <a:solidFill>
                  <a:srgbClr val="FFFFFF"/>
                </a:solidFill>
                <a:latin typeface="Cambria" pitchFamily="34" charset="0"/>
                <a:ea typeface="Cambria" pitchFamily="34" charset="-122"/>
                <a:cs typeface="Cambria" pitchFamily="34" charset="-120"/>
              </a:rPr>
              <a:t>Conclusion</a:t>
            </a:r>
            <a:endParaRPr lang="en-US" sz="6000" dirty="0"/>
          </a:p>
        </p:txBody>
      </p:sp>
      <p:sp>
        <p:nvSpPr>
          <p:cNvPr id="6" name="Text 3"/>
          <p:cNvSpPr txBox="1"/>
          <p:nvPr/>
        </p:nvSpPr>
        <p:spPr>
          <a:xfrm>
            <a:off x="822960" y="3611880"/>
            <a:ext cx="5486400" cy="914400"/>
          </a:xfrm>
          <a:prstGeom prst="rect">
            <a:avLst/>
          </a:prstGeom>
          <a:noFill/>
          <a:ln/>
        </p:spPr>
        <p:txBody>
          <a:bodyPr wrap="square" lIns="0" tIns="0" rIns="0" bIns="0" rtlCol="0" anchor="t"/>
          <a:lstStyle/>
          <a:p>
            <a:pPr indent="0" marL="0">
              <a:buNone/>
            </a:pPr>
            <a:r>
              <a:rPr lang="en-US" sz="2400" i="1" dirty="0">
                <a:solidFill>
                  <a:srgbClr val="FFFFFF"/>
                </a:solidFill>
                <a:latin typeface="Cambria" pitchFamily="34" charset="0"/>
                <a:ea typeface="Cambria" pitchFamily="34" charset="-122"/>
                <a:cs typeface="Cambria" pitchFamily="34" charset="-120"/>
              </a:rPr>
              <a:t>Ce que le Portugal représente pour moi</a:t>
            </a:r>
            <a:endParaRPr lang="en-US" sz="2400" dirty="0"/>
          </a:p>
        </p:txBody>
      </p:sp>
      <p:sp>
        <p:nvSpPr>
          <p:cNvPr id="7" name="Text 4"/>
          <p:cNvSpPr txBox="1"/>
          <p:nvPr/>
        </p:nvSpPr>
        <p:spPr>
          <a:xfrm>
            <a:off x="822960" y="4572000"/>
            <a:ext cx="5120640" cy="1005840"/>
          </a:xfrm>
          <a:prstGeom prst="rect">
            <a:avLst/>
          </a:prstGeom>
          <a:noFill/>
          <a:ln/>
        </p:spPr>
        <p:txBody>
          <a:bodyPr wrap="square" lIns="0" tIns="0" rIns="0" bIns="0" rtlCol="0" anchor="t"/>
          <a:lstStyle/>
          <a:p>
            <a:pPr indent="0" marL="0">
              <a:buNone/>
            </a:pPr>
            <a:r>
              <a:rPr lang="en-US" sz="1500" dirty="0">
                <a:solidFill>
                  <a:srgbClr val="E6ECE8"/>
                </a:solidFill>
                <a:latin typeface="Calibri" pitchFamily="34" charset="0"/>
                <a:ea typeface="Calibri" pitchFamily="34" charset="-122"/>
                <a:cs typeface="Calibri" pitchFamily="34" charset="-120"/>
              </a:rPr>
              <a:t>Un voyage à travers un pays… et à travers mon histoire.</a:t>
            </a:r>
            <a:endParaRPr lang="en-US" sz="15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txBox="1"/>
          <p:nvPr/>
        </p:nvSpPr>
        <p:spPr>
          <a:xfrm>
            <a:off x="548640" y="411480"/>
            <a:ext cx="10972800" cy="274320"/>
          </a:xfrm>
          <a:prstGeom prst="rect">
            <a:avLst/>
          </a:prstGeom>
          <a:noFill/>
          <a:ln/>
        </p:spPr>
        <p:txBody>
          <a:bodyPr wrap="square" lIns="0" tIns="0" rIns="0" bIns="0" rtlCol="0" anchor="t"/>
          <a:lstStyle/>
          <a:p>
            <a:pPr indent="0" marL="0">
              <a:buNone/>
            </a:pPr>
            <a:r>
              <a:rPr lang="en-US" sz="1200" b="1" spc="300" kern="0" dirty="0">
                <a:solidFill>
                  <a:srgbClr val="A83232"/>
                </a:solidFill>
                <a:latin typeface="Calibri" pitchFamily="34" charset="0"/>
                <a:ea typeface="Calibri" pitchFamily="34" charset="-122"/>
                <a:cs typeface="Calibri" pitchFamily="34" charset="-120"/>
              </a:rPr>
              <a:t>MON HISTOIRE</a:t>
            </a:r>
            <a:endParaRPr lang="en-US" sz="1200" dirty="0"/>
          </a:p>
        </p:txBody>
      </p:sp>
      <p:sp>
        <p:nvSpPr>
          <p:cNvPr id="3" name="Text 1"/>
          <p:cNvSpPr txBox="1"/>
          <p:nvPr/>
        </p:nvSpPr>
        <p:spPr>
          <a:xfrm>
            <a:off x="548640" y="685800"/>
            <a:ext cx="10972800" cy="685800"/>
          </a:xfrm>
          <a:prstGeom prst="rect">
            <a:avLst/>
          </a:prstGeom>
          <a:noFill/>
          <a:ln/>
        </p:spPr>
        <p:txBody>
          <a:bodyPr wrap="square" lIns="0" tIns="0" rIns="0" bIns="0" rtlCol="0" anchor="t"/>
          <a:lstStyle/>
          <a:p>
            <a:pPr indent="0" marL="0">
              <a:buNone/>
            </a:pPr>
            <a:r>
              <a:rPr lang="en-US" sz="3400" b="1" dirty="0">
                <a:solidFill>
                  <a:srgbClr val="174A3A"/>
                </a:solidFill>
                <a:latin typeface="Cambria" pitchFamily="34" charset="0"/>
                <a:ea typeface="Cambria" pitchFamily="34" charset="-122"/>
                <a:cs typeface="Cambria" pitchFamily="34" charset="-120"/>
              </a:rPr>
              <a:t>De Caramulo au bord du Léman</a:t>
            </a:r>
            <a:endParaRPr lang="en-US" sz="3400" dirty="0"/>
          </a:p>
        </p:txBody>
      </p:sp>
      <p:sp>
        <p:nvSpPr>
          <p:cNvPr id="4" name="Shape 2"/>
          <p:cNvSpPr/>
          <p:nvPr/>
        </p:nvSpPr>
        <p:spPr>
          <a:xfrm>
            <a:off x="777240" y="1828800"/>
            <a:ext cx="10607040" cy="0"/>
          </a:xfrm>
          <a:prstGeom prst="line">
            <a:avLst/>
          </a:prstGeom>
          <a:noFill/>
          <a:ln w="25400">
            <a:solidFill>
              <a:srgbClr val="C9CFCB"/>
            </a:solidFill>
            <a:prstDash val="solid"/>
          </a:ln>
        </p:spPr>
      </p:sp>
      <p:sp>
        <p:nvSpPr>
          <p:cNvPr id="5" name="Shape 3"/>
          <p:cNvSpPr/>
          <p:nvPr/>
        </p:nvSpPr>
        <p:spPr>
          <a:xfrm>
            <a:off x="548640" y="1600200"/>
            <a:ext cx="457200" cy="457200"/>
          </a:xfrm>
          <a:prstGeom prst="ellipse">
            <a:avLst/>
          </a:prstGeom>
          <a:solidFill>
            <a:srgbClr val="174A3A"/>
          </a:solidFill>
          <a:ln w="12700">
            <a:solidFill>
              <a:srgbClr val="174A3A"/>
            </a:solidFill>
            <a:prstDash val="solid"/>
          </a:ln>
        </p:spPr>
      </p:sp>
      <p:sp>
        <p:nvSpPr>
          <p:cNvPr id="6" name="Text 4"/>
          <p:cNvSpPr txBox="1"/>
          <p:nvPr/>
        </p:nvSpPr>
        <p:spPr>
          <a:xfrm>
            <a:off x="548640" y="1600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01</a:t>
            </a:r>
            <a:endParaRPr lang="en-US" sz="1400" dirty="0"/>
          </a:p>
        </p:txBody>
      </p:sp>
      <p:sp>
        <p:nvSpPr>
          <p:cNvPr id="7" name="Text 5"/>
          <p:cNvSpPr txBox="1"/>
          <p:nvPr/>
        </p:nvSpPr>
        <p:spPr>
          <a:xfrm>
            <a:off x="548640" y="2194560"/>
            <a:ext cx="1737360" cy="685800"/>
          </a:xfrm>
          <a:prstGeom prst="rect">
            <a:avLst/>
          </a:prstGeom>
          <a:noFill/>
          <a:ln/>
        </p:spPr>
        <p:txBody>
          <a:bodyPr wrap="square" lIns="0" tIns="0" rIns="0" bIns="0" rtlCol="0" anchor="t"/>
          <a:lstStyle/>
          <a:p>
            <a:pPr indent="0" marL="0">
              <a:buNone/>
            </a:pPr>
            <a:r>
              <a:rPr lang="en-US" sz="1700" b="1" dirty="0">
                <a:solidFill>
                  <a:srgbClr val="A83232"/>
                </a:solidFill>
                <a:latin typeface="Cambria" pitchFamily="34" charset="0"/>
                <a:ea typeface="Cambria" pitchFamily="34" charset="-122"/>
                <a:cs typeface="Cambria" pitchFamily="34" charset="-120"/>
              </a:rPr>
              <a:t>Les origines</a:t>
            </a:r>
            <a:endParaRPr lang="en-US" sz="1700" dirty="0"/>
          </a:p>
        </p:txBody>
      </p:sp>
      <p:sp>
        <p:nvSpPr>
          <p:cNvPr id="8" name="Text 6"/>
          <p:cNvSpPr txBox="1"/>
          <p:nvPr/>
        </p:nvSpPr>
        <p:spPr>
          <a:xfrm>
            <a:off x="548640" y="2880360"/>
            <a:ext cx="1737360" cy="1645920"/>
          </a:xfrm>
          <a:prstGeom prst="rect">
            <a:avLst/>
          </a:prstGeom>
          <a:noFill/>
          <a:ln/>
        </p:spPr>
        <p:txBody>
          <a:bodyPr wrap="square" lIns="0" tIns="0" rIns="0" bIns="0" rtlCol="0" anchor="t"/>
          <a:lstStyle/>
          <a:p>
            <a:pPr indent="0" marL="0">
              <a:buNone/>
            </a:pPr>
            <a:r>
              <a:rPr lang="en-US" sz="1200" dirty="0">
                <a:solidFill>
                  <a:srgbClr val="17211D"/>
                </a:solidFill>
                <a:latin typeface="Calibri" pitchFamily="34" charset="0"/>
                <a:ea typeface="Calibri" pitchFamily="34" charset="-122"/>
                <a:cs typeface="Calibri" pitchFamily="34" charset="-120"/>
              </a:rPr>
              <a:t>Je grandis à Caramulo, dans la montagne près de Viseu, au centre du Portugal.</a:t>
            </a:r>
            <a:endParaRPr lang="en-US" sz="1200" dirty="0"/>
          </a:p>
        </p:txBody>
      </p:sp>
      <p:sp>
        <p:nvSpPr>
          <p:cNvPr id="9" name="Shape 7"/>
          <p:cNvSpPr/>
          <p:nvPr/>
        </p:nvSpPr>
        <p:spPr>
          <a:xfrm>
            <a:off x="2414016" y="1600200"/>
            <a:ext cx="457200" cy="457200"/>
          </a:xfrm>
          <a:prstGeom prst="ellipse">
            <a:avLst/>
          </a:prstGeom>
          <a:solidFill>
            <a:srgbClr val="A83232"/>
          </a:solidFill>
          <a:ln w="12700">
            <a:solidFill>
              <a:srgbClr val="A83232"/>
            </a:solidFill>
            <a:prstDash val="solid"/>
          </a:ln>
        </p:spPr>
      </p:sp>
      <p:sp>
        <p:nvSpPr>
          <p:cNvPr id="10" name="Text 8"/>
          <p:cNvSpPr txBox="1"/>
          <p:nvPr/>
        </p:nvSpPr>
        <p:spPr>
          <a:xfrm>
            <a:off x="2414016" y="1600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02</a:t>
            </a:r>
            <a:endParaRPr lang="en-US" sz="1400" dirty="0"/>
          </a:p>
        </p:txBody>
      </p:sp>
      <p:sp>
        <p:nvSpPr>
          <p:cNvPr id="11" name="Text 9"/>
          <p:cNvSpPr txBox="1"/>
          <p:nvPr/>
        </p:nvSpPr>
        <p:spPr>
          <a:xfrm>
            <a:off x="2414016" y="2194560"/>
            <a:ext cx="1737360" cy="685800"/>
          </a:xfrm>
          <a:prstGeom prst="rect">
            <a:avLst/>
          </a:prstGeom>
          <a:noFill/>
          <a:ln/>
        </p:spPr>
        <p:txBody>
          <a:bodyPr wrap="square" lIns="0" tIns="0" rIns="0" bIns="0" rtlCol="0" anchor="t"/>
          <a:lstStyle/>
          <a:p>
            <a:pPr indent="0" marL="0">
              <a:buNone/>
            </a:pPr>
            <a:r>
              <a:rPr lang="en-US" sz="1700" b="1" dirty="0">
                <a:solidFill>
                  <a:srgbClr val="1E4F8F"/>
                </a:solidFill>
                <a:latin typeface="Cambria" pitchFamily="34" charset="0"/>
                <a:ea typeface="Cambria" pitchFamily="34" charset="-122"/>
                <a:cs typeface="Cambria" pitchFamily="34" charset="-120"/>
              </a:rPr>
              <a:t>Santa Maria da Feira</a:t>
            </a:r>
            <a:endParaRPr lang="en-US" sz="1700" dirty="0"/>
          </a:p>
        </p:txBody>
      </p:sp>
      <p:sp>
        <p:nvSpPr>
          <p:cNvPr id="12" name="Text 10"/>
          <p:cNvSpPr txBox="1"/>
          <p:nvPr/>
        </p:nvSpPr>
        <p:spPr>
          <a:xfrm>
            <a:off x="2414016" y="2880360"/>
            <a:ext cx="1737360" cy="1645920"/>
          </a:xfrm>
          <a:prstGeom prst="rect">
            <a:avLst/>
          </a:prstGeom>
          <a:noFill/>
          <a:ln/>
        </p:spPr>
        <p:txBody>
          <a:bodyPr wrap="square" lIns="0" tIns="0" rIns="0" bIns="0" rtlCol="0" anchor="t"/>
          <a:lstStyle/>
          <a:p>
            <a:pPr indent="0" marL="0">
              <a:buNone/>
            </a:pPr>
            <a:r>
              <a:rPr lang="en-US" sz="1200" dirty="0">
                <a:solidFill>
                  <a:srgbClr val="17211D"/>
                </a:solidFill>
                <a:latin typeface="Calibri" pitchFamily="34" charset="0"/>
                <a:ea typeface="Calibri" pitchFamily="34" charset="-122"/>
                <a:cs typeface="Calibri" pitchFamily="34" charset="-120"/>
              </a:rPr>
              <a:t>Avant la Suisse, je vis à Santa Maria da Feira, la ville du château et de la Viagem Medieval.</a:t>
            </a:r>
            <a:endParaRPr lang="en-US" sz="1200" dirty="0"/>
          </a:p>
        </p:txBody>
      </p:sp>
      <p:sp>
        <p:nvSpPr>
          <p:cNvPr id="13" name="Shape 11"/>
          <p:cNvSpPr/>
          <p:nvPr/>
        </p:nvSpPr>
        <p:spPr>
          <a:xfrm>
            <a:off x="4279392" y="1600200"/>
            <a:ext cx="457200" cy="457200"/>
          </a:xfrm>
          <a:prstGeom prst="ellipse">
            <a:avLst/>
          </a:prstGeom>
          <a:solidFill>
            <a:srgbClr val="1E4F8F"/>
          </a:solidFill>
          <a:ln w="12700">
            <a:solidFill>
              <a:srgbClr val="1E4F8F"/>
            </a:solidFill>
            <a:prstDash val="solid"/>
          </a:ln>
        </p:spPr>
      </p:sp>
      <p:sp>
        <p:nvSpPr>
          <p:cNvPr id="14" name="Text 12"/>
          <p:cNvSpPr txBox="1"/>
          <p:nvPr/>
        </p:nvSpPr>
        <p:spPr>
          <a:xfrm>
            <a:off x="4279392" y="1600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03</a:t>
            </a:r>
            <a:endParaRPr lang="en-US" sz="1400" dirty="0"/>
          </a:p>
        </p:txBody>
      </p:sp>
      <p:sp>
        <p:nvSpPr>
          <p:cNvPr id="15" name="Text 13"/>
          <p:cNvSpPr txBox="1"/>
          <p:nvPr/>
        </p:nvSpPr>
        <p:spPr>
          <a:xfrm>
            <a:off x="4279392" y="2194560"/>
            <a:ext cx="1737360" cy="685800"/>
          </a:xfrm>
          <a:prstGeom prst="rect">
            <a:avLst/>
          </a:prstGeom>
          <a:noFill/>
          <a:ln/>
        </p:spPr>
        <p:txBody>
          <a:bodyPr wrap="square" lIns="0" tIns="0" rIns="0" bIns="0" rtlCol="0" anchor="t"/>
          <a:lstStyle/>
          <a:p>
            <a:pPr indent="0" marL="0">
              <a:buNone/>
            </a:pPr>
            <a:r>
              <a:rPr lang="en-US" sz="1700" b="1" dirty="0">
                <a:solidFill>
                  <a:srgbClr val="A83232"/>
                </a:solidFill>
                <a:latin typeface="Cambria" pitchFamily="34" charset="0"/>
                <a:ea typeface="Cambria" pitchFamily="34" charset="-122"/>
                <a:cs typeface="Cambria" pitchFamily="34" charset="-120"/>
              </a:rPr>
              <a:t>Mai 2013</a:t>
            </a:r>
            <a:endParaRPr lang="en-US" sz="1700" dirty="0"/>
          </a:p>
        </p:txBody>
      </p:sp>
      <p:sp>
        <p:nvSpPr>
          <p:cNvPr id="16" name="Text 14"/>
          <p:cNvSpPr txBox="1"/>
          <p:nvPr/>
        </p:nvSpPr>
        <p:spPr>
          <a:xfrm>
            <a:off x="4279392" y="2880360"/>
            <a:ext cx="1737360" cy="1645920"/>
          </a:xfrm>
          <a:prstGeom prst="rect">
            <a:avLst/>
          </a:prstGeom>
          <a:noFill/>
          <a:ln/>
        </p:spPr>
        <p:txBody>
          <a:bodyPr wrap="square" lIns="0" tIns="0" rIns="0" bIns="0" rtlCol="0" anchor="t"/>
          <a:lstStyle/>
          <a:p>
            <a:pPr indent="0" marL="0">
              <a:buNone/>
            </a:pPr>
            <a:r>
              <a:rPr lang="en-US" sz="1200" dirty="0">
                <a:solidFill>
                  <a:srgbClr val="17211D"/>
                </a:solidFill>
                <a:latin typeface="Calibri" pitchFamily="34" charset="0"/>
                <a:ea typeface="Calibri" pitchFamily="34" charset="-122"/>
                <a:cs typeface="Calibri" pitchFamily="34" charset="-120"/>
              </a:rPr>
              <a:t>J'arrive à Villeneuve et je commence à travailler pour Securitas, chez Nestlé à Lausanne.</a:t>
            </a:r>
            <a:endParaRPr lang="en-US" sz="1200" dirty="0"/>
          </a:p>
        </p:txBody>
      </p:sp>
      <p:sp>
        <p:nvSpPr>
          <p:cNvPr id="17" name="Shape 15"/>
          <p:cNvSpPr/>
          <p:nvPr/>
        </p:nvSpPr>
        <p:spPr>
          <a:xfrm>
            <a:off x="6144768" y="1600200"/>
            <a:ext cx="457200" cy="457200"/>
          </a:xfrm>
          <a:prstGeom prst="ellipse">
            <a:avLst/>
          </a:prstGeom>
          <a:solidFill>
            <a:srgbClr val="B8955A"/>
          </a:solidFill>
          <a:ln w="12700">
            <a:solidFill>
              <a:srgbClr val="B8955A"/>
            </a:solidFill>
            <a:prstDash val="solid"/>
          </a:ln>
        </p:spPr>
      </p:sp>
      <p:sp>
        <p:nvSpPr>
          <p:cNvPr id="18" name="Text 16"/>
          <p:cNvSpPr txBox="1"/>
          <p:nvPr/>
        </p:nvSpPr>
        <p:spPr>
          <a:xfrm>
            <a:off x="6144768" y="1600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04</a:t>
            </a:r>
            <a:endParaRPr lang="en-US" sz="1400" dirty="0"/>
          </a:p>
        </p:txBody>
      </p:sp>
      <p:sp>
        <p:nvSpPr>
          <p:cNvPr id="19" name="Text 17"/>
          <p:cNvSpPr txBox="1"/>
          <p:nvPr/>
        </p:nvSpPr>
        <p:spPr>
          <a:xfrm>
            <a:off x="6144768" y="2194560"/>
            <a:ext cx="1737360" cy="685800"/>
          </a:xfrm>
          <a:prstGeom prst="rect">
            <a:avLst/>
          </a:prstGeom>
          <a:noFill/>
          <a:ln/>
        </p:spPr>
        <p:txBody>
          <a:bodyPr wrap="square" lIns="0" tIns="0" rIns="0" bIns="0" rtlCol="0" anchor="t"/>
          <a:lstStyle/>
          <a:p>
            <a:pPr indent="0" marL="0">
              <a:buNone/>
            </a:pPr>
            <a:r>
              <a:rPr lang="en-US" sz="1700" b="1" dirty="0">
                <a:solidFill>
                  <a:srgbClr val="1E4F8F"/>
                </a:solidFill>
                <a:latin typeface="Cambria" pitchFamily="34" charset="0"/>
                <a:ea typeface="Cambria" pitchFamily="34" charset="-122"/>
                <a:cs typeface="Cambria" pitchFamily="34" charset="-120"/>
              </a:rPr>
              <a:t>Octobre 2013</a:t>
            </a:r>
            <a:endParaRPr lang="en-US" sz="1700" dirty="0"/>
          </a:p>
        </p:txBody>
      </p:sp>
      <p:sp>
        <p:nvSpPr>
          <p:cNvPr id="20" name="Text 18"/>
          <p:cNvSpPr txBox="1"/>
          <p:nvPr/>
        </p:nvSpPr>
        <p:spPr>
          <a:xfrm>
            <a:off x="6144768" y="2880360"/>
            <a:ext cx="1737360" cy="1645920"/>
          </a:xfrm>
          <a:prstGeom prst="rect">
            <a:avLst/>
          </a:prstGeom>
          <a:noFill/>
          <a:ln/>
        </p:spPr>
        <p:txBody>
          <a:bodyPr wrap="square" lIns="0" tIns="0" rIns="0" bIns="0" rtlCol="0" anchor="t"/>
          <a:lstStyle/>
          <a:p>
            <a:pPr indent="0" marL="0">
              <a:buNone/>
            </a:pPr>
            <a:r>
              <a:rPr lang="en-US" sz="1200" dirty="0">
                <a:solidFill>
                  <a:srgbClr val="17211D"/>
                </a:solidFill>
                <a:latin typeface="Calibri" pitchFamily="34" charset="0"/>
                <a:ea typeface="Calibri" pitchFamily="34" charset="-122"/>
                <a:cs typeface="Calibri" pitchFamily="34" charset="-120"/>
              </a:rPr>
              <a:t>Je m'installe à Vouvry, en Valais, entre le lac et les montagnes.</a:t>
            </a:r>
            <a:endParaRPr lang="en-US" sz="1200" dirty="0"/>
          </a:p>
        </p:txBody>
      </p:sp>
      <p:sp>
        <p:nvSpPr>
          <p:cNvPr id="21" name="Shape 19"/>
          <p:cNvSpPr/>
          <p:nvPr/>
        </p:nvSpPr>
        <p:spPr>
          <a:xfrm>
            <a:off x="8010144" y="1600200"/>
            <a:ext cx="457200" cy="457200"/>
          </a:xfrm>
          <a:prstGeom prst="ellipse">
            <a:avLst/>
          </a:prstGeom>
          <a:solidFill>
            <a:srgbClr val="174A3A"/>
          </a:solidFill>
          <a:ln w="12700">
            <a:solidFill>
              <a:srgbClr val="174A3A"/>
            </a:solidFill>
            <a:prstDash val="solid"/>
          </a:ln>
        </p:spPr>
      </p:sp>
      <p:sp>
        <p:nvSpPr>
          <p:cNvPr id="22" name="Text 20"/>
          <p:cNvSpPr txBox="1"/>
          <p:nvPr/>
        </p:nvSpPr>
        <p:spPr>
          <a:xfrm>
            <a:off x="8010144" y="1600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05</a:t>
            </a:r>
            <a:endParaRPr lang="en-US" sz="1400" dirty="0"/>
          </a:p>
        </p:txBody>
      </p:sp>
      <p:sp>
        <p:nvSpPr>
          <p:cNvPr id="23" name="Text 21"/>
          <p:cNvSpPr txBox="1"/>
          <p:nvPr/>
        </p:nvSpPr>
        <p:spPr>
          <a:xfrm>
            <a:off x="8010144" y="2194560"/>
            <a:ext cx="1737360" cy="685800"/>
          </a:xfrm>
          <a:prstGeom prst="rect">
            <a:avLst/>
          </a:prstGeom>
          <a:noFill/>
          <a:ln/>
        </p:spPr>
        <p:txBody>
          <a:bodyPr wrap="square" lIns="0" tIns="0" rIns="0" bIns="0" rtlCol="0" anchor="t"/>
          <a:lstStyle/>
          <a:p>
            <a:pPr indent="0" marL="0">
              <a:buNone/>
            </a:pPr>
            <a:r>
              <a:rPr lang="en-US" sz="1700" b="1" dirty="0">
                <a:solidFill>
                  <a:srgbClr val="A83232"/>
                </a:solidFill>
                <a:latin typeface="Cambria" pitchFamily="34" charset="0"/>
                <a:ea typeface="Cambria" pitchFamily="34" charset="-122"/>
                <a:cs typeface="Cambria" pitchFamily="34" charset="-120"/>
              </a:rPr>
              <a:t>Décembre 2014</a:t>
            </a:r>
            <a:endParaRPr lang="en-US" sz="1700" dirty="0"/>
          </a:p>
        </p:txBody>
      </p:sp>
      <p:sp>
        <p:nvSpPr>
          <p:cNvPr id="24" name="Text 22"/>
          <p:cNvSpPr txBox="1"/>
          <p:nvPr/>
        </p:nvSpPr>
        <p:spPr>
          <a:xfrm>
            <a:off x="8010144" y="2880360"/>
            <a:ext cx="1737360" cy="1645920"/>
          </a:xfrm>
          <a:prstGeom prst="rect">
            <a:avLst/>
          </a:prstGeom>
          <a:noFill/>
          <a:ln/>
        </p:spPr>
        <p:txBody>
          <a:bodyPr wrap="square" lIns="0" tIns="0" rIns="0" bIns="0" rtlCol="0" anchor="t"/>
          <a:lstStyle/>
          <a:p>
            <a:pPr indent="0" marL="0">
              <a:buNone/>
            </a:pPr>
            <a:r>
              <a:rPr lang="en-US" sz="1200" dirty="0">
                <a:solidFill>
                  <a:srgbClr val="17211D"/>
                </a:solidFill>
                <a:latin typeface="Calibri" pitchFamily="34" charset="0"/>
                <a:ea typeface="Calibri" pitchFamily="34" charset="-122"/>
                <a:cs typeface="Calibri" pitchFamily="34" charset="-120"/>
              </a:rPr>
              <a:t>Je suis invité à rejoindre l'équipe du centre de sécurité de Nestlé, au siège international à Vevey, où je suis responsable d'objet.</a:t>
            </a:r>
            <a:endParaRPr lang="en-US" sz="1200" dirty="0"/>
          </a:p>
        </p:txBody>
      </p:sp>
      <p:sp>
        <p:nvSpPr>
          <p:cNvPr id="25" name="Shape 23"/>
          <p:cNvSpPr/>
          <p:nvPr/>
        </p:nvSpPr>
        <p:spPr>
          <a:xfrm>
            <a:off x="9875520" y="1600200"/>
            <a:ext cx="457200" cy="457200"/>
          </a:xfrm>
          <a:prstGeom prst="ellipse">
            <a:avLst/>
          </a:prstGeom>
          <a:solidFill>
            <a:srgbClr val="A83232"/>
          </a:solidFill>
          <a:ln w="12700">
            <a:solidFill>
              <a:srgbClr val="A83232"/>
            </a:solidFill>
            <a:prstDash val="solid"/>
          </a:ln>
        </p:spPr>
      </p:sp>
      <p:sp>
        <p:nvSpPr>
          <p:cNvPr id="26" name="Text 24"/>
          <p:cNvSpPr txBox="1"/>
          <p:nvPr/>
        </p:nvSpPr>
        <p:spPr>
          <a:xfrm>
            <a:off x="9875520" y="1600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06</a:t>
            </a:r>
            <a:endParaRPr lang="en-US" sz="1400" dirty="0"/>
          </a:p>
        </p:txBody>
      </p:sp>
      <p:sp>
        <p:nvSpPr>
          <p:cNvPr id="27" name="Text 25"/>
          <p:cNvSpPr txBox="1"/>
          <p:nvPr/>
        </p:nvSpPr>
        <p:spPr>
          <a:xfrm>
            <a:off x="9875520" y="2194560"/>
            <a:ext cx="1737360" cy="685800"/>
          </a:xfrm>
          <a:prstGeom prst="rect">
            <a:avLst/>
          </a:prstGeom>
          <a:noFill/>
          <a:ln/>
        </p:spPr>
        <p:txBody>
          <a:bodyPr wrap="square" lIns="0" tIns="0" rIns="0" bIns="0" rtlCol="0" anchor="t"/>
          <a:lstStyle/>
          <a:p>
            <a:pPr indent="0" marL="0">
              <a:buNone/>
            </a:pPr>
            <a:r>
              <a:rPr lang="en-US" sz="1700" b="1" dirty="0">
                <a:solidFill>
                  <a:srgbClr val="1E4F8F"/>
                </a:solidFill>
                <a:latin typeface="Cambria" pitchFamily="34" charset="0"/>
                <a:ea typeface="Cambria" pitchFamily="34" charset="-122"/>
                <a:cs typeface="Cambria" pitchFamily="34" charset="-120"/>
              </a:rPr>
              <a:t>Aujourd'hui</a:t>
            </a:r>
            <a:endParaRPr lang="en-US" sz="1700" dirty="0"/>
          </a:p>
        </p:txBody>
      </p:sp>
      <p:sp>
        <p:nvSpPr>
          <p:cNvPr id="28" name="Text 26"/>
          <p:cNvSpPr txBox="1"/>
          <p:nvPr/>
        </p:nvSpPr>
        <p:spPr>
          <a:xfrm>
            <a:off x="9875520" y="2880360"/>
            <a:ext cx="1737360" cy="1645920"/>
          </a:xfrm>
          <a:prstGeom prst="rect">
            <a:avLst/>
          </a:prstGeom>
          <a:noFill/>
          <a:ln/>
        </p:spPr>
        <p:txBody>
          <a:bodyPr wrap="square" lIns="0" tIns="0" rIns="0" bIns="0" rtlCol="0" anchor="t"/>
          <a:lstStyle/>
          <a:p>
            <a:pPr indent="0" marL="0">
              <a:buNone/>
            </a:pPr>
            <a:r>
              <a:rPr lang="en-US" sz="1200" dirty="0">
                <a:solidFill>
                  <a:srgbClr val="17211D"/>
                </a:solidFill>
                <a:latin typeface="Calibri" pitchFamily="34" charset="0"/>
                <a:ea typeface="Calibri" pitchFamily="34" charset="-122"/>
                <a:cs typeface="Calibri" pitchFamily="34" charset="-120"/>
              </a:rPr>
              <a:t>Plus de 13 ans en Suisse, et le Portugal toujours dans le cœur.</a:t>
            </a:r>
            <a:endParaRPr lang="en-US" sz="1200" dirty="0"/>
          </a:p>
        </p:txBody>
      </p:sp>
      <p:pic>
        <p:nvPicPr>
          <p:cNvPr id="29" name="Image 0" descr="/home/user/Portugal-Website/images/luis/caramulo-vue.jpg">    </p:cNvPr>
          <p:cNvPicPr>
            <a:picLocks noChangeAspect="1"/>
          </p:cNvPicPr>
          <p:nvPr/>
        </p:nvPicPr>
        <p:blipFill>
          <a:blip r:embed="rId1"/>
          <a:srcRect l="0" r="0" t="0" b="0"/>
          <a:stretch/>
        </p:blipFill>
        <p:spPr>
          <a:xfrm>
            <a:off x="548640" y="4617720"/>
            <a:ext cx="3566160" cy="1600200"/>
          </a:xfrm>
          <a:prstGeom prst="rect">
            <a:avLst/>
          </a:prstGeom>
        </p:spPr>
      </p:pic>
      <p:sp>
        <p:nvSpPr>
          <p:cNvPr id="30" name="Shape 27"/>
          <p:cNvSpPr/>
          <p:nvPr/>
        </p:nvSpPr>
        <p:spPr>
          <a:xfrm>
            <a:off x="548640" y="5833872"/>
            <a:ext cx="3566160" cy="384048"/>
          </a:xfrm>
          <a:prstGeom prst="rect">
            <a:avLst/>
          </a:prstGeom>
          <a:solidFill>
            <a:srgbClr val="000000">
              <a:alpha val="55000"/>
            </a:srgbClr>
          </a:solidFill>
          <a:ln w="12700">
            <a:solidFill>
              <a:srgbClr val="000000">
                <a:alpha val="0"/>
              </a:srgbClr>
            </a:solidFill>
            <a:prstDash val="solid"/>
          </a:ln>
        </p:spPr>
      </p:sp>
      <p:sp>
        <p:nvSpPr>
          <p:cNvPr id="31" name="Text 28"/>
          <p:cNvSpPr txBox="1"/>
          <p:nvPr/>
        </p:nvSpPr>
        <p:spPr>
          <a:xfrm>
            <a:off x="658368" y="5870448"/>
            <a:ext cx="3346704" cy="31089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Caramulo, mes racines</a:t>
            </a:r>
            <a:endParaRPr lang="en-US" sz="1100" dirty="0"/>
          </a:p>
        </p:txBody>
      </p:sp>
      <p:pic>
        <p:nvPicPr>
          <p:cNvPr id="32" name="Image 1" descr="/home/user/Portugal-Website/images/photos/smf-castle2.jpg">    </p:cNvPr>
          <p:cNvPicPr>
            <a:picLocks noChangeAspect="1"/>
          </p:cNvPicPr>
          <p:nvPr/>
        </p:nvPicPr>
        <p:blipFill>
          <a:blip r:embed="rId2"/>
          <a:srcRect l="0" r="0" t="0" b="0"/>
          <a:stretch/>
        </p:blipFill>
        <p:spPr>
          <a:xfrm>
            <a:off x="4297680" y="4617720"/>
            <a:ext cx="3566160" cy="1600200"/>
          </a:xfrm>
          <a:prstGeom prst="rect">
            <a:avLst/>
          </a:prstGeom>
        </p:spPr>
      </p:pic>
      <p:sp>
        <p:nvSpPr>
          <p:cNvPr id="33" name="Shape 29"/>
          <p:cNvSpPr/>
          <p:nvPr/>
        </p:nvSpPr>
        <p:spPr>
          <a:xfrm>
            <a:off x="4297680" y="5833872"/>
            <a:ext cx="3566160" cy="384048"/>
          </a:xfrm>
          <a:prstGeom prst="rect">
            <a:avLst/>
          </a:prstGeom>
          <a:solidFill>
            <a:srgbClr val="000000">
              <a:alpha val="55000"/>
            </a:srgbClr>
          </a:solidFill>
          <a:ln w="12700">
            <a:solidFill>
              <a:srgbClr val="000000">
                <a:alpha val="0"/>
              </a:srgbClr>
            </a:solidFill>
            <a:prstDash val="solid"/>
          </a:ln>
        </p:spPr>
      </p:sp>
      <p:sp>
        <p:nvSpPr>
          <p:cNvPr id="34" name="Text 30"/>
          <p:cNvSpPr txBox="1"/>
          <p:nvPr/>
        </p:nvSpPr>
        <p:spPr>
          <a:xfrm>
            <a:off x="4407408" y="5870448"/>
            <a:ext cx="3346704" cy="31089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Santa Maria da Feira</a:t>
            </a:r>
            <a:endParaRPr lang="en-US" sz="1100" dirty="0"/>
          </a:p>
        </p:txBody>
      </p:sp>
      <p:pic>
        <p:nvPicPr>
          <p:cNvPr id="35" name="Image 2" descr="/home/user/Portugal-Website/images/luis/lac.jpg">    </p:cNvPr>
          <p:cNvPicPr>
            <a:picLocks noChangeAspect="1"/>
          </p:cNvPicPr>
          <p:nvPr/>
        </p:nvPicPr>
        <p:blipFill>
          <a:blip r:embed="rId3"/>
          <a:srcRect l="0" r="0" t="0" b="0"/>
          <a:stretch/>
        </p:blipFill>
        <p:spPr>
          <a:xfrm>
            <a:off x="8046720" y="4617720"/>
            <a:ext cx="3566160" cy="1600200"/>
          </a:xfrm>
          <a:prstGeom prst="rect">
            <a:avLst/>
          </a:prstGeom>
        </p:spPr>
      </p:pic>
      <p:sp>
        <p:nvSpPr>
          <p:cNvPr id="36" name="Shape 31"/>
          <p:cNvSpPr/>
          <p:nvPr/>
        </p:nvSpPr>
        <p:spPr>
          <a:xfrm>
            <a:off x="8046720" y="5833872"/>
            <a:ext cx="3566160" cy="384048"/>
          </a:xfrm>
          <a:prstGeom prst="rect">
            <a:avLst/>
          </a:prstGeom>
          <a:solidFill>
            <a:srgbClr val="000000">
              <a:alpha val="55000"/>
            </a:srgbClr>
          </a:solidFill>
          <a:ln w="12700">
            <a:solidFill>
              <a:srgbClr val="000000">
                <a:alpha val="0"/>
              </a:srgbClr>
            </a:solidFill>
            <a:prstDash val="solid"/>
          </a:ln>
        </p:spPr>
      </p:sp>
      <p:sp>
        <p:nvSpPr>
          <p:cNvPr id="37" name="Text 32"/>
          <p:cNvSpPr txBox="1"/>
          <p:nvPr/>
        </p:nvSpPr>
        <p:spPr>
          <a:xfrm>
            <a:off x="8156448" y="5870448"/>
            <a:ext cx="3346704" cy="31089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Le Léman, ma vie en Suisse</a:t>
            </a:r>
            <a:endParaRPr lang="en-US" sz="110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18D"/>
                </a:solidFill>
                <a:latin typeface="Calibri"/>
                <a:ea typeface="Calibri"/>
                <a:cs typeface="Calibri"/>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txBox="1"/>
          <p:nvPr/>
        </p:nvSpPr>
        <p:spPr>
          <a:xfrm>
            <a:off x="548640" y="411480"/>
            <a:ext cx="10972800" cy="274320"/>
          </a:xfrm>
          <a:prstGeom prst="rect">
            <a:avLst/>
          </a:prstGeom>
          <a:noFill/>
          <a:ln/>
        </p:spPr>
        <p:txBody>
          <a:bodyPr wrap="square" lIns="0" tIns="0" rIns="0" bIns="0" rtlCol="0" anchor="t"/>
          <a:lstStyle/>
          <a:p>
            <a:pPr indent="0" marL="0">
              <a:buNone/>
            </a:pPr>
            <a:r>
              <a:rPr lang="en-US" sz="1200" b="1" spc="300" kern="0" dirty="0">
                <a:solidFill>
                  <a:srgbClr val="A83232"/>
                </a:solidFill>
                <a:latin typeface="Calibri" pitchFamily="34" charset="0"/>
                <a:ea typeface="Calibri" pitchFamily="34" charset="-122"/>
                <a:cs typeface="Calibri" pitchFamily="34" charset="-120"/>
              </a:rPr>
              <a:t>MES PASSIONS</a:t>
            </a:r>
            <a:endParaRPr lang="en-US" sz="1200" dirty="0"/>
          </a:p>
        </p:txBody>
      </p:sp>
      <p:sp>
        <p:nvSpPr>
          <p:cNvPr id="3" name="Text 1"/>
          <p:cNvSpPr txBox="1"/>
          <p:nvPr/>
        </p:nvSpPr>
        <p:spPr>
          <a:xfrm>
            <a:off x="548640" y="685800"/>
            <a:ext cx="10972800" cy="685800"/>
          </a:xfrm>
          <a:prstGeom prst="rect">
            <a:avLst/>
          </a:prstGeom>
          <a:noFill/>
          <a:ln/>
        </p:spPr>
        <p:txBody>
          <a:bodyPr wrap="square" lIns="0" tIns="0" rIns="0" bIns="0" rtlCol="0" anchor="t"/>
          <a:lstStyle/>
          <a:p>
            <a:pPr indent="0" marL="0">
              <a:buNone/>
            </a:pPr>
            <a:r>
              <a:rPr lang="en-US" sz="3400" b="1" dirty="0">
                <a:solidFill>
                  <a:srgbClr val="174A3A"/>
                </a:solidFill>
                <a:latin typeface="Cambria" pitchFamily="34" charset="0"/>
                <a:ea typeface="Cambria" pitchFamily="34" charset="-122"/>
                <a:cs typeface="Cambria" pitchFamily="34" charset="-120"/>
              </a:rPr>
              <a:t>Une vie active, toujours en mouvement</a:t>
            </a:r>
            <a:endParaRPr lang="en-US" sz="3400" dirty="0"/>
          </a:p>
        </p:txBody>
      </p:sp>
      <p:pic>
        <p:nvPicPr>
          <p:cNvPr id="4" name="Image 0" descr="/home/user/Portugal-Website/images/luis/moto-alpes.jpg">    </p:cNvPr>
          <p:cNvPicPr>
            <a:picLocks noChangeAspect="1"/>
          </p:cNvPicPr>
          <p:nvPr/>
        </p:nvPicPr>
        <p:blipFill>
          <a:blip r:embed="rId1"/>
          <a:srcRect l="0" r="0" t="0" b="0"/>
          <a:stretch/>
        </p:blipFill>
        <p:spPr>
          <a:xfrm>
            <a:off x="548640" y="1554480"/>
            <a:ext cx="1737360" cy="2194560"/>
          </a:xfrm>
          <a:prstGeom prst="rect">
            <a:avLst/>
          </a:prstGeom>
        </p:spPr>
      </p:pic>
      <p:sp>
        <p:nvSpPr>
          <p:cNvPr id="5" name="Text 2"/>
          <p:cNvSpPr txBox="1"/>
          <p:nvPr/>
        </p:nvSpPr>
        <p:spPr>
          <a:xfrm>
            <a:off x="2423160" y="1554480"/>
            <a:ext cx="1737360" cy="685800"/>
          </a:xfrm>
          <a:prstGeom prst="rect">
            <a:avLst/>
          </a:prstGeom>
          <a:noFill/>
          <a:ln/>
        </p:spPr>
        <p:txBody>
          <a:bodyPr wrap="square" lIns="0" tIns="0" rIns="0" bIns="0" rtlCol="0" anchor="t"/>
          <a:lstStyle/>
          <a:p>
            <a:pPr indent="0" marL="0">
              <a:buNone/>
            </a:pPr>
            <a:r>
              <a:rPr lang="en-US" sz="1600" b="1" dirty="0">
                <a:solidFill>
                  <a:srgbClr val="174A3A"/>
                </a:solidFill>
                <a:latin typeface="Cambria" pitchFamily="34" charset="0"/>
                <a:ea typeface="Cambria" pitchFamily="34" charset="-122"/>
                <a:cs typeface="Cambria" pitchFamily="34" charset="-120"/>
              </a:rPr>
              <a:t>La moto</a:t>
            </a:r>
            <a:endParaRPr lang="en-US" sz="1600" dirty="0"/>
          </a:p>
        </p:txBody>
      </p:sp>
      <p:sp>
        <p:nvSpPr>
          <p:cNvPr id="6" name="Text 3"/>
          <p:cNvSpPr txBox="1"/>
          <p:nvPr/>
        </p:nvSpPr>
        <p:spPr>
          <a:xfrm>
            <a:off x="2423160" y="2240280"/>
            <a:ext cx="1737360" cy="1508760"/>
          </a:xfrm>
          <a:prstGeom prst="rect">
            <a:avLst/>
          </a:prstGeom>
          <a:noFill/>
          <a:ln/>
        </p:spPr>
        <p:txBody>
          <a:bodyPr wrap="square" lIns="0" tIns="0" rIns="0" bIns="0" rtlCol="0" anchor="t">
            <a:normAutofit/>
          </a:bodyPr>
          <a:lstStyle/>
          <a:p>
            <a:pPr indent="0" marL="0">
              <a:buNone/>
            </a:pPr>
            <a:r>
              <a:rPr lang="en-US" sz="1100" dirty="0">
                <a:solidFill>
                  <a:srgbClr val="17211D"/>
                </a:solidFill>
                <a:latin typeface="Calibri" pitchFamily="34" charset="0"/>
                <a:ea typeface="Calibri" pitchFamily="34" charset="-122"/>
                <a:cs typeface="Calibri" pitchFamily="34" charset="-120"/>
              </a:rPr>
              <a:t>Ma grande passion. Je roule en Suisse, dans le nord de l'Italie, en France et en Allemagne, à la recherche des plus belles routes de montagne.</a:t>
            </a:r>
            <a:endParaRPr lang="en-US" sz="1100" dirty="0"/>
          </a:p>
        </p:txBody>
      </p:sp>
      <p:pic>
        <p:nvPicPr>
          <p:cNvPr id="7" name="Image 1" descr="/home/user/Portugal-Website/images/luis/moto-garage.jpg">    </p:cNvPr>
          <p:cNvPicPr>
            <a:picLocks noChangeAspect="1"/>
          </p:cNvPicPr>
          <p:nvPr/>
        </p:nvPicPr>
        <p:blipFill>
          <a:blip r:embed="rId2"/>
          <a:srcRect l="0" r="0" t="0" b="0"/>
          <a:stretch/>
        </p:blipFill>
        <p:spPr>
          <a:xfrm>
            <a:off x="4297680" y="1554480"/>
            <a:ext cx="1737360" cy="2194560"/>
          </a:xfrm>
          <a:prstGeom prst="rect">
            <a:avLst/>
          </a:prstGeom>
        </p:spPr>
      </p:pic>
      <p:sp>
        <p:nvSpPr>
          <p:cNvPr id="8" name="Text 4"/>
          <p:cNvSpPr txBox="1"/>
          <p:nvPr/>
        </p:nvSpPr>
        <p:spPr>
          <a:xfrm>
            <a:off x="6172200" y="1554480"/>
            <a:ext cx="1737360" cy="685800"/>
          </a:xfrm>
          <a:prstGeom prst="rect">
            <a:avLst/>
          </a:prstGeom>
          <a:noFill/>
          <a:ln/>
        </p:spPr>
        <p:txBody>
          <a:bodyPr wrap="square" lIns="0" tIns="0" rIns="0" bIns="0" rtlCol="0" anchor="t"/>
          <a:lstStyle/>
          <a:p>
            <a:pPr indent="0" marL="0">
              <a:buNone/>
            </a:pPr>
            <a:r>
              <a:rPr lang="en-US" sz="1600" b="1" dirty="0">
                <a:solidFill>
                  <a:srgbClr val="174A3A"/>
                </a:solidFill>
                <a:latin typeface="Cambria" pitchFamily="34" charset="0"/>
                <a:ea typeface="Cambria" pitchFamily="34" charset="-122"/>
                <a:cs typeface="Cambria" pitchFamily="34" charset="-120"/>
              </a:rPr>
              <a:t>La mécanique</a:t>
            </a:r>
            <a:endParaRPr lang="en-US" sz="1600" dirty="0"/>
          </a:p>
        </p:txBody>
      </p:sp>
      <p:sp>
        <p:nvSpPr>
          <p:cNvPr id="9" name="Text 5"/>
          <p:cNvSpPr txBox="1"/>
          <p:nvPr/>
        </p:nvSpPr>
        <p:spPr>
          <a:xfrm>
            <a:off x="6172200" y="2240280"/>
            <a:ext cx="1737360" cy="1508760"/>
          </a:xfrm>
          <a:prstGeom prst="rect">
            <a:avLst/>
          </a:prstGeom>
          <a:noFill/>
          <a:ln/>
        </p:spPr>
        <p:txBody>
          <a:bodyPr wrap="square" lIns="0" tIns="0" rIns="0" bIns="0" rtlCol="0" anchor="t">
            <a:normAutofit/>
          </a:bodyPr>
          <a:lstStyle/>
          <a:p>
            <a:pPr indent="0" marL="0">
              <a:buNone/>
            </a:pPr>
            <a:r>
              <a:rPr lang="en-US" sz="1100" dirty="0">
                <a:solidFill>
                  <a:srgbClr val="17211D"/>
                </a:solidFill>
                <a:latin typeface="Calibri" pitchFamily="34" charset="0"/>
                <a:ea typeface="Calibri" pitchFamily="34" charset="-122"/>
                <a:cs typeface="Calibri" pitchFamily="34" charset="-120"/>
              </a:rPr>
              <a:t>J'adore modifier ma moto et la réparer moi-même : chaque détail compte !</a:t>
            </a:r>
            <a:endParaRPr lang="en-US" sz="1100" dirty="0"/>
          </a:p>
        </p:txBody>
      </p:sp>
      <p:pic>
        <p:nvPicPr>
          <p:cNvPr id="10" name="Image 2" descr="/home/user/Portugal-Website/images/luis/parapente.jpg">    </p:cNvPr>
          <p:cNvPicPr>
            <a:picLocks noChangeAspect="1"/>
          </p:cNvPicPr>
          <p:nvPr/>
        </p:nvPicPr>
        <p:blipFill>
          <a:blip r:embed="rId3"/>
          <a:srcRect l="0" r="0" t="0" b="0"/>
          <a:stretch/>
        </p:blipFill>
        <p:spPr>
          <a:xfrm>
            <a:off x="8046720" y="1554480"/>
            <a:ext cx="1737360" cy="2194560"/>
          </a:xfrm>
          <a:prstGeom prst="rect">
            <a:avLst/>
          </a:prstGeom>
        </p:spPr>
      </p:pic>
      <p:sp>
        <p:nvSpPr>
          <p:cNvPr id="11" name="Text 6"/>
          <p:cNvSpPr txBox="1"/>
          <p:nvPr/>
        </p:nvSpPr>
        <p:spPr>
          <a:xfrm>
            <a:off x="9921240" y="1554480"/>
            <a:ext cx="1737360" cy="685800"/>
          </a:xfrm>
          <a:prstGeom prst="rect">
            <a:avLst/>
          </a:prstGeom>
          <a:noFill/>
          <a:ln/>
        </p:spPr>
        <p:txBody>
          <a:bodyPr wrap="square" lIns="0" tIns="0" rIns="0" bIns="0" rtlCol="0" anchor="t"/>
          <a:lstStyle/>
          <a:p>
            <a:pPr indent="0" marL="0">
              <a:buNone/>
            </a:pPr>
            <a:r>
              <a:rPr lang="en-US" sz="1600" b="1" dirty="0">
                <a:solidFill>
                  <a:srgbClr val="174A3A"/>
                </a:solidFill>
                <a:latin typeface="Cambria" pitchFamily="34" charset="0"/>
                <a:ea typeface="Cambria" pitchFamily="34" charset="-122"/>
                <a:cs typeface="Cambria" pitchFamily="34" charset="-120"/>
              </a:rPr>
              <a:t>Le parapente</a:t>
            </a:r>
            <a:endParaRPr lang="en-US" sz="1600" dirty="0"/>
          </a:p>
        </p:txBody>
      </p:sp>
      <p:sp>
        <p:nvSpPr>
          <p:cNvPr id="12" name="Text 7"/>
          <p:cNvSpPr txBox="1"/>
          <p:nvPr/>
        </p:nvSpPr>
        <p:spPr>
          <a:xfrm>
            <a:off x="9921240" y="2240280"/>
            <a:ext cx="1737360" cy="1508760"/>
          </a:xfrm>
          <a:prstGeom prst="rect">
            <a:avLst/>
          </a:prstGeom>
          <a:noFill/>
          <a:ln/>
        </p:spPr>
        <p:txBody>
          <a:bodyPr wrap="square" lIns="0" tIns="0" rIns="0" bIns="0" rtlCol="0" anchor="t">
            <a:normAutofit/>
          </a:bodyPr>
          <a:lstStyle/>
          <a:p>
            <a:pPr indent="0" marL="0">
              <a:buNone/>
            </a:pPr>
            <a:r>
              <a:rPr lang="en-US" sz="1100" dirty="0">
                <a:solidFill>
                  <a:srgbClr val="17211D"/>
                </a:solidFill>
                <a:latin typeface="Calibri" pitchFamily="34" charset="0"/>
                <a:ea typeface="Calibri" pitchFamily="34" charset="-122"/>
                <a:cs typeface="Calibri" pitchFamily="34" charset="-120"/>
              </a:rPr>
              <a:t>Récemment, j'ai volé en parapente au-dessus du lac Léman. Une expérience inoubliable !</a:t>
            </a:r>
            <a:endParaRPr lang="en-US" sz="1100" dirty="0"/>
          </a:p>
        </p:txBody>
      </p:sp>
      <p:pic>
        <p:nvPicPr>
          <p:cNvPr id="13" name="Image 3" descr="/home/user/Portugal-Website/images/luis/st-ursanne-affiche.jpg">    </p:cNvPr>
          <p:cNvPicPr>
            <a:picLocks noChangeAspect="1"/>
          </p:cNvPicPr>
          <p:nvPr/>
        </p:nvPicPr>
        <p:blipFill>
          <a:blip r:embed="rId4"/>
          <a:srcRect l="0" r="0" t="0" b="0"/>
          <a:stretch/>
        </p:blipFill>
        <p:spPr>
          <a:xfrm>
            <a:off x="548640" y="3931920"/>
            <a:ext cx="1737360" cy="2194560"/>
          </a:xfrm>
          <a:prstGeom prst="rect">
            <a:avLst/>
          </a:prstGeom>
        </p:spPr>
      </p:pic>
      <p:sp>
        <p:nvSpPr>
          <p:cNvPr id="14" name="Text 8"/>
          <p:cNvSpPr txBox="1"/>
          <p:nvPr/>
        </p:nvSpPr>
        <p:spPr>
          <a:xfrm>
            <a:off x="2423160" y="3931920"/>
            <a:ext cx="1737360" cy="685800"/>
          </a:xfrm>
          <a:prstGeom prst="rect">
            <a:avLst/>
          </a:prstGeom>
          <a:noFill/>
          <a:ln/>
        </p:spPr>
        <p:txBody>
          <a:bodyPr wrap="square" lIns="0" tIns="0" rIns="0" bIns="0" rtlCol="0" anchor="t"/>
          <a:lstStyle/>
          <a:p>
            <a:pPr indent="0" marL="0">
              <a:buNone/>
            </a:pPr>
            <a:r>
              <a:rPr lang="en-US" sz="1600" b="1" dirty="0">
                <a:solidFill>
                  <a:srgbClr val="174A3A"/>
                </a:solidFill>
                <a:latin typeface="Cambria" pitchFamily="34" charset="0"/>
                <a:ea typeface="Cambria" pitchFamily="34" charset="-122"/>
                <a:cs typeface="Cambria" pitchFamily="34" charset="-120"/>
              </a:rPr>
              <a:t>Les sorties</a:t>
            </a:r>
            <a:endParaRPr lang="en-US" sz="1600" dirty="0"/>
          </a:p>
        </p:txBody>
      </p:sp>
      <p:sp>
        <p:nvSpPr>
          <p:cNvPr id="15" name="Text 9"/>
          <p:cNvSpPr txBox="1"/>
          <p:nvPr/>
        </p:nvSpPr>
        <p:spPr>
          <a:xfrm>
            <a:off x="2423160" y="4617720"/>
            <a:ext cx="1737360" cy="1508760"/>
          </a:xfrm>
          <a:prstGeom prst="rect">
            <a:avLst/>
          </a:prstGeom>
          <a:noFill/>
          <a:ln/>
        </p:spPr>
        <p:txBody>
          <a:bodyPr wrap="square" lIns="0" tIns="0" rIns="0" bIns="0" rtlCol="0" anchor="t">
            <a:normAutofit/>
          </a:bodyPr>
          <a:lstStyle/>
          <a:p>
            <a:pPr indent="0" marL="0">
              <a:buNone/>
            </a:pPr>
            <a:r>
              <a:rPr lang="en-US" sz="1100" dirty="0">
                <a:solidFill>
                  <a:srgbClr val="17211D"/>
                </a:solidFill>
                <a:latin typeface="Calibri" pitchFamily="34" charset="0"/>
                <a:ea typeface="Calibri" pitchFamily="34" charset="-122"/>
                <a:cs typeface="Calibri" pitchFamily="34" charset="-120"/>
              </a:rPr>
              <a:t>Découvrir de nouveaux endroits, comme le Jura, où je suis allé voir la course de côte automobile de Saint-Ursanne.</a:t>
            </a:r>
            <a:endParaRPr lang="en-US" sz="1100" dirty="0"/>
          </a:p>
        </p:txBody>
      </p:sp>
      <p:pic>
        <p:nvPicPr>
          <p:cNvPr id="16" name="Image 4" descr="/home/user/Portugal-Website/images/luis/lac.jpg">    </p:cNvPr>
          <p:cNvPicPr>
            <a:picLocks noChangeAspect="1"/>
          </p:cNvPicPr>
          <p:nvPr/>
        </p:nvPicPr>
        <p:blipFill>
          <a:blip r:embed="rId5"/>
          <a:srcRect l="0" r="0" t="0" b="0"/>
          <a:stretch/>
        </p:blipFill>
        <p:spPr>
          <a:xfrm>
            <a:off x="4297680" y="3931920"/>
            <a:ext cx="1737360" cy="2194560"/>
          </a:xfrm>
          <a:prstGeom prst="rect">
            <a:avLst/>
          </a:prstGeom>
        </p:spPr>
      </p:pic>
      <p:sp>
        <p:nvSpPr>
          <p:cNvPr id="17" name="Text 10"/>
          <p:cNvSpPr txBox="1"/>
          <p:nvPr/>
        </p:nvSpPr>
        <p:spPr>
          <a:xfrm>
            <a:off x="6172200" y="3931920"/>
            <a:ext cx="1737360" cy="685800"/>
          </a:xfrm>
          <a:prstGeom prst="rect">
            <a:avLst/>
          </a:prstGeom>
          <a:noFill/>
          <a:ln/>
        </p:spPr>
        <p:txBody>
          <a:bodyPr wrap="square" lIns="0" tIns="0" rIns="0" bIns="0" rtlCol="0" anchor="t"/>
          <a:lstStyle/>
          <a:p>
            <a:pPr indent="0" marL="0">
              <a:buNone/>
            </a:pPr>
            <a:r>
              <a:rPr lang="en-US" sz="1600" b="1" dirty="0">
                <a:solidFill>
                  <a:srgbClr val="174A3A"/>
                </a:solidFill>
                <a:latin typeface="Cambria" pitchFamily="34" charset="0"/>
                <a:ea typeface="Cambria" pitchFamily="34" charset="-122"/>
                <a:cs typeface="Cambria" pitchFamily="34" charset="-120"/>
              </a:rPr>
              <a:t>Le lac Léman</a:t>
            </a:r>
            <a:endParaRPr lang="en-US" sz="1600" dirty="0"/>
          </a:p>
        </p:txBody>
      </p:sp>
      <p:sp>
        <p:nvSpPr>
          <p:cNvPr id="18" name="Text 11"/>
          <p:cNvSpPr txBox="1"/>
          <p:nvPr/>
        </p:nvSpPr>
        <p:spPr>
          <a:xfrm>
            <a:off x="6172200" y="4617720"/>
            <a:ext cx="1737360" cy="1508760"/>
          </a:xfrm>
          <a:prstGeom prst="rect">
            <a:avLst/>
          </a:prstGeom>
          <a:noFill/>
          <a:ln/>
        </p:spPr>
        <p:txBody>
          <a:bodyPr wrap="square" lIns="0" tIns="0" rIns="0" bIns="0" rtlCol="0" anchor="t">
            <a:normAutofit/>
          </a:bodyPr>
          <a:lstStyle/>
          <a:p>
            <a:pPr indent="0" marL="0">
              <a:buNone/>
            </a:pPr>
            <a:r>
              <a:rPr lang="en-US" sz="1100" dirty="0">
                <a:solidFill>
                  <a:srgbClr val="17211D"/>
                </a:solidFill>
                <a:latin typeface="Calibri" pitchFamily="34" charset="0"/>
                <a:ea typeface="Calibri" pitchFamily="34" charset="-122"/>
                <a:cs typeface="Calibri" pitchFamily="34" charset="-120"/>
              </a:rPr>
              <a:t>L'été, on profite du lac : kayak, baignade et détente.</a:t>
            </a:r>
            <a:endParaRPr lang="en-US" sz="1100" dirty="0"/>
          </a:p>
        </p:txBody>
      </p:sp>
      <p:pic>
        <p:nvPicPr>
          <p:cNvPr id="19" name="Image 5" descr="/home/user/Portugal-Website/images/luis/tanay.jpg">    </p:cNvPr>
          <p:cNvPicPr>
            <a:picLocks noChangeAspect="1"/>
          </p:cNvPicPr>
          <p:nvPr/>
        </p:nvPicPr>
        <p:blipFill>
          <a:blip r:embed="rId6"/>
          <a:srcRect l="0" r="0" t="0" b="0"/>
          <a:stretch/>
        </p:blipFill>
        <p:spPr>
          <a:xfrm>
            <a:off x="8046720" y="3931920"/>
            <a:ext cx="1737360" cy="2194560"/>
          </a:xfrm>
          <a:prstGeom prst="rect">
            <a:avLst/>
          </a:prstGeom>
        </p:spPr>
      </p:pic>
      <p:sp>
        <p:nvSpPr>
          <p:cNvPr id="20" name="Text 12"/>
          <p:cNvSpPr txBox="1"/>
          <p:nvPr/>
        </p:nvSpPr>
        <p:spPr>
          <a:xfrm>
            <a:off x="9921240" y="3931920"/>
            <a:ext cx="1737360" cy="685800"/>
          </a:xfrm>
          <a:prstGeom prst="rect">
            <a:avLst/>
          </a:prstGeom>
          <a:noFill/>
          <a:ln/>
        </p:spPr>
        <p:txBody>
          <a:bodyPr wrap="square" lIns="0" tIns="0" rIns="0" bIns="0" rtlCol="0" anchor="t"/>
          <a:lstStyle/>
          <a:p>
            <a:pPr indent="0" marL="0">
              <a:buNone/>
            </a:pPr>
            <a:r>
              <a:rPr lang="en-US" sz="1600" b="1" dirty="0">
                <a:solidFill>
                  <a:srgbClr val="174A3A"/>
                </a:solidFill>
                <a:latin typeface="Cambria" pitchFamily="34" charset="0"/>
                <a:ea typeface="Cambria" pitchFamily="34" charset="-122"/>
                <a:cs typeface="Cambria" pitchFamily="34" charset="-120"/>
              </a:rPr>
              <a:t>Marcher et se balader</a:t>
            </a:r>
            <a:endParaRPr lang="en-US" sz="1600" dirty="0"/>
          </a:p>
        </p:txBody>
      </p:sp>
      <p:sp>
        <p:nvSpPr>
          <p:cNvPr id="21" name="Text 13"/>
          <p:cNvSpPr txBox="1"/>
          <p:nvPr/>
        </p:nvSpPr>
        <p:spPr>
          <a:xfrm>
            <a:off x="9921240" y="4617720"/>
            <a:ext cx="1737360" cy="1508760"/>
          </a:xfrm>
          <a:prstGeom prst="rect">
            <a:avLst/>
          </a:prstGeom>
          <a:noFill/>
          <a:ln/>
        </p:spPr>
        <p:txBody>
          <a:bodyPr wrap="square" lIns="0" tIns="0" rIns="0" bIns="0" rtlCol="0" anchor="t">
            <a:normAutofit/>
          </a:bodyPr>
          <a:lstStyle/>
          <a:p>
            <a:pPr indent="0" marL="0">
              <a:buNone/>
            </a:pPr>
            <a:r>
              <a:rPr lang="en-US" sz="1100" dirty="0">
                <a:solidFill>
                  <a:srgbClr val="17211D"/>
                </a:solidFill>
                <a:latin typeface="Calibri" pitchFamily="34" charset="0"/>
                <a:ea typeface="Calibri" pitchFamily="34" charset="-122"/>
                <a:cs typeface="Calibri" pitchFamily="34" charset="-120"/>
              </a:rPr>
              <a:t>Randonnées et balades — « passear », comme on dit au Portugal —, par exemple jusqu'au lac de Tanay, au-dessus de Vouvry.</a:t>
            </a:r>
            <a:endParaRPr lang="en-US" sz="110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18D"/>
                </a:solidFill>
                <a:latin typeface="Calibri"/>
                <a:ea typeface="Calibri"/>
                <a:cs typeface="Calibri"/>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txBox="1"/>
          <p:nvPr/>
        </p:nvSpPr>
        <p:spPr>
          <a:xfrm>
            <a:off x="548640" y="411480"/>
            <a:ext cx="10972800" cy="274320"/>
          </a:xfrm>
          <a:prstGeom prst="rect">
            <a:avLst/>
          </a:prstGeom>
          <a:noFill/>
          <a:ln/>
        </p:spPr>
        <p:txBody>
          <a:bodyPr wrap="square" lIns="0" tIns="0" rIns="0" bIns="0" rtlCol="0" anchor="t"/>
          <a:lstStyle/>
          <a:p>
            <a:pPr indent="0" marL="0">
              <a:buNone/>
            </a:pPr>
            <a:r>
              <a:rPr lang="en-US" sz="1200" b="1" spc="300" kern="0" dirty="0">
                <a:solidFill>
                  <a:srgbClr val="A83232"/>
                </a:solidFill>
                <a:latin typeface="Calibri" pitchFamily="34" charset="0"/>
                <a:ea typeface="Calibri" pitchFamily="34" charset="-122"/>
                <a:cs typeface="Calibri" pitchFamily="34" charset="-120"/>
              </a:rPr>
              <a:t>EN FAMILLE</a:t>
            </a:r>
            <a:endParaRPr lang="en-US" sz="1200" dirty="0"/>
          </a:p>
        </p:txBody>
      </p:sp>
      <p:sp>
        <p:nvSpPr>
          <p:cNvPr id="3" name="Text 1"/>
          <p:cNvSpPr txBox="1"/>
          <p:nvPr/>
        </p:nvSpPr>
        <p:spPr>
          <a:xfrm>
            <a:off x="548640" y="685800"/>
            <a:ext cx="4572000" cy="685800"/>
          </a:xfrm>
          <a:prstGeom prst="rect">
            <a:avLst/>
          </a:prstGeom>
          <a:noFill/>
          <a:ln/>
        </p:spPr>
        <p:txBody>
          <a:bodyPr wrap="square" lIns="0" tIns="0" rIns="0" bIns="0" rtlCol="0" anchor="t"/>
          <a:lstStyle/>
          <a:p>
            <a:pPr indent="0" marL="0">
              <a:buNone/>
            </a:pPr>
            <a:r>
              <a:rPr lang="en-US" sz="3400" b="1" dirty="0">
                <a:solidFill>
                  <a:srgbClr val="174A3A"/>
                </a:solidFill>
                <a:latin typeface="Cambria" pitchFamily="34" charset="0"/>
                <a:ea typeface="Cambria" pitchFamily="34" charset="-122"/>
                <a:cs typeface="Cambria" pitchFamily="34" charset="-120"/>
              </a:rPr>
              <a:t>Le plus important</a:t>
            </a:r>
            <a:endParaRPr lang="en-US" sz="3400" dirty="0"/>
          </a:p>
        </p:txBody>
      </p:sp>
      <p:sp>
        <p:nvSpPr>
          <p:cNvPr id="4" name="Text 2"/>
          <p:cNvSpPr txBox="1"/>
          <p:nvPr/>
        </p:nvSpPr>
        <p:spPr>
          <a:xfrm>
            <a:off x="548640" y="1554480"/>
            <a:ext cx="3931920" cy="1463040"/>
          </a:xfrm>
          <a:prstGeom prst="rect">
            <a:avLst/>
          </a:prstGeom>
          <a:noFill/>
          <a:ln/>
        </p:spPr>
        <p:txBody>
          <a:bodyPr wrap="square" lIns="0" tIns="0" rIns="0" bIns="0" rtlCol="0" anchor="t"/>
          <a:lstStyle/>
          <a:p>
            <a:pPr indent="0" marL="0">
              <a:buNone/>
            </a:pPr>
            <a:r>
              <a:rPr lang="en-US" sz="1600" dirty="0">
                <a:solidFill>
                  <a:srgbClr val="17211D"/>
                </a:solidFill>
                <a:latin typeface="Calibri" pitchFamily="34" charset="0"/>
                <a:ea typeface="Calibri" pitchFamily="34" charset="-122"/>
                <a:cs typeface="Calibri" pitchFamily="34" charset="-120"/>
              </a:rPr>
              <a:t>Ma famille, ici en Suisse et au Portugal, c'est ce que j'ai de plus précieux. Les grandes réunions de famille sont toujours une fête.</a:t>
            </a:r>
            <a:endParaRPr lang="en-US" sz="1600" dirty="0"/>
          </a:p>
        </p:txBody>
      </p:sp>
      <p:pic>
        <p:nvPicPr>
          <p:cNvPr id="5" name="Image 0" descr="/home/user/Portugal-Website/images/luis/famille-portugal.jpg">    </p:cNvPr>
          <p:cNvPicPr>
            <a:picLocks noChangeAspect="1"/>
          </p:cNvPicPr>
          <p:nvPr/>
        </p:nvPicPr>
        <p:blipFill>
          <a:blip r:embed="rId1"/>
          <a:srcRect l="0" r="0" t="0" b="0"/>
          <a:stretch/>
        </p:blipFill>
        <p:spPr>
          <a:xfrm>
            <a:off x="4754880" y="548640"/>
            <a:ext cx="6885432" cy="3749040"/>
          </a:xfrm>
          <a:prstGeom prst="rect">
            <a:avLst/>
          </a:prstGeom>
        </p:spPr>
      </p:pic>
      <p:pic>
        <p:nvPicPr>
          <p:cNvPr id="6" name="Image 1" descr="/home/user/Portugal-Website/images/luis/famille-diner.jpg">    </p:cNvPr>
          <p:cNvPicPr>
            <a:picLocks noChangeAspect="1"/>
          </p:cNvPicPr>
          <p:nvPr/>
        </p:nvPicPr>
        <p:blipFill>
          <a:blip r:embed="rId2"/>
          <a:srcRect l="0" r="0" t="0" b="0"/>
          <a:stretch/>
        </p:blipFill>
        <p:spPr>
          <a:xfrm>
            <a:off x="4754880" y="4434840"/>
            <a:ext cx="2203704" cy="1783080"/>
          </a:xfrm>
          <a:prstGeom prst="rect">
            <a:avLst/>
          </a:prstGeom>
        </p:spPr>
      </p:pic>
      <p:pic>
        <p:nvPicPr>
          <p:cNvPr id="7" name="Image 2" descr="/home/user/Portugal-Website/images/luis/famille-diner2.jpg">    </p:cNvPr>
          <p:cNvPicPr>
            <a:picLocks noChangeAspect="1"/>
          </p:cNvPicPr>
          <p:nvPr/>
        </p:nvPicPr>
        <p:blipFill>
          <a:blip r:embed="rId3"/>
          <a:srcRect l="0" r="0" t="0" b="0"/>
          <a:stretch/>
        </p:blipFill>
        <p:spPr>
          <a:xfrm>
            <a:off x="7095744" y="4434840"/>
            <a:ext cx="2203704" cy="1783080"/>
          </a:xfrm>
          <a:prstGeom prst="rect">
            <a:avLst/>
          </a:prstGeom>
        </p:spPr>
      </p:pic>
      <p:pic>
        <p:nvPicPr>
          <p:cNvPr id="8" name="Image 3" descr="/home/user/Portugal-Website/images/luis/famille.jpg">    </p:cNvPr>
          <p:cNvPicPr>
            <a:picLocks noChangeAspect="1"/>
          </p:cNvPicPr>
          <p:nvPr/>
        </p:nvPicPr>
        <p:blipFill>
          <a:blip r:embed="rId4"/>
          <a:srcRect l="0" r="0" t="0" b="0"/>
          <a:stretch/>
        </p:blipFill>
        <p:spPr>
          <a:xfrm>
            <a:off x="9436608" y="4434840"/>
            <a:ext cx="2203704" cy="1783080"/>
          </a:xfrm>
          <a:prstGeom prst="rect">
            <a:avLst/>
          </a:prstGeom>
        </p:spPr>
      </p:pic>
      <p:pic>
        <p:nvPicPr>
          <p:cNvPr id="9" name="Image 4" descr="/home/user/Portugal-Website/images/luis.jpg">    </p:cNvPr>
          <p:cNvPicPr>
            <a:picLocks noChangeAspect="1"/>
          </p:cNvPicPr>
          <p:nvPr/>
        </p:nvPicPr>
        <p:blipFill>
          <a:blip r:embed="rId5"/>
          <a:srcRect l="0" r="0" t="0" b="0"/>
          <a:stretch/>
        </p:blipFill>
        <p:spPr>
          <a:xfrm>
            <a:off x="548640" y="3200400"/>
            <a:ext cx="2011680" cy="3017520"/>
          </a:xfrm>
          <a:prstGeom prst="rect">
            <a:avLst/>
          </a:prstGeom>
        </p:spPr>
      </p:pic>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18D"/>
                </a:solidFill>
                <a:latin typeface="Calibri"/>
                <a:ea typeface="Calibri"/>
                <a:cs typeface="Calibri"/>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txBox="1"/>
          <p:nvPr/>
        </p:nvSpPr>
        <p:spPr>
          <a:xfrm>
            <a:off x="548640" y="411480"/>
            <a:ext cx="10972800" cy="274320"/>
          </a:xfrm>
          <a:prstGeom prst="rect">
            <a:avLst/>
          </a:prstGeom>
          <a:noFill/>
          <a:ln/>
        </p:spPr>
        <p:txBody>
          <a:bodyPr wrap="square" lIns="0" tIns="0" rIns="0" bIns="0" rtlCol="0" anchor="t"/>
          <a:lstStyle/>
          <a:p>
            <a:pPr indent="0" marL="0">
              <a:buNone/>
            </a:pPr>
            <a:r>
              <a:rPr lang="en-US" sz="1200" b="1" spc="300" kern="0" dirty="0">
                <a:solidFill>
                  <a:srgbClr val="A83232"/>
                </a:solidFill>
                <a:latin typeface="Calibri" pitchFamily="34" charset="0"/>
                <a:ea typeface="Calibri" pitchFamily="34" charset="-122"/>
                <a:cs typeface="Calibri" pitchFamily="34" charset="-120"/>
              </a:rPr>
              <a:t>POUR MOI, LE PORTUGAL, C'EST…</a:t>
            </a:r>
            <a:endParaRPr lang="en-US" sz="1200" dirty="0"/>
          </a:p>
        </p:txBody>
      </p:sp>
      <p:sp>
        <p:nvSpPr>
          <p:cNvPr id="3" name="Text 1"/>
          <p:cNvSpPr txBox="1"/>
          <p:nvPr/>
        </p:nvSpPr>
        <p:spPr>
          <a:xfrm>
            <a:off x="548640" y="685800"/>
            <a:ext cx="10972800" cy="685800"/>
          </a:xfrm>
          <a:prstGeom prst="rect">
            <a:avLst/>
          </a:prstGeom>
          <a:noFill/>
          <a:ln/>
        </p:spPr>
        <p:txBody>
          <a:bodyPr wrap="square" lIns="0" tIns="0" rIns="0" bIns="0" rtlCol="0" anchor="t"/>
          <a:lstStyle/>
          <a:p>
            <a:pPr indent="0" marL="0">
              <a:buNone/>
            </a:pPr>
            <a:r>
              <a:rPr lang="en-US" sz="3400" b="1" dirty="0">
                <a:solidFill>
                  <a:srgbClr val="174A3A"/>
                </a:solidFill>
                <a:latin typeface="Cambria" pitchFamily="34" charset="0"/>
                <a:ea typeface="Cambria" pitchFamily="34" charset="-122"/>
                <a:cs typeface="Cambria" pitchFamily="34" charset="-120"/>
              </a:rPr>
              <a:t>Ce que le Portugal représente pour moi</a:t>
            </a:r>
            <a:endParaRPr lang="en-US" sz="3400" dirty="0"/>
          </a:p>
        </p:txBody>
      </p:sp>
      <p:sp>
        <p:nvSpPr>
          <p:cNvPr id="4" name="Shape 2"/>
          <p:cNvSpPr/>
          <p:nvPr/>
        </p:nvSpPr>
        <p:spPr>
          <a:xfrm>
            <a:off x="548640" y="1828800"/>
            <a:ext cx="3566160" cy="3657600"/>
          </a:xfrm>
          <a:prstGeom prst="roundRect">
            <a:avLst>
              <a:gd name="adj" fmla="val 2051"/>
            </a:avLst>
          </a:prstGeom>
          <a:solidFill>
            <a:srgbClr val="F1F4F2"/>
          </a:solidFill>
          <a:ln w="12700">
            <a:solidFill>
              <a:srgbClr val="F1F4F2"/>
            </a:solidFill>
            <a:prstDash val="solid"/>
          </a:ln>
          <a:effectLst>
            <a:outerShdw sx="100000" sy="100000" kx="0" ky="0" algn="bl" rotWithShape="0" blurRad="101600" dist="38100" dir="5400000">
              <a:srgbClr val="000000">
                <a:alpha val="18000"/>
              </a:srgbClr>
            </a:outerShdw>
          </a:effectLst>
        </p:spPr>
      </p:sp>
      <p:sp>
        <p:nvSpPr>
          <p:cNvPr id="5" name="Shape 3"/>
          <p:cNvSpPr/>
          <p:nvPr/>
        </p:nvSpPr>
        <p:spPr>
          <a:xfrm>
            <a:off x="2103120" y="2148840"/>
            <a:ext cx="457200" cy="457200"/>
          </a:xfrm>
          <a:prstGeom prst="ellipse">
            <a:avLst/>
          </a:prstGeom>
          <a:solidFill>
            <a:srgbClr val="174A3A"/>
          </a:solidFill>
          <a:ln w="12700">
            <a:solidFill>
              <a:srgbClr val="174A3A"/>
            </a:solidFill>
            <a:prstDash val="solid"/>
          </a:ln>
        </p:spPr>
      </p:sp>
      <p:sp>
        <p:nvSpPr>
          <p:cNvPr id="6" name="Text 4"/>
          <p:cNvSpPr txBox="1"/>
          <p:nvPr/>
        </p:nvSpPr>
        <p:spPr>
          <a:xfrm>
            <a:off x="822960" y="2834640"/>
            <a:ext cx="3017520" cy="548640"/>
          </a:xfrm>
          <a:prstGeom prst="rect">
            <a:avLst/>
          </a:prstGeom>
          <a:noFill/>
          <a:ln/>
        </p:spPr>
        <p:txBody>
          <a:bodyPr wrap="square" lIns="0" tIns="0" rIns="0" bIns="0" rtlCol="0" anchor="t"/>
          <a:lstStyle/>
          <a:p>
            <a:pPr algn="ctr" indent="0" marL="0">
              <a:buNone/>
            </a:pPr>
            <a:r>
              <a:rPr lang="en-US" sz="2600" b="1" dirty="0">
                <a:solidFill>
                  <a:srgbClr val="174A3A"/>
                </a:solidFill>
                <a:latin typeface="Cambria" pitchFamily="34" charset="0"/>
                <a:ea typeface="Cambria" pitchFamily="34" charset="-122"/>
                <a:cs typeface="Cambria" pitchFamily="34" charset="-120"/>
              </a:rPr>
              <a:t>Mes racines</a:t>
            </a:r>
            <a:endParaRPr lang="en-US" sz="2600" dirty="0"/>
          </a:p>
        </p:txBody>
      </p:sp>
      <p:sp>
        <p:nvSpPr>
          <p:cNvPr id="7" name="Text 5"/>
          <p:cNvSpPr txBox="1"/>
          <p:nvPr/>
        </p:nvSpPr>
        <p:spPr>
          <a:xfrm>
            <a:off x="822960" y="3474720"/>
            <a:ext cx="3017520" cy="1828800"/>
          </a:xfrm>
          <a:prstGeom prst="rect">
            <a:avLst/>
          </a:prstGeom>
          <a:noFill/>
          <a:ln/>
        </p:spPr>
        <p:txBody>
          <a:bodyPr wrap="square" lIns="0" tIns="0" rIns="0" bIns="0" rtlCol="0" anchor="t"/>
          <a:lstStyle/>
          <a:p>
            <a:pPr indent="0" marL="0">
              <a:buNone/>
            </a:pPr>
            <a:r>
              <a:rPr lang="en-US" sz="1600" dirty="0">
                <a:solidFill>
                  <a:srgbClr val="17211D"/>
                </a:solidFill>
                <a:latin typeface="Calibri" pitchFamily="34" charset="0"/>
                <a:ea typeface="Calibri" pitchFamily="34" charset="-122"/>
                <a:cs typeface="Calibri" pitchFamily="34" charset="-120"/>
              </a:rPr>
              <a:t>Caramulo, ma famille, l'air de la montagne et les repas du dimanche. C'est là que tout a commencé.</a:t>
            </a:r>
            <a:endParaRPr lang="en-US" sz="1600" dirty="0"/>
          </a:p>
        </p:txBody>
      </p:sp>
      <p:sp>
        <p:nvSpPr>
          <p:cNvPr id="8" name="Shape 6"/>
          <p:cNvSpPr/>
          <p:nvPr/>
        </p:nvSpPr>
        <p:spPr>
          <a:xfrm>
            <a:off x="4297680" y="1828800"/>
            <a:ext cx="3566160" cy="3657600"/>
          </a:xfrm>
          <a:prstGeom prst="roundRect">
            <a:avLst>
              <a:gd name="adj" fmla="val 2051"/>
            </a:avLst>
          </a:prstGeom>
          <a:solidFill>
            <a:srgbClr val="F1F4F2"/>
          </a:solidFill>
          <a:ln w="12700">
            <a:solidFill>
              <a:srgbClr val="F1F4F2"/>
            </a:solidFill>
            <a:prstDash val="solid"/>
          </a:ln>
          <a:effectLst>
            <a:outerShdw sx="100000" sy="100000" kx="0" ky="0" algn="bl" rotWithShape="0" blurRad="101600" dist="38100" dir="5400000">
              <a:srgbClr val="000000">
                <a:alpha val="18000"/>
              </a:srgbClr>
            </a:outerShdw>
          </a:effectLst>
        </p:spPr>
      </p:sp>
      <p:sp>
        <p:nvSpPr>
          <p:cNvPr id="9" name="Shape 7"/>
          <p:cNvSpPr/>
          <p:nvPr/>
        </p:nvSpPr>
        <p:spPr>
          <a:xfrm>
            <a:off x="5852160" y="2148840"/>
            <a:ext cx="457200" cy="457200"/>
          </a:xfrm>
          <a:prstGeom prst="ellipse">
            <a:avLst/>
          </a:prstGeom>
          <a:solidFill>
            <a:srgbClr val="A83232"/>
          </a:solidFill>
          <a:ln w="12700">
            <a:solidFill>
              <a:srgbClr val="A83232"/>
            </a:solidFill>
            <a:prstDash val="solid"/>
          </a:ln>
        </p:spPr>
      </p:sp>
      <p:sp>
        <p:nvSpPr>
          <p:cNvPr id="10" name="Text 8"/>
          <p:cNvSpPr txBox="1"/>
          <p:nvPr/>
        </p:nvSpPr>
        <p:spPr>
          <a:xfrm>
            <a:off x="4572000" y="2834640"/>
            <a:ext cx="3017520" cy="548640"/>
          </a:xfrm>
          <a:prstGeom prst="rect">
            <a:avLst/>
          </a:prstGeom>
          <a:noFill/>
          <a:ln/>
        </p:spPr>
        <p:txBody>
          <a:bodyPr wrap="square" lIns="0" tIns="0" rIns="0" bIns="0" rtlCol="0" anchor="t"/>
          <a:lstStyle/>
          <a:p>
            <a:pPr algn="ctr" indent="0" marL="0">
              <a:buNone/>
            </a:pPr>
            <a:r>
              <a:rPr lang="en-US" sz="2600" b="1" dirty="0">
                <a:solidFill>
                  <a:srgbClr val="A83232"/>
                </a:solidFill>
                <a:latin typeface="Cambria" pitchFamily="34" charset="0"/>
                <a:ea typeface="Cambria" pitchFamily="34" charset="-122"/>
                <a:cs typeface="Cambria" pitchFamily="34" charset="-120"/>
              </a:rPr>
              <a:t>Mes valeurs</a:t>
            </a:r>
            <a:endParaRPr lang="en-US" sz="2600" dirty="0"/>
          </a:p>
        </p:txBody>
      </p:sp>
      <p:sp>
        <p:nvSpPr>
          <p:cNvPr id="11" name="Text 9"/>
          <p:cNvSpPr txBox="1"/>
          <p:nvPr/>
        </p:nvSpPr>
        <p:spPr>
          <a:xfrm>
            <a:off x="4572000" y="3474720"/>
            <a:ext cx="3017520" cy="1828800"/>
          </a:xfrm>
          <a:prstGeom prst="rect">
            <a:avLst/>
          </a:prstGeom>
          <a:noFill/>
          <a:ln/>
        </p:spPr>
        <p:txBody>
          <a:bodyPr wrap="square" lIns="0" tIns="0" rIns="0" bIns="0" rtlCol="0" anchor="t"/>
          <a:lstStyle/>
          <a:p>
            <a:pPr indent="0" marL="0">
              <a:buNone/>
            </a:pPr>
            <a:r>
              <a:rPr lang="en-US" sz="1600" dirty="0">
                <a:solidFill>
                  <a:srgbClr val="17211D"/>
                </a:solidFill>
                <a:latin typeface="Calibri" pitchFamily="34" charset="0"/>
                <a:ea typeface="Calibri" pitchFamily="34" charset="-122"/>
                <a:cs typeface="Calibri" pitchFamily="34" charset="-120"/>
              </a:rPr>
              <a:t>Le travail, le respect, la solidarité et le sens de l'accueil, que j'emporte partout avec moi.</a:t>
            </a:r>
            <a:endParaRPr lang="en-US" sz="1600" dirty="0"/>
          </a:p>
        </p:txBody>
      </p:sp>
      <p:sp>
        <p:nvSpPr>
          <p:cNvPr id="12" name="Shape 10"/>
          <p:cNvSpPr/>
          <p:nvPr/>
        </p:nvSpPr>
        <p:spPr>
          <a:xfrm>
            <a:off x="8046720" y="1828800"/>
            <a:ext cx="3566160" cy="3657600"/>
          </a:xfrm>
          <a:prstGeom prst="roundRect">
            <a:avLst>
              <a:gd name="adj" fmla="val 2051"/>
            </a:avLst>
          </a:prstGeom>
          <a:solidFill>
            <a:srgbClr val="F1F4F2"/>
          </a:solidFill>
          <a:ln w="12700">
            <a:solidFill>
              <a:srgbClr val="F1F4F2"/>
            </a:solidFill>
            <a:prstDash val="solid"/>
          </a:ln>
          <a:effectLst>
            <a:outerShdw sx="100000" sy="100000" kx="0" ky="0" algn="bl" rotWithShape="0" blurRad="101600" dist="38100" dir="5400000">
              <a:srgbClr val="000000">
                <a:alpha val="18000"/>
              </a:srgbClr>
            </a:outerShdw>
          </a:effectLst>
        </p:spPr>
      </p:sp>
      <p:sp>
        <p:nvSpPr>
          <p:cNvPr id="13" name="Shape 11"/>
          <p:cNvSpPr/>
          <p:nvPr/>
        </p:nvSpPr>
        <p:spPr>
          <a:xfrm>
            <a:off x="9601200" y="2148840"/>
            <a:ext cx="457200" cy="457200"/>
          </a:xfrm>
          <a:prstGeom prst="ellipse">
            <a:avLst/>
          </a:prstGeom>
          <a:solidFill>
            <a:srgbClr val="1E4F8F"/>
          </a:solidFill>
          <a:ln w="12700">
            <a:solidFill>
              <a:srgbClr val="1E4F8F"/>
            </a:solidFill>
            <a:prstDash val="solid"/>
          </a:ln>
        </p:spPr>
      </p:sp>
      <p:sp>
        <p:nvSpPr>
          <p:cNvPr id="14" name="Text 12"/>
          <p:cNvSpPr txBox="1"/>
          <p:nvPr/>
        </p:nvSpPr>
        <p:spPr>
          <a:xfrm>
            <a:off x="8321040" y="2834640"/>
            <a:ext cx="3017520" cy="548640"/>
          </a:xfrm>
          <a:prstGeom prst="rect">
            <a:avLst/>
          </a:prstGeom>
          <a:noFill/>
          <a:ln/>
        </p:spPr>
        <p:txBody>
          <a:bodyPr wrap="square" lIns="0" tIns="0" rIns="0" bIns="0" rtlCol="0" anchor="t"/>
          <a:lstStyle/>
          <a:p>
            <a:pPr algn="ctr" indent="0" marL="0">
              <a:buNone/>
            </a:pPr>
            <a:r>
              <a:rPr lang="en-US" sz="2600" b="1" dirty="0">
                <a:solidFill>
                  <a:srgbClr val="1E4F8F"/>
                </a:solidFill>
                <a:latin typeface="Cambria" pitchFamily="34" charset="0"/>
                <a:ea typeface="Cambria" pitchFamily="34" charset="-122"/>
                <a:cs typeface="Cambria" pitchFamily="34" charset="-120"/>
              </a:rPr>
              <a:t>Un pont</a:t>
            </a:r>
            <a:endParaRPr lang="en-US" sz="2600" dirty="0"/>
          </a:p>
        </p:txBody>
      </p:sp>
      <p:sp>
        <p:nvSpPr>
          <p:cNvPr id="15" name="Text 13"/>
          <p:cNvSpPr txBox="1"/>
          <p:nvPr/>
        </p:nvSpPr>
        <p:spPr>
          <a:xfrm>
            <a:off x="8321040" y="3474720"/>
            <a:ext cx="3017520" cy="1828800"/>
          </a:xfrm>
          <a:prstGeom prst="rect">
            <a:avLst/>
          </a:prstGeom>
          <a:noFill/>
          <a:ln/>
        </p:spPr>
        <p:txBody>
          <a:bodyPr wrap="square" lIns="0" tIns="0" rIns="0" bIns="0" rtlCol="0" anchor="t"/>
          <a:lstStyle/>
          <a:p>
            <a:pPr indent="0" marL="0">
              <a:buNone/>
            </a:pPr>
            <a:r>
              <a:rPr lang="en-US" sz="1600" dirty="0">
                <a:solidFill>
                  <a:srgbClr val="17211D"/>
                </a:solidFill>
                <a:latin typeface="Calibri" pitchFamily="34" charset="0"/>
                <a:ea typeface="Calibri" pitchFamily="34" charset="-122"/>
                <a:cs typeface="Calibri" pitchFamily="34" charset="-120"/>
              </a:rPr>
              <a:t>Entre le Portugal et la Suisse, entre hier et demain. Fier d'être Portugais, heureux de vivre en Suisse.</a:t>
            </a:r>
            <a:endParaRPr lang="en-US" sz="160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18D"/>
                </a:solidFill>
                <a:latin typeface="Calibri"/>
                <a:ea typeface="Calibri"/>
                <a:cs typeface="Calibri"/>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txBox="1"/>
          <p:nvPr/>
        </p:nvSpPr>
        <p:spPr>
          <a:xfrm>
            <a:off x="548640" y="411480"/>
            <a:ext cx="10972800" cy="274320"/>
          </a:xfrm>
          <a:prstGeom prst="rect">
            <a:avLst/>
          </a:prstGeom>
          <a:noFill/>
          <a:ln/>
        </p:spPr>
        <p:txBody>
          <a:bodyPr wrap="square" lIns="0" tIns="0" rIns="0" bIns="0" rtlCol="0" anchor="t"/>
          <a:lstStyle/>
          <a:p>
            <a:pPr indent="0" marL="0">
              <a:buNone/>
            </a:pPr>
            <a:r>
              <a:rPr lang="en-US" sz="1200" b="1" spc="300" kern="0" dirty="0">
                <a:solidFill>
                  <a:srgbClr val="A83232"/>
                </a:solidFill>
                <a:latin typeface="Calibri" pitchFamily="34" charset="0"/>
                <a:ea typeface="Calibri" pitchFamily="34" charset="-122"/>
                <a:cs typeface="Calibri" pitchFamily="34" charset="-120"/>
              </a:rPr>
              <a:t>REMERCIEMENTS</a:t>
            </a:r>
            <a:endParaRPr lang="en-US" sz="1200" dirty="0"/>
          </a:p>
        </p:txBody>
      </p:sp>
      <p:sp>
        <p:nvSpPr>
          <p:cNvPr id="3" name="Text 1"/>
          <p:cNvSpPr txBox="1"/>
          <p:nvPr/>
        </p:nvSpPr>
        <p:spPr>
          <a:xfrm>
            <a:off x="548640" y="685800"/>
            <a:ext cx="10972800" cy="685800"/>
          </a:xfrm>
          <a:prstGeom prst="rect">
            <a:avLst/>
          </a:prstGeom>
          <a:noFill/>
          <a:ln/>
        </p:spPr>
        <p:txBody>
          <a:bodyPr wrap="square" lIns="0" tIns="0" rIns="0" bIns="0" rtlCol="0" anchor="t"/>
          <a:lstStyle/>
          <a:p>
            <a:pPr indent="0" marL="0">
              <a:buNone/>
            </a:pPr>
            <a:r>
              <a:rPr lang="en-US" sz="3400" b="1" dirty="0">
                <a:solidFill>
                  <a:srgbClr val="174A3A"/>
                </a:solidFill>
                <a:latin typeface="Cambria" pitchFamily="34" charset="0"/>
                <a:ea typeface="Cambria" pitchFamily="34" charset="-122"/>
                <a:cs typeface="Cambria" pitchFamily="34" charset="-120"/>
              </a:rPr>
              <a:t>Un grand merci !</a:t>
            </a:r>
            <a:endParaRPr lang="en-US" sz="3400" dirty="0"/>
          </a:p>
        </p:txBody>
      </p:sp>
      <p:sp>
        <p:nvSpPr>
          <p:cNvPr id="4" name="Text 2"/>
          <p:cNvSpPr txBox="1"/>
          <p:nvPr/>
        </p:nvSpPr>
        <p:spPr>
          <a:xfrm>
            <a:off x="548640" y="1371600"/>
            <a:ext cx="10972800" cy="457200"/>
          </a:xfrm>
          <a:prstGeom prst="rect">
            <a:avLst/>
          </a:prstGeom>
          <a:noFill/>
          <a:ln/>
        </p:spPr>
        <p:txBody>
          <a:bodyPr wrap="square" lIns="0" tIns="0" rIns="0" bIns="0" rtlCol="0" anchor="t"/>
          <a:lstStyle/>
          <a:p>
            <a:pPr indent="0" marL="0">
              <a:buNone/>
            </a:pPr>
            <a:r>
              <a:rPr lang="en-US" sz="1500" dirty="0">
                <a:solidFill>
                  <a:srgbClr val="4A524E"/>
                </a:solidFill>
                <a:latin typeface="Calibri" pitchFamily="34" charset="0"/>
                <a:ea typeface="Calibri" pitchFamily="34" charset="-122"/>
                <a:cs typeface="Calibri" pitchFamily="34" charset="-120"/>
              </a:rPr>
              <a:t>Cette présentation a aussi un goût de Portugal grâce à deux commerces portugais de la région.</a:t>
            </a:r>
            <a:endParaRPr lang="en-US" sz="1500" dirty="0"/>
          </a:p>
        </p:txBody>
      </p:sp>
      <p:sp>
        <p:nvSpPr>
          <p:cNvPr id="5" name="Shape 3"/>
          <p:cNvSpPr/>
          <p:nvPr/>
        </p:nvSpPr>
        <p:spPr>
          <a:xfrm>
            <a:off x="548640" y="1965960"/>
            <a:ext cx="5394960" cy="4251960"/>
          </a:xfrm>
          <a:prstGeom prst="roundRect">
            <a:avLst>
              <a:gd name="adj" fmla="val 1720"/>
            </a:avLst>
          </a:prstGeom>
          <a:solidFill>
            <a:srgbClr val="FFFFFF"/>
          </a:solidFill>
          <a:ln w="12700">
            <a:solidFill>
              <a:srgbClr val="FFFFFF"/>
            </a:solidFill>
            <a:prstDash val="solid"/>
          </a:ln>
          <a:effectLst>
            <a:outerShdw sx="100000" sy="100000" kx="0" ky="0" algn="bl" rotWithShape="0" blurRad="101600" dist="38100" dir="5400000">
              <a:srgbClr val="000000">
                <a:alpha val="18000"/>
              </a:srgbClr>
            </a:outerShdw>
          </a:effectLst>
        </p:spPr>
      </p:sp>
      <p:pic>
        <p:nvPicPr>
          <p:cNvPr id="6" name="Image 0" descr="/home/user/Portugal-Website/images/luis/europeixe.jpg">    </p:cNvPr>
          <p:cNvPicPr>
            <a:picLocks noChangeAspect="1"/>
          </p:cNvPicPr>
          <p:nvPr/>
        </p:nvPicPr>
        <p:blipFill>
          <a:blip r:embed="rId1"/>
          <a:srcRect l="0" r="0" t="0" b="0"/>
          <a:stretch/>
        </p:blipFill>
        <p:spPr>
          <a:xfrm>
            <a:off x="548640" y="1965960"/>
            <a:ext cx="5394960" cy="2194560"/>
          </a:xfrm>
          <a:prstGeom prst="rect">
            <a:avLst/>
          </a:prstGeom>
        </p:spPr>
      </p:pic>
      <p:sp>
        <p:nvSpPr>
          <p:cNvPr id="7" name="Text 4"/>
          <p:cNvSpPr txBox="1"/>
          <p:nvPr/>
        </p:nvSpPr>
        <p:spPr>
          <a:xfrm>
            <a:off x="777240" y="4251960"/>
            <a:ext cx="4937760" cy="457200"/>
          </a:xfrm>
          <a:prstGeom prst="rect">
            <a:avLst/>
          </a:prstGeom>
          <a:noFill/>
          <a:ln/>
        </p:spPr>
        <p:txBody>
          <a:bodyPr wrap="square" lIns="0" tIns="0" rIns="0" bIns="0" rtlCol="0" anchor="t"/>
          <a:lstStyle/>
          <a:p>
            <a:pPr indent="0" marL="0">
              <a:buNone/>
            </a:pPr>
            <a:r>
              <a:rPr lang="en-US" sz="2400" b="1" dirty="0">
                <a:solidFill>
                  <a:srgbClr val="174A3A"/>
                </a:solidFill>
                <a:latin typeface="Cambria" pitchFamily="34" charset="0"/>
                <a:ea typeface="Cambria" pitchFamily="34" charset="-122"/>
                <a:cs typeface="Cambria" pitchFamily="34" charset="-120"/>
              </a:rPr>
              <a:t>Europeixe</a:t>
            </a:r>
            <a:endParaRPr lang="en-US" sz="2400" dirty="0"/>
          </a:p>
        </p:txBody>
      </p:sp>
      <p:sp>
        <p:nvSpPr>
          <p:cNvPr id="8" name="Text 5"/>
          <p:cNvSpPr txBox="1"/>
          <p:nvPr/>
        </p:nvSpPr>
        <p:spPr>
          <a:xfrm>
            <a:off x="777240" y="4709160"/>
            <a:ext cx="4937760" cy="274320"/>
          </a:xfrm>
          <a:prstGeom prst="rect">
            <a:avLst/>
          </a:prstGeom>
          <a:noFill/>
          <a:ln/>
        </p:spPr>
        <p:txBody>
          <a:bodyPr wrap="square" lIns="0" tIns="0" rIns="0" bIns="0" rtlCol="0" anchor="t"/>
          <a:lstStyle/>
          <a:p>
            <a:pPr indent="0" marL="0">
              <a:buNone/>
            </a:pPr>
            <a:r>
              <a:rPr lang="en-US" sz="1000" b="1" spc="200" kern="0" dirty="0">
                <a:solidFill>
                  <a:srgbClr val="1E4F8F"/>
                </a:solidFill>
                <a:latin typeface="Calibri" pitchFamily="34" charset="0"/>
                <a:ea typeface="Calibri" pitchFamily="34" charset="-122"/>
                <a:cs typeface="Calibri" pitchFamily="34" charset="-120"/>
              </a:rPr>
              <a:t>MAGASIN PORTUGAIS · AIGLE</a:t>
            </a:r>
            <a:endParaRPr lang="en-US" sz="1000" dirty="0"/>
          </a:p>
        </p:txBody>
      </p:sp>
      <p:sp>
        <p:nvSpPr>
          <p:cNvPr id="9" name="Text 6"/>
          <p:cNvSpPr txBox="1"/>
          <p:nvPr/>
        </p:nvSpPr>
        <p:spPr>
          <a:xfrm>
            <a:off x="777240" y="4983480"/>
            <a:ext cx="4937760" cy="822960"/>
          </a:xfrm>
          <a:prstGeom prst="rect">
            <a:avLst/>
          </a:prstGeom>
          <a:noFill/>
          <a:ln/>
        </p:spPr>
        <p:txBody>
          <a:bodyPr wrap="square" lIns="0" tIns="0" rIns="0" bIns="0" rtlCol="0" anchor="t"/>
          <a:lstStyle/>
          <a:p>
            <a:pPr indent="0" marL="0">
              <a:buNone/>
            </a:pPr>
            <a:r>
              <a:rPr lang="en-US" sz="1250" dirty="0">
                <a:solidFill>
                  <a:srgbClr val="17211D"/>
                </a:solidFill>
                <a:latin typeface="Calibri" pitchFamily="34" charset="0"/>
                <a:ea typeface="Calibri" pitchFamily="34" charset="-122"/>
                <a:cs typeface="Calibri" pitchFamily="34" charset="-120"/>
              </a:rPr>
              <a:t>Épicerie et produits portugais. Europeixe a généreusement offert les produits que vous pouvez goûter aujourd'hui. Muito obrigado !</a:t>
            </a:r>
            <a:endParaRPr lang="en-US" sz="1250" dirty="0"/>
          </a:p>
        </p:txBody>
      </p:sp>
      <p:sp>
        <p:nvSpPr>
          <p:cNvPr id="10" name="Text 7"/>
          <p:cNvSpPr txBox="1"/>
          <p:nvPr/>
        </p:nvSpPr>
        <p:spPr>
          <a:xfrm>
            <a:off x="777240" y="5806440"/>
            <a:ext cx="4937760" cy="320040"/>
          </a:xfrm>
          <a:prstGeom prst="rect">
            <a:avLst/>
          </a:prstGeom>
          <a:noFill/>
          <a:ln/>
        </p:spPr>
        <p:txBody>
          <a:bodyPr wrap="square" lIns="0" tIns="0" rIns="0" bIns="0" rtlCol="0" anchor="ctr"/>
          <a:lstStyle/>
          <a:p>
            <a:pPr indent="0" marL="0">
              <a:buNone/>
            </a:pPr>
            <a:r>
              <a:rPr lang="en-US" sz="1200" b="1" u="sng" dirty="0">
                <a:solidFill>
                  <a:srgbClr val="A83232"/>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loja-europeixe.ch  →</a:t>
            </a:r>
            <a:endParaRPr lang="en-US" sz="1200" dirty="0"/>
          </a:p>
        </p:txBody>
      </p:sp>
      <p:sp>
        <p:nvSpPr>
          <p:cNvPr id="11" name="Shape 8"/>
          <p:cNvSpPr/>
          <p:nvPr/>
        </p:nvSpPr>
        <p:spPr>
          <a:xfrm>
            <a:off x="6217920" y="1965960"/>
            <a:ext cx="5394960" cy="4251960"/>
          </a:xfrm>
          <a:prstGeom prst="roundRect">
            <a:avLst>
              <a:gd name="adj" fmla="val 1720"/>
            </a:avLst>
          </a:prstGeom>
          <a:solidFill>
            <a:srgbClr val="FFFFFF"/>
          </a:solidFill>
          <a:ln w="12700">
            <a:solidFill>
              <a:srgbClr val="FFFFFF"/>
            </a:solidFill>
            <a:prstDash val="solid"/>
          </a:ln>
          <a:effectLst>
            <a:outerShdw sx="100000" sy="100000" kx="0" ky="0" algn="bl" rotWithShape="0" blurRad="101600" dist="38100" dir="5400000">
              <a:srgbClr val="000000">
                <a:alpha val="18000"/>
              </a:srgbClr>
            </a:outerShdw>
          </a:effectLst>
        </p:spPr>
      </p:sp>
      <p:pic>
        <p:nvPicPr>
          <p:cNvPr id="12" name="Image 1" descr="/home/user/Portugal-Website/images/luis/nortejo-vitrine.jpg">    </p:cNvPr>
          <p:cNvPicPr>
            <a:picLocks noChangeAspect="1"/>
          </p:cNvPicPr>
          <p:nvPr/>
        </p:nvPicPr>
        <p:blipFill>
          <a:blip r:embed="rId3"/>
          <a:srcRect l="0" r="0" t="0" b="0"/>
          <a:stretch/>
        </p:blipFill>
        <p:spPr>
          <a:xfrm>
            <a:off x="6217920" y="1965960"/>
            <a:ext cx="5394960" cy="2194560"/>
          </a:xfrm>
          <a:prstGeom prst="rect">
            <a:avLst/>
          </a:prstGeom>
        </p:spPr>
      </p:pic>
      <p:sp>
        <p:nvSpPr>
          <p:cNvPr id="13" name="Text 9"/>
          <p:cNvSpPr txBox="1"/>
          <p:nvPr/>
        </p:nvSpPr>
        <p:spPr>
          <a:xfrm>
            <a:off x="6446520" y="4251960"/>
            <a:ext cx="4937760" cy="457200"/>
          </a:xfrm>
          <a:prstGeom prst="rect">
            <a:avLst/>
          </a:prstGeom>
          <a:noFill/>
          <a:ln/>
        </p:spPr>
        <p:txBody>
          <a:bodyPr wrap="square" lIns="0" tIns="0" rIns="0" bIns="0" rtlCol="0" anchor="t"/>
          <a:lstStyle/>
          <a:p>
            <a:pPr indent="0" marL="0">
              <a:buNone/>
            </a:pPr>
            <a:r>
              <a:rPr lang="en-US" sz="2400" b="1" dirty="0">
                <a:solidFill>
                  <a:srgbClr val="174A3A"/>
                </a:solidFill>
                <a:latin typeface="Cambria" pitchFamily="34" charset="0"/>
                <a:ea typeface="Cambria" pitchFamily="34" charset="-122"/>
                <a:cs typeface="Cambria" pitchFamily="34" charset="-120"/>
              </a:rPr>
              <a:t>Nortejo</a:t>
            </a:r>
            <a:endParaRPr lang="en-US" sz="2400" dirty="0"/>
          </a:p>
        </p:txBody>
      </p:sp>
      <p:sp>
        <p:nvSpPr>
          <p:cNvPr id="14" name="Text 10"/>
          <p:cNvSpPr txBox="1"/>
          <p:nvPr/>
        </p:nvSpPr>
        <p:spPr>
          <a:xfrm>
            <a:off x="6446520" y="4709160"/>
            <a:ext cx="4937760" cy="274320"/>
          </a:xfrm>
          <a:prstGeom prst="rect">
            <a:avLst/>
          </a:prstGeom>
          <a:noFill/>
          <a:ln/>
        </p:spPr>
        <p:txBody>
          <a:bodyPr wrap="square" lIns="0" tIns="0" rIns="0" bIns="0" rtlCol="0" anchor="t"/>
          <a:lstStyle/>
          <a:p>
            <a:pPr indent="0" marL="0">
              <a:buNone/>
            </a:pPr>
            <a:r>
              <a:rPr lang="en-US" sz="1000" b="1" spc="200" kern="0" dirty="0">
                <a:solidFill>
                  <a:srgbClr val="1E4F8F"/>
                </a:solidFill>
                <a:latin typeface="Calibri" pitchFamily="34" charset="0"/>
                <a:ea typeface="Calibri" pitchFamily="34" charset="-122"/>
                <a:cs typeface="Calibri" pitchFamily="34" charset="-120"/>
              </a:rPr>
              <a:t>PÂTISSERIE PORTUGAISE</a:t>
            </a:r>
            <a:endParaRPr lang="en-US" sz="1000" dirty="0"/>
          </a:p>
        </p:txBody>
      </p:sp>
      <p:sp>
        <p:nvSpPr>
          <p:cNvPr id="15" name="Text 11"/>
          <p:cNvSpPr txBox="1"/>
          <p:nvPr/>
        </p:nvSpPr>
        <p:spPr>
          <a:xfrm>
            <a:off x="6446520" y="4983480"/>
            <a:ext cx="4937760" cy="822960"/>
          </a:xfrm>
          <a:prstGeom prst="rect">
            <a:avLst/>
          </a:prstGeom>
          <a:noFill/>
          <a:ln/>
        </p:spPr>
        <p:txBody>
          <a:bodyPr wrap="square" lIns="0" tIns="0" rIns="0" bIns="0" rtlCol="0" anchor="t"/>
          <a:lstStyle/>
          <a:p>
            <a:pPr indent="0" marL="0">
              <a:buNone/>
            </a:pPr>
            <a:r>
              <a:rPr lang="en-US" sz="1250" dirty="0">
                <a:solidFill>
                  <a:srgbClr val="17211D"/>
                </a:solidFill>
                <a:latin typeface="Calibri" pitchFamily="34" charset="0"/>
                <a:ea typeface="Calibri" pitchFamily="34" charset="-122"/>
                <a:cs typeface="Calibri" pitchFamily="34" charset="-120"/>
              </a:rPr>
              <a:t>Les douceurs portugaises servies aujourd'hui viennent de la pâtisserie Nortejo : pastéis de nata et autres gourmandises. Obrigado !</a:t>
            </a:r>
            <a:endParaRPr lang="en-US" sz="1250" dirty="0"/>
          </a:p>
        </p:txBody>
      </p:sp>
      <p:sp>
        <p:nvSpPr>
          <p:cNvPr id="16" name="Text 12"/>
          <p:cNvSpPr txBox="1"/>
          <p:nvPr/>
        </p:nvSpPr>
        <p:spPr>
          <a:xfrm>
            <a:off x="6446520" y="5806440"/>
            <a:ext cx="4937760" cy="320040"/>
          </a:xfrm>
          <a:prstGeom prst="rect">
            <a:avLst/>
          </a:prstGeom>
          <a:noFill/>
          <a:ln/>
        </p:spPr>
        <p:txBody>
          <a:bodyPr wrap="square" lIns="0" tIns="0" rIns="0" bIns="0" rtlCol="0" anchor="ctr"/>
          <a:lstStyle/>
          <a:p>
            <a:pPr indent="0" marL="0">
              <a:buNone/>
            </a:pPr>
            <a:r>
              <a:rPr lang="en-US" sz="1200" b="1" u="sng" dirty="0">
                <a:solidFill>
                  <a:srgbClr val="A83232"/>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Voir sur Google  →</a:t>
            </a:r>
            <a:endParaRPr lang="en-US" sz="120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18D"/>
                </a:solidFill>
                <a:latin typeface="Calibri"/>
                <a:ea typeface="Calibri"/>
                <a:cs typeface="Calibri"/>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txBox="1"/>
          <p:nvPr/>
        </p:nvSpPr>
        <p:spPr>
          <a:xfrm>
            <a:off x="0" y="1828800"/>
            <a:ext cx="12191695" cy="1645920"/>
          </a:xfrm>
          <a:prstGeom prst="rect">
            <a:avLst/>
          </a:prstGeom>
          <a:noFill/>
          <a:ln/>
        </p:spPr>
        <p:txBody>
          <a:bodyPr wrap="square" lIns="0" tIns="0" rIns="0" bIns="0" rtlCol="0" anchor="t"/>
          <a:lstStyle/>
          <a:p>
            <a:pPr algn="ctr" indent="0" marL="0">
              <a:buNone/>
            </a:pPr>
            <a:r>
              <a:rPr lang="en-US" sz="9600" b="1" i="1" dirty="0">
                <a:solidFill>
                  <a:srgbClr val="F2C14E"/>
                </a:solidFill>
                <a:latin typeface="Cambria" pitchFamily="34" charset="0"/>
                <a:ea typeface="Cambria" pitchFamily="34" charset="-122"/>
                <a:cs typeface="Cambria" pitchFamily="34" charset="-120"/>
              </a:rPr>
              <a:t>Obrigado!</a:t>
            </a:r>
            <a:endParaRPr lang="en-US" sz="9600" dirty="0"/>
          </a:p>
        </p:txBody>
      </p:sp>
      <p:sp>
        <p:nvSpPr>
          <p:cNvPr id="3" name="Text 1"/>
          <p:cNvSpPr txBox="1"/>
          <p:nvPr/>
        </p:nvSpPr>
        <p:spPr>
          <a:xfrm>
            <a:off x="0" y="3566160"/>
            <a:ext cx="12191695" cy="548640"/>
          </a:xfrm>
          <a:prstGeom prst="rect">
            <a:avLst/>
          </a:prstGeom>
          <a:noFill/>
          <a:ln/>
        </p:spPr>
        <p:txBody>
          <a:bodyPr wrap="square" lIns="0" tIns="0" rIns="0" bIns="0" rtlCol="0" anchor="t"/>
          <a:lstStyle/>
          <a:p>
            <a:pPr algn="ctr" indent="0" marL="0">
              <a:buNone/>
            </a:pPr>
            <a:r>
              <a:rPr lang="en-US" sz="2400" dirty="0">
                <a:solidFill>
                  <a:srgbClr val="FFFFFF"/>
                </a:solidFill>
                <a:latin typeface="Calibri" pitchFamily="34" charset="0"/>
                <a:ea typeface="Calibri" pitchFamily="34" charset="-122"/>
                <a:cs typeface="Calibri" pitchFamily="34" charset="-120"/>
              </a:rPr>
              <a:t>Merci de votre attention.</a:t>
            </a:r>
            <a:endParaRPr lang="en-US" sz="2400" dirty="0"/>
          </a:p>
        </p:txBody>
      </p:sp>
      <p:sp>
        <p:nvSpPr>
          <p:cNvPr id="4" name="Text 2"/>
          <p:cNvSpPr txBox="1"/>
          <p:nvPr/>
        </p:nvSpPr>
        <p:spPr>
          <a:xfrm>
            <a:off x="0" y="4206240"/>
            <a:ext cx="12191695" cy="640080"/>
          </a:xfrm>
          <a:prstGeom prst="rect">
            <a:avLst/>
          </a:prstGeom>
          <a:noFill/>
          <a:ln/>
        </p:spPr>
        <p:txBody>
          <a:bodyPr wrap="square" lIns="0" tIns="0" rIns="0" bIns="0" rtlCol="0" anchor="t"/>
          <a:lstStyle/>
          <a:p>
            <a:pPr algn="ctr" indent="0" marL="0">
              <a:buNone/>
            </a:pPr>
            <a:r>
              <a:rPr lang="en-US" sz="3000" i="1" dirty="0">
                <a:solidFill>
                  <a:srgbClr val="FFFFFF"/>
                </a:solidFill>
                <a:latin typeface="Cambria" pitchFamily="34" charset="0"/>
                <a:ea typeface="Cambria" pitchFamily="34" charset="-122"/>
                <a:cs typeface="Cambria" pitchFamily="34" charset="-120"/>
              </a:rPr>
              <a:t>Des questions ?</a:t>
            </a:r>
            <a:endParaRPr lang="en-US" sz="3000" dirty="0"/>
          </a:p>
        </p:txBody>
      </p:sp>
      <p:pic>
        <p:nvPicPr>
          <p:cNvPr id="5" name="Image 0" descr="/home/user/Portugal-Website/images/flag-pt.jpg">    </p:cNvPr>
          <p:cNvPicPr>
            <a:picLocks noChangeAspect="1"/>
          </p:cNvPicPr>
          <p:nvPr/>
        </p:nvPicPr>
        <p:blipFill>
          <a:blip r:embed="rId1"/>
          <a:srcRect l="0" r="0" t="0" b="0"/>
          <a:stretch/>
        </p:blipFill>
        <p:spPr>
          <a:xfrm>
            <a:off x="5358384" y="5212080"/>
            <a:ext cx="640080" cy="640080"/>
          </a:xfrm>
          <a:prstGeom prst="ellipse">
            <a:avLst/>
          </a:prstGeom>
        </p:spPr>
      </p:pic>
      <p:pic>
        <p:nvPicPr>
          <p:cNvPr id="6" name="Image 1" descr="/home/user/Portugal-Website/images/flag-ch.jpg">    </p:cNvPr>
          <p:cNvPicPr>
            <a:picLocks noChangeAspect="1"/>
          </p:cNvPicPr>
          <p:nvPr/>
        </p:nvPicPr>
        <p:blipFill>
          <a:blip r:embed="rId2"/>
          <a:srcRect l="0" r="0" t="0" b="0"/>
          <a:stretch/>
        </p:blipFill>
        <p:spPr>
          <a:xfrm>
            <a:off x="6190488" y="5212080"/>
            <a:ext cx="640080" cy="640080"/>
          </a:xfrm>
          <a:prstGeom prst="ellipse">
            <a:avLst/>
          </a:prstGeom>
        </p:spPr>
      </p:pic>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9C9C1"/>
                </a:solidFill>
                <a:latin typeface="Calibri"/>
                <a:ea typeface="Calibri"/>
                <a:cs typeface="Calibri"/>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txBox="1"/>
          <p:nvPr/>
        </p:nvSpPr>
        <p:spPr>
          <a:xfrm>
            <a:off x="548640" y="411480"/>
            <a:ext cx="10972800" cy="274320"/>
          </a:xfrm>
          <a:prstGeom prst="rect">
            <a:avLst/>
          </a:prstGeom>
          <a:noFill/>
          <a:ln/>
        </p:spPr>
        <p:txBody>
          <a:bodyPr wrap="square" lIns="0" tIns="0" rIns="0" bIns="0" rtlCol="0" anchor="t"/>
          <a:lstStyle/>
          <a:p>
            <a:pPr indent="0" marL="0">
              <a:buNone/>
            </a:pPr>
            <a:r>
              <a:rPr lang="en-US" sz="1200" b="1" spc="300" kern="0" dirty="0">
                <a:solidFill>
                  <a:srgbClr val="A83232"/>
                </a:solidFill>
                <a:latin typeface="Calibri" pitchFamily="34" charset="0"/>
                <a:ea typeface="Calibri" pitchFamily="34" charset="-122"/>
                <a:cs typeface="Calibri" pitchFamily="34" charset="-120"/>
              </a:rPr>
              <a:t>SOURCES</a:t>
            </a:r>
            <a:endParaRPr lang="en-US" sz="1200" dirty="0"/>
          </a:p>
        </p:txBody>
      </p:sp>
      <p:sp>
        <p:nvSpPr>
          <p:cNvPr id="3" name="Text 1"/>
          <p:cNvSpPr txBox="1"/>
          <p:nvPr/>
        </p:nvSpPr>
        <p:spPr>
          <a:xfrm>
            <a:off x="548640" y="685800"/>
            <a:ext cx="10972800" cy="685800"/>
          </a:xfrm>
          <a:prstGeom prst="rect">
            <a:avLst/>
          </a:prstGeom>
          <a:noFill/>
          <a:ln/>
        </p:spPr>
        <p:txBody>
          <a:bodyPr wrap="square" lIns="0" tIns="0" rIns="0" bIns="0" rtlCol="0" anchor="t"/>
          <a:lstStyle/>
          <a:p>
            <a:pPr indent="0" marL="0">
              <a:buNone/>
            </a:pPr>
            <a:r>
              <a:rPr lang="en-US" sz="3400" b="1" dirty="0">
                <a:solidFill>
                  <a:srgbClr val="174A3A"/>
                </a:solidFill>
                <a:latin typeface="Cambria" pitchFamily="34" charset="0"/>
                <a:ea typeface="Cambria" pitchFamily="34" charset="-122"/>
                <a:cs typeface="Cambria" pitchFamily="34" charset="-120"/>
              </a:rPr>
              <a:t>Crédits photos (1)</a:t>
            </a:r>
            <a:endParaRPr lang="en-US" sz="3400" dirty="0"/>
          </a:p>
        </p:txBody>
      </p:sp>
      <p:sp>
        <p:nvSpPr>
          <p:cNvPr id="4" name="Text 2"/>
          <p:cNvSpPr txBox="1"/>
          <p:nvPr/>
        </p:nvSpPr>
        <p:spPr>
          <a:xfrm>
            <a:off x="548640" y="1371600"/>
            <a:ext cx="10972800" cy="320040"/>
          </a:xfrm>
          <a:prstGeom prst="rect">
            <a:avLst/>
          </a:prstGeom>
          <a:noFill/>
          <a:ln/>
        </p:spPr>
        <p:txBody>
          <a:bodyPr wrap="square" lIns="0" tIns="0" rIns="0" bIns="0" rtlCol="0" anchor="t"/>
          <a:lstStyle/>
          <a:p>
            <a:pPr indent="0" marL="0">
              <a:buNone/>
            </a:pPr>
            <a:r>
              <a:rPr lang="en-US" sz="1200" dirty="0">
                <a:solidFill>
                  <a:srgbClr val="4A524E"/>
                </a:solidFill>
                <a:latin typeface="Calibri" pitchFamily="34" charset="0"/>
                <a:ea typeface="Calibri" pitchFamily="34" charset="-122"/>
                <a:cs typeface="Calibri" pitchFamily="34" charset="-120"/>
              </a:rPr>
              <a:t>Photos issues de Wikimedia Commons, sous licences libres. Merci à leurs auteurs.</a:t>
            </a:r>
            <a:endParaRPr lang="en-US" sz="1200" dirty="0"/>
          </a:p>
        </p:txBody>
      </p:sp>
      <p:sp>
        <p:nvSpPr>
          <p:cNvPr id="5" name="Text 3"/>
          <p:cNvSpPr txBox="1"/>
          <p:nvPr/>
        </p:nvSpPr>
        <p:spPr>
          <a:xfrm>
            <a:off x="548640" y="1783080"/>
            <a:ext cx="5486400" cy="4480560"/>
          </a:xfrm>
          <a:prstGeom prst="rect">
            <a:avLst/>
          </a:prstGeom>
          <a:noFill/>
          <a:ln/>
        </p:spPr>
        <p:txBody>
          <a:bodyPr wrap="square" lIns="0" tIns="0" rIns="0" bIns="0" rtlCol="0" anchor="t"/>
          <a:lstStyle/>
          <a:p>
            <a:pPr indent="0" marL="0">
              <a:spcAft>
                <a:spcPts val="200"/>
              </a:spcAft>
              <a:buNone/>
            </a:pPr>
            <a:r>
              <a:rPr lang="en-US" sz="1000" dirty="0">
                <a:solidFill>
                  <a:srgbClr val="4A524E"/>
                </a:solidFill>
                <a:latin typeface="Calibri" pitchFamily="34" charset="0"/>
                <a:ea typeface="Calibri" pitchFamily="34" charset="-122"/>
                <a:cs typeface="Calibri" pitchFamily="34" charset="-120"/>
              </a:rPr>
              <a:t>CH.VS.Zermatt Sunnegga Grindjisee Matterhorn 903 — NOTE: This image is a pano, CC BY-SA 4.0</a:t>
            </a:r>
            <a:endParaRPr lang="en-US" sz="1000" dirty="0"/>
          </a:p>
          <a:p>
            <a:pPr indent="0" marL="0">
              <a:spcAft>
                <a:spcPts val="200"/>
              </a:spcAft>
              <a:buNone/>
            </a:pPr>
            <a:r>
              <a:rPr lang="en-US" sz="1000" dirty="0">
                <a:solidFill>
                  <a:srgbClr val="4A524E"/>
                </a:solidFill>
                <a:latin typeface="Calibri" pitchFamily="34" charset="0"/>
                <a:ea typeface="Calibri" pitchFamily="34" charset="-122"/>
                <a:cs typeface="Calibri" pitchFamily="34" charset="-120"/>
              </a:rPr>
              <a:t>Azulejo facade of the Capela das Almas in Porto  — Krzysztof Golik, CC BY-SA 4.0</a:t>
            </a:r>
            <a:endParaRPr lang="en-US" sz="1000" dirty="0"/>
          </a:p>
          <a:p>
            <a:pPr indent="0" marL="0">
              <a:spcAft>
                <a:spcPts val="200"/>
              </a:spcAft>
              <a:buNone/>
            </a:pPr>
            <a:r>
              <a:rPr lang="en-US" sz="1000" dirty="0">
                <a:solidFill>
                  <a:srgbClr val="4A524E"/>
                </a:solidFill>
                <a:latin typeface="Calibri" pitchFamily="34" charset="0"/>
                <a:ea typeface="Calibri" pitchFamily="34" charset="-122"/>
                <a:cs typeface="Calibri" pitchFamily="34" charset="-120"/>
              </a:rPr>
              <a:t>Belem - Padrao dos Descobrimentos — Ingo Mehling, CC BY-SA 4.0</a:t>
            </a:r>
            <a:endParaRPr lang="en-US" sz="1000" dirty="0"/>
          </a:p>
          <a:p>
            <a:pPr indent="0" marL="0">
              <a:spcAft>
                <a:spcPts val="200"/>
              </a:spcAft>
              <a:buNone/>
            </a:pPr>
            <a:r>
              <a:rPr lang="en-US" sz="1000" dirty="0">
                <a:solidFill>
                  <a:srgbClr val="4A524E"/>
                </a:solidFill>
                <a:latin typeface="Calibri" pitchFamily="34" charset="0"/>
                <a:ea typeface="Calibri" pitchFamily="34" charset="-122"/>
                <a:cs typeface="Calibri" pitchFamily="34" charset="-120"/>
              </a:rPr>
              <a:t>ArT of opEN doors project - Travessa das Torres  — H. Zell, CC BY-SA 3.0</a:t>
            </a:r>
            <a:endParaRPr lang="en-US" sz="1000" dirty="0"/>
          </a:p>
          <a:p>
            <a:pPr indent="0" marL="0">
              <a:spcAft>
                <a:spcPts val="200"/>
              </a:spcAft>
              <a:buNone/>
            </a:pPr>
            <a:r>
              <a:rPr lang="en-US" sz="1000" dirty="0">
                <a:solidFill>
                  <a:srgbClr val="4A524E"/>
                </a:solidFill>
                <a:latin typeface="Calibri" pitchFamily="34" charset="0"/>
                <a:ea typeface="Calibri" pitchFamily="34" charset="-122"/>
                <a:cs typeface="Calibri" pitchFamily="34" charset="-120"/>
              </a:rPr>
              <a:t>Cloister of the Jerónimos Monastery in Belém, Li — Jakub Hałun, CC BY 4.0</a:t>
            </a:r>
            <a:endParaRPr lang="en-US" sz="1000" dirty="0"/>
          </a:p>
          <a:p>
            <a:pPr indent="0" marL="0">
              <a:spcAft>
                <a:spcPts val="200"/>
              </a:spcAft>
              <a:buNone/>
            </a:pPr>
            <a:r>
              <a:rPr lang="en-US" sz="1000" dirty="0">
                <a:solidFill>
                  <a:srgbClr val="4A524E"/>
                </a:solidFill>
                <a:latin typeface="Calibri" pitchFamily="34" charset="0"/>
                <a:ea typeface="Calibri" pitchFamily="34" charset="-122"/>
                <a:cs typeface="Calibri" pitchFamily="34" charset="-120"/>
              </a:rPr>
              <a:t>Lisboa-Pessoa-A Brasileira-1 — Nol Aders, CC BY 2.5</a:t>
            </a:r>
            <a:endParaRPr lang="en-US" sz="1000" dirty="0"/>
          </a:p>
          <a:p>
            <a:pPr indent="0" marL="0">
              <a:spcAft>
                <a:spcPts val="200"/>
              </a:spcAft>
              <a:buNone/>
            </a:pPr>
            <a:r>
              <a:rPr lang="en-US" sz="1000" dirty="0">
                <a:solidFill>
                  <a:srgbClr val="4A524E"/>
                </a:solidFill>
                <a:latin typeface="Calibri" pitchFamily="34" charset="0"/>
                <a:ea typeface="Calibri" pitchFamily="34" charset="-122"/>
                <a:cs typeface="Calibri" pitchFamily="34" charset="-120"/>
              </a:rPr>
              <a:t>Marchas Populares de Lisboa (4) — Béria Lima de Rodríguez, CC BY-SA 3.0</a:t>
            </a:r>
            <a:endParaRPr lang="en-US" sz="1000" dirty="0"/>
          </a:p>
          <a:p>
            <a:pPr indent="0" marL="0">
              <a:spcAft>
                <a:spcPts val="200"/>
              </a:spcAft>
              <a:buNone/>
            </a:pPr>
            <a:r>
              <a:rPr lang="en-US" sz="1000" dirty="0">
                <a:solidFill>
                  <a:srgbClr val="4A524E"/>
                </a:solidFill>
                <a:latin typeface="Calibri" pitchFamily="34" charset="0"/>
                <a:ea typeface="Calibri" pitchFamily="34" charset="-122"/>
                <a:cs typeface="Calibri" pitchFamily="34" charset="-120"/>
              </a:rPr>
              <a:t>Festa de Sao Joao (Porto) — Hugo Cadavez from Portugal, CC BY 2.0</a:t>
            </a:r>
            <a:endParaRPr lang="en-US" sz="1000" dirty="0"/>
          </a:p>
          <a:p>
            <a:pPr indent="0" marL="0">
              <a:spcAft>
                <a:spcPts val="200"/>
              </a:spcAft>
              <a:buNone/>
            </a:pPr>
            <a:r>
              <a:rPr lang="en-US" sz="1000" dirty="0">
                <a:solidFill>
                  <a:srgbClr val="4A524E"/>
                </a:solidFill>
                <a:latin typeface="Calibri" pitchFamily="34" charset="0"/>
                <a:ea typeface="Calibri" pitchFamily="34" charset="-122"/>
                <a:cs typeface="Calibri" pitchFamily="34" charset="-120"/>
              </a:rPr>
              <a:t>A BRASILEIRA DO CHIADO — VDT2021, CC BY-SA 4.0</a:t>
            </a:r>
            <a:endParaRPr lang="en-US" sz="1000" dirty="0"/>
          </a:p>
          <a:p>
            <a:pPr indent="0" marL="0">
              <a:spcAft>
                <a:spcPts val="200"/>
              </a:spcAft>
              <a:buNone/>
            </a:pPr>
            <a:r>
              <a:rPr lang="en-US" sz="1000" dirty="0">
                <a:solidFill>
                  <a:srgbClr val="4A524E"/>
                </a:solidFill>
                <a:latin typeface="Calibri" pitchFamily="34" charset="0"/>
                <a:ea typeface="Calibri" pitchFamily="34" charset="-122"/>
                <a:cs typeface="Calibri" pitchFamily="34" charset="-120"/>
              </a:rPr>
              <a:t>Cork Trees Ubrique — Wavering, CC BY-SA 3.0</a:t>
            </a:r>
            <a:endParaRPr lang="en-US" sz="1000" dirty="0"/>
          </a:p>
          <a:p>
            <a:pPr indent="0" marL="0">
              <a:spcAft>
                <a:spcPts val="200"/>
              </a:spcAft>
              <a:buNone/>
            </a:pPr>
            <a:r>
              <a:rPr lang="en-US" sz="1000" dirty="0">
                <a:solidFill>
                  <a:srgbClr val="4A524E"/>
                </a:solidFill>
                <a:latin typeface="Calibri" pitchFamily="34" charset="0"/>
                <a:ea typeface="Calibri" pitchFamily="34" charset="-122"/>
                <a:cs typeface="Calibri" pitchFamily="34" charset="-120"/>
              </a:rPr>
              <a:t>Fatima BW 2018-10-07 17-40-47 — Berthold Werner, CC BY-SA 4.0</a:t>
            </a:r>
            <a:endParaRPr lang="en-US" sz="1000" dirty="0"/>
          </a:p>
          <a:p>
            <a:pPr indent="0" marL="0">
              <a:spcAft>
                <a:spcPts val="200"/>
              </a:spcAft>
              <a:buNone/>
            </a:pPr>
            <a:r>
              <a:rPr lang="en-US" sz="1000" dirty="0">
                <a:solidFill>
                  <a:srgbClr val="4A524E"/>
                </a:solidFill>
                <a:latin typeface="Calibri" pitchFamily="34" charset="0"/>
                <a:ea typeface="Calibri" pitchFamily="34" charset="-122"/>
                <a:cs typeface="Calibri" pitchFamily="34" charset="-120"/>
              </a:rPr>
              <a:t>Serra Branca wind farm, Graciosa Island, Azores, — Jules Verne Times Two, CC BY-SA 4.0</a:t>
            </a:r>
            <a:endParaRPr lang="en-US" sz="1000" dirty="0"/>
          </a:p>
          <a:p>
            <a:pPr indent="0" marL="0">
              <a:spcAft>
                <a:spcPts val="200"/>
              </a:spcAft>
              <a:buNone/>
            </a:pPr>
            <a:r>
              <a:rPr lang="en-US" sz="1000" dirty="0">
                <a:solidFill>
                  <a:srgbClr val="4A524E"/>
                </a:solidFill>
                <a:latin typeface="Calibri" pitchFamily="34" charset="0"/>
                <a:ea typeface="Calibri" pitchFamily="34" charset="-122"/>
                <a:cs typeface="Calibri" pitchFamily="34" charset="-120"/>
              </a:rPr>
              <a:t>Alheira Portuguese dish (2) — Dolon Prova, CC BY-SA 4.0</a:t>
            </a:r>
            <a:endParaRPr lang="en-US" sz="1000" dirty="0"/>
          </a:p>
          <a:p>
            <a:pPr indent="0" marL="0">
              <a:spcAft>
                <a:spcPts val="200"/>
              </a:spcAft>
              <a:buNone/>
            </a:pPr>
            <a:r>
              <a:rPr lang="en-US" sz="1000" dirty="0">
                <a:solidFill>
                  <a:srgbClr val="4A524E"/>
                </a:solidFill>
                <a:latin typeface="Calibri" pitchFamily="34" charset="0"/>
                <a:ea typeface="Calibri" pitchFamily="34" charset="-122"/>
                <a:cs typeface="Calibri" pitchFamily="34" charset="-120"/>
              </a:rPr>
              <a:t>Bacalhau a bras en Mil Estorias (52214548936) — JJ Merelo, CC BY-SA 2.0</a:t>
            </a:r>
            <a:endParaRPr lang="en-US" sz="1000" dirty="0"/>
          </a:p>
          <a:p>
            <a:pPr indent="0" marL="0">
              <a:spcAft>
                <a:spcPts val="200"/>
              </a:spcAft>
              <a:buNone/>
            </a:pPr>
            <a:r>
              <a:rPr lang="en-US" sz="1000" dirty="0">
                <a:solidFill>
                  <a:srgbClr val="4A524E"/>
                </a:solidFill>
                <a:latin typeface="Calibri" pitchFamily="34" charset="0"/>
                <a:ea typeface="Calibri" pitchFamily="34" charset="-122"/>
                <a:cs typeface="Calibri" pitchFamily="34" charset="-120"/>
              </a:rPr>
              <a:t>Delicious Bifana Sandwich, As Bifana do Afonso ( — Sonse, CC BY 2.0</a:t>
            </a:r>
            <a:endParaRPr lang="en-US" sz="1000" dirty="0"/>
          </a:p>
          <a:p>
            <a:pPr indent="0" marL="0">
              <a:spcAft>
                <a:spcPts val="200"/>
              </a:spcAft>
              <a:buNone/>
            </a:pPr>
            <a:r>
              <a:rPr lang="en-US" sz="1000" dirty="0">
                <a:solidFill>
                  <a:srgbClr val="4A524E"/>
                </a:solidFill>
                <a:latin typeface="Calibri" pitchFamily="34" charset="0"/>
                <a:ea typeface="Calibri" pitchFamily="34" charset="-122"/>
                <a:cs typeface="Calibri" pitchFamily="34" charset="-120"/>
              </a:rPr>
              <a:t>Caldo verde — Mateus Hidalgo, CC BY-SA 2.5 br</a:t>
            </a:r>
            <a:endParaRPr lang="en-US" sz="1000" dirty="0"/>
          </a:p>
          <a:p>
            <a:pPr indent="0" marL="0">
              <a:spcAft>
                <a:spcPts val="200"/>
              </a:spcAft>
              <a:buNone/>
            </a:pPr>
            <a:r>
              <a:rPr lang="en-US" sz="1000" dirty="0">
                <a:solidFill>
                  <a:srgbClr val="4A524E"/>
                </a:solidFill>
                <a:latin typeface="Calibri" pitchFamily="34" charset="0"/>
                <a:ea typeface="Calibri" pitchFamily="34" charset="-122"/>
                <a:cs typeface="Calibri" pitchFamily="34" charset="-120"/>
              </a:rPr>
              <a:t>Seafood Cataplana at World Heritage Cuisine Summ — Satdeep Gill, CC BY-SA 4.0</a:t>
            </a:r>
            <a:endParaRPr lang="en-US" sz="1000" dirty="0"/>
          </a:p>
        </p:txBody>
      </p:sp>
      <p:sp>
        <p:nvSpPr>
          <p:cNvPr id="6" name="Text 4"/>
          <p:cNvSpPr txBox="1"/>
          <p:nvPr/>
        </p:nvSpPr>
        <p:spPr>
          <a:xfrm>
            <a:off x="6172200" y="1783080"/>
            <a:ext cx="5486400" cy="4480560"/>
          </a:xfrm>
          <a:prstGeom prst="rect">
            <a:avLst/>
          </a:prstGeom>
          <a:noFill/>
          <a:ln/>
        </p:spPr>
        <p:txBody>
          <a:bodyPr wrap="square" lIns="0" tIns="0" rIns="0" bIns="0" rtlCol="0" anchor="t"/>
          <a:lstStyle/>
          <a:p>
            <a:pPr indent="0" marL="0">
              <a:spcAft>
                <a:spcPts val="200"/>
              </a:spcAft>
              <a:buNone/>
            </a:pPr>
            <a:r>
              <a:rPr lang="en-US" sz="1000" dirty="0">
                <a:solidFill>
                  <a:srgbClr val="4A524E"/>
                </a:solidFill>
                <a:latin typeface="Calibri" pitchFamily="34" charset="0"/>
                <a:ea typeface="Calibri" pitchFamily="34" charset="-122"/>
                <a:cs typeface="Calibri" pitchFamily="34" charset="-120"/>
              </a:rPr>
              <a:t>Francesinha encaixados porto portugal — Ih8connecticut, CC0</a:t>
            </a:r>
            <a:endParaRPr lang="en-US" sz="1000" dirty="0"/>
          </a:p>
          <a:p>
            <a:pPr indent="0" marL="0">
              <a:spcAft>
                <a:spcPts val="200"/>
              </a:spcAft>
              <a:buNone/>
            </a:pPr>
            <a:r>
              <a:rPr lang="en-US" sz="1000" dirty="0">
                <a:solidFill>
                  <a:srgbClr val="4A524E"/>
                </a:solidFill>
                <a:latin typeface="Calibri" pitchFamily="34" charset="0"/>
                <a:ea typeface="Calibri" pitchFamily="34" charset="-122"/>
                <a:cs typeface="Calibri" pitchFamily="34" charset="-120"/>
              </a:rPr>
              <a:t>Leitão à Bairrada — Adriao, CC BY 3.0</a:t>
            </a:r>
            <a:endParaRPr lang="en-US" sz="1000" dirty="0"/>
          </a:p>
          <a:p>
            <a:pPr indent="0" marL="0">
              <a:spcAft>
                <a:spcPts val="200"/>
              </a:spcAft>
              <a:buNone/>
            </a:pPr>
            <a:r>
              <a:rPr lang="en-US" sz="1000" dirty="0">
                <a:solidFill>
                  <a:srgbClr val="4A524E"/>
                </a:solidFill>
                <a:latin typeface="Calibri" pitchFamily="34" charset="0"/>
                <a:ea typeface="Calibri" pitchFamily="34" charset="-122"/>
                <a:cs typeface="Calibri" pitchFamily="34" charset="-120"/>
              </a:rPr>
              <a:t>Pasteis de nata (Lissabon 2016) (26069956686) — Paul Arps from The Netherl, CC BY 2.0</a:t>
            </a:r>
            <a:endParaRPr lang="en-US" sz="1000" dirty="0"/>
          </a:p>
          <a:p>
            <a:pPr indent="0" marL="0">
              <a:spcAft>
                <a:spcPts val="200"/>
              </a:spcAft>
              <a:buNone/>
            </a:pPr>
            <a:r>
              <a:rPr lang="en-US" sz="1000" dirty="0">
                <a:solidFill>
                  <a:srgbClr val="4A524E"/>
                </a:solidFill>
                <a:latin typeface="Calibri" pitchFamily="34" charset="0"/>
                <a:ea typeface="Calibri" pitchFamily="34" charset="-122"/>
                <a:cs typeface="Calibri" pitchFamily="34" charset="-120"/>
              </a:rPr>
              <a:t>Ovos Moles Peixinho — Luísa Paulos, CC BY-SA 4.0</a:t>
            </a:r>
            <a:endParaRPr lang="en-US" sz="1000" dirty="0"/>
          </a:p>
          <a:p>
            <a:pPr indent="0" marL="0">
              <a:spcAft>
                <a:spcPts val="200"/>
              </a:spcAft>
              <a:buNone/>
            </a:pPr>
            <a:r>
              <a:rPr lang="en-US" sz="1000" dirty="0">
                <a:solidFill>
                  <a:srgbClr val="4A524E"/>
                </a:solidFill>
                <a:latin typeface="Calibri" pitchFamily="34" charset="0"/>
                <a:ea typeface="Calibri" pitchFamily="34" charset="-122"/>
                <a:cs typeface="Calibri" pitchFamily="34" charset="-120"/>
              </a:rPr>
              <a:t>Polvo a lagareiro — Exilexi, CC BY 4.0</a:t>
            </a:r>
            <a:endParaRPr lang="en-US" sz="1000" dirty="0"/>
          </a:p>
          <a:p>
            <a:pPr indent="0" marL="0">
              <a:spcAft>
                <a:spcPts val="200"/>
              </a:spcAft>
              <a:buNone/>
            </a:pPr>
            <a:r>
              <a:rPr lang="en-US" sz="1000" dirty="0">
                <a:solidFill>
                  <a:srgbClr val="4A524E"/>
                </a:solidFill>
                <a:latin typeface="Calibri" pitchFamily="34" charset="0"/>
                <a:ea typeface="Calibri" pitchFamily="34" charset="-122"/>
                <a:cs typeface="Calibri" pitchFamily="34" charset="-120"/>
              </a:rPr>
              <a:t>Queijo Serra da Estrela DOP - Marca de caseína — Hipersyl, CC0</a:t>
            </a:r>
            <a:endParaRPr lang="en-US" sz="1000" dirty="0"/>
          </a:p>
          <a:p>
            <a:pPr indent="0" marL="0">
              <a:spcAft>
                <a:spcPts val="200"/>
              </a:spcAft>
              <a:buNone/>
            </a:pPr>
            <a:r>
              <a:rPr lang="en-US" sz="1000" dirty="0">
                <a:solidFill>
                  <a:srgbClr val="4A524E"/>
                </a:solidFill>
                <a:latin typeface="Calibri" pitchFamily="34" charset="0"/>
                <a:ea typeface="Calibri" pitchFamily="34" charset="-122"/>
                <a:cs typeface="Calibri" pitchFamily="34" charset="-120"/>
              </a:rPr>
              <a:t>Grilled Sardines 5.50€ Marisqueira O Varino Naza — Yusuke Kawasaki from Tokyo, CC BY 2.0</a:t>
            </a:r>
            <a:endParaRPr lang="en-US" sz="1000" dirty="0"/>
          </a:p>
          <a:p>
            <a:pPr indent="0" marL="0">
              <a:spcAft>
                <a:spcPts val="200"/>
              </a:spcAft>
              <a:buNone/>
            </a:pPr>
            <a:r>
              <a:rPr lang="en-US" sz="1000" dirty="0">
                <a:solidFill>
                  <a:srgbClr val="4A524E"/>
                </a:solidFill>
                <a:latin typeface="Calibri" pitchFamily="34" charset="0"/>
                <a:ea typeface="Calibri" pitchFamily="34" charset="-122"/>
                <a:cs typeface="Calibri" pitchFamily="34" charset="-120"/>
              </a:rPr>
              <a:t>Lago verde, isla de San Miguel, Azores, Portugal — Diego Delso, CC BY-SA 4.0</a:t>
            </a:r>
            <a:endParaRPr lang="en-US" sz="1000" dirty="0"/>
          </a:p>
          <a:p>
            <a:pPr indent="0" marL="0">
              <a:spcAft>
                <a:spcPts val="200"/>
              </a:spcAft>
              <a:buNone/>
            </a:pPr>
            <a:r>
              <a:rPr lang="en-US" sz="1000" dirty="0">
                <a:solidFill>
                  <a:srgbClr val="4A524E"/>
                </a:solidFill>
                <a:latin typeface="Calibri" pitchFamily="34" charset="0"/>
                <a:ea typeface="Calibri" pitchFamily="34" charset="-122"/>
                <a:cs typeface="Calibri" pitchFamily="34" charset="-120"/>
              </a:rPr>
              <a:t>Köppen climate types of Iberia — Adam Peterson, CC BY-SA 4.0</a:t>
            </a:r>
            <a:endParaRPr lang="en-US" sz="1000" dirty="0"/>
          </a:p>
          <a:p>
            <a:pPr indent="0" marL="0">
              <a:spcAft>
                <a:spcPts val="200"/>
              </a:spcAft>
              <a:buNone/>
            </a:pPr>
            <a:r>
              <a:rPr lang="en-US" sz="1000" dirty="0">
                <a:solidFill>
                  <a:srgbClr val="4A524E"/>
                </a:solidFill>
                <a:latin typeface="Calibri" pitchFamily="34" charset="0"/>
                <a:ea typeface="Calibri" pitchFamily="34" charset="-122"/>
                <a:cs typeface="Calibri" pitchFamily="34" charset="-120"/>
              </a:rPr>
              <a:t>PSL - Cliffs and sea stacks at Ponta de São Lour — Josep M. Gracia, CC BY-SA 4.0</a:t>
            </a:r>
            <a:endParaRPr lang="en-US" sz="1000" dirty="0"/>
          </a:p>
          <a:p>
            <a:pPr indent="0" marL="0">
              <a:spcAft>
                <a:spcPts val="200"/>
              </a:spcAft>
              <a:buNone/>
            </a:pPr>
            <a:r>
              <a:rPr lang="en-US" sz="1000" dirty="0">
                <a:solidFill>
                  <a:srgbClr val="4A524E"/>
                </a:solidFill>
                <a:latin typeface="Calibri" pitchFamily="34" charset="0"/>
                <a:ea typeface="Calibri" pitchFamily="34" charset="-122"/>
                <a:cs typeface="Calibri" pitchFamily="34" charset="-120"/>
              </a:rPr>
              <a:t>Peneda-Geres NP from Tibo Lookout (2) — Krzysztof Golik, CC BY-SA 4.0</a:t>
            </a:r>
            <a:endParaRPr lang="en-US" sz="1000" dirty="0"/>
          </a:p>
          <a:p>
            <a:pPr indent="0" marL="0">
              <a:spcAft>
                <a:spcPts val="200"/>
              </a:spcAft>
              <a:buNone/>
            </a:pPr>
            <a:r>
              <a:rPr lang="en-US" sz="1000" dirty="0">
                <a:solidFill>
                  <a:srgbClr val="4A524E"/>
                </a:solidFill>
                <a:latin typeface="Calibri" pitchFamily="34" charset="0"/>
                <a:ea typeface="Calibri" pitchFamily="34" charset="-122"/>
                <a:cs typeface="Calibri" pitchFamily="34" charset="-120"/>
              </a:rPr>
              <a:t>Serra da Estrela- Brumas Matinais — Sara Bento Photography, CC BY-SA 4.0</a:t>
            </a:r>
            <a:endParaRPr lang="en-US" sz="1000" dirty="0"/>
          </a:p>
          <a:p>
            <a:pPr indent="0" marL="0">
              <a:spcAft>
                <a:spcPts val="200"/>
              </a:spcAft>
              <a:buNone/>
            </a:pPr>
            <a:r>
              <a:rPr lang="en-US" sz="1000" dirty="0">
                <a:solidFill>
                  <a:srgbClr val="4A524E"/>
                </a:solidFill>
                <a:latin typeface="Calibri" pitchFamily="34" charset="0"/>
                <a:ea typeface="Calibri" pitchFamily="34" charset="-122"/>
                <a:cs typeface="Calibri" pitchFamily="34" charset="-120"/>
              </a:rPr>
              <a:t>Rede Natura 2000 - Sítio do Cabeção - 05 — Joao 1968, CC BY-SA 3.0</a:t>
            </a:r>
            <a:endParaRPr lang="en-US" sz="1000" dirty="0"/>
          </a:p>
          <a:p>
            <a:pPr indent="0" marL="0">
              <a:spcAft>
                <a:spcPts val="200"/>
              </a:spcAft>
              <a:buNone/>
            </a:pPr>
            <a:r>
              <a:rPr lang="en-US" sz="1000" dirty="0">
                <a:solidFill>
                  <a:srgbClr val="4A524E"/>
                </a:solidFill>
                <a:latin typeface="Calibri" pitchFamily="34" charset="0"/>
                <a:ea typeface="Calibri" pitchFamily="34" charset="-122"/>
                <a:cs typeface="Calibri" pitchFamily="34" charset="-120"/>
              </a:rPr>
              <a:t>Volcanic cliffs of Capelinhos, Faial Island, 201 — Josep M. Gracia, CC BY-SA 4.0</a:t>
            </a:r>
            <a:endParaRPr lang="en-US" sz="1000" dirty="0"/>
          </a:p>
          <a:p>
            <a:pPr indent="0" marL="0">
              <a:spcAft>
                <a:spcPts val="200"/>
              </a:spcAft>
              <a:buNone/>
            </a:pPr>
            <a:r>
              <a:rPr lang="en-US" sz="1000" dirty="0">
                <a:solidFill>
                  <a:srgbClr val="4A524E"/>
                </a:solidFill>
                <a:latin typeface="Calibri" pitchFamily="34" charset="0"/>
                <a:ea typeface="Calibri" pitchFamily="34" charset="-122"/>
                <a:cs typeface="Calibri" pitchFamily="34" charset="-120"/>
              </a:rPr>
              <a:t>Cabo da Roca at sunset, Portugal — Aurelia Teslaru, CC BY-SA 4.0</a:t>
            </a:r>
            <a:endParaRPr lang="en-US" sz="1000" dirty="0"/>
          </a:p>
          <a:p>
            <a:pPr indent="0" marL="0">
              <a:spcAft>
                <a:spcPts val="200"/>
              </a:spcAft>
              <a:buNone/>
            </a:pPr>
            <a:r>
              <a:rPr lang="en-US" sz="1000" dirty="0">
                <a:solidFill>
                  <a:srgbClr val="4A524E"/>
                </a:solidFill>
                <a:latin typeface="Calibri" pitchFamily="34" charset="0"/>
                <a:ea typeface="Calibri" pitchFamily="34" charset="-122"/>
                <a:cs typeface="Calibri" pitchFamily="34" charset="-120"/>
              </a:rPr>
              <a:t>Porto April 2019-5 — Alvesgaspar, CC BY-SA 4.0</a:t>
            </a:r>
            <a:endParaRPr lang="en-US" sz="1000" dirty="0"/>
          </a:p>
          <a:p>
            <a:pPr indent="0" marL="0">
              <a:spcAft>
                <a:spcPts val="200"/>
              </a:spcAft>
              <a:buNone/>
            </a:pPr>
            <a:r>
              <a:rPr lang="en-US" sz="1000" dirty="0">
                <a:solidFill>
                  <a:srgbClr val="4A524E"/>
                </a:solidFill>
                <a:latin typeface="Calibri" pitchFamily="34" charset="0"/>
                <a:ea typeface="Calibri" pitchFamily="34" charset="-122"/>
                <a:cs typeface="Calibri" pitchFamily="34" charset="-120"/>
              </a:rPr>
              <a:t>Praia da Marinha (2012-09-27), by Klugschnacker  — Klugschnacker, CC BY-SA 3.0</a:t>
            </a:r>
            <a:endParaRPr lang="en-US" sz="100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18D"/>
                </a:solidFill>
                <a:latin typeface="Calibri"/>
                <a:ea typeface="Calibri"/>
                <a:cs typeface="Calibri"/>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txBox="1"/>
          <p:nvPr/>
        </p:nvSpPr>
        <p:spPr>
          <a:xfrm>
            <a:off x="548640" y="411480"/>
            <a:ext cx="10972800" cy="274320"/>
          </a:xfrm>
          <a:prstGeom prst="rect">
            <a:avLst/>
          </a:prstGeom>
          <a:noFill/>
          <a:ln/>
        </p:spPr>
        <p:txBody>
          <a:bodyPr wrap="square" lIns="0" tIns="0" rIns="0" bIns="0" rtlCol="0" anchor="t"/>
          <a:lstStyle/>
          <a:p>
            <a:pPr indent="0" marL="0">
              <a:buNone/>
            </a:pPr>
            <a:r>
              <a:rPr lang="en-US" sz="1200" b="1" spc="300" kern="0" dirty="0">
                <a:solidFill>
                  <a:srgbClr val="A83232"/>
                </a:solidFill>
                <a:latin typeface="Calibri" pitchFamily="34" charset="0"/>
                <a:ea typeface="Calibri" pitchFamily="34" charset="-122"/>
                <a:cs typeface="Calibri" pitchFamily="34" charset="-120"/>
              </a:rPr>
              <a:t>SOURCES</a:t>
            </a:r>
            <a:endParaRPr lang="en-US" sz="1200" dirty="0"/>
          </a:p>
        </p:txBody>
      </p:sp>
      <p:sp>
        <p:nvSpPr>
          <p:cNvPr id="3" name="Text 1"/>
          <p:cNvSpPr txBox="1"/>
          <p:nvPr/>
        </p:nvSpPr>
        <p:spPr>
          <a:xfrm>
            <a:off x="548640" y="685800"/>
            <a:ext cx="10972800" cy="685800"/>
          </a:xfrm>
          <a:prstGeom prst="rect">
            <a:avLst/>
          </a:prstGeom>
          <a:noFill/>
          <a:ln/>
        </p:spPr>
        <p:txBody>
          <a:bodyPr wrap="square" lIns="0" tIns="0" rIns="0" bIns="0" rtlCol="0" anchor="t"/>
          <a:lstStyle/>
          <a:p>
            <a:pPr indent="0" marL="0">
              <a:buNone/>
            </a:pPr>
            <a:r>
              <a:rPr lang="en-US" sz="3400" b="1" dirty="0">
                <a:solidFill>
                  <a:srgbClr val="174A3A"/>
                </a:solidFill>
                <a:latin typeface="Cambria" pitchFamily="34" charset="0"/>
                <a:ea typeface="Cambria" pitchFamily="34" charset="-122"/>
                <a:cs typeface="Cambria" pitchFamily="34" charset="-120"/>
              </a:rPr>
              <a:t>Crédits photos (2)</a:t>
            </a:r>
            <a:endParaRPr lang="en-US" sz="3400" dirty="0"/>
          </a:p>
        </p:txBody>
      </p:sp>
      <p:sp>
        <p:nvSpPr>
          <p:cNvPr id="4" name="Text 2"/>
          <p:cNvSpPr txBox="1"/>
          <p:nvPr/>
        </p:nvSpPr>
        <p:spPr>
          <a:xfrm>
            <a:off x="548640" y="1371600"/>
            <a:ext cx="10972800" cy="320040"/>
          </a:xfrm>
          <a:prstGeom prst="rect">
            <a:avLst/>
          </a:prstGeom>
          <a:noFill/>
          <a:ln/>
        </p:spPr>
        <p:txBody>
          <a:bodyPr wrap="square" lIns="0" tIns="0" rIns="0" bIns="0" rtlCol="0" anchor="t"/>
          <a:lstStyle/>
          <a:p>
            <a:pPr indent="0" marL="0">
              <a:buNone/>
            </a:pPr>
            <a:r>
              <a:rPr lang="en-US" sz="1200" dirty="0">
                <a:solidFill>
                  <a:srgbClr val="4A524E"/>
                </a:solidFill>
                <a:latin typeface="Calibri" pitchFamily="34" charset="0"/>
                <a:ea typeface="Calibri" pitchFamily="34" charset="-122"/>
                <a:cs typeface="Calibri" pitchFamily="34" charset="-120"/>
              </a:rPr>
              <a:t>Photos issues de Wikimedia Commons, sous licences libres. Merci à leurs auteurs.</a:t>
            </a:r>
            <a:endParaRPr lang="en-US" sz="1200" dirty="0"/>
          </a:p>
        </p:txBody>
      </p:sp>
      <p:sp>
        <p:nvSpPr>
          <p:cNvPr id="5" name="Text 3"/>
          <p:cNvSpPr txBox="1"/>
          <p:nvPr/>
        </p:nvSpPr>
        <p:spPr>
          <a:xfrm>
            <a:off x="548640" y="1783080"/>
            <a:ext cx="5486400" cy="4480560"/>
          </a:xfrm>
          <a:prstGeom prst="rect">
            <a:avLst/>
          </a:prstGeom>
          <a:noFill/>
          <a:ln/>
        </p:spPr>
        <p:txBody>
          <a:bodyPr wrap="square" lIns="0" tIns="0" rIns="0" bIns="0" rtlCol="0" anchor="t"/>
          <a:lstStyle/>
          <a:p>
            <a:pPr indent="0" marL="0">
              <a:spcAft>
                <a:spcPts val="200"/>
              </a:spcAft>
              <a:buNone/>
            </a:pPr>
            <a:r>
              <a:rPr lang="en-US" sz="1000" dirty="0">
                <a:solidFill>
                  <a:srgbClr val="4A524E"/>
                </a:solidFill>
                <a:latin typeface="Calibri" pitchFamily="34" charset="0"/>
                <a:ea typeface="Calibri" pitchFamily="34" charset="-122"/>
                <a:cs typeface="Calibri" pitchFamily="34" charset="-120"/>
              </a:rPr>
              <a:t>Lisbon Torre de Belém BW 2018-10-03 16-33-21 — Berthold Werner, CC BY-SA 4.0</a:t>
            </a:r>
            <a:endParaRPr lang="en-US" sz="1000" dirty="0"/>
          </a:p>
          <a:p>
            <a:pPr indent="0" marL="0">
              <a:spcAft>
                <a:spcPts val="200"/>
              </a:spcAft>
              <a:buNone/>
            </a:pPr>
            <a:r>
              <a:rPr lang="en-US" sz="1000" dirty="0">
                <a:solidFill>
                  <a:srgbClr val="4A524E"/>
                </a:solidFill>
                <a:latin typeface="Calibri" pitchFamily="34" charset="0"/>
                <a:ea typeface="Calibri" pitchFamily="34" charset="-122"/>
                <a:cs typeface="Calibri" pitchFamily="34" charset="-120"/>
              </a:rPr>
              <a:t>Dämmerung am Rio Douro — Wurminister, CC BY-SA 3.0</a:t>
            </a:r>
            <a:endParaRPr lang="en-US" sz="1000" dirty="0"/>
          </a:p>
          <a:p>
            <a:pPr indent="0" marL="0">
              <a:spcAft>
                <a:spcPts val="200"/>
              </a:spcAft>
              <a:buNone/>
            </a:pPr>
            <a:r>
              <a:rPr lang="en-US" sz="1000" dirty="0">
                <a:solidFill>
                  <a:srgbClr val="4A524E"/>
                </a:solidFill>
                <a:latin typeface="Calibri" pitchFamily="34" charset="0"/>
                <a:ea typeface="Calibri" pitchFamily="34" charset="-122"/>
                <a:cs typeface="Calibri" pitchFamily="34" charset="-120"/>
              </a:rPr>
              <a:t>Assembleia da República (Portugal) Palácio de Sã — Jose Manuel, CC BY-SA 3.0</a:t>
            </a:r>
            <a:endParaRPr lang="en-US" sz="1000" dirty="0"/>
          </a:p>
          <a:p>
            <a:pPr indent="0" marL="0">
              <a:spcAft>
                <a:spcPts val="200"/>
              </a:spcAft>
              <a:buNone/>
            </a:pPr>
            <a:r>
              <a:rPr lang="en-US" sz="1000" dirty="0">
                <a:solidFill>
                  <a:srgbClr val="4A524E"/>
                </a:solidFill>
                <a:latin typeface="Calibri" pitchFamily="34" charset="0"/>
                <a:ea typeface="Calibri" pitchFamily="34" charset="-122"/>
                <a:cs typeface="Calibri" pitchFamily="34" charset="-120"/>
              </a:rPr>
              <a:t>Palácio Nacional da Pena, Sintra, Portugal, 2025 — Jakub Hałun, CC BY 4.0</a:t>
            </a:r>
            <a:endParaRPr lang="en-US" sz="1000" dirty="0"/>
          </a:p>
          <a:p>
            <a:pPr indent="0" marL="0">
              <a:spcAft>
                <a:spcPts val="200"/>
              </a:spcAft>
              <a:buNone/>
            </a:pPr>
            <a:r>
              <a:rPr lang="en-US" sz="1000" dirty="0">
                <a:solidFill>
                  <a:srgbClr val="4A524E"/>
                </a:solidFill>
                <a:latin typeface="Calibri" pitchFamily="34" charset="0"/>
                <a:ea typeface="Calibri" pitchFamily="34" charset="-122"/>
                <a:cs typeface="Calibri" pitchFamily="34" charset="-120"/>
              </a:rPr>
              <a:t>Terraced vineyards in the douro valley — Rosino, CC BY-SA 2.0</a:t>
            </a:r>
            <a:endParaRPr lang="en-US" sz="1000" dirty="0"/>
          </a:p>
          <a:p>
            <a:pPr indent="0" marL="0">
              <a:spcAft>
                <a:spcPts val="200"/>
              </a:spcAft>
              <a:buNone/>
            </a:pPr>
            <a:r>
              <a:rPr lang="en-US" sz="1000" dirty="0">
                <a:solidFill>
                  <a:srgbClr val="4A524E"/>
                </a:solidFill>
                <a:latin typeface="Calibri" pitchFamily="34" charset="0"/>
                <a:ea typeface="Calibri" pitchFamily="34" charset="-122"/>
                <a:cs typeface="Calibri" pitchFamily="34" charset="-120"/>
              </a:rPr>
              <a:t>Vistas de Lisboa desde el Mirador de Santa Luzia — Diego Delso, CC BY-SA 3.0</a:t>
            </a:r>
            <a:endParaRPr lang="en-US" sz="1000" dirty="0"/>
          </a:p>
          <a:p>
            <a:pPr indent="0" marL="0">
              <a:spcAft>
                <a:spcPts val="200"/>
              </a:spcAft>
              <a:buNone/>
            </a:pPr>
            <a:r>
              <a:rPr lang="en-US" sz="1000" dirty="0">
                <a:solidFill>
                  <a:srgbClr val="4A524E"/>
                </a:solidFill>
                <a:latin typeface="Calibri" pitchFamily="34" charset="0"/>
                <a:ea typeface="Calibri" pitchFamily="34" charset="-122"/>
                <a:cs typeface="Calibri" pitchFamily="34" charset="-120"/>
              </a:rPr>
              <a:t>Praia do Norte,Nazaré -21 (50656467151) — Luis Ascenso from Lisbon, , CC BY 2.0</a:t>
            </a:r>
            <a:endParaRPr lang="en-US" sz="1000" dirty="0"/>
          </a:p>
          <a:p>
            <a:pPr indent="0" marL="0">
              <a:spcAft>
                <a:spcPts val="200"/>
              </a:spcAft>
              <a:buNone/>
            </a:pPr>
            <a:r>
              <a:rPr lang="en-US" sz="1000" dirty="0">
                <a:solidFill>
                  <a:srgbClr val="4A524E"/>
                </a:solidFill>
                <a:latin typeface="Calibri" pitchFamily="34" charset="0"/>
                <a:ea typeface="Calibri" pitchFamily="34" charset="-122"/>
                <a:cs typeface="Calibri" pitchFamily="34" charset="-120"/>
              </a:rPr>
              <a:t>Praia do Norte beach - High waves - Nazaré - Por — Luis Ascenso from Lisbon, , CC BY 2.0</a:t>
            </a:r>
            <a:endParaRPr lang="en-US" sz="1000" dirty="0"/>
          </a:p>
          <a:p>
            <a:pPr indent="0" marL="0">
              <a:spcAft>
                <a:spcPts val="200"/>
              </a:spcAft>
              <a:buNone/>
            </a:pPr>
            <a:r>
              <a:rPr lang="en-US" sz="1000" dirty="0">
                <a:solidFill>
                  <a:srgbClr val="4A524E"/>
                </a:solidFill>
                <a:latin typeface="Calibri" pitchFamily="34" charset="0"/>
                <a:ea typeface="Calibri" pitchFamily="34" charset="-122"/>
                <a:cs typeface="Calibri" pitchFamily="34" charset="-120"/>
              </a:rPr>
              <a:t>Portuguese flag on the "Netos de José Augusto" w — Jules Verne Times Two, CC BY-SA 4.0</a:t>
            </a:r>
            <a:endParaRPr lang="en-US" sz="1000" dirty="0"/>
          </a:p>
          <a:p>
            <a:pPr indent="0" marL="0">
              <a:spcAft>
                <a:spcPts val="200"/>
              </a:spcAft>
              <a:buNone/>
            </a:pPr>
            <a:r>
              <a:rPr lang="en-US" sz="1000" dirty="0">
                <a:solidFill>
                  <a:srgbClr val="4A524E"/>
                </a:solidFill>
                <a:latin typeface="Calibri" pitchFamily="34" charset="0"/>
                <a:ea typeface="Calibri" pitchFamily="34" charset="-122"/>
                <a:cs typeface="Calibri" pitchFamily="34" charset="-120"/>
              </a:rPr>
              <a:t>Castelo de Guimaraes (1) — Krzysztof Golik, CC BY-SA 4.0</a:t>
            </a:r>
            <a:endParaRPr lang="en-US" sz="1000" dirty="0"/>
          </a:p>
          <a:p>
            <a:pPr indent="0" marL="0">
              <a:spcAft>
                <a:spcPts val="200"/>
              </a:spcAft>
              <a:buNone/>
            </a:pPr>
            <a:r>
              <a:rPr lang="en-US" sz="1000" dirty="0">
                <a:solidFill>
                  <a:srgbClr val="4A524E"/>
                </a:solidFill>
                <a:latin typeface="Calibri" pitchFamily="34" charset="0"/>
                <a:ea typeface="Calibri" pitchFamily="34" charset="-122"/>
                <a:cs typeface="Calibri" pitchFamily="34" charset="-120"/>
              </a:rPr>
              <a:t>Descobrimentos e explorações portuguesesV2 — Descobrimentos_e_exploraçõ, CC BY-SA 3.0</a:t>
            </a:r>
            <a:endParaRPr lang="en-US" sz="1000" dirty="0"/>
          </a:p>
          <a:p>
            <a:pPr indent="0" marL="0">
              <a:spcAft>
                <a:spcPts val="200"/>
              </a:spcAft>
              <a:buNone/>
            </a:pPr>
            <a:r>
              <a:rPr lang="en-US" sz="1000" dirty="0">
                <a:solidFill>
                  <a:srgbClr val="4A524E"/>
                </a:solidFill>
                <a:latin typeface="Calibri" pitchFamily="34" charset="0"/>
                <a:ea typeface="Calibri" pitchFamily="34" charset="-122"/>
                <a:cs typeface="Calibri" pitchFamily="34" charset="-120"/>
              </a:rPr>
              <a:t>Jacob Huysmans - Queen Catherine of Braganza as  — Jacob Huysmans, Public domain</a:t>
            </a:r>
            <a:endParaRPr lang="en-US" sz="1000" dirty="0"/>
          </a:p>
          <a:p>
            <a:pPr indent="0" marL="0">
              <a:spcAft>
                <a:spcPts val="200"/>
              </a:spcAft>
              <a:buNone/>
            </a:pPr>
            <a:r>
              <a:rPr lang="en-US" sz="1000" dirty="0">
                <a:solidFill>
                  <a:srgbClr val="4A524E"/>
                </a:solidFill>
                <a:latin typeface="Calibri" pitchFamily="34" charset="0"/>
                <a:ea typeface="Calibri" pitchFamily="34" charset="-122"/>
                <a:cs typeface="Calibri" pitchFamily="34" charset="-120"/>
              </a:rPr>
              <a:t>Casamento João I e Filipa Lencastre — , Public domain</a:t>
            </a:r>
            <a:endParaRPr lang="en-US" sz="1000" dirty="0"/>
          </a:p>
          <a:p>
            <a:pPr indent="0" marL="0">
              <a:spcAft>
                <a:spcPts val="200"/>
              </a:spcAft>
              <a:buNone/>
            </a:pPr>
            <a:r>
              <a:rPr lang="en-US" sz="1000" dirty="0">
                <a:solidFill>
                  <a:srgbClr val="4A524E"/>
                </a:solidFill>
                <a:latin typeface="Calibri" pitchFamily="34" charset="0"/>
                <a:ea typeface="Calibri" pitchFamily="34" charset="-122"/>
                <a:cs typeface="Calibri" pitchFamily="34" charset="-120"/>
              </a:rPr>
              <a:t>Desfile 25 de Abril 2024 em Lisboa 9 — Anita Braga, CC BY-SA 4.0</a:t>
            </a:r>
            <a:endParaRPr lang="en-US" sz="1000" dirty="0"/>
          </a:p>
          <a:p>
            <a:pPr indent="0" marL="0">
              <a:spcAft>
                <a:spcPts val="200"/>
              </a:spcAft>
              <a:buNone/>
            </a:pPr>
            <a:r>
              <a:rPr lang="en-US" sz="1000" dirty="0">
                <a:solidFill>
                  <a:srgbClr val="4A524E"/>
                </a:solidFill>
                <a:latin typeface="Calibri" pitchFamily="34" charset="0"/>
                <a:ea typeface="Calibri" pitchFamily="34" charset="-122"/>
                <a:cs typeface="Calibri" pitchFamily="34" charset="-120"/>
              </a:rPr>
              <a:t>Palácio de Belém - Lisboa - Portugal (5284626059 — Vitor Oliveira from Torres, CC BY-SA 2.0</a:t>
            </a:r>
            <a:endParaRPr lang="en-US" sz="1000" dirty="0"/>
          </a:p>
          <a:p>
            <a:pPr indent="0" marL="0">
              <a:spcAft>
                <a:spcPts val="200"/>
              </a:spcAft>
              <a:buNone/>
            </a:pPr>
            <a:r>
              <a:rPr lang="en-US" sz="1000" dirty="0">
                <a:solidFill>
                  <a:srgbClr val="4A524E"/>
                </a:solidFill>
                <a:latin typeface="Calibri" pitchFamily="34" charset="0"/>
                <a:ea typeface="Calibri" pitchFamily="34" charset="-122"/>
                <a:cs typeface="Calibri" pitchFamily="34" charset="-120"/>
              </a:rPr>
              <a:t>Lisbon Praça do Comércio BW 2018-10-08 17-42-58 — Berthold Werner, CC BY-SA 4.0</a:t>
            </a:r>
            <a:endParaRPr lang="en-US" sz="1000" dirty="0"/>
          </a:p>
          <a:p>
            <a:pPr indent="0" marL="0">
              <a:spcAft>
                <a:spcPts val="200"/>
              </a:spcAft>
              <a:buNone/>
            </a:pPr>
            <a:r>
              <a:rPr lang="en-US" sz="1000" dirty="0">
                <a:solidFill>
                  <a:srgbClr val="4A524E"/>
                </a:solidFill>
                <a:latin typeface="Calibri" pitchFamily="34" charset="0"/>
                <a:ea typeface="Calibri" pitchFamily="34" charset="-122"/>
                <a:cs typeface="Calibri" pitchFamily="34" charset="-120"/>
              </a:rPr>
              <a:t>Lisboa São Bento Palace (39785046844) — Matthew Black from London,, CC BY-SA 2.0</a:t>
            </a:r>
            <a:endParaRPr lang="en-US" sz="1000" dirty="0"/>
          </a:p>
        </p:txBody>
      </p:sp>
      <p:sp>
        <p:nvSpPr>
          <p:cNvPr id="6" name="Text 4"/>
          <p:cNvSpPr txBox="1"/>
          <p:nvPr/>
        </p:nvSpPr>
        <p:spPr>
          <a:xfrm>
            <a:off x="6172200" y="1783080"/>
            <a:ext cx="5486400" cy="4480560"/>
          </a:xfrm>
          <a:prstGeom prst="rect">
            <a:avLst/>
          </a:prstGeom>
          <a:noFill/>
          <a:ln/>
        </p:spPr>
        <p:txBody>
          <a:bodyPr wrap="square" lIns="0" tIns="0" rIns="0" bIns="0" rtlCol="0" anchor="t"/>
          <a:lstStyle/>
          <a:p>
            <a:pPr indent="0" marL="0">
              <a:spcAft>
                <a:spcPts val="200"/>
              </a:spcAft>
              <a:buNone/>
            </a:pPr>
            <a:r>
              <a:rPr lang="en-US" sz="1000" dirty="0">
                <a:solidFill>
                  <a:srgbClr val="4A524E"/>
                </a:solidFill>
                <a:latin typeface="Calibri" pitchFamily="34" charset="0"/>
                <a:ea typeface="Calibri" pitchFamily="34" charset="-122"/>
                <a:cs typeface="Calibri" pitchFamily="34" charset="-120"/>
              </a:rPr>
              <a:t>Tribunal Constitucional Portugal — Cruks, CC BY-SA 4.0</a:t>
            </a:r>
            <a:endParaRPr lang="en-US" sz="1000" dirty="0"/>
          </a:p>
          <a:p>
            <a:pPr indent="0" marL="0">
              <a:spcAft>
                <a:spcPts val="200"/>
              </a:spcAft>
              <a:buNone/>
            </a:pPr>
            <a:r>
              <a:rPr lang="en-US" sz="1000" dirty="0">
                <a:solidFill>
                  <a:srgbClr val="4A524E"/>
                </a:solidFill>
                <a:latin typeface="Calibri" pitchFamily="34" charset="0"/>
                <a:ea typeface="Calibri" pitchFamily="34" charset="-122"/>
                <a:cs typeface="Calibri" pitchFamily="34" charset="-120"/>
              </a:rPr>
              <a:t>Igreja do Carmo (Porto) 2 — T meltzer, CC BY-SA 4.0</a:t>
            </a:r>
            <a:endParaRPr lang="en-US" sz="1000" dirty="0"/>
          </a:p>
          <a:p>
            <a:pPr indent="0" marL="0">
              <a:spcAft>
                <a:spcPts val="200"/>
              </a:spcAft>
              <a:buNone/>
            </a:pPr>
            <a:r>
              <a:rPr lang="en-US" sz="1000" dirty="0">
                <a:solidFill>
                  <a:srgbClr val="4A524E"/>
                </a:solidFill>
                <a:latin typeface="Calibri" pitchFamily="34" charset="0"/>
                <a:ea typeface="Calibri" pitchFamily="34" charset="-122"/>
                <a:cs typeface="Calibri" pitchFamily="34" charset="-120"/>
              </a:rPr>
              <a:t>Ponta da Piedade, Lagos (20680152686) — Paul Wilkinson from London, CC BY 2.0</a:t>
            </a:r>
            <a:endParaRPr lang="en-US" sz="1000" dirty="0"/>
          </a:p>
          <a:p>
            <a:pPr indent="0" marL="0">
              <a:spcAft>
                <a:spcPts val="200"/>
              </a:spcAft>
              <a:buNone/>
            </a:pPr>
            <a:r>
              <a:rPr lang="en-US" sz="1000" dirty="0">
                <a:solidFill>
                  <a:srgbClr val="4A524E"/>
                </a:solidFill>
                <a:latin typeface="Calibri" pitchFamily="34" charset="0"/>
                <a:ea typeface="Calibri" pitchFamily="34" charset="-122"/>
                <a:cs typeface="Calibri" pitchFamily="34" charset="-120"/>
              </a:rPr>
              <a:t>Monasterio de los Jerónimos, Lisboa, Portugal, 2 — Diego Delso, CC BY-SA 4.0</a:t>
            </a:r>
            <a:endParaRPr lang="en-US" sz="1000" dirty="0"/>
          </a:p>
          <a:p>
            <a:pPr indent="0" marL="0">
              <a:spcAft>
                <a:spcPts val="200"/>
              </a:spcAft>
              <a:buNone/>
            </a:pPr>
            <a:r>
              <a:rPr lang="en-US" sz="1000" dirty="0">
                <a:solidFill>
                  <a:srgbClr val="4A524E"/>
                </a:solidFill>
                <a:latin typeface="Calibri" pitchFamily="34" charset="0"/>
                <a:ea typeface="Calibri" pitchFamily="34" charset="-122"/>
                <a:cs typeface="Calibri" pitchFamily="34" charset="-120"/>
              </a:rPr>
              <a:t>Serra do Caramulo - Portugal (6929735785) — Vitor Oliveira from Torres, CC BY-SA 2.0</a:t>
            </a:r>
            <a:endParaRPr lang="en-US" sz="1000" dirty="0"/>
          </a:p>
          <a:p>
            <a:pPr indent="0" marL="0">
              <a:spcAft>
                <a:spcPts val="200"/>
              </a:spcAft>
              <a:buNone/>
            </a:pPr>
            <a:r>
              <a:rPr lang="en-US" sz="1000" dirty="0">
                <a:solidFill>
                  <a:srgbClr val="4A524E"/>
                </a:solidFill>
                <a:latin typeface="Calibri" pitchFamily="34" charset="0"/>
                <a:ea typeface="Calibri" pitchFamily="34" charset="-122"/>
                <a:cs typeface="Calibri" pitchFamily="34" charset="-120"/>
              </a:rPr>
              <a:t>Vistas de Lisboa desde el Mirador de Santa Luzia — Diego Delso, CC BY-SA 3.0</a:t>
            </a:r>
            <a:endParaRPr lang="en-US" sz="1000" dirty="0"/>
          </a:p>
          <a:p>
            <a:pPr indent="0" marL="0">
              <a:spcAft>
                <a:spcPts val="200"/>
              </a:spcAft>
              <a:buNone/>
            </a:pPr>
            <a:r>
              <a:rPr lang="en-US" sz="1000" dirty="0">
                <a:solidFill>
                  <a:srgbClr val="4A524E"/>
                </a:solidFill>
                <a:latin typeface="Calibri" pitchFamily="34" charset="0"/>
                <a:ea typeface="Calibri" pitchFamily="34" charset="-122"/>
                <a:cs typeface="Calibri" pitchFamily="34" charset="-120"/>
              </a:rPr>
              <a:t>Pico Volcano — The Cosmonaut, CC BY-SA 4.0</a:t>
            </a:r>
            <a:endParaRPr lang="en-US" sz="1000" dirty="0"/>
          </a:p>
          <a:p>
            <a:pPr indent="0" marL="0">
              <a:spcAft>
                <a:spcPts val="200"/>
              </a:spcAft>
              <a:buNone/>
            </a:pPr>
            <a:r>
              <a:rPr lang="en-US" sz="1000" dirty="0">
                <a:solidFill>
                  <a:srgbClr val="4A524E"/>
                </a:solidFill>
                <a:latin typeface="Calibri" pitchFamily="34" charset="0"/>
                <a:ea typeface="Calibri" pitchFamily="34" charset="-122"/>
                <a:cs typeface="Calibri" pitchFamily="34" charset="-120"/>
              </a:rPr>
              <a:t>Benagil Cave (10) — Joseolgon, CC BY-SA 4.0</a:t>
            </a:r>
            <a:endParaRPr lang="en-US" sz="1000" dirty="0"/>
          </a:p>
          <a:p>
            <a:pPr indent="0" marL="0">
              <a:spcAft>
                <a:spcPts val="200"/>
              </a:spcAft>
              <a:buNone/>
            </a:pPr>
            <a:r>
              <a:rPr lang="en-US" sz="1000" dirty="0">
                <a:solidFill>
                  <a:srgbClr val="4A524E"/>
                </a:solidFill>
                <a:latin typeface="Calibri" pitchFamily="34" charset="0"/>
                <a:ea typeface="Calibri" pitchFamily="34" charset="-122"/>
                <a:cs typeface="Calibri" pitchFamily="34" charset="-120"/>
              </a:rPr>
              <a:t>Serra do Caramulo - Portugal (4261555151) — Vitor Oliveira from Torres, CC BY-SA 2.0</a:t>
            </a:r>
            <a:endParaRPr lang="en-US" sz="1000" dirty="0"/>
          </a:p>
          <a:p>
            <a:pPr indent="0" marL="0">
              <a:spcAft>
                <a:spcPts val="200"/>
              </a:spcAft>
              <a:buNone/>
            </a:pPr>
            <a:r>
              <a:rPr lang="en-US" sz="1000" dirty="0">
                <a:solidFill>
                  <a:srgbClr val="4A524E"/>
                </a:solidFill>
                <a:latin typeface="Calibri" pitchFamily="34" charset="0"/>
                <a:ea typeface="Calibri" pitchFamily="34" charset="-122"/>
                <a:cs typeface="Calibri" pitchFamily="34" charset="-120"/>
              </a:rPr>
              <a:t>Museu do Caramulo - Portugal (4684593349) — Vitor Oliveira from Torres, CC BY-SA 2.0</a:t>
            </a:r>
            <a:endParaRPr lang="en-US" sz="1000" dirty="0"/>
          </a:p>
          <a:p>
            <a:pPr indent="0" marL="0">
              <a:spcAft>
                <a:spcPts val="200"/>
              </a:spcAft>
              <a:buNone/>
            </a:pPr>
            <a:r>
              <a:rPr lang="en-US" sz="1000" dirty="0">
                <a:solidFill>
                  <a:srgbClr val="4A524E"/>
                </a:solidFill>
                <a:latin typeface="Calibri" pitchFamily="34" charset="0"/>
                <a:ea typeface="Calibri" pitchFamily="34" charset="-122"/>
                <a:cs typeface="Calibri" pitchFamily="34" charset="-120"/>
              </a:rPr>
              <a:t>Coimbra BW 2018-10-06 10-11-56 — Berthold Werner, CC BY-SA 3.0</a:t>
            </a:r>
            <a:endParaRPr lang="en-US" sz="1000" dirty="0"/>
          </a:p>
          <a:p>
            <a:pPr indent="0" marL="0">
              <a:spcAft>
                <a:spcPts val="200"/>
              </a:spcAft>
              <a:buNone/>
            </a:pPr>
            <a:r>
              <a:rPr lang="en-US" sz="1000" dirty="0">
                <a:solidFill>
                  <a:srgbClr val="4A524E"/>
                </a:solidFill>
                <a:latin typeface="Calibri" pitchFamily="34" charset="0"/>
                <a:ea typeface="Calibri" pitchFamily="34" charset="-122"/>
                <a:cs typeface="Calibri" pitchFamily="34" charset="-120"/>
              </a:rPr>
              <a:t>Portugal Vallée du Douro (8121915978) — peuplier from Switzerland , CC BY 2.0</a:t>
            </a:r>
            <a:endParaRPr lang="en-US" sz="1000" dirty="0"/>
          </a:p>
          <a:p>
            <a:pPr indent="0" marL="0">
              <a:spcAft>
                <a:spcPts val="200"/>
              </a:spcAft>
              <a:buNone/>
            </a:pPr>
            <a:r>
              <a:rPr lang="en-US" sz="1000" dirty="0">
                <a:solidFill>
                  <a:srgbClr val="4A524E"/>
                </a:solidFill>
                <a:latin typeface="Calibri" pitchFamily="34" charset="0"/>
                <a:ea typeface="Calibri" pitchFamily="34" charset="-122"/>
                <a:cs typeface="Calibri" pitchFamily="34" charset="-120"/>
              </a:rPr>
              <a:t>Roman Temple Evora Portugal 01 — Norbert Nagel, CC BY-SA 3.0</a:t>
            </a:r>
            <a:endParaRPr lang="en-US" sz="1000" dirty="0"/>
          </a:p>
          <a:p>
            <a:pPr indent="0" marL="0">
              <a:spcAft>
                <a:spcPts val="200"/>
              </a:spcAft>
              <a:buNone/>
            </a:pPr>
            <a:r>
              <a:rPr lang="en-US" sz="1000" dirty="0">
                <a:solidFill>
                  <a:srgbClr val="4A524E"/>
                </a:solidFill>
                <a:latin typeface="Calibri" pitchFamily="34" charset="0"/>
                <a:ea typeface="Calibri" pitchFamily="34" charset="-122"/>
                <a:cs typeface="Calibri" pitchFamily="34" charset="-120"/>
              </a:rPr>
              <a:t>View from Miradouro de Santa Luzia, Lisbon, 2025 — Jakub Hałun, CC BY 4.0</a:t>
            </a:r>
            <a:endParaRPr lang="en-US" sz="1000" dirty="0"/>
          </a:p>
          <a:p>
            <a:pPr indent="0" marL="0">
              <a:spcAft>
                <a:spcPts val="200"/>
              </a:spcAft>
              <a:buNone/>
            </a:pPr>
            <a:r>
              <a:rPr lang="en-US" sz="1000" dirty="0">
                <a:solidFill>
                  <a:srgbClr val="4A524E"/>
                </a:solidFill>
                <a:latin typeface="Calibri" pitchFamily="34" charset="0"/>
                <a:ea typeface="Calibri" pitchFamily="34" charset="-122"/>
                <a:cs typeface="Calibri" pitchFamily="34" charset="-120"/>
              </a:rPr>
              <a:t>View from Miradouro do Pico do Arieiro - Madeira — H. Zell, CC BY-SA 3.0</a:t>
            </a:r>
            <a:endParaRPr lang="en-US" sz="1000" dirty="0"/>
          </a:p>
          <a:p>
            <a:pPr indent="0" marL="0">
              <a:spcAft>
                <a:spcPts val="200"/>
              </a:spcAft>
              <a:buNone/>
            </a:pPr>
            <a:r>
              <a:rPr lang="en-US" sz="1000" dirty="0">
                <a:solidFill>
                  <a:srgbClr val="4A524E"/>
                </a:solidFill>
                <a:latin typeface="Calibri" pitchFamily="34" charset="0"/>
                <a:ea typeface="Calibri" pitchFamily="34" charset="-122"/>
                <a:cs typeface="Calibri" pitchFamily="34" charset="-120"/>
              </a:rPr>
              <a:t>Rabelo boats and Ribeira seen from Cais de Gaia, — Jakub Hałun, CC BY 4.0</a:t>
            </a:r>
            <a:endParaRPr lang="en-US" sz="1000" dirty="0"/>
          </a:p>
          <a:p>
            <a:pPr indent="0" marL="0">
              <a:spcAft>
                <a:spcPts val="200"/>
              </a:spcAft>
              <a:buNone/>
            </a:pPr>
            <a:r>
              <a:rPr lang="en-US" sz="1000" dirty="0">
                <a:solidFill>
                  <a:srgbClr val="4A524E"/>
                </a:solidFill>
                <a:latin typeface="Calibri" pitchFamily="34" charset="0"/>
                <a:ea typeface="Calibri" pitchFamily="34" charset="-122"/>
                <a:cs typeface="Calibri" pitchFamily="34" charset="-120"/>
              </a:rPr>
              <a:t>Eusebio statue 2010 — Erik Cleves Kristensen, CC BY 2.0</a:t>
            </a:r>
            <a:endParaRPr lang="en-US" sz="100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18D"/>
                </a:solidFill>
                <a:latin typeface="Calibri"/>
                <a:ea typeface="Calibri"/>
                <a:cs typeface="Calibri"/>
              </a:defRPr>
            </a:lvl1pPr>
          </a:lstStyle>
          <a:p>
            <a:pPr algn="r"/>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txBox="1"/>
          <p:nvPr/>
        </p:nvSpPr>
        <p:spPr>
          <a:xfrm>
            <a:off x="548640" y="411480"/>
            <a:ext cx="10972800" cy="274320"/>
          </a:xfrm>
          <a:prstGeom prst="rect">
            <a:avLst/>
          </a:prstGeom>
          <a:noFill/>
          <a:ln/>
        </p:spPr>
        <p:txBody>
          <a:bodyPr wrap="square" lIns="0" tIns="0" rIns="0" bIns="0" rtlCol="0" anchor="t"/>
          <a:lstStyle/>
          <a:p>
            <a:pPr indent="0" marL="0">
              <a:buNone/>
            </a:pPr>
            <a:r>
              <a:rPr lang="en-US" sz="1200" b="1" spc="300" kern="0" dirty="0">
                <a:solidFill>
                  <a:srgbClr val="A83232"/>
                </a:solidFill>
                <a:latin typeface="Calibri" pitchFamily="34" charset="0"/>
                <a:ea typeface="Calibri" pitchFamily="34" charset="-122"/>
                <a:cs typeface="Calibri" pitchFamily="34" charset="-120"/>
              </a:rPr>
              <a:t>SOURCES</a:t>
            </a:r>
            <a:endParaRPr lang="en-US" sz="1200" dirty="0"/>
          </a:p>
        </p:txBody>
      </p:sp>
      <p:sp>
        <p:nvSpPr>
          <p:cNvPr id="3" name="Text 1"/>
          <p:cNvSpPr txBox="1"/>
          <p:nvPr/>
        </p:nvSpPr>
        <p:spPr>
          <a:xfrm>
            <a:off x="548640" y="685800"/>
            <a:ext cx="10972800" cy="685800"/>
          </a:xfrm>
          <a:prstGeom prst="rect">
            <a:avLst/>
          </a:prstGeom>
          <a:noFill/>
          <a:ln/>
        </p:spPr>
        <p:txBody>
          <a:bodyPr wrap="square" lIns="0" tIns="0" rIns="0" bIns="0" rtlCol="0" anchor="t"/>
          <a:lstStyle/>
          <a:p>
            <a:pPr indent="0" marL="0">
              <a:buNone/>
            </a:pPr>
            <a:r>
              <a:rPr lang="en-US" sz="3400" b="1" dirty="0">
                <a:solidFill>
                  <a:srgbClr val="174A3A"/>
                </a:solidFill>
                <a:latin typeface="Cambria" pitchFamily="34" charset="0"/>
                <a:ea typeface="Cambria" pitchFamily="34" charset="-122"/>
                <a:cs typeface="Cambria" pitchFamily="34" charset="-120"/>
              </a:rPr>
              <a:t>Crédits photos (3)</a:t>
            </a:r>
            <a:endParaRPr lang="en-US" sz="3400" dirty="0"/>
          </a:p>
        </p:txBody>
      </p:sp>
      <p:sp>
        <p:nvSpPr>
          <p:cNvPr id="4" name="Text 2"/>
          <p:cNvSpPr txBox="1"/>
          <p:nvPr/>
        </p:nvSpPr>
        <p:spPr>
          <a:xfrm>
            <a:off x="548640" y="1371600"/>
            <a:ext cx="10972800" cy="320040"/>
          </a:xfrm>
          <a:prstGeom prst="rect">
            <a:avLst/>
          </a:prstGeom>
          <a:noFill/>
          <a:ln/>
        </p:spPr>
        <p:txBody>
          <a:bodyPr wrap="square" lIns="0" tIns="0" rIns="0" bIns="0" rtlCol="0" anchor="t"/>
          <a:lstStyle/>
          <a:p>
            <a:pPr indent="0" marL="0">
              <a:buNone/>
            </a:pPr>
            <a:r>
              <a:rPr lang="en-US" sz="1200" dirty="0">
                <a:solidFill>
                  <a:srgbClr val="4A524E"/>
                </a:solidFill>
                <a:latin typeface="Calibri" pitchFamily="34" charset="0"/>
                <a:ea typeface="Calibri" pitchFamily="34" charset="-122"/>
                <a:cs typeface="Calibri" pitchFamily="34" charset="-120"/>
              </a:rPr>
              <a:t>Photos issues de Wikimedia Commons, sous licences libres. Merci à leurs auteurs.</a:t>
            </a:r>
            <a:endParaRPr lang="en-US" sz="1200" dirty="0"/>
          </a:p>
        </p:txBody>
      </p:sp>
      <p:sp>
        <p:nvSpPr>
          <p:cNvPr id="5" name="Text 3"/>
          <p:cNvSpPr txBox="1"/>
          <p:nvPr/>
        </p:nvSpPr>
        <p:spPr>
          <a:xfrm>
            <a:off x="548640" y="1783080"/>
            <a:ext cx="5486400" cy="4480560"/>
          </a:xfrm>
          <a:prstGeom prst="rect">
            <a:avLst/>
          </a:prstGeom>
          <a:noFill/>
          <a:ln/>
        </p:spPr>
        <p:txBody>
          <a:bodyPr wrap="square" lIns="0" tIns="0" rIns="0" bIns="0" rtlCol="0" anchor="t"/>
          <a:lstStyle/>
          <a:p>
            <a:pPr indent="0" marL="0">
              <a:spcAft>
                <a:spcPts val="200"/>
              </a:spcAft>
              <a:buNone/>
            </a:pPr>
            <a:r>
              <a:rPr lang="en-US" sz="1000" dirty="0">
                <a:solidFill>
                  <a:srgbClr val="4A524E"/>
                </a:solidFill>
                <a:latin typeface="Calibri" pitchFamily="34" charset="0"/>
                <a:ea typeface="Calibri" pitchFamily="34" charset="-122"/>
                <a:cs typeface="Calibri" pitchFamily="34" charset="-120"/>
              </a:rPr>
              <a:t>Seleção Portuguesa de Hóquei em Patins - 01 — Carlos Delgado, CC BY-SA 4.0</a:t>
            </a:r>
            <a:endParaRPr lang="en-US" sz="1000" dirty="0"/>
          </a:p>
          <a:p>
            <a:pPr indent="0" marL="0">
              <a:spcAft>
                <a:spcPts val="200"/>
              </a:spcAft>
              <a:buNone/>
            </a:pPr>
            <a:r>
              <a:rPr lang="en-US" sz="1000" dirty="0">
                <a:solidFill>
                  <a:srgbClr val="4A524E"/>
                </a:solidFill>
                <a:latin typeface="Calibri" pitchFamily="34" charset="0"/>
                <a:ea typeface="Calibri" pitchFamily="34" charset="-122"/>
                <a:cs typeface="Calibri" pitchFamily="34" charset="-120"/>
              </a:rPr>
              <a:t>LuzLissabon — Massimo Catarinella, CC BY 3.0</a:t>
            </a:r>
            <a:endParaRPr lang="en-US" sz="1000" dirty="0"/>
          </a:p>
          <a:p>
            <a:pPr indent="0" marL="0">
              <a:spcAft>
                <a:spcPts val="200"/>
              </a:spcAft>
              <a:buNone/>
            </a:pPr>
            <a:r>
              <a:rPr lang="en-US" sz="1000" dirty="0">
                <a:solidFill>
                  <a:srgbClr val="4A524E"/>
                </a:solidFill>
                <a:latin typeface="Calibri" pitchFamily="34" charset="0"/>
                <a:ea typeface="Calibri" pitchFamily="34" charset="-122"/>
                <a:cs typeface="Calibri" pitchFamily="34" charset="-120"/>
              </a:rPr>
              <a:t>Red Bull Air Race Oporto 2017 - 28 — Harpagornis, CC BY-SA 4.0</a:t>
            </a:r>
            <a:endParaRPr lang="en-US" sz="1000" dirty="0"/>
          </a:p>
          <a:p>
            <a:pPr indent="0" marL="0">
              <a:spcAft>
                <a:spcPts val="200"/>
              </a:spcAft>
              <a:buNone/>
            </a:pPr>
            <a:r>
              <a:rPr lang="en-US" sz="1000" dirty="0">
                <a:solidFill>
                  <a:srgbClr val="4A524E"/>
                </a:solidFill>
                <a:latin typeface="Calibri" pitchFamily="34" charset="0"/>
                <a:ea typeface="Calibri" pitchFamily="34" charset="-122"/>
                <a:cs typeface="Calibri" pitchFamily="34" charset="-120"/>
              </a:rPr>
              <a:t>Argentine - Portugal - Cristiano Ronaldo — Ludovic Péron, CC BY-SA 3.0</a:t>
            </a:r>
            <a:endParaRPr lang="en-US" sz="1000" dirty="0"/>
          </a:p>
          <a:p>
            <a:pPr indent="0" marL="0">
              <a:spcAft>
                <a:spcPts val="200"/>
              </a:spcAft>
              <a:buNone/>
            </a:pPr>
            <a:r>
              <a:rPr lang="en-US" sz="1000" dirty="0">
                <a:solidFill>
                  <a:srgbClr val="4A524E"/>
                </a:solidFill>
                <a:latin typeface="Calibri" pitchFamily="34" charset="0"/>
                <a:ea typeface="Calibri" pitchFamily="34" charset="-122"/>
                <a:cs typeface="Calibri" pitchFamily="34" charset="-120"/>
              </a:rPr>
              <a:t>Castelo da Feira ou Castelo de Santa Maria da Fe — António Amen, CC BY-SA 3.0</a:t>
            </a:r>
            <a:endParaRPr lang="en-US" sz="1000" dirty="0"/>
          </a:p>
          <a:p>
            <a:pPr indent="0" marL="0">
              <a:spcAft>
                <a:spcPts val="200"/>
              </a:spcAft>
              <a:buNone/>
            </a:pPr>
            <a:r>
              <a:rPr lang="en-US" sz="1000" dirty="0">
                <a:solidFill>
                  <a:srgbClr val="4A524E"/>
                </a:solidFill>
                <a:latin typeface="Calibri" pitchFamily="34" charset="0"/>
                <a:ea typeface="Calibri" pitchFamily="34" charset="-122"/>
                <a:cs typeface="Calibri" pitchFamily="34" charset="-120"/>
              </a:rPr>
              <a:t>Castelo St. Maria Feira (1) — Jorge Lobo, CC BY-SA 4.0</a:t>
            </a:r>
            <a:endParaRPr lang="en-US" sz="1000" dirty="0"/>
          </a:p>
          <a:p>
            <a:pPr indent="0" marL="0">
              <a:spcAft>
                <a:spcPts val="200"/>
              </a:spcAft>
              <a:buNone/>
            </a:pPr>
            <a:r>
              <a:rPr lang="en-US" sz="1000" dirty="0">
                <a:solidFill>
                  <a:srgbClr val="4A524E"/>
                </a:solidFill>
                <a:latin typeface="Calibri" pitchFamily="34" charset="0"/>
                <a:ea typeface="Calibri" pitchFamily="34" charset="-122"/>
                <a:cs typeface="Calibri" pitchFamily="34" charset="-120"/>
              </a:rPr>
              <a:t>1755 Lisbon earthquake — Unknown authorUnknown auth, Public domain</a:t>
            </a:r>
            <a:endParaRPr lang="en-US" sz="1000" dirty="0"/>
          </a:p>
          <a:p>
            <a:pPr indent="0" marL="0">
              <a:spcAft>
                <a:spcPts val="200"/>
              </a:spcAft>
              <a:buNone/>
            </a:pPr>
            <a:r>
              <a:rPr lang="en-US" sz="1000" dirty="0">
                <a:solidFill>
                  <a:srgbClr val="4A524E"/>
                </a:solidFill>
                <a:latin typeface="Calibri" pitchFamily="34" charset="0"/>
                <a:ea typeface="Calibri" pitchFamily="34" charset="-122"/>
                <a:cs typeface="Calibri" pitchFamily="34" charset="-120"/>
              </a:rPr>
              <a:t>Cantino planisphere (1502) — anonymous Portuguese (1502, Public domain</a:t>
            </a:r>
            <a:endParaRPr lang="en-US" sz="1000" dirty="0"/>
          </a:p>
          <a:p>
            <a:pPr indent="0" marL="0">
              <a:spcAft>
                <a:spcPts val="200"/>
              </a:spcAft>
              <a:buNone/>
            </a:pPr>
            <a:r>
              <a:rPr lang="en-US" sz="1000" dirty="0">
                <a:solidFill>
                  <a:srgbClr val="4A524E"/>
                </a:solidFill>
                <a:latin typeface="Calibri" pitchFamily="34" charset="0"/>
                <a:ea typeface="Calibri" pitchFamily="34" charset="-122"/>
                <a:cs typeface="Calibri" pitchFamily="34" charset="-120"/>
              </a:rPr>
              <a:t>Restos de la Catedral de San Pablo, Macao, 2013- — Diego Delso, CC BY-SA 3.0</a:t>
            </a:r>
            <a:endParaRPr lang="en-US" sz="1000" dirty="0"/>
          </a:p>
          <a:p>
            <a:pPr indent="0" marL="0">
              <a:spcAft>
                <a:spcPts val="200"/>
              </a:spcAft>
              <a:buNone/>
            </a:pPr>
            <a:r>
              <a:rPr lang="en-US" sz="1000" dirty="0">
                <a:solidFill>
                  <a:srgbClr val="4A524E"/>
                </a:solidFill>
                <a:latin typeface="Calibri" pitchFamily="34" charset="0"/>
                <a:ea typeface="Calibri" pitchFamily="34" charset="-122"/>
                <a:cs typeface="Calibri" pitchFamily="34" charset="-120"/>
              </a:rPr>
              <a:t>Aristides de Sousa Mendes, 1940 — Unknown photographer, Public domain</a:t>
            </a:r>
            <a:endParaRPr lang="en-US" sz="1000" dirty="0"/>
          </a:p>
          <a:p>
            <a:pPr indent="0" marL="0">
              <a:spcAft>
                <a:spcPts val="200"/>
              </a:spcAft>
              <a:buNone/>
            </a:pPr>
            <a:r>
              <a:rPr lang="en-US" sz="1000" dirty="0">
                <a:solidFill>
                  <a:srgbClr val="4A524E"/>
                </a:solidFill>
                <a:latin typeface="Calibri" pitchFamily="34" charset="0"/>
                <a:ea typeface="Calibri" pitchFamily="34" charset="-122"/>
                <a:cs typeface="Calibri" pitchFamily="34" charset="-120"/>
              </a:rPr>
              <a:t>Nanban Scene – Arrival of the Portuguese in Japa — Jorge Patrão, CC BY-SA 4.0</a:t>
            </a:r>
            <a:endParaRPr lang="en-US" sz="1000" dirty="0"/>
          </a:p>
          <a:p>
            <a:pPr indent="0" marL="0">
              <a:spcAft>
                <a:spcPts val="200"/>
              </a:spcAft>
              <a:buNone/>
            </a:pPr>
            <a:r>
              <a:rPr lang="en-US" sz="1000" dirty="0">
                <a:solidFill>
                  <a:srgbClr val="4A524E"/>
                </a:solidFill>
                <a:latin typeface="Calibri" pitchFamily="34" charset="0"/>
                <a:ea typeface="Calibri" pitchFamily="34" charset="-122"/>
                <a:cs typeface="Calibri" pitchFamily="34" charset="-120"/>
              </a:rPr>
              <a:t>António de Oliveira Salazar portrait (by Manuel  — Manuel Alves de San Payo, Public domain</a:t>
            </a:r>
            <a:endParaRPr lang="en-US" sz="1000" dirty="0"/>
          </a:p>
          <a:p>
            <a:pPr indent="0" marL="0">
              <a:spcAft>
                <a:spcPts val="200"/>
              </a:spcAft>
              <a:buNone/>
            </a:pPr>
            <a:r>
              <a:rPr lang="en-US" sz="1000" dirty="0">
                <a:solidFill>
                  <a:srgbClr val="4A524E"/>
                </a:solidFill>
                <a:latin typeface="Calibri" pitchFamily="34" charset="0"/>
                <a:ea typeface="Calibri" pitchFamily="34" charset="-122"/>
                <a:cs typeface="Calibri" pitchFamily="34" charset="-120"/>
              </a:rPr>
              <a:t>Albufeira do Alqueva - Portugal (48347214211) — Vitor Oliveira from Torres, CC BY-SA 2.0</a:t>
            </a:r>
            <a:endParaRPr lang="en-US" sz="1000" dirty="0"/>
          </a:p>
          <a:p>
            <a:pPr indent="0" marL="0">
              <a:spcAft>
                <a:spcPts val="200"/>
              </a:spcAft>
              <a:buNone/>
            </a:pPr>
            <a:r>
              <a:rPr lang="en-US" sz="1000" dirty="0">
                <a:solidFill>
                  <a:srgbClr val="4A524E"/>
                </a:solidFill>
                <a:latin typeface="Calibri" pitchFamily="34" charset="0"/>
                <a:ea typeface="Calibri" pitchFamily="34" charset="-122"/>
                <a:cs typeface="Calibri" pitchFamily="34" charset="-120"/>
              </a:rPr>
              <a:t>Canal in Aveiro 19 — John Samuel, CC BY-SA 4.0</a:t>
            </a:r>
            <a:endParaRPr lang="en-US" sz="1000" dirty="0"/>
          </a:p>
          <a:p>
            <a:pPr indent="0" marL="0">
              <a:spcAft>
                <a:spcPts val="200"/>
              </a:spcAft>
              <a:buNone/>
            </a:pPr>
            <a:r>
              <a:rPr lang="en-US" sz="1000" dirty="0">
                <a:solidFill>
                  <a:srgbClr val="4A524E"/>
                </a:solidFill>
                <a:latin typeface="Calibri" pitchFamily="34" charset="0"/>
                <a:ea typeface="Calibri" pitchFamily="34" charset="-122"/>
                <a:cs typeface="Calibri" pitchFamily="34" charset="-120"/>
              </a:rPr>
              <a:t>Batalha September 2021-2 — Alvesgaspar, CC BY-SA 4.0</a:t>
            </a:r>
            <a:endParaRPr lang="en-US" sz="1000" dirty="0"/>
          </a:p>
          <a:p>
            <a:pPr indent="0" marL="0">
              <a:spcAft>
                <a:spcPts val="200"/>
              </a:spcAft>
              <a:buNone/>
            </a:pPr>
            <a:r>
              <a:rPr lang="en-US" sz="1000" dirty="0">
                <a:solidFill>
                  <a:srgbClr val="4A524E"/>
                </a:solidFill>
                <a:latin typeface="Calibri" pitchFamily="34" charset="0"/>
                <a:ea typeface="Calibri" pitchFamily="34" charset="-122"/>
                <a:cs typeface="Calibri" pitchFamily="34" charset="-120"/>
              </a:rPr>
              <a:t>Břeh naproti Pinhão (Alijó, Portugalsko) 001 — Petr Adam Dohnálek, CC BY-SA 3.0 cz</a:t>
            </a:r>
            <a:endParaRPr lang="en-US" sz="1000" dirty="0"/>
          </a:p>
          <a:p>
            <a:pPr indent="0" marL="0">
              <a:spcAft>
                <a:spcPts val="200"/>
              </a:spcAft>
              <a:buNone/>
            </a:pPr>
            <a:r>
              <a:rPr lang="en-US" sz="1000" dirty="0">
                <a:solidFill>
                  <a:srgbClr val="4A524E"/>
                </a:solidFill>
                <a:latin typeface="Calibri" pitchFamily="34" charset="0"/>
                <a:ea typeface="Calibri" pitchFamily="34" charset="-122"/>
                <a:cs typeface="Calibri" pitchFamily="34" charset="-120"/>
              </a:rPr>
              <a:t>Lisboa - Parque das Nações - 20170814 - 02 - — Mathieu Kappler, CC BY-SA 4.0</a:t>
            </a:r>
            <a:endParaRPr lang="en-US" sz="1000" dirty="0"/>
          </a:p>
        </p:txBody>
      </p:sp>
      <p:sp>
        <p:nvSpPr>
          <p:cNvPr id="6" name="Text 4"/>
          <p:cNvSpPr txBox="1"/>
          <p:nvPr/>
        </p:nvSpPr>
        <p:spPr>
          <a:xfrm>
            <a:off x="6172200" y="1783080"/>
            <a:ext cx="5486400" cy="4480560"/>
          </a:xfrm>
          <a:prstGeom prst="rect">
            <a:avLst/>
          </a:prstGeom>
          <a:noFill/>
          <a:ln/>
        </p:spPr>
        <p:txBody>
          <a:bodyPr wrap="square" lIns="0" tIns="0" rIns="0" bIns="0" rtlCol="0" anchor="t"/>
          <a:lstStyle/>
          <a:p>
            <a:pPr indent="0" marL="0">
              <a:spcAft>
                <a:spcPts val="200"/>
              </a:spcAft>
              <a:buNone/>
            </a:pPr>
            <a:r>
              <a:rPr lang="en-US" sz="1000" dirty="0">
                <a:solidFill>
                  <a:srgbClr val="4A524E"/>
                </a:solidFill>
                <a:latin typeface="Calibri" pitchFamily="34" charset="0"/>
                <a:ea typeface="Calibri" pitchFamily="34" charset="-122"/>
                <a:cs typeface="Calibri" pitchFamily="34" charset="-120"/>
              </a:rPr>
              <a:t>Mosteiro dos Jerónimos - Lisboa - Portugal (3438 — Vitor Oliveira from Torres, CC BY-SA 2.0</a:t>
            </a:r>
            <a:endParaRPr lang="en-US" sz="1000" dirty="0"/>
          </a:p>
          <a:p>
            <a:pPr indent="0" marL="0">
              <a:spcAft>
                <a:spcPts val="200"/>
              </a:spcAft>
              <a:buNone/>
            </a:pPr>
            <a:r>
              <a:rPr lang="en-US" sz="1000" dirty="0">
                <a:solidFill>
                  <a:srgbClr val="4A524E"/>
                </a:solidFill>
                <a:latin typeface="Calibri" pitchFamily="34" charset="0"/>
                <a:ea typeface="Calibri" pitchFamily="34" charset="-122"/>
                <a:cs typeface="Calibri" pitchFamily="34" charset="-120"/>
              </a:rPr>
              <a:t>Oceanário de Lisboa (53870803219) — Jorge Franganillo, CC BY 2.0</a:t>
            </a:r>
            <a:endParaRPr lang="en-US" sz="1000" dirty="0"/>
          </a:p>
          <a:p>
            <a:pPr indent="0" marL="0">
              <a:spcAft>
                <a:spcPts val="200"/>
              </a:spcAft>
              <a:buNone/>
            </a:pPr>
            <a:r>
              <a:rPr lang="en-US" sz="1000" dirty="0">
                <a:solidFill>
                  <a:srgbClr val="4A524E"/>
                </a:solidFill>
                <a:latin typeface="Calibri" pitchFamily="34" charset="0"/>
                <a:ea typeface="Calibri" pitchFamily="34" charset="-122"/>
                <a:cs typeface="Calibri" pitchFamily="34" charset="-120"/>
              </a:rPr>
              <a:t>Sintra Portugal Palácio da Pena-01 — CEphoto, Uwe Aranas, CC BY-SA 3.0</a:t>
            </a:r>
            <a:endParaRPr lang="en-US" sz="1000" dirty="0"/>
          </a:p>
          <a:p>
            <a:pPr indent="0" marL="0">
              <a:spcAft>
                <a:spcPts val="200"/>
              </a:spcAft>
              <a:buNone/>
            </a:pPr>
            <a:r>
              <a:rPr lang="en-US" sz="1000" dirty="0">
                <a:solidFill>
                  <a:srgbClr val="4A524E"/>
                </a:solidFill>
                <a:latin typeface="Calibri" pitchFamily="34" charset="0"/>
                <a:ea typeface="Calibri" pitchFamily="34" charset="-122"/>
                <a:cs typeface="Calibri" pitchFamily="34" charset="-120"/>
              </a:rPr>
              <a:t>2025-08-03 Salinas de Aveiro — Alexkom000, CC BY 4.0</a:t>
            </a:r>
            <a:endParaRPr lang="en-US" sz="1000" dirty="0"/>
          </a:p>
          <a:p>
            <a:pPr indent="0" marL="0">
              <a:spcAft>
                <a:spcPts val="200"/>
              </a:spcAft>
              <a:buNone/>
            </a:pPr>
            <a:r>
              <a:rPr lang="en-US" sz="1000" dirty="0">
                <a:solidFill>
                  <a:srgbClr val="4A524E"/>
                </a:solidFill>
                <a:latin typeface="Calibri" pitchFamily="34" charset="0"/>
                <a:ea typeface="Calibri" pitchFamily="34" charset="-122"/>
                <a:cs typeface="Calibri" pitchFamily="34" charset="-120"/>
              </a:rPr>
              <a:t>Vasco da Gama Bridge seen from Parque das Nações — Jules Verne Times Two, CC BY-SA 4.0</a:t>
            </a:r>
            <a:endParaRPr lang="en-US" sz="1000" dirty="0"/>
          </a:p>
          <a:p>
            <a:pPr indent="0" marL="0">
              <a:spcAft>
                <a:spcPts val="200"/>
              </a:spcAft>
              <a:buNone/>
            </a:pPr>
            <a:r>
              <a:rPr lang="en-US" sz="1000" dirty="0">
                <a:solidFill>
                  <a:srgbClr val="4A524E"/>
                </a:solidFill>
                <a:latin typeface="Calibri" pitchFamily="34" charset="0"/>
                <a:ea typeface="Calibri" pitchFamily="34" charset="-122"/>
                <a:cs typeface="Calibri" pitchFamily="34" charset="-120"/>
              </a:rPr>
              <a:t>Aerial view of Lagoa do Fogo, São Miguel Island, — Jules Verne Times Two, CC BY-SA 4.0</a:t>
            </a:r>
            <a:endParaRPr lang="en-US" sz="1000" dirty="0"/>
          </a:p>
          <a:p>
            <a:pPr indent="0" marL="0">
              <a:spcAft>
                <a:spcPts val="200"/>
              </a:spcAft>
              <a:buNone/>
            </a:pPr>
            <a:r>
              <a:rPr lang="en-US" sz="1000" dirty="0">
                <a:solidFill>
                  <a:srgbClr val="4A524E"/>
                </a:solidFill>
                <a:latin typeface="Calibri" pitchFamily="34" charset="0"/>
                <a:ea typeface="Calibri" pitchFamily="34" charset="-122"/>
                <a:cs typeface="Calibri" pitchFamily="34" charset="-120"/>
              </a:rPr>
              <a:t>Estátua de Dom Afonso Henriques junto ao Estádio — V.B.Speranza, CC BY-SA 4.0</a:t>
            </a:r>
            <a:endParaRPr lang="en-US" sz="1000" dirty="0"/>
          </a:p>
          <a:p>
            <a:pPr indent="0" marL="0">
              <a:spcAft>
                <a:spcPts val="200"/>
              </a:spcAft>
              <a:buNone/>
            </a:pPr>
            <a:r>
              <a:rPr lang="en-US" sz="1000" dirty="0">
                <a:solidFill>
                  <a:srgbClr val="4A524E"/>
                </a:solidFill>
                <a:latin typeface="Calibri" pitchFamily="34" charset="0"/>
                <a:ea typeface="Calibri" pitchFamily="34" charset="-122"/>
                <a:cs typeface="Calibri" pitchFamily="34" charset="-120"/>
              </a:rPr>
              <a:t>"Praia da Falésia" (5514757750) — PortoBay Hotels &amp; Resorts , CC BY 2.0</a:t>
            </a:r>
            <a:endParaRPr lang="en-US" sz="1000" dirty="0"/>
          </a:p>
          <a:p>
            <a:pPr indent="0" marL="0">
              <a:spcAft>
                <a:spcPts val="200"/>
              </a:spcAft>
              <a:buNone/>
            </a:pPr>
            <a:r>
              <a:rPr lang="en-US" sz="1000" dirty="0">
                <a:solidFill>
                  <a:srgbClr val="4A524E"/>
                </a:solidFill>
                <a:latin typeface="Calibri" pitchFamily="34" charset="0"/>
                <a:ea typeface="Calibri" pitchFamily="34" charset="-122"/>
                <a:cs typeface="Calibri" pitchFamily="34" charset="-120"/>
              </a:rPr>
              <a:t>Cave do Vinho do Porto 03 — Peter from Wellesley, CC BY 2.0</a:t>
            </a:r>
            <a:endParaRPr lang="en-US" sz="1000" dirty="0"/>
          </a:p>
          <a:p>
            <a:pPr indent="0" marL="0">
              <a:spcAft>
                <a:spcPts val="200"/>
              </a:spcAft>
              <a:buNone/>
            </a:pPr>
            <a:r>
              <a:rPr lang="en-US" sz="1000" dirty="0">
                <a:solidFill>
                  <a:srgbClr val="4A524E"/>
                </a:solidFill>
                <a:latin typeface="Calibri" pitchFamily="34" charset="0"/>
                <a:ea typeface="Calibri" pitchFamily="34" charset="-122"/>
                <a:cs typeface="Calibri" pitchFamily="34" charset="-120"/>
              </a:rPr>
              <a:t>Dao red wine — Agne27, CC BY-SA 3.0</a:t>
            </a:r>
            <a:endParaRPr lang="en-US" sz="1000" dirty="0"/>
          </a:p>
          <a:p>
            <a:pPr indent="0" marL="0">
              <a:spcAft>
                <a:spcPts val="200"/>
              </a:spcAft>
              <a:buNone/>
            </a:pPr>
            <a:r>
              <a:rPr lang="en-US" sz="1000" dirty="0">
                <a:solidFill>
                  <a:srgbClr val="4A524E"/>
                </a:solidFill>
                <a:latin typeface="Calibri" pitchFamily="34" charset="0"/>
                <a:ea typeface="Calibri" pitchFamily="34" charset="-122"/>
                <a:cs typeface="Calibri" pitchFamily="34" charset="-120"/>
              </a:rPr>
              <a:t>Ponte de Dom Luís I and Ribeira, Porto (54795128 — Dale Cruse - 10M views fro, CC BY 4.0</a:t>
            </a:r>
            <a:endParaRPr lang="en-US" sz="1000" dirty="0"/>
          </a:p>
          <a:p>
            <a:pPr indent="0" marL="0">
              <a:spcAft>
                <a:spcPts val="200"/>
              </a:spcAft>
              <a:buNone/>
            </a:pPr>
            <a:r>
              <a:rPr lang="en-US" sz="1000" dirty="0">
                <a:solidFill>
                  <a:srgbClr val="4A524E"/>
                </a:solidFill>
                <a:latin typeface="Calibri" pitchFamily="34" charset="0"/>
                <a:ea typeface="Calibri" pitchFamily="34" charset="-122"/>
                <a:cs typeface="Calibri" pitchFamily="34" charset="-120"/>
              </a:rPr>
              <a:t>Nagasaki kasutera 129349331 5d6c87fd4f o d — Flickr user: Kanko* from N, CC BY 2.0</a:t>
            </a:r>
            <a:endParaRPr lang="en-US" sz="1000" dirty="0"/>
          </a:p>
          <a:p>
            <a:pPr indent="0" marL="0">
              <a:spcAft>
                <a:spcPts val="200"/>
              </a:spcAft>
              <a:buNone/>
            </a:pPr>
            <a:r>
              <a:rPr lang="en-US" sz="1000" dirty="0">
                <a:solidFill>
                  <a:srgbClr val="4A524E"/>
                </a:solidFill>
                <a:latin typeface="Calibri" pitchFamily="34" charset="0"/>
                <a:ea typeface="Calibri" pitchFamily="34" charset="-122"/>
                <a:cs typeface="Calibri" pitchFamily="34" charset="-120"/>
              </a:rPr>
              <a:t>View from Miradouro do Pico do Arieiro - Madeira — H. Zell, CC BY-SA 3.0</a:t>
            </a:r>
            <a:endParaRPr lang="en-US" sz="1000" dirty="0"/>
          </a:p>
          <a:p>
            <a:pPr indent="0" marL="0">
              <a:spcAft>
                <a:spcPts val="200"/>
              </a:spcAft>
              <a:buNone/>
            </a:pPr>
            <a:r>
              <a:rPr lang="en-US" sz="1000" dirty="0">
                <a:solidFill>
                  <a:srgbClr val="4A524E"/>
                </a:solidFill>
                <a:latin typeface="Calibri" pitchFamily="34" charset="0"/>
                <a:ea typeface="Calibri" pitchFamily="34" charset="-122"/>
                <a:cs typeface="Calibri" pitchFamily="34" charset="-120"/>
              </a:rPr>
              <a:t>Ponta de São Lourenço, Madeira, Portugal, 2019-0 — Diego Delso, CC BY-SA 4.0</a:t>
            </a:r>
            <a:endParaRPr lang="en-US" sz="1000" dirty="0"/>
          </a:p>
          <a:p>
            <a:pPr indent="0" marL="0">
              <a:spcAft>
                <a:spcPts val="200"/>
              </a:spcAft>
              <a:buNone/>
            </a:pPr>
            <a:r>
              <a:rPr lang="en-US" sz="1000" dirty="0">
                <a:solidFill>
                  <a:srgbClr val="4A524E"/>
                </a:solidFill>
                <a:latin typeface="Calibri" pitchFamily="34" charset="0"/>
                <a:ea typeface="Calibri" pitchFamily="34" charset="-122"/>
                <a:cs typeface="Calibri" pitchFamily="34" charset="-120"/>
              </a:rPr>
              <a:t>Dulce de Membrillo — Javier Lastras from España, CC BY 2.0</a:t>
            </a:r>
            <a:endParaRPr lang="en-US" sz="1000" dirty="0"/>
          </a:p>
          <a:p>
            <a:pPr indent="0" marL="0">
              <a:spcAft>
                <a:spcPts val="200"/>
              </a:spcAft>
              <a:buNone/>
            </a:pPr>
            <a:r>
              <a:rPr lang="en-US" sz="1000" dirty="0">
                <a:solidFill>
                  <a:srgbClr val="4A524E"/>
                </a:solidFill>
                <a:latin typeface="Calibri" pitchFamily="34" charset="0"/>
                <a:ea typeface="Calibri" pitchFamily="34" charset="-122"/>
                <a:cs typeface="Calibri" pitchFamily="34" charset="-120"/>
              </a:rPr>
              <a:t>Olival ao Pôr do Sol — AndréMiranda77, CC BY-SA 3.0</a:t>
            </a:r>
            <a:endParaRPr lang="en-US" sz="1000" dirty="0"/>
          </a:p>
          <a:p>
            <a:pPr indent="0" marL="0">
              <a:spcAft>
                <a:spcPts val="200"/>
              </a:spcAft>
              <a:buNone/>
            </a:pPr>
            <a:r>
              <a:rPr lang="en-US" sz="1000" dirty="0">
                <a:solidFill>
                  <a:srgbClr val="4A524E"/>
                </a:solidFill>
                <a:latin typeface="Calibri" pitchFamily="34" charset="0"/>
                <a:ea typeface="Calibri" pitchFamily="34" charset="-122"/>
                <a:cs typeface="Calibri" pitchFamily="34" charset="-120"/>
              </a:rPr>
              <a:t>Fernando Pessoa 1912 — Unknown authorUnknown auth, Public domain</a:t>
            </a:r>
            <a:endParaRPr lang="en-US" sz="100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18D"/>
                </a:solidFill>
                <a:latin typeface="Calibri"/>
                <a:ea typeface="Calibri"/>
                <a:cs typeface="Calibri"/>
              </a:defRPr>
            </a:lvl1pPr>
          </a:lstStyle>
          <a:p>
            <a:pPr algn="r"/>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txBox="1"/>
          <p:nvPr/>
        </p:nvSpPr>
        <p:spPr>
          <a:xfrm>
            <a:off x="548640" y="411480"/>
            <a:ext cx="10972800" cy="274320"/>
          </a:xfrm>
          <a:prstGeom prst="rect">
            <a:avLst/>
          </a:prstGeom>
          <a:noFill/>
          <a:ln/>
        </p:spPr>
        <p:txBody>
          <a:bodyPr wrap="square" lIns="0" tIns="0" rIns="0" bIns="0" rtlCol="0" anchor="t"/>
          <a:lstStyle/>
          <a:p>
            <a:pPr indent="0" marL="0">
              <a:buNone/>
            </a:pPr>
            <a:r>
              <a:rPr lang="en-US" sz="1200" b="1" spc="300" kern="0" dirty="0">
                <a:solidFill>
                  <a:srgbClr val="A83232"/>
                </a:solidFill>
                <a:latin typeface="Calibri" pitchFamily="34" charset="0"/>
                <a:ea typeface="Calibri" pitchFamily="34" charset="-122"/>
                <a:cs typeface="Calibri" pitchFamily="34" charset="-120"/>
              </a:rPr>
              <a:t>SOURCES</a:t>
            </a:r>
            <a:endParaRPr lang="en-US" sz="1200" dirty="0"/>
          </a:p>
        </p:txBody>
      </p:sp>
      <p:sp>
        <p:nvSpPr>
          <p:cNvPr id="3" name="Text 1"/>
          <p:cNvSpPr txBox="1"/>
          <p:nvPr/>
        </p:nvSpPr>
        <p:spPr>
          <a:xfrm>
            <a:off x="548640" y="685800"/>
            <a:ext cx="10972800" cy="685800"/>
          </a:xfrm>
          <a:prstGeom prst="rect">
            <a:avLst/>
          </a:prstGeom>
          <a:noFill/>
          <a:ln/>
        </p:spPr>
        <p:txBody>
          <a:bodyPr wrap="square" lIns="0" tIns="0" rIns="0" bIns="0" rtlCol="0" anchor="t"/>
          <a:lstStyle/>
          <a:p>
            <a:pPr indent="0" marL="0">
              <a:buNone/>
            </a:pPr>
            <a:r>
              <a:rPr lang="en-US" sz="3400" b="1" dirty="0">
                <a:solidFill>
                  <a:srgbClr val="174A3A"/>
                </a:solidFill>
                <a:latin typeface="Cambria" pitchFamily="34" charset="0"/>
                <a:ea typeface="Cambria" pitchFamily="34" charset="-122"/>
                <a:cs typeface="Cambria" pitchFamily="34" charset="-120"/>
              </a:rPr>
              <a:t>Crédits photos (4)</a:t>
            </a:r>
            <a:endParaRPr lang="en-US" sz="3400" dirty="0"/>
          </a:p>
        </p:txBody>
      </p:sp>
      <p:sp>
        <p:nvSpPr>
          <p:cNvPr id="4" name="Text 2"/>
          <p:cNvSpPr txBox="1"/>
          <p:nvPr/>
        </p:nvSpPr>
        <p:spPr>
          <a:xfrm>
            <a:off x="548640" y="1371600"/>
            <a:ext cx="10972800" cy="320040"/>
          </a:xfrm>
          <a:prstGeom prst="rect">
            <a:avLst/>
          </a:prstGeom>
          <a:noFill/>
          <a:ln/>
        </p:spPr>
        <p:txBody>
          <a:bodyPr wrap="square" lIns="0" tIns="0" rIns="0" bIns="0" rtlCol="0" anchor="t"/>
          <a:lstStyle/>
          <a:p>
            <a:pPr indent="0" marL="0">
              <a:buNone/>
            </a:pPr>
            <a:r>
              <a:rPr lang="en-US" sz="1200" dirty="0">
                <a:solidFill>
                  <a:srgbClr val="4A524E"/>
                </a:solidFill>
                <a:latin typeface="Calibri" pitchFamily="34" charset="0"/>
                <a:ea typeface="Calibri" pitchFamily="34" charset="-122"/>
                <a:cs typeface="Calibri" pitchFamily="34" charset="-120"/>
              </a:rPr>
              <a:t>Photos issues de Wikimedia Commons, sous licences libres. Merci à leurs auteurs.</a:t>
            </a:r>
            <a:endParaRPr lang="en-US" sz="1200" dirty="0"/>
          </a:p>
        </p:txBody>
      </p:sp>
      <p:sp>
        <p:nvSpPr>
          <p:cNvPr id="5" name="Text 3"/>
          <p:cNvSpPr txBox="1"/>
          <p:nvPr/>
        </p:nvSpPr>
        <p:spPr>
          <a:xfrm>
            <a:off x="548640" y="1783080"/>
            <a:ext cx="5486400" cy="4480560"/>
          </a:xfrm>
          <a:prstGeom prst="rect">
            <a:avLst/>
          </a:prstGeom>
          <a:noFill/>
          <a:ln/>
        </p:spPr>
        <p:txBody>
          <a:bodyPr wrap="square" lIns="0" tIns="0" rIns="0" bIns="0" rtlCol="0" anchor="t"/>
          <a:lstStyle/>
          <a:p>
            <a:pPr indent="0" marL="0">
              <a:spcAft>
                <a:spcPts val="200"/>
              </a:spcAft>
              <a:buNone/>
            </a:pPr>
            <a:r>
              <a:rPr lang="en-US" sz="1000" dirty="0">
                <a:solidFill>
                  <a:srgbClr val="4A524E"/>
                </a:solidFill>
                <a:latin typeface="Calibri" pitchFamily="34" charset="0"/>
                <a:ea typeface="Calibri" pitchFamily="34" charset="-122"/>
                <a:cs typeface="Calibri" pitchFamily="34" charset="-120"/>
              </a:rPr>
              <a:t>Capsicum frutescens, Burdwan, West Bengal, India — Joydeep, CC BY-SA 3.0</a:t>
            </a:r>
            <a:endParaRPr lang="en-US" sz="1000" dirty="0"/>
          </a:p>
          <a:p>
            <a:pPr indent="0" marL="0">
              <a:spcAft>
                <a:spcPts val="200"/>
              </a:spcAft>
              <a:buNone/>
            </a:pPr>
            <a:r>
              <a:rPr lang="en-US" sz="1000" dirty="0">
                <a:solidFill>
                  <a:srgbClr val="4A524E"/>
                </a:solidFill>
                <a:latin typeface="Calibri" pitchFamily="34" charset="0"/>
                <a:ea typeface="Calibri" pitchFamily="34" charset="-122"/>
                <a:cs typeface="Calibri" pitchFamily="34" charset="-120"/>
              </a:rPr>
              <a:t>Cerdos ibéricos close-up — comakut from Marbella, Spa, CC BY 2.0</a:t>
            </a:r>
            <a:endParaRPr lang="en-US" sz="1000" dirty="0"/>
          </a:p>
          <a:p>
            <a:pPr indent="0" marL="0">
              <a:spcAft>
                <a:spcPts val="200"/>
              </a:spcAft>
              <a:buNone/>
            </a:pPr>
            <a:r>
              <a:rPr lang="en-US" sz="1000" dirty="0">
                <a:solidFill>
                  <a:srgbClr val="4A524E"/>
                </a:solidFill>
                <a:latin typeface="Calibri" pitchFamily="34" charset="0"/>
                <a:ea typeface="Calibri" pitchFamily="34" charset="-122"/>
                <a:cs typeface="Calibri" pitchFamily="34" charset="-120"/>
              </a:rPr>
              <a:t>Port wine — Jon Sullivan, Public domain</a:t>
            </a:r>
            <a:endParaRPr lang="en-US" sz="1000" dirty="0"/>
          </a:p>
          <a:p>
            <a:pPr indent="0" marL="0">
              <a:spcAft>
                <a:spcPts val="200"/>
              </a:spcAft>
              <a:buNone/>
            </a:pPr>
            <a:r>
              <a:rPr lang="en-US" sz="1000" dirty="0">
                <a:solidFill>
                  <a:srgbClr val="4A524E"/>
                </a:solidFill>
                <a:latin typeface="Calibri" pitchFamily="34" charset="0"/>
                <a:ea typeface="Calibri" pitchFamily="34" charset="-122"/>
                <a:cs typeface="Calibri" pitchFamily="34" charset="-120"/>
              </a:rPr>
              <a:t>2009 Red Bull Air Race in Porto (3811807428) — Felipe Ortega, CC BY-SA 2.0</a:t>
            </a:r>
            <a:endParaRPr lang="en-US" sz="1000" dirty="0"/>
          </a:p>
          <a:p>
            <a:pPr indent="0" marL="0">
              <a:spcAft>
                <a:spcPts val="200"/>
              </a:spcAft>
              <a:buNone/>
            </a:pPr>
            <a:r>
              <a:rPr lang="en-US" sz="1000" dirty="0">
                <a:solidFill>
                  <a:srgbClr val="4A524E"/>
                </a:solidFill>
                <a:latin typeface="Calibri" pitchFamily="34" charset="0"/>
                <a:ea typeface="Calibri" pitchFamily="34" charset="-122"/>
                <a:cs typeface="Calibri" pitchFamily="34" charset="-120"/>
              </a:rPr>
              <a:t>2009 Red Bull Air Race in Porto (3811803830) — Felipe Ortega, CC BY-SA 2.0</a:t>
            </a:r>
            <a:endParaRPr lang="en-US" sz="1000" dirty="0"/>
          </a:p>
          <a:p>
            <a:pPr indent="0" marL="0">
              <a:spcAft>
                <a:spcPts val="200"/>
              </a:spcAft>
              <a:buNone/>
            </a:pPr>
            <a:r>
              <a:rPr lang="en-US" sz="1000" dirty="0">
                <a:solidFill>
                  <a:srgbClr val="4A524E"/>
                </a:solidFill>
                <a:latin typeface="Calibri" pitchFamily="34" charset="0"/>
                <a:ea typeface="Calibri" pitchFamily="34" charset="-122"/>
                <a:cs typeface="Calibri" pitchFamily="34" charset="-120"/>
              </a:rPr>
              <a:t>Tempura 01 — Yaco*, CC BY 2.0</a:t>
            </a:r>
            <a:endParaRPr lang="en-US" sz="1000" dirty="0"/>
          </a:p>
          <a:p>
            <a:pPr indent="0" marL="0">
              <a:spcAft>
                <a:spcPts val="200"/>
              </a:spcAft>
              <a:buNone/>
            </a:pPr>
            <a:r>
              <a:rPr lang="en-US" sz="1000" dirty="0">
                <a:solidFill>
                  <a:srgbClr val="4A524E"/>
                </a:solidFill>
                <a:latin typeface="Calibri" pitchFamily="34" charset="0"/>
                <a:ea typeface="Calibri" pitchFamily="34" charset="-122"/>
                <a:cs typeface="Calibri" pitchFamily="34" charset="-120"/>
              </a:rPr>
              <a:t>Vindaloo goa — The original uploader was , CC BY 2.0</a:t>
            </a:r>
            <a:endParaRPr lang="en-US" sz="1000" dirty="0"/>
          </a:p>
          <a:p>
            <a:pPr indent="0" marL="0">
              <a:spcAft>
                <a:spcPts val="200"/>
              </a:spcAft>
              <a:buNone/>
            </a:pPr>
            <a:r>
              <a:rPr lang="en-US" sz="1000" dirty="0">
                <a:solidFill>
                  <a:srgbClr val="4A524E"/>
                </a:solidFill>
                <a:latin typeface="Calibri" pitchFamily="34" charset="0"/>
                <a:ea typeface="Calibri" pitchFamily="34" charset="-122"/>
                <a:cs typeface="Calibri" pitchFamily="34" charset="-120"/>
              </a:rPr>
              <a:t>Minho Vinho Verde Vineyards — alexandra vale, CC BY 2.0</a:t>
            </a:r>
            <a:endParaRPr lang="en-US" sz="1000" dirty="0"/>
          </a:p>
          <a:p>
            <a:pPr indent="0" marL="0">
              <a:spcAft>
                <a:spcPts val="200"/>
              </a:spcAft>
              <a:buNone/>
            </a:pPr>
            <a:r>
              <a:rPr lang="en-US" sz="1000" dirty="0">
                <a:solidFill>
                  <a:srgbClr val="4A524E"/>
                </a:solidFill>
                <a:latin typeface="Calibri" pitchFamily="34" charset="0"/>
                <a:ea typeface="Calibri" pitchFamily="34" charset="-122"/>
                <a:cs typeface="Calibri" pitchFamily="34" charset="-120"/>
              </a:rPr>
              <a:t>Universidade de Coimbra (53561582378) — xiquinhosilva, CC BY 2.0</a:t>
            </a:r>
            <a:endParaRPr lang="en-US" sz="1000" dirty="0"/>
          </a:p>
          <a:p>
            <a:pPr indent="0" marL="0">
              <a:spcAft>
                <a:spcPts val="200"/>
              </a:spcAft>
              <a:buNone/>
            </a:pPr>
            <a:r>
              <a:rPr lang="en-US" sz="1000" dirty="0">
                <a:solidFill>
                  <a:srgbClr val="4A524E"/>
                </a:solidFill>
                <a:latin typeface="Calibri" pitchFamily="34" charset="0"/>
                <a:ea typeface="Calibri" pitchFamily="34" charset="-122"/>
                <a:cs typeface="Calibri" pitchFamily="34" charset="-120"/>
              </a:rPr>
              <a:t>N222 - from Peso da Régua to Pinhão (27810875276 — pedrik, CC BY 2.0</a:t>
            </a:r>
            <a:endParaRPr lang="en-US" sz="1000" dirty="0"/>
          </a:p>
          <a:p>
            <a:pPr indent="0" marL="0">
              <a:spcAft>
                <a:spcPts val="200"/>
              </a:spcAft>
              <a:buNone/>
            </a:pPr>
            <a:r>
              <a:rPr lang="en-US" sz="1000" dirty="0">
                <a:solidFill>
                  <a:srgbClr val="4A524E"/>
                </a:solidFill>
                <a:latin typeface="Calibri" pitchFamily="34" charset="0"/>
                <a:ea typeface="Calibri" pitchFamily="34" charset="-122"/>
                <a:cs typeface="Calibri" pitchFamily="34" charset="-120"/>
              </a:rPr>
              <a:t>2025 - 4 jours à Porto et… (54513608057) — bDom - artiste - www.bdom., CC BY 2.0</a:t>
            </a:r>
            <a:endParaRPr lang="en-US" sz="1000" dirty="0"/>
          </a:p>
        </p:txBody>
      </p:sp>
      <p:sp>
        <p:nvSpPr>
          <p:cNvPr id="6" name="Text 4"/>
          <p:cNvSpPr txBox="1"/>
          <p:nvPr/>
        </p:nvSpPr>
        <p:spPr>
          <a:xfrm>
            <a:off x="6172200" y="1783080"/>
            <a:ext cx="5486400" cy="4480560"/>
          </a:xfrm>
          <a:prstGeom prst="rect">
            <a:avLst/>
          </a:prstGeom>
          <a:noFill/>
          <a:ln/>
        </p:spPr>
        <p:txBody>
          <a:bodyPr wrap="square" lIns="0" tIns="0" rIns="0" bIns="0" rtlCol="0" anchor="t"/>
          <a:lstStyle/>
          <a:p>
            <a:pPr indent="0" marL="0">
              <a:spcAft>
                <a:spcPts val="200"/>
              </a:spcAft>
              <a:buNone/>
            </a:pPr>
            <a:endParaRPr lang="en-US" sz="100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18D"/>
                </a:solidFill>
                <a:latin typeface="Calibri"/>
                <a:ea typeface="Calibri"/>
                <a:cs typeface="Calibri"/>
              </a:defRPr>
            </a:lvl1pPr>
          </a:lstStyle>
          <a:p>
            <a:pPr algn="r"/>
            <a:fld id="{F7021451-1387-4CA6-816F-3879F97B5CBC}" type="slidenum">
              <a:rPr b="0" lang="en-US"/>
              <a:t>64</a:t>
            </a:fld>
            <a:endParaRPr lang="en-US"/>
          </a:p>
        </p:txBody>
      </p:sp>
    </p:spTree>
  </p:cSld>
  <p:clrMapOvr>
    <a:masterClrMapping/>
  </p:clrMapOvr>
</p:sld>
</file>

<file path=ppt/theme/theme1.xml><?xml version="1.0" encoding="utf-8"?>
<a:theme xmlns:a="http://schemas.openxmlformats.org/drawingml/2006/main" name="Portugal">
  <a:themeElements>
    <a:clrScheme name="Portugal">
      <a:dk1>
        <a:srgbClr val="17211D"/>
      </a:dk1>
      <a:lt1>
        <a:srgbClr val="FFFFFF"/>
      </a:lt1>
      <a:dk2>
        <a:srgbClr val="174A3A"/>
      </a:dk2>
      <a:lt2>
        <a:srgbClr val="F1F4F2"/>
      </a:lt2>
      <a:accent1>
        <a:srgbClr val="174A3A"/>
      </a:accent1>
      <a:accent2>
        <a:srgbClr val="A83232"/>
      </a:accent2>
      <a:accent3>
        <a:srgbClr val="B8955A"/>
      </a:accent3>
      <a:accent4>
        <a:srgbClr val="1E4F8F"/>
      </a:accent4>
      <a:accent5>
        <a:srgbClr val="5E2230"/>
      </a:accent5>
      <a:accent6>
        <a:srgbClr val="7FA88F"/>
      </a:accent6>
      <a:hlink>
        <a:srgbClr val="1E4F8F"/>
      </a:hlink>
      <a:folHlink>
        <a:srgbClr val="5E2230"/>
      </a:folHlink>
    </a:clrScheme>
    <a:fontScheme name="Portuga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64</Slides>
  <Notes>64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64</vt:i4>
      </vt:variant>
    </vt:vector>
  </HeadingPairs>
  <TitlesOfParts>
    <vt:vector size="6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Portugal — Une présentation</dc:title>
  <dc:subject>PptxGenJS Presentation</dc:subject>
  <dc:creator>Luís Marques</dc:creator>
  <cp:lastModifiedBy>Luís Marques</cp:lastModifiedBy>
  <cp:revision>1</cp:revision>
  <dcterms:created xsi:type="dcterms:W3CDTF">2026-10-25T23:12:47Z</dcterms:created>
  <dcterms:modified xsi:type="dcterms:W3CDTF">2026-10-25T23:12:47Z</dcterms:modified>
</cp:coreProperties>
</file>