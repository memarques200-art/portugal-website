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8f0cc85f-e4ff-f5c0-405b-bc0d5f63e13b}">
          <p14:sldIdLst>
            <p14:sldId id="256"/>
            <p14:sldId id="257"/>
            <p14:sldId id="258"/>
            <p14:sldId id="259"/>
            <p14:sldId id="260"/>
          </p14:sldIdLst>
        </p14:section>
        <p14:section name="01 Géographie" id="{efa20371-05cb-f088-2e4c-51c1f1e5b3c1}">
          <p14:sldIdLst>
            <p14:sldId id="261"/>
            <p14:sldId id="262"/>
            <p14:sldId id="263"/>
            <p14:sldId id="264"/>
            <p14:sldId id="265"/>
          </p14:sldIdLst>
        </p14:section>
        <p14:section name="02 Histoire" id="{a93d9312-9ce7-e922-4920-cfe6667eed65}">
          <p14:sldIdLst>
            <p14:sldId id="266"/>
            <p14:sldId id="267"/>
            <p14:sldId id="268"/>
            <p14:sldId id="269"/>
            <p14:sldId id="270"/>
          </p14:sldIdLst>
        </p14:section>
        <p14:section name="02 Histoire · Institutions" id="{1dbbcf50-4c38-5483-37bd-9b3baf49e942}">
          <p14:sldIdLst>
            <p14:sldId id="271"/>
            <p14:sldId id="272"/>
            <p14:sldId id="273"/>
          </p14:sldIdLst>
        </p14:section>
        <p14:section name="03 Société" id="{0025e099-96ff-27a9-27c8-987b9c28b1de}">
          <p14:sldIdLst>
            <p14:sldId id="274"/>
            <p14:sldId id="275"/>
            <p14:sldId id="276"/>
            <p14:sldId id="277"/>
            <p14:sldId id="278"/>
            <p14:sldId id="279"/>
          </p14:sldIdLst>
        </p14:section>
        <p14:section name="04 Culture" id="{40693c3a-ee6c-4c25-396f-81109626bdab}">
          <p14:sldIdLst>
            <p14:sldId id="280"/>
            <p14:sldId id="281"/>
            <p14:sldId id="282"/>
            <p14:sldId id="283"/>
            <p14:sldId id="284"/>
          </p14:sldIdLst>
        </p14:section>
        <p14:section name="05 Sport" id="{971d3f83-06ac-e7b6-e533-e5900d10621f}">
          <p14:sldIdLst>
            <p14:sldId id="285"/>
            <p14:sldId id="286"/>
            <p14:sldId id="287"/>
            <p14:sldId id="288"/>
          </p14:sldIdLst>
        </p14:section>
        <p14:section name="06 Régions" id="{9e95fb18-8307-2459-f5c7-3a1c46b3a5f5}">
          <p14:sldIdLst>
            <p14:sldId id="289"/>
            <p14:sldId id="290"/>
            <p14:sldId id="291"/>
            <p14:sldId id="292"/>
            <p14:sldId id="293"/>
          </p14:sldIdLst>
        </p14:section>
        <p14:section name="07 Merveilles" id="{a7dec287-db79-0564-c94d-cf4f40906f21}">
          <p14:sldIdLst>
            <p14:sldId id="294"/>
            <p14:sldId id="295"/>
            <p14:sldId id="296"/>
            <p14:sldId id="297"/>
            <p14:sldId id="298"/>
            <p14:sldId id="299"/>
            <p14:sldId id="300"/>
            <p14:sldId id="301"/>
            <p14:sldId id="302"/>
            <p14:sldId id="303"/>
            <p14:sldId id="304"/>
          </p14:sldIdLst>
        </p14:section>
        <p14:section name="08 Conclusion" id="{2fa97477-8b74-ffa4-fafb-c8a312f5222d}">
          <p14:sldIdLst>
            <p14:sldId id="305"/>
            <p14:sldId id="306"/>
            <p14:sldId id="307"/>
            <p14:sldId id="308"/>
            <p14:sldId id="309"/>
            <p14:sldId id="310"/>
          </p14:sldIdLst>
        </p14:section>
        <p14:section name="Crédits" id="{f83e1d68-f5fb-ad9f-9c94-0bdd83f3704f}">
          <p14:sldIdLst>
            <p14:sldId id="311"/>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Responsable d'objets,Centre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c'est le plus grand lac artificiel d'Europe occidentale. Il irrigue l'Alentejo, produit de l'électricité et offre un ciel parmi les plus étoilés d'Europe. Environ 250 km² de surface.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vue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8-1.jp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image" Target="../media/image-27-5.jpg"/><Relationship Id="rId6" Type="http://schemas.openxmlformats.org/officeDocument/2006/relationships/image" Target="../media/image-27-6.jpg"/><Relationship Id="rId7" Type="http://schemas.openxmlformats.org/officeDocument/2006/relationships/image" Target="../media/image-27-7.jpg"/><Relationship Id="rId8" Type="http://schemas.openxmlformats.org/officeDocument/2006/relationships/image" Target="../media/image-27-8.jpg"/><Relationship Id="rId9" Type="http://schemas.openxmlformats.org/officeDocument/2006/relationships/image" Target="../media/image-27-9.jpg"/><Relationship Id="rId10" Type="http://schemas.openxmlformats.org/officeDocument/2006/relationships/image" Target="../media/image-27-10.jpg"/><Relationship Id="rId11" Type="http://schemas.openxmlformats.org/officeDocument/2006/relationships/image" Target="../media/image-27-11.jpg"/><Relationship Id="rId12" Type="http://schemas.openxmlformats.org/officeDocument/2006/relationships/image" Target="../media/image-27-12.jpg"/><Relationship Id="rId13" Type="http://schemas.openxmlformats.org/officeDocument/2006/relationships/slideLayout" Target="../slideLayouts/slideLayout2.xml"/><Relationship Id="rId1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2-1.jpg"/><Relationship Id="rId3" Type="http://schemas.openxmlformats.org/officeDocument/2006/relationships/image" Target="../media/image-32-2.jp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jpg"/><Relationship Id="rId3" Type="http://schemas.openxmlformats.org/officeDocument/2006/relationships/image" Target="../media/image-35-3.jpg"/><Relationship Id="rId4" Type="http://schemas.openxmlformats.org/officeDocument/2006/relationships/image" Target="../media/image-35-4.jpg"/><Relationship Id="rId5" Type="http://schemas.openxmlformats.org/officeDocument/2006/relationships/image" Target="../media/image-35-5.jpg"/><Relationship Id="rId6" Type="http://schemas.openxmlformats.org/officeDocument/2006/relationships/image" Target="../media/image-35-6.jpg"/><Relationship Id="rId7" Type="http://schemas.openxmlformats.org/officeDocument/2006/relationships/image" Target="../media/image-35-7.jp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37-1.jpg"/><Relationship Id="rId3" Type="http://schemas.openxmlformats.org/officeDocument/2006/relationships/slideLayout" Target="../slideLayouts/slideLayout3.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38-1.jp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1-1.jp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jp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47-2.jpg"/><Relationship Id="rId3" Type="http://schemas.openxmlformats.org/officeDocument/2006/relationships/slideLayout" Target="../slideLayouts/slideLayout2.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3.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image" Target="../media/image-51-3.jp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jpg"/><Relationship Id="rId3" Type="http://schemas.openxmlformats.org/officeDocument/2006/relationships/image" Target="../media/image-52-3.jpg"/><Relationship Id="rId4" Type="http://schemas.openxmlformats.org/officeDocument/2006/relationships/image" Target="../media/image-52-4.jpg"/><Relationship Id="rId5" Type="http://schemas.openxmlformats.org/officeDocument/2006/relationships/image" Target="../media/image-52-5.jpg"/><Relationship Id="rId6" Type="http://schemas.openxmlformats.org/officeDocument/2006/relationships/image" Target="../media/image-52-6.jpg"/><Relationship Id="rId7" Type="http://schemas.openxmlformats.org/officeDocument/2006/relationships/slideLayout" Target="../slideLayouts/slideLayout2.xm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image" Target="../media/image-53-2.jpg"/><Relationship Id="rId3" Type="http://schemas.openxmlformats.org/officeDocument/2006/relationships/image" Target="../media/image-53-3.jpg"/><Relationship Id="rId4" Type="http://schemas.openxmlformats.org/officeDocument/2006/relationships/image" Target="../media/image-53-4.jpg"/><Relationship Id="rId5" Type="http://schemas.openxmlformats.org/officeDocument/2006/relationships/image" Target="../media/image-53-5.jpg"/><Relationship Id="rId6" Type="http://schemas.openxmlformats.org/officeDocument/2006/relationships/slideLayout" Target="../slideLayouts/slideLayout2.xml"/><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image" Target="../media/image-55-2.jp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Responsable d'objets,Centre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photos/geo-north.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PORTUGAL VOLCANIQUE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Açores, terres de volcans</a:t>
            </a:r>
            <a:endParaRPr lang="en-US" sz="3400" dirty="0"/>
          </a:p>
        </p:txBody>
      </p:sp>
      <p:sp>
        <p:nvSpPr>
          <p:cNvPr id="4" name="Text 2"/>
          <p:cNvSpPr txBox="1"/>
          <p:nvPr/>
        </p:nvSpPr>
        <p:spPr>
          <a:xfrm>
            <a:off x="548640" y="1508760"/>
            <a:ext cx="10972800" cy="64008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îles de Madère et des Açores sont d'origine volcanique. Leur paysage spectaculaire est le résultat d'éruptions vieilles de millions d'années.</a:t>
            </a:r>
            <a:endParaRPr lang="en-US" sz="1600" dirty="0"/>
          </a:p>
        </p:txBody>
      </p:sp>
      <p:pic>
        <p:nvPicPr>
          <p:cNvPr id="5" name="Image 0" descr="/home/user/Portugal-Website/images/photos/geo-acores.jpg">    </p:cNvPr>
          <p:cNvPicPr>
            <a:picLocks noChangeAspect="1"/>
          </p:cNvPicPr>
          <p:nvPr/>
        </p:nvPicPr>
        <p:blipFill>
          <a:blip r:embed="rId1"/>
          <a:srcRect l="0" r="0" t="0" b="0"/>
          <a:stretch/>
        </p:blipFill>
        <p:spPr>
          <a:xfrm>
            <a:off x="548640" y="2331720"/>
            <a:ext cx="3566160" cy="2377440"/>
          </a:xfrm>
          <a:prstGeom prst="rect">
            <a:avLst/>
          </a:prstGeom>
        </p:spPr>
      </p:pic>
      <p:sp>
        <p:nvSpPr>
          <p:cNvPr id="6" name="Text 3"/>
          <p:cNvSpPr txBox="1"/>
          <p:nvPr/>
        </p:nvSpPr>
        <p:spPr>
          <a:xfrm>
            <a:off x="54864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AÇORES</a:t>
            </a:r>
            <a:endParaRPr lang="en-US" sz="1400" dirty="0"/>
          </a:p>
        </p:txBody>
      </p:sp>
      <p:sp>
        <p:nvSpPr>
          <p:cNvPr id="7" name="Text 4"/>
          <p:cNvSpPr txBox="1"/>
          <p:nvPr/>
        </p:nvSpPr>
        <p:spPr>
          <a:xfrm>
            <a:off x="54864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Neuf îles volcaniques avec des lacs de cratère, sources chaudes et paysages uniques.</a:t>
            </a:r>
            <a:endParaRPr lang="en-US" sz="1400" dirty="0"/>
          </a:p>
        </p:txBody>
      </p:sp>
      <p:pic>
        <p:nvPicPr>
          <p:cNvPr id="8" name="Image 1" descr="/home/user/Portugal-Website/images/photos/geo-volcano.jpg">    </p:cNvPr>
          <p:cNvPicPr>
            <a:picLocks noChangeAspect="1"/>
          </p:cNvPicPr>
          <p:nvPr/>
        </p:nvPicPr>
        <p:blipFill>
          <a:blip r:embed="rId2"/>
          <a:srcRect l="0" r="0" t="0" b="0"/>
          <a:stretch/>
        </p:blipFill>
        <p:spPr>
          <a:xfrm>
            <a:off x="4297680" y="2331720"/>
            <a:ext cx="3566160" cy="2377440"/>
          </a:xfrm>
          <a:prstGeom prst="rect">
            <a:avLst/>
          </a:prstGeom>
        </p:spPr>
      </p:pic>
      <p:sp>
        <p:nvSpPr>
          <p:cNvPr id="9" name="Text 5"/>
          <p:cNvSpPr txBox="1"/>
          <p:nvPr/>
        </p:nvSpPr>
        <p:spPr>
          <a:xfrm>
            <a:off x="429768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CAPELINHOS (1957-1958)</a:t>
            </a:r>
            <a:endParaRPr lang="en-US" sz="1400" dirty="0"/>
          </a:p>
        </p:txBody>
      </p:sp>
      <p:sp>
        <p:nvSpPr>
          <p:cNvPr id="10" name="Text 6"/>
          <p:cNvSpPr txBox="1"/>
          <p:nvPr/>
        </p:nvSpPr>
        <p:spPr>
          <a:xfrm>
            <a:off x="429768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En 1957-1958, l'éruption du volcan des Capelinhos (île de Faial) a fait naître de nouvelles terres sur l'océan.</a:t>
            </a:r>
            <a:endParaRPr lang="en-US" sz="1400" dirty="0"/>
          </a:p>
        </p:txBody>
      </p:sp>
      <p:pic>
        <p:nvPicPr>
          <p:cNvPr id="11" name="Image 2" descr="/home/user/Portugal-Website/images/photos/geo-madeira.jpg">    </p:cNvPr>
          <p:cNvPicPr>
            <a:picLocks noChangeAspect="1"/>
          </p:cNvPicPr>
          <p:nvPr/>
        </p:nvPicPr>
        <p:blipFill>
          <a:blip r:embed="rId3"/>
          <a:srcRect l="0" r="0" t="0" b="0"/>
          <a:stretch/>
        </p:blipFill>
        <p:spPr>
          <a:xfrm>
            <a:off x="8046720" y="2331720"/>
            <a:ext cx="3566160" cy="2377440"/>
          </a:xfrm>
          <a:prstGeom prst="rect">
            <a:avLst/>
          </a:prstGeom>
        </p:spPr>
      </p:pic>
      <p:sp>
        <p:nvSpPr>
          <p:cNvPr id="12" name="Text 7"/>
          <p:cNvSpPr txBox="1"/>
          <p:nvPr/>
        </p:nvSpPr>
        <p:spPr>
          <a:xfrm>
            <a:off x="804672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MADÈRE</a:t>
            </a:r>
            <a:endParaRPr lang="en-US" sz="1400" dirty="0"/>
          </a:p>
        </p:txBody>
      </p:sp>
      <p:sp>
        <p:nvSpPr>
          <p:cNvPr id="13" name="Text 8"/>
          <p:cNvSpPr txBox="1"/>
          <p:nvPr/>
        </p:nvSpPr>
        <p:spPr>
          <a:xfrm>
            <a:off x="804672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Île montagneuse d'origine volcanique, avec des falaises impressionnantes et des vallées profondes.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trouveaux Açores (Pico, 2 351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dinosauresvieilles de 175 millions d'années !</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de l'avenir et le rouge le sang versé pour l'indépendance.</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hist-guimaraes.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Du Comté de Portugal à la nation indépendante, une identité forgée au fil des siècles.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c-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sp>
        <p:nvSpPr>
          <p:cNvPr id="4" name="Text 2"/>
          <p:cNvSpPr txBox="1"/>
          <p:nvPr/>
        </p:nvSpPr>
        <p:spPr>
          <a:xfrm>
            <a:off x="548640" y="1600200"/>
            <a:ext cx="1737360" cy="411480"/>
          </a:xfrm>
          <a:prstGeom prst="rect">
            <a:avLst/>
          </a:prstGeom>
          <a:noFill/>
          <a:ln/>
        </p:spPr>
        <p:txBody>
          <a:bodyPr wrap="square" lIns="0" tIns="0" rIns="0" bIns="0" rtlCol="0" anchor="t"/>
          <a:lstStyle/>
          <a:p>
            <a:pPr indent="0" marL="0">
              <a:buNone/>
            </a:pPr>
            <a:r>
              <a:rPr lang="en-US" sz="2000" b="1" i="1" dirty="0">
                <a:solidFill>
                  <a:srgbClr val="174A3A"/>
                </a:solidFill>
                <a:latin typeface="Cambria" pitchFamily="34" charset="0"/>
                <a:ea typeface="Cambria" pitchFamily="34" charset="-122"/>
                <a:cs typeface="Cambria" pitchFamily="34" charset="-120"/>
              </a:rPr>
              <a:t>Tempura</a:t>
            </a:r>
            <a:endParaRPr lang="en-US" sz="2000" dirty="0"/>
          </a:p>
        </p:txBody>
      </p:sp>
      <p:sp>
        <p:nvSpPr>
          <p:cNvPr id="5" name="Text 3"/>
          <p:cNvSpPr txBox="1"/>
          <p:nvPr/>
        </p:nvSpPr>
        <p:spPr>
          <a:xfrm>
            <a:off x="548640" y="2011680"/>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JAPON</a:t>
            </a:r>
            <a:endParaRPr lang="en-US" sz="1000" dirty="0"/>
          </a:p>
        </p:txBody>
      </p:sp>
      <p:sp>
        <p:nvSpPr>
          <p:cNvPr id="6" name="Text 4"/>
          <p:cNvSpPr txBox="1"/>
          <p:nvPr/>
        </p:nvSpPr>
        <p:spPr>
          <a:xfrm>
            <a:off x="2377440" y="1600200"/>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300" dirty="0"/>
          </a:p>
        </p:txBody>
      </p:sp>
      <p:sp>
        <p:nvSpPr>
          <p:cNvPr id="7" name="Text 5"/>
          <p:cNvSpPr txBox="1"/>
          <p:nvPr/>
        </p:nvSpPr>
        <p:spPr>
          <a:xfrm>
            <a:off x="548640" y="2532888"/>
            <a:ext cx="1737360" cy="411480"/>
          </a:xfrm>
          <a:prstGeom prst="rect">
            <a:avLst/>
          </a:prstGeom>
          <a:noFill/>
          <a:ln/>
        </p:spPr>
        <p:txBody>
          <a:bodyPr wrap="square" lIns="0" tIns="0" rIns="0" bIns="0" rtlCol="0" anchor="t"/>
          <a:lstStyle/>
          <a:p>
            <a:pPr indent="0" marL="0">
              <a:buNone/>
            </a:pPr>
            <a:r>
              <a:rPr lang="en-US" sz="2000" b="1" i="1" dirty="0">
                <a:solidFill>
                  <a:srgbClr val="A83232"/>
                </a:solidFill>
                <a:latin typeface="Cambria" pitchFamily="34" charset="0"/>
                <a:ea typeface="Cambria" pitchFamily="34" charset="-122"/>
                <a:cs typeface="Cambria" pitchFamily="34" charset="-120"/>
              </a:rPr>
              <a:t>Vindaloo</a:t>
            </a:r>
            <a:endParaRPr lang="en-US" sz="2000" dirty="0"/>
          </a:p>
        </p:txBody>
      </p:sp>
      <p:sp>
        <p:nvSpPr>
          <p:cNvPr id="8" name="Text 6"/>
          <p:cNvSpPr txBox="1"/>
          <p:nvPr/>
        </p:nvSpPr>
        <p:spPr>
          <a:xfrm>
            <a:off x="548640" y="2944368"/>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INDE</a:t>
            </a:r>
            <a:endParaRPr lang="en-US" sz="1000" dirty="0"/>
          </a:p>
        </p:txBody>
      </p:sp>
      <p:sp>
        <p:nvSpPr>
          <p:cNvPr id="9" name="Text 7"/>
          <p:cNvSpPr txBox="1"/>
          <p:nvPr/>
        </p:nvSpPr>
        <p:spPr>
          <a:xfrm>
            <a:off x="2377440" y="2532888"/>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300" dirty="0"/>
          </a:p>
        </p:txBody>
      </p:sp>
      <p:sp>
        <p:nvSpPr>
          <p:cNvPr id="10" name="Text 8"/>
          <p:cNvSpPr txBox="1"/>
          <p:nvPr/>
        </p:nvSpPr>
        <p:spPr>
          <a:xfrm>
            <a:off x="548640" y="3465576"/>
            <a:ext cx="1737360" cy="411480"/>
          </a:xfrm>
          <a:prstGeom prst="rect">
            <a:avLst/>
          </a:prstGeom>
          <a:noFill/>
          <a:ln/>
        </p:spPr>
        <p:txBody>
          <a:bodyPr wrap="square" lIns="0" tIns="0" rIns="0" bIns="0" rtlCol="0" anchor="t"/>
          <a:lstStyle/>
          <a:p>
            <a:pPr indent="0" marL="0">
              <a:buNone/>
            </a:pPr>
            <a:r>
              <a:rPr lang="en-US" sz="2000" b="1" i="1" dirty="0">
                <a:solidFill>
                  <a:srgbClr val="1E4F8F"/>
                </a:solidFill>
                <a:latin typeface="Cambria" pitchFamily="34" charset="0"/>
                <a:ea typeface="Cambria" pitchFamily="34" charset="-122"/>
                <a:cs typeface="Cambria" pitchFamily="34" charset="-120"/>
              </a:rPr>
              <a:t>Piri-piri</a:t>
            </a:r>
            <a:endParaRPr lang="en-US" sz="2000" dirty="0"/>
          </a:p>
        </p:txBody>
      </p:sp>
      <p:sp>
        <p:nvSpPr>
          <p:cNvPr id="11" name="Text 9"/>
          <p:cNvSpPr txBox="1"/>
          <p:nvPr/>
        </p:nvSpPr>
        <p:spPr>
          <a:xfrm>
            <a:off x="548640" y="3877056"/>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ASIE &amp; AFRIQUE</a:t>
            </a:r>
            <a:endParaRPr lang="en-US" sz="1000" dirty="0"/>
          </a:p>
        </p:txBody>
      </p:sp>
      <p:sp>
        <p:nvSpPr>
          <p:cNvPr id="12" name="Text 10"/>
          <p:cNvSpPr txBox="1"/>
          <p:nvPr/>
        </p:nvSpPr>
        <p:spPr>
          <a:xfrm>
            <a:off x="2377440" y="3465576"/>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300" dirty="0"/>
          </a:p>
        </p:txBody>
      </p:sp>
      <p:sp>
        <p:nvSpPr>
          <p:cNvPr id="13" name="Text 11"/>
          <p:cNvSpPr txBox="1"/>
          <p:nvPr/>
        </p:nvSpPr>
        <p:spPr>
          <a:xfrm>
            <a:off x="548640" y="4398264"/>
            <a:ext cx="1737360" cy="411480"/>
          </a:xfrm>
          <a:prstGeom prst="rect">
            <a:avLst/>
          </a:prstGeom>
          <a:noFill/>
          <a:ln/>
        </p:spPr>
        <p:txBody>
          <a:bodyPr wrap="square" lIns="0" tIns="0" rIns="0" bIns="0" rtlCol="0" anchor="t"/>
          <a:lstStyle/>
          <a:p>
            <a:pPr indent="0" marL="0">
              <a:buNone/>
            </a:pPr>
            <a:r>
              <a:rPr lang="en-US" sz="2000" b="1" i="1" dirty="0">
                <a:solidFill>
                  <a:srgbClr val="B8955A"/>
                </a:solidFill>
                <a:latin typeface="Cambria" pitchFamily="34" charset="0"/>
                <a:ea typeface="Cambria" pitchFamily="34" charset="-122"/>
                <a:cs typeface="Cambria" pitchFamily="34" charset="-120"/>
              </a:rPr>
              <a:t>Kasutera</a:t>
            </a:r>
            <a:endParaRPr lang="en-US" sz="2000" dirty="0"/>
          </a:p>
        </p:txBody>
      </p:sp>
      <p:sp>
        <p:nvSpPr>
          <p:cNvPr id="14" name="Text 12"/>
          <p:cNvSpPr txBox="1"/>
          <p:nvPr/>
        </p:nvSpPr>
        <p:spPr>
          <a:xfrm>
            <a:off x="548640" y="4809744"/>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JAPON</a:t>
            </a:r>
            <a:endParaRPr lang="en-US" sz="1000" dirty="0"/>
          </a:p>
        </p:txBody>
      </p:sp>
      <p:sp>
        <p:nvSpPr>
          <p:cNvPr id="15" name="Text 13"/>
          <p:cNvSpPr txBox="1"/>
          <p:nvPr/>
        </p:nvSpPr>
        <p:spPr>
          <a:xfrm>
            <a:off x="2377440" y="4398264"/>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300" dirty="0"/>
          </a:p>
        </p:txBody>
      </p:sp>
      <p:sp>
        <p:nvSpPr>
          <p:cNvPr id="16" name="Text 14"/>
          <p:cNvSpPr txBox="1"/>
          <p:nvPr/>
        </p:nvSpPr>
        <p:spPr>
          <a:xfrm>
            <a:off x="548640" y="5330952"/>
            <a:ext cx="1737360" cy="411480"/>
          </a:xfrm>
          <a:prstGeom prst="rect">
            <a:avLst/>
          </a:prstGeom>
          <a:noFill/>
          <a:ln/>
        </p:spPr>
        <p:txBody>
          <a:bodyPr wrap="square" lIns="0" tIns="0" rIns="0" bIns="0" rtlCol="0" anchor="t"/>
          <a:lstStyle/>
          <a:p>
            <a:pPr indent="0" marL="0">
              <a:buNone/>
            </a:pPr>
            <a:r>
              <a:rPr lang="en-US" sz="2000" b="1" i="1" dirty="0">
                <a:solidFill>
                  <a:srgbClr val="174A3A"/>
                </a:solidFill>
                <a:latin typeface="Cambria" pitchFamily="34" charset="0"/>
                <a:ea typeface="Cambria" pitchFamily="34" charset="-122"/>
                <a:cs typeface="Cambria" pitchFamily="34" charset="-120"/>
              </a:rPr>
              <a:t>Marmelada</a:t>
            </a:r>
            <a:endParaRPr lang="en-US" sz="2000" dirty="0"/>
          </a:p>
        </p:txBody>
      </p:sp>
      <p:sp>
        <p:nvSpPr>
          <p:cNvPr id="17" name="Text 15"/>
          <p:cNvSpPr txBox="1"/>
          <p:nvPr/>
        </p:nvSpPr>
        <p:spPr>
          <a:xfrm>
            <a:off x="548640" y="5742432"/>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EUROPE</a:t>
            </a:r>
            <a:endParaRPr lang="en-US" sz="1000" dirty="0"/>
          </a:p>
        </p:txBody>
      </p:sp>
      <p:sp>
        <p:nvSpPr>
          <p:cNvPr id="18" name="Text 16"/>
          <p:cNvSpPr txBox="1"/>
          <p:nvPr/>
        </p:nvSpPr>
        <p:spPr>
          <a:xfrm>
            <a:off x="2377440" y="5330952"/>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300" dirty="0"/>
          </a:p>
        </p:txBody>
      </p:sp>
      <p:sp>
        <p:nvSpPr>
          <p:cNvPr id="19"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0"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sp>
        <p:nvSpPr>
          <p:cNvPr id="21" name="Text 19"/>
          <p:cNvSpPr txBox="1"/>
          <p:nvPr/>
        </p:nvSpPr>
        <p:spPr>
          <a:xfrm>
            <a:off x="7955280" y="118872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Vinho do Porto</a:t>
            </a:r>
            <a:endParaRPr lang="en-US" sz="2400" dirty="0"/>
          </a:p>
        </p:txBody>
      </p:sp>
      <p:sp>
        <p:nvSpPr>
          <p:cNvPr id="22" name="Text 20"/>
          <p:cNvSpPr txBox="1"/>
          <p:nvPr/>
        </p:nvSpPr>
        <p:spPr>
          <a:xfrm>
            <a:off x="7955280" y="169164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300" dirty="0"/>
          </a:p>
        </p:txBody>
      </p:sp>
      <p:sp>
        <p:nvSpPr>
          <p:cNvPr id="23" name="Text 21"/>
          <p:cNvSpPr txBox="1"/>
          <p:nvPr/>
        </p:nvSpPr>
        <p:spPr>
          <a:xfrm>
            <a:off x="7955280" y="283464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Vinho verde</a:t>
            </a:r>
            <a:endParaRPr lang="en-US" sz="2400" dirty="0"/>
          </a:p>
        </p:txBody>
      </p:sp>
      <p:sp>
        <p:nvSpPr>
          <p:cNvPr id="24" name="Text 22"/>
          <p:cNvSpPr txBox="1"/>
          <p:nvPr/>
        </p:nvSpPr>
        <p:spPr>
          <a:xfrm>
            <a:off x="7955280" y="333756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Vin jeune et frais du Minho, au nord du pays.</a:t>
            </a:r>
            <a:endParaRPr lang="en-US" sz="1300" dirty="0"/>
          </a:p>
        </p:txBody>
      </p:sp>
      <p:sp>
        <p:nvSpPr>
          <p:cNvPr id="25" name="Text 23"/>
          <p:cNvSpPr txBox="1"/>
          <p:nvPr/>
        </p:nvSpPr>
        <p:spPr>
          <a:xfrm>
            <a:off x="7955280" y="448056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Dão</a:t>
            </a:r>
            <a:endParaRPr lang="en-US" sz="2400" dirty="0"/>
          </a:p>
        </p:txBody>
      </p:sp>
      <p:sp>
        <p:nvSpPr>
          <p:cNvPr id="26" name="Text 24"/>
          <p:cNvSpPr txBox="1"/>
          <p:nvPr/>
        </p:nvSpPr>
        <p:spPr>
          <a:xfrm>
            <a:off x="7955280" y="498348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et double champion d'Europe.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Dans les années 1920, le docteur Jerónimo de Lacerda fonde à Caramulo une station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1920s</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sanatorium</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merveilles à découvrir</a:t>
            </a:r>
            <a:endParaRPr lang="en-US" sz="3400" dirty="0"/>
          </a:p>
        </p:txBody>
      </p:sp>
      <p:sp>
        <p:nvSpPr>
          <p:cNvPr id="5" name="Shape 2"/>
          <p:cNvSpPr/>
          <p:nvPr/>
        </p:nvSpPr>
        <p:spPr>
          <a:xfrm>
            <a:off x="3657600" y="169164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70992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La vallée du Douro</a:t>
            </a:r>
            <a:endParaRPr lang="en-US" sz="1600" dirty="0"/>
          </a:p>
        </p:txBody>
      </p:sp>
      <p:sp>
        <p:nvSpPr>
          <p:cNvPr id="8" name="Text 5"/>
          <p:cNvSpPr txBox="1"/>
          <p:nvPr/>
        </p:nvSpPr>
        <p:spPr>
          <a:xfrm>
            <a:off x="4297680" y="213055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NORD · ALTO DOURO</a:t>
            </a:r>
            <a:endParaRPr lang="en-US" sz="1000" dirty="0"/>
          </a:p>
        </p:txBody>
      </p:sp>
      <p:sp>
        <p:nvSpPr>
          <p:cNvPr id="9" name="Shape 6"/>
          <p:cNvSpPr/>
          <p:nvPr/>
        </p:nvSpPr>
        <p:spPr>
          <a:xfrm>
            <a:off x="3657600" y="256032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560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57860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Aveiro, la « Venise du Portugal »</a:t>
            </a:r>
            <a:endParaRPr lang="en-US" sz="1600" dirty="0"/>
          </a:p>
        </p:txBody>
      </p:sp>
      <p:sp>
        <p:nvSpPr>
          <p:cNvPr id="12" name="Text 9"/>
          <p:cNvSpPr txBox="1"/>
          <p:nvPr/>
        </p:nvSpPr>
        <p:spPr>
          <a:xfrm>
            <a:off x="4297680" y="299923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CENTRE · RIA DE AVEIRO</a:t>
            </a:r>
            <a:endParaRPr lang="en-US" sz="1000" dirty="0"/>
          </a:p>
        </p:txBody>
      </p:sp>
      <p:sp>
        <p:nvSpPr>
          <p:cNvPr id="13" name="Shape 10"/>
          <p:cNvSpPr/>
          <p:nvPr/>
        </p:nvSpPr>
        <p:spPr>
          <a:xfrm>
            <a:off x="3657600" y="342900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4290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44728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monastère de Batalha</a:t>
            </a:r>
            <a:endParaRPr lang="en-US" sz="1600" dirty="0"/>
          </a:p>
        </p:txBody>
      </p:sp>
      <p:sp>
        <p:nvSpPr>
          <p:cNvPr id="16" name="Text 13"/>
          <p:cNvSpPr txBox="1"/>
          <p:nvPr/>
        </p:nvSpPr>
        <p:spPr>
          <a:xfrm>
            <a:off x="4297680" y="386791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CENTRE · LEIRIA</a:t>
            </a:r>
            <a:endParaRPr lang="en-US" sz="1000" dirty="0"/>
          </a:p>
        </p:txBody>
      </p:sp>
      <p:sp>
        <p:nvSpPr>
          <p:cNvPr id="17" name="Shape 14"/>
          <p:cNvSpPr/>
          <p:nvPr/>
        </p:nvSpPr>
        <p:spPr>
          <a:xfrm>
            <a:off x="3657600" y="42976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31596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palais de la Pena, Sintra</a:t>
            </a:r>
            <a:endParaRPr lang="en-US" sz="1600" dirty="0"/>
          </a:p>
        </p:txBody>
      </p:sp>
      <p:sp>
        <p:nvSpPr>
          <p:cNvPr id="20" name="Text 17"/>
          <p:cNvSpPr txBox="1"/>
          <p:nvPr/>
        </p:nvSpPr>
        <p:spPr>
          <a:xfrm>
            <a:off x="4297680" y="473659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SERRA DE SINTRA</a:t>
            </a:r>
            <a:endParaRPr lang="en-US" sz="1000" dirty="0"/>
          </a:p>
        </p:txBody>
      </p:sp>
      <p:sp>
        <p:nvSpPr>
          <p:cNvPr id="21" name="Shape 18"/>
          <p:cNvSpPr/>
          <p:nvPr/>
        </p:nvSpPr>
        <p:spPr>
          <a:xfrm>
            <a:off x="3657600" y="516636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5166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518464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La tour de Belém</a:t>
            </a:r>
            <a:endParaRPr lang="en-US" sz="1600" dirty="0"/>
          </a:p>
        </p:txBody>
      </p:sp>
      <p:sp>
        <p:nvSpPr>
          <p:cNvPr id="24" name="Text 21"/>
          <p:cNvSpPr txBox="1"/>
          <p:nvPr/>
        </p:nvSpPr>
        <p:spPr>
          <a:xfrm>
            <a:off x="4297680" y="560527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BELÉM</a:t>
            </a:r>
            <a:endParaRPr lang="en-US" sz="1000" dirty="0"/>
          </a:p>
        </p:txBody>
      </p:sp>
      <p:sp>
        <p:nvSpPr>
          <p:cNvPr id="25" name="Shape 22"/>
          <p:cNvSpPr/>
          <p:nvPr/>
        </p:nvSpPr>
        <p:spPr>
          <a:xfrm>
            <a:off x="7680960" y="169164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70992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monastère des Hiéronymites</a:t>
            </a:r>
            <a:endParaRPr lang="en-US" sz="1600" dirty="0"/>
          </a:p>
        </p:txBody>
      </p:sp>
      <p:sp>
        <p:nvSpPr>
          <p:cNvPr id="28" name="Text 25"/>
          <p:cNvSpPr txBox="1"/>
          <p:nvPr/>
        </p:nvSpPr>
        <p:spPr>
          <a:xfrm>
            <a:off x="8321040" y="213055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BELÉM</a:t>
            </a:r>
            <a:endParaRPr lang="en-US" sz="1000" dirty="0"/>
          </a:p>
        </p:txBody>
      </p:sp>
      <p:sp>
        <p:nvSpPr>
          <p:cNvPr id="29" name="Shape 26"/>
          <p:cNvSpPr/>
          <p:nvPr/>
        </p:nvSpPr>
        <p:spPr>
          <a:xfrm>
            <a:off x="7680960" y="256032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560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57860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pont Vasco de Gama et l'Expo 98</a:t>
            </a:r>
            <a:endParaRPr lang="en-US" sz="1600" dirty="0"/>
          </a:p>
        </p:txBody>
      </p:sp>
      <p:sp>
        <p:nvSpPr>
          <p:cNvPr id="32" name="Text 29"/>
          <p:cNvSpPr txBox="1"/>
          <p:nvPr/>
        </p:nvSpPr>
        <p:spPr>
          <a:xfrm>
            <a:off x="8321040" y="299923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PARQUE DAS NAÇÕES</a:t>
            </a:r>
            <a:endParaRPr lang="en-US" sz="1000" dirty="0"/>
          </a:p>
        </p:txBody>
      </p:sp>
      <p:sp>
        <p:nvSpPr>
          <p:cNvPr id="33" name="Shape 30"/>
          <p:cNvSpPr/>
          <p:nvPr/>
        </p:nvSpPr>
        <p:spPr>
          <a:xfrm>
            <a:off x="7680960" y="342900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4290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44728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lac d'Alqueva</a:t>
            </a:r>
            <a:endParaRPr lang="en-US" sz="1600" dirty="0"/>
          </a:p>
        </p:txBody>
      </p:sp>
      <p:sp>
        <p:nvSpPr>
          <p:cNvPr id="36" name="Text 33"/>
          <p:cNvSpPr txBox="1"/>
          <p:nvPr/>
        </p:nvSpPr>
        <p:spPr>
          <a:xfrm>
            <a:off x="8321040" y="386791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ALENTEJO · FLEUVE GUADIANA</a:t>
            </a:r>
            <a:endParaRPr lang="en-US" sz="1000" dirty="0"/>
          </a:p>
        </p:txBody>
      </p:sp>
      <p:sp>
        <p:nvSpPr>
          <p:cNvPr id="37" name="Shape 34"/>
          <p:cNvSpPr/>
          <p:nvPr/>
        </p:nvSpPr>
        <p:spPr>
          <a:xfrm>
            <a:off x="7680960" y="42976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31596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La grotte de Benagil</a:t>
            </a:r>
            <a:endParaRPr lang="en-US" sz="1600" dirty="0"/>
          </a:p>
        </p:txBody>
      </p:sp>
      <p:sp>
        <p:nvSpPr>
          <p:cNvPr id="40" name="Text 37"/>
          <p:cNvSpPr txBox="1"/>
          <p:nvPr/>
        </p:nvSpPr>
        <p:spPr>
          <a:xfrm>
            <a:off x="8321040" y="473659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ALGARVE · LAGOA</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salina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41732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c'est le plus grand lac artificiel d'Europe occidentale. Il irrigue l'Alentejo, produit de l'électricité et offre un ciel parmi les plus étoilés d'Europe.</a:t>
            </a:r>
            <a:endParaRPr lang="en-US" sz="1400" dirty="0"/>
          </a:p>
        </p:txBody>
      </p:sp>
      <p:sp>
        <p:nvSpPr>
          <p:cNvPr id="8" name="Shape 5"/>
          <p:cNvSpPr/>
          <p:nvPr/>
        </p:nvSpPr>
        <p:spPr>
          <a:xfrm>
            <a:off x="6217920" y="320040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20040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250 km² de surface</a:t>
            </a:r>
            <a:endParaRPr lang="en-US" sz="1300" dirty="0"/>
          </a:p>
        </p:txBody>
      </p:sp>
      <p:sp>
        <p:nvSpPr>
          <p:cNvPr id="10" name="Shape 7"/>
          <p:cNvSpPr/>
          <p:nvPr/>
        </p:nvSpPr>
        <p:spPr>
          <a:xfrm>
            <a:off x="6217920" y="382219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82219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12" name="Text 9"/>
          <p:cNvSpPr txBox="1"/>
          <p:nvPr/>
        </p:nvSpPr>
        <p:spPr>
          <a:xfrm>
            <a:off x="6217920" y="4535424"/>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d'Alqueva</a:t>
            </a:r>
            <a:endParaRPr lang="en-US" sz="1200" dirty="0"/>
          </a:p>
        </p:txBody>
      </p:sp>
      <p:sp>
        <p:nvSpPr>
          <p:cNvPr id="13" name="Shape 10"/>
          <p:cNvSpPr/>
          <p:nvPr/>
        </p:nvSpPr>
        <p:spPr>
          <a:xfrm>
            <a:off x="7680960" y="4581144"/>
            <a:ext cx="3853282" cy="292608"/>
          </a:xfrm>
          <a:prstGeom prst="roundRect">
            <a:avLst>
              <a:gd name="adj" fmla="val 50000"/>
            </a:avLst>
          </a:prstGeom>
          <a:solidFill>
            <a:srgbClr val="3BB3A0"/>
          </a:solidFill>
          <a:ln w="12700">
            <a:solidFill>
              <a:srgbClr val="3BB3A0"/>
            </a:solidFill>
            <a:prstDash val="solid"/>
          </a:ln>
        </p:spPr>
      </p:sp>
      <p:sp>
        <p:nvSpPr>
          <p:cNvPr id="14" name="Text 11"/>
          <p:cNvSpPr txBox="1"/>
          <p:nvPr/>
        </p:nvSpPr>
        <p:spPr>
          <a:xfrm>
            <a:off x="11612880" y="4535424"/>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83 km</a:t>
            </a:r>
            <a:endParaRPr lang="en-US" sz="1200" dirty="0"/>
          </a:p>
        </p:txBody>
      </p:sp>
      <p:sp>
        <p:nvSpPr>
          <p:cNvPr id="15" name="Text 12"/>
          <p:cNvSpPr txBox="1"/>
          <p:nvPr/>
        </p:nvSpPr>
        <p:spPr>
          <a:xfrm>
            <a:off x="6217920" y="5102352"/>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Léman</a:t>
            </a:r>
            <a:endParaRPr lang="en-US" sz="1200" dirty="0"/>
          </a:p>
        </p:txBody>
      </p:sp>
      <p:sp>
        <p:nvSpPr>
          <p:cNvPr id="16" name="Shape 13"/>
          <p:cNvSpPr/>
          <p:nvPr/>
        </p:nvSpPr>
        <p:spPr>
          <a:xfrm>
            <a:off x="7680960" y="5148072"/>
            <a:ext cx="3389031" cy="292608"/>
          </a:xfrm>
          <a:prstGeom prst="roundRect">
            <a:avLst>
              <a:gd name="adj" fmla="val 50000"/>
            </a:avLst>
          </a:prstGeom>
          <a:solidFill>
            <a:srgbClr val="2B6CB8"/>
          </a:solidFill>
          <a:ln w="12700">
            <a:solidFill>
              <a:srgbClr val="2B6CB8"/>
            </a:solidFill>
            <a:prstDash val="solid"/>
          </a:ln>
        </p:spPr>
      </p:sp>
      <p:sp>
        <p:nvSpPr>
          <p:cNvPr id="17" name="Text 14"/>
          <p:cNvSpPr txBox="1"/>
          <p:nvPr/>
        </p:nvSpPr>
        <p:spPr>
          <a:xfrm>
            <a:off x="11139155" y="5102352"/>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73 km</a:t>
            </a:r>
            <a:endParaRPr lang="en-US" sz="1200" dirty="0"/>
          </a:p>
        </p:txBody>
      </p:sp>
      <p:sp>
        <p:nvSpPr>
          <p:cNvPr id="18" name="Text 15"/>
          <p:cNvSpPr txBox="1"/>
          <p:nvPr/>
        </p:nvSpPr>
        <p:spPr>
          <a:xfrm>
            <a:off x="6217920" y="5724144"/>
            <a:ext cx="5440680" cy="914400"/>
          </a:xfrm>
          <a:prstGeom prst="rect">
            <a:avLst/>
          </a:prstGeom>
          <a:noFill/>
          <a:ln/>
        </p:spPr>
        <p:txBody>
          <a:bodyPr wrap="square" lIns="0" tIns="0" rIns="0" bIns="0" rtlCol="0" anchor="t"/>
          <a:lstStyle/>
          <a:p>
            <a:pPr indent="0" marL="0">
              <a:buNone/>
            </a:pPr>
            <a:r>
              <a:rPr lang="en-US" sz="1150" i="1" dirty="0">
                <a:solidFill>
                  <a:srgbClr val="4A524E"/>
                </a:solidFill>
                <a:latin typeface="Calibri" pitchFamily="34" charset="0"/>
                <a:ea typeface="Calibri" pitchFamily="34" charset="-122"/>
                <a:cs typeface="Calibri" pitchFamily="34" charset="-120"/>
              </a:rPr>
              <a:t>En longueur, Alqueva gagne : environ 83 km d'un bout à l'autre, contre 73 km pour le Léman. Mais en surface, le Léman reste environ 2,3 fois plus grand, car Alqueva est un lac étroit et ramifié qui épouse les vallées du Guadiana. Dessins à l'échelle.</a:t>
            </a:r>
            <a:endParaRPr lang="en-US" sz="11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vue inoubliable !</a:t>
            </a:r>
            <a:endParaRPr lang="en-US" sz="1100" dirty="0"/>
          </a:p>
        </p:txBody>
      </p:sp>
      <p:pic>
        <p:nvPicPr>
          <p:cNvPr id="13" name="Image 3" descr="/home/user/Portugal-Website/images/luis/jura.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2026-10-24T20:30:18Z</dcterms:created>
  <dcterms:modified xsi:type="dcterms:W3CDTF">2026-10-24T20:30:18Z</dcterms:modified>
</cp:coreProperties>
</file>