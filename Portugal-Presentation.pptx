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15ca6ed2-1aed-1cc9-df2a-9e30942e9bd4}">
          <p14:sldIdLst>
            <p14:sldId id="256"/>
            <p14:sldId id="257"/>
            <p14:sldId id="258"/>
            <p14:sldId id="259"/>
            <p14:sldId id="260"/>
          </p14:sldIdLst>
        </p14:section>
        <p14:section name="01 Géographie" id="{125b32bf-5f63-5e2c-f9aa-cca41a34cf47}">
          <p14:sldIdLst>
            <p14:sldId id="261"/>
            <p14:sldId id="262"/>
            <p14:sldId id="263"/>
            <p14:sldId id="264"/>
            <p14:sldId id="265"/>
          </p14:sldIdLst>
        </p14:section>
        <p14:section name="02 Histoire" id="{778d42c5-07d9-f436-bd58-544530f7e59e}">
          <p14:sldIdLst>
            <p14:sldId id="266"/>
            <p14:sldId id="267"/>
            <p14:sldId id="268"/>
            <p14:sldId id="269"/>
            <p14:sldId id="270"/>
          </p14:sldIdLst>
        </p14:section>
        <p14:section name="02 Histoire · Institutions" id="{30b88c64-8e3e-48d0-5155-08aeb520b245}">
          <p14:sldIdLst>
            <p14:sldId id="271"/>
            <p14:sldId id="272"/>
            <p14:sldId id="273"/>
            <p14:sldId id="274"/>
          </p14:sldIdLst>
        </p14:section>
        <p14:section name="03 Société" id="{40ac3a15-f4fd-0ec0-a427-b111f1ede05e}">
          <p14:sldIdLst>
            <p14:sldId id="275"/>
            <p14:sldId id="276"/>
            <p14:sldId id="277"/>
            <p14:sldId id="278"/>
            <p14:sldId id="279"/>
            <p14:sldId id="280"/>
          </p14:sldIdLst>
        </p14:section>
        <p14:section name="04 Culture" id="{236d8fe3-86ab-9766-d62a-25d04408db19}">
          <p14:sldIdLst>
            <p14:sldId id="281"/>
            <p14:sldId id="282"/>
            <p14:sldId id="283"/>
            <p14:sldId id="284"/>
            <p14:sldId id="285"/>
            <p14:sldId id="286"/>
          </p14:sldIdLst>
        </p14:section>
        <p14:section name="05 Sport" id="{5b20dbd9-c5c5-1a9e-775b-19ce5e1c9999}">
          <p14:sldIdLst>
            <p14:sldId id="287"/>
            <p14:sldId id="288"/>
            <p14:sldId id="289"/>
            <p14:sldId id="290"/>
            <p14:sldId id="291"/>
          </p14:sldIdLst>
        </p14:section>
        <p14:section name="06 Régions" id="{18323e7e-5f0d-7a94-5bcd-892a5a355ba3}">
          <p14:sldIdLst>
            <p14:sldId id="292"/>
            <p14:sldId id="293"/>
            <p14:sldId id="294"/>
            <p14:sldId id="295"/>
            <p14:sldId id="296"/>
          </p14:sldIdLst>
        </p14:section>
        <p14:section name="07 Merveilles" id="{a896d905-46ad-b0d5-41d8-4241087a2cfa}">
          <p14:sldIdLst>
            <p14:sldId id="297"/>
            <p14:sldId id="298"/>
            <p14:sldId id="299"/>
            <p14:sldId id="300"/>
            <p14:sldId id="301"/>
            <p14:sldId id="302"/>
            <p14:sldId id="303"/>
            <p14:sldId id="304"/>
            <p14:sldId id="305"/>
            <p14:sldId id="306"/>
            <p14:sldId id="307"/>
            <p14:sldId id="308"/>
            <p14:sldId id="309"/>
          </p14:sldIdLst>
        </p14:section>
        <p14:section name="08 Conclusion" id="{baf9d340-0c8a-ec22-1564-00444fb88f39}">
          <p14:sldIdLst>
            <p14:sldId id="310"/>
            <p14:sldId id="311"/>
            <p14:sldId id="312"/>
            <p14:sldId id="313"/>
            <p14:sldId id="314"/>
            <p14:sldId id="315"/>
          </p14:sldIdLst>
        </p14:section>
        <p14:section name="Crédits" id="{b312fb31-8ff8-a0fa-ca4e-3d874feffac1}">
          <p14:sldIdLst>
            <p14:sldId id="316"/>
            <p14:sldId id="317"/>
            <p14:sldId id="318"/>
            <p14:sldId id="3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c'est le plus grand lac artificiel d'Europe occidentale. Il irrigue l'Alentejo, produit de l'électricité et offre un ciel parmi les plus étoilés d'Europe. Environ 250 km² de surface.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image" Target="../media/image-29-9.jpg"/><Relationship Id="rId10" Type="http://schemas.openxmlformats.org/officeDocument/2006/relationships/image" Target="../media/image-29-10.jpg"/><Relationship Id="rId11" Type="http://schemas.openxmlformats.org/officeDocument/2006/relationships/image" Target="../media/image-29-11.jpg"/><Relationship Id="rId12" Type="http://schemas.openxmlformats.org/officeDocument/2006/relationships/image" Target="../media/image-29-12.jpg"/><Relationship Id="rId13" Type="http://schemas.openxmlformats.org/officeDocument/2006/relationships/slideLayout" Target="../slideLayouts/slideLayout2.xml"/><Relationship Id="rId1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image" Target="../media/image-30-4.jpg"/><Relationship Id="rId5" Type="http://schemas.openxmlformats.org/officeDocument/2006/relationships/image" Target="../media/image-30-5.jpg"/><Relationship Id="rId6" Type="http://schemas.openxmlformats.org/officeDocument/2006/relationships/image" Target="../media/image-30-6.jpg"/><Relationship Id="rId7" Type="http://schemas.openxmlformats.org/officeDocument/2006/relationships/image" Target="../media/image-30-7.jpg"/><Relationship Id="rId8" Type="http://schemas.openxmlformats.org/officeDocument/2006/relationships/image" Target="../media/image-30-8.jpg"/><Relationship Id="rId9" Type="http://schemas.openxmlformats.org/officeDocument/2006/relationships/slideLayout" Target="../slideLayouts/slideLayout2.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jpg"/><Relationship Id="rId3" Type="http://schemas.openxmlformats.org/officeDocument/2006/relationships/image" Target="../media/image-31-3.jp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4-1.jpg"/><Relationship Id="rId3" Type="http://schemas.openxmlformats.org/officeDocument/2006/relationships/image" Target="../media/image-34-2.jp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image" Target="../media/image-38-3.jpg"/><Relationship Id="rId4" Type="http://schemas.openxmlformats.org/officeDocument/2006/relationships/image" Target="../media/image-38-4.jpg"/><Relationship Id="rId5" Type="http://schemas.openxmlformats.org/officeDocument/2006/relationships/image" Target="../media/image-38-5.jpg"/><Relationship Id="rId6" Type="http://schemas.openxmlformats.org/officeDocument/2006/relationships/image" Target="../media/image-38-6.jpg"/><Relationship Id="rId7" Type="http://schemas.openxmlformats.org/officeDocument/2006/relationships/image" Target="../media/image-38-7.jp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jp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40-1.jpg"/><Relationship Id="rId3" Type="http://schemas.openxmlformats.org/officeDocument/2006/relationships/slideLayout" Target="../slideLayouts/slideLayout3.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3.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image" Target="../media/image-46-2.jp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54-2.jp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slideLayout" Target="../slideLayouts/slideLayout2.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image" Target="../media/image-57-6.jpg"/><Relationship Id="rId7" Type="http://schemas.openxmlformats.org/officeDocument/2006/relationships/slideLayout" Target="../slideLayouts/slideLayout2.xml"/><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8-2.jpg"/><Relationship Id="rId3" Type="http://schemas.openxmlformats.org/officeDocument/2006/relationships/image" Target="../media/image-58-3.jpg"/><Relationship Id="rId4" Type="http://schemas.openxmlformats.org/officeDocument/2006/relationships/image" Target="../media/image-58-4.jpg"/><Relationship Id="rId5" Type="http://schemas.openxmlformats.org/officeDocument/2006/relationships/image" Target="../media/image-58-5.jpg"/><Relationship Id="rId6" Type="http://schemas.openxmlformats.org/officeDocument/2006/relationships/slideLayout" Target="../slideLayouts/slideLayout2.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image" Target="../media/image-60-2.jp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photos/geo-north.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SAVEURS DU TERROIR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L'huile d'olive et le porc noir</a:t>
            </a:r>
            <a:endParaRPr lang="en-US" sz="3400" dirty="0"/>
          </a:p>
        </p:txBody>
      </p:sp>
      <p:sp>
        <p:nvSpPr>
          <p:cNvPr id="4" name="Shape 2"/>
          <p:cNvSpPr/>
          <p:nvPr/>
        </p:nvSpPr>
        <p:spPr>
          <a:xfrm>
            <a:off x="54864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x-olival.jpg">    </p:cNvPr>
          <p:cNvPicPr>
            <a:picLocks noChangeAspect="1"/>
          </p:cNvPicPr>
          <p:nvPr/>
        </p:nvPicPr>
        <p:blipFill>
          <a:blip r:embed="rId1"/>
          <a:srcRect l="0" r="0" t="0" b="0"/>
          <a:stretch/>
        </p:blipFill>
        <p:spPr>
          <a:xfrm>
            <a:off x="548640" y="1600200"/>
            <a:ext cx="5394960" cy="2651760"/>
          </a:xfrm>
          <a:prstGeom prst="rect">
            <a:avLst/>
          </a:prstGeom>
        </p:spPr>
      </p:pic>
      <p:sp>
        <p:nvSpPr>
          <p:cNvPr id="6" name="Text 3"/>
          <p:cNvSpPr txBox="1"/>
          <p:nvPr/>
        </p:nvSpPr>
        <p:spPr>
          <a:xfrm>
            <a:off x="77724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L'azeite, l'or vert</a:t>
            </a:r>
            <a:endParaRPr lang="en-US" sz="2000" dirty="0"/>
          </a:p>
        </p:txBody>
      </p:sp>
      <p:sp>
        <p:nvSpPr>
          <p:cNvPr id="7" name="Text 4"/>
          <p:cNvSpPr txBox="1"/>
          <p:nvPr/>
        </p:nvSpPr>
        <p:spPr>
          <a:xfrm>
            <a:off x="77724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couvert d'oliveraies. Sur la table portugaise, l'azeite est partout : sur la morue, les légumes, ou simplement avec du pain.</a:t>
            </a:r>
            <a:endParaRPr lang="en-US" sz="1250" dirty="0"/>
          </a:p>
        </p:txBody>
      </p:sp>
      <p:sp>
        <p:nvSpPr>
          <p:cNvPr id="8" name="Shape 5"/>
          <p:cNvSpPr/>
          <p:nvPr/>
        </p:nvSpPr>
        <p:spPr>
          <a:xfrm>
            <a:off x="6217920" y="1600200"/>
            <a:ext cx="5394960" cy="4617720"/>
          </a:xfrm>
          <a:prstGeom prst="roundRect">
            <a:avLst>
              <a:gd name="adj" fmla="val 1584"/>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porco.jpg">    </p:cNvPr>
          <p:cNvPicPr>
            <a:picLocks noChangeAspect="1"/>
          </p:cNvPicPr>
          <p:nvPr/>
        </p:nvPicPr>
        <p:blipFill>
          <a:blip r:embed="rId2"/>
          <a:srcRect l="0" r="0" t="0" b="0"/>
          <a:stretch/>
        </p:blipFill>
        <p:spPr>
          <a:xfrm>
            <a:off x="6217920" y="1600200"/>
            <a:ext cx="5394960" cy="2651760"/>
          </a:xfrm>
          <a:prstGeom prst="rect">
            <a:avLst/>
          </a:prstGeom>
        </p:spPr>
      </p:pic>
      <p:sp>
        <p:nvSpPr>
          <p:cNvPr id="10" name="Text 6"/>
          <p:cNvSpPr txBox="1"/>
          <p:nvPr/>
        </p:nvSpPr>
        <p:spPr>
          <a:xfrm>
            <a:off x="6446520" y="4389120"/>
            <a:ext cx="4937760" cy="45720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Le porco preto</a:t>
            </a:r>
            <a:endParaRPr lang="en-US" sz="2000" dirty="0"/>
          </a:p>
        </p:txBody>
      </p:sp>
      <p:sp>
        <p:nvSpPr>
          <p:cNvPr id="11" name="Text 7"/>
          <p:cNvSpPr txBox="1"/>
          <p:nvPr/>
        </p:nvSpPr>
        <p:spPr>
          <a:xfrm>
            <a:off x="6446520" y="4846320"/>
            <a:ext cx="4937760" cy="12801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 porc noir de race alentejana vit en liberté dans le montado, la forêt de chênes-lièges et de chênes verts, où il se nourrit de glands. Sa viande tendre et persillée donne des grillades réputées (secretos, plumas) et un jambon d'exception, comme le presunto de Barrancos (AOP).</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Denis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salina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41732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c'est le plus grand lac artificiel d'Europe occidentale. Il irrigue l'Alentejo, produit de l'électricité et offre un ciel parmi les plus étoilés d'Europe.</a:t>
            </a:r>
            <a:endParaRPr lang="en-US" sz="1400" dirty="0"/>
          </a:p>
        </p:txBody>
      </p:sp>
      <p:sp>
        <p:nvSpPr>
          <p:cNvPr id="8" name="Shape 5"/>
          <p:cNvSpPr/>
          <p:nvPr/>
        </p:nvSpPr>
        <p:spPr>
          <a:xfrm>
            <a:off x="6217920" y="320040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20040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250 km² de surface</a:t>
            </a:r>
            <a:endParaRPr lang="en-US" sz="1300" dirty="0"/>
          </a:p>
        </p:txBody>
      </p:sp>
      <p:sp>
        <p:nvSpPr>
          <p:cNvPr id="10" name="Shape 7"/>
          <p:cNvSpPr/>
          <p:nvPr/>
        </p:nvSpPr>
        <p:spPr>
          <a:xfrm>
            <a:off x="6217920" y="382219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82219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12" name="Text 9"/>
          <p:cNvSpPr txBox="1"/>
          <p:nvPr/>
        </p:nvSpPr>
        <p:spPr>
          <a:xfrm>
            <a:off x="6217920" y="4535424"/>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d'Alqueva</a:t>
            </a:r>
            <a:endParaRPr lang="en-US" sz="1200" dirty="0"/>
          </a:p>
        </p:txBody>
      </p:sp>
      <p:sp>
        <p:nvSpPr>
          <p:cNvPr id="13" name="Shape 10"/>
          <p:cNvSpPr/>
          <p:nvPr/>
        </p:nvSpPr>
        <p:spPr>
          <a:xfrm>
            <a:off x="7680960" y="4581144"/>
            <a:ext cx="3853282" cy="292608"/>
          </a:xfrm>
          <a:prstGeom prst="roundRect">
            <a:avLst>
              <a:gd name="adj" fmla="val 50000"/>
            </a:avLst>
          </a:prstGeom>
          <a:solidFill>
            <a:srgbClr val="3BB3A0"/>
          </a:solidFill>
          <a:ln w="12700">
            <a:solidFill>
              <a:srgbClr val="3BB3A0"/>
            </a:solidFill>
            <a:prstDash val="solid"/>
          </a:ln>
        </p:spPr>
      </p:sp>
      <p:sp>
        <p:nvSpPr>
          <p:cNvPr id="14" name="Text 11"/>
          <p:cNvSpPr txBox="1"/>
          <p:nvPr/>
        </p:nvSpPr>
        <p:spPr>
          <a:xfrm>
            <a:off x="11612880" y="4535424"/>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83 km</a:t>
            </a:r>
            <a:endParaRPr lang="en-US" sz="1200" dirty="0"/>
          </a:p>
        </p:txBody>
      </p:sp>
      <p:sp>
        <p:nvSpPr>
          <p:cNvPr id="15" name="Text 12"/>
          <p:cNvSpPr txBox="1"/>
          <p:nvPr/>
        </p:nvSpPr>
        <p:spPr>
          <a:xfrm>
            <a:off x="6217920" y="5102352"/>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Léman</a:t>
            </a:r>
            <a:endParaRPr lang="en-US" sz="1200" dirty="0"/>
          </a:p>
        </p:txBody>
      </p:sp>
      <p:sp>
        <p:nvSpPr>
          <p:cNvPr id="16" name="Shape 13"/>
          <p:cNvSpPr/>
          <p:nvPr/>
        </p:nvSpPr>
        <p:spPr>
          <a:xfrm>
            <a:off x="7680960" y="5148072"/>
            <a:ext cx="3389031" cy="292608"/>
          </a:xfrm>
          <a:prstGeom prst="roundRect">
            <a:avLst>
              <a:gd name="adj" fmla="val 50000"/>
            </a:avLst>
          </a:prstGeom>
          <a:solidFill>
            <a:srgbClr val="2B6CB8"/>
          </a:solidFill>
          <a:ln w="12700">
            <a:solidFill>
              <a:srgbClr val="2B6CB8"/>
            </a:solidFill>
            <a:prstDash val="solid"/>
          </a:ln>
        </p:spPr>
      </p:sp>
      <p:sp>
        <p:nvSpPr>
          <p:cNvPr id="17" name="Text 14"/>
          <p:cNvSpPr txBox="1"/>
          <p:nvPr/>
        </p:nvSpPr>
        <p:spPr>
          <a:xfrm>
            <a:off x="11139155" y="5102352"/>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73 km</a:t>
            </a:r>
            <a:endParaRPr lang="en-US" sz="1200" dirty="0"/>
          </a:p>
        </p:txBody>
      </p:sp>
      <p:sp>
        <p:nvSpPr>
          <p:cNvPr id="18" name="Text 15"/>
          <p:cNvSpPr txBox="1"/>
          <p:nvPr/>
        </p:nvSpPr>
        <p:spPr>
          <a:xfrm>
            <a:off x="6217920" y="5724144"/>
            <a:ext cx="5440680" cy="914400"/>
          </a:xfrm>
          <a:prstGeom prst="rect">
            <a:avLst/>
          </a:prstGeom>
          <a:noFill/>
          <a:ln/>
        </p:spPr>
        <p:txBody>
          <a:bodyPr wrap="square" lIns="0" tIns="0" rIns="0" bIns="0" rtlCol="0" anchor="t"/>
          <a:lstStyle/>
          <a:p>
            <a:pPr indent="0" marL="0">
              <a:buNone/>
            </a:pPr>
            <a:r>
              <a:rPr lang="en-US" sz="1150" i="1" dirty="0">
                <a:solidFill>
                  <a:srgbClr val="4A524E"/>
                </a:solidFill>
                <a:latin typeface="Calibri" pitchFamily="34" charset="0"/>
                <a:ea typeface="Calibri" pitchFamily="34" charset="-122"/>
                <a:cs typeface="Calibri" pitchFamily="34" charset="-120"/>
              </a:rPr>
              <a:t>En longueur, Alqueva gagne : environ 83 km d'un bout à l'autre, contre 73 km pour le Léman. Mais en surface, le Léman reste environ 2,3 fois plus grand, car Alqueva est un lac étroit et ramifié qui épouse les vallées du Guadiana. Dessins à l'échelle.</a:t>
            </a:r>
            <a:endParaRPr lang="en-US" sz="11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2026-10-24T21:22:10Z</dcterms:created>
  <dcterms:modified xsi:type="dcterms:W3CDTF">2026-10-24T21:22:10Z</dcterms:modified>
</cp:coreProperties>
</file>