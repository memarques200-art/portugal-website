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04ea4b04-5bda-aa94-7774-253fad00f8d1}">
          <p14:sldIdLst>
            <p14:sldId id="256"/>
            <p14:sldId id="257"/>
            <p14:sldId id="258"/>
            <p14:sldId id="259"/>
            <p14:sldId id="260"/>
          </p14:sldIdLst>
        </p14:section>
        <p14:section name="01 Géographie" id="{957d5a61-4be1-ec17-6b34-1d560980623f}">
          <p14:sldIdLst>
            <p14:sldId id="261"/>
            <p14:sldId id="262"/>
            <p14:sldId id="263"/>
            <p14:sldId id="264"/>
            <p14:sldId id="265"/>
          </p14:sldIdLst>
        </p14:section>
        <p14:section name="02 Histoire" id="{2c7a36f0-d3d6-ffb1-af37-aa107a42b396}">
          <p14:sldIdLst>
            <p14:sldId id="266"/>
            <p14:sldId id="267"/>
            <p14:sldId id="268"/>
            <p14:sldId id="269"/>
            <p14:sldId id="270"/>
            <p14:sldId id="271"/>
          </p14:sldIdLst>
        </p14:section>
        <p14:section name="02 Histoire · Institutions" id="{22e89d92-22aa-b3cc-e17f-47cd40e80a74}">
          <p14:sldIdLst>
            <p14:sldId id="272"/>
            <p14:sldId id="273"/>
            <p14:sldId id="274"/>
            <p14:sldId id="275"/>
            <p14:sldId id="276"/>
          </p14:sldIdLst>
        </p14:section>
        <p14:section name="03 Société" id="{43095f3f-cfbe-d08a-c3f5-836705b01835}">
          <p14:sldIdLst>
            <p14:sldId id="277"/>
            <p14:sldId id="278"/>
            <p14:sldId id="279"/>
            <p14:sldId id="280"/>
          </p14:sldIdLst>
        </p14:section>
        <p14:section name="04 Culture" id="{aa9e6d38-a2c0-aa06-8cdf-d3eb1054dc46}">
          <p14:sldIdLst>
            <p14:sldId id="281"/>
            <p14:sldId id="282"/>
            <p14:sldId id="283"/>
            <p14:sldId id="284"/>
            <p14:sldId id="285"/>
          </p14:sldIdLst>
        </p14:section>
        <p14:section name="05 Sport" id="{100df37f-b7a3-c067-962a-1ca49b52dd23}">
          <p14:sldIdLst>
            <p14:sldId id="286"/>
            <p14:sldId id="287"/>
            <p14:sldId id="288"/>
            <p14:sldId id="289"/>
          </p14:sldIdLst>
        </p14:section>
        <p14:section name="06 Régions" id="{74f239e8-c414-c5c9-641f-9380d5a502bb}">
          <p14:sldIdLst>
            <p14:sldId id="290"/>
            <p14:sldId id="291"/>
            <p14:sldId id="292"/>
            <p14:sldId id="293"/>
          </p14:sldIdLst>
        </p14:section>
        <p14:section name="07 Merveilles" id="{874acfe5-b7f7-6650-9745-dabc1b82c9bd}">
          <p14:sldIdLst>
            <p14:sldId id="294"/>
            <p14:sldId id="295"/>
            <p14:sldId id="296"/>
            <p14:sldId id="297"/>
            <p14:sldId id="298"/>
            <p14:sldId id="299"/>
            <p14:sldId id="300"/>
            <p14:sldId id="301"/>
            <p14:sldId id="302"/>
            <p14:sldId id="303"/>
            <p14:sldId id="304"/>
          </p14:sldIdLst>
        </p14:section>
        <p14:section name="08 Conclusion" id="{86866fe4-14c9-8210-bbbe-0f570b5b0684}">
          <p14:sldIdLst>
            <p14:sldId id="305"/>
            <p14:sldId id="306"/>
            <p14:sldId id="307"/>
            <p14:sldId id="308"/>
            <p14:sldId id="309"/>
            <p14:sldId id="310"/>
          </p14:sldIdLst>
        </p14:section>
        <p14:section name="Crédits" id="{99b3ddc6-72a0-f1d2-5cb0-ffc14ae92635}">
          <p14:sldIdLst>
            <p14:sldId id="311"/>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Responsable d'objets, Centre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 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c'est le plus grand lac artificiel d'Europe occidentale. Il irrigue l'Alentejo, produit de l'électricité et offre un ciel parmi les plus étoilés d'Europe. Environ 250 km² de surface.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vue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16-1.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image" Target="../media/image-18-3.jpg"/><Relationship Id="rId4" Type="http://schemas.openxmlformats.org/officeDocument/2006/relationships/image" Target="../media/image-18-4.jp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slideLayout" Target="../slideLayouts/slideLayout2.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jpg"/><Relationship Id="rId3" Type="http://schemas.openxmlformats.org/officeDocument/2006/relationships/image" Target="../media/image-28-3.jpg"/><Relationship Id="rId4" Type="http://schemas.openxmlformats.org/officeDocument/2006/relationships/image" Target="../media/image-28-4.jpg"/><Relationship Id="rId5" Type="http://schemas.openxmlformats.org/officeDocument/2006/relationships/image" Target="../media/image-28-5.jpg"/><Relationship Id="rId6" Type="http://schemas.openxmlformats.org/officeDocument/2006/relationships/image" Target="../media/image-28-6.jpg"/><Relationship Id="rId7" Type="http://schemas.openxmlformats.org/officeDocument/2006/relationships/image" Target="../media/image-28-7.jpg"/><Relationship Id="rId8" Type="http://schemas.openxmlformats.org/officeDocument/2006/relationships/image" Target="../media/image-28-8.jpg"/><Relationship Id="rId9" Type="http://schemas.openxmlformats.org/officeDocument/2006/relationships/image" Target="../media/image-28-9.jpg"/><Relationship Id="rId10" Type="http://schemas.openxmlformats.org/officeDocument/2006/relationships/image" Target="../media/image-28-10.jpg"/><Relationship Id="rId11" Type="http://schemas.openxmlformats.org/officeDocument/2006/relationships/image" Target="../media/image-28-11.jpg"/><Relationship Id="rId12" Type="http://schemas.openxmlformats.org/officeDocument/2006/relationships/image" Target="../media/image-28-12.jpg"/><Relationship Id="rId13" Type="http://schemas.openxmlformats.org/officeDocument/2006/relationships/slideLayout" Target="../slideLayouts/slideLayout2.xml"/><Relationship Id="rId1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jpg"/><Relationship Id="rId3" Type="http://schemas.openxmlformats.org/officeDocument/2006/relationships/image" Target="../media/image-30-3.jp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3-1.jpg"/><Relationship Id="rId3" Type="http://schemas.openxmlformats.org/officeDocument/2006/relationships/image" Target="../media/image-33-2.jp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image" Target="../media/image-36-3.jpg"/><Relationship Id="rId4" Type="http://schemas.openxmlformats.org/officeDocument/2006/relationships/image" Target="../media/image-36-4.jpg"/><Relationship Id="rId5" Type="http://schemas.openxmlformats.org/officeDocument/2006/relationships/image" Target="../media/image-36-5.jpg"/><Relationship Id="rId6" Type="http://schemas.openxmlformats.org/officeDocument/2006/relationships/image" Target="../media/image-36-6.jpg"/><Relationship Id="rId7" Type="http://schemas.openxmlformats.org/officeDocument/2006/relationships/image" Target="../media/image-36-7.jpg"/><Relationship Id="rId8" Type="http://schemas.openxmlformats.org/officeDocument/2006/relationships/slideLayout" Target="../slideLayouts/slideLayout2.xml"/><Relationship Id="rId9"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image" Target="../media/image-37-2.jp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38-1.jpg"/><Relationship Id="rId3" Type="http://schemas.openxmlformats.org/officeDocument/2006/relationships/slideLayout" Target="../slideLayouts/slideLayout3.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1-1.jp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42-2.jp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image" Target="../media/image-47-2.jpg"/><Relationship Id="rId3" Type="http://schemas.openxmlformats.org/officeDocument/2006/relationships/slideLayout" Target="../slideLayouts/slideLayout2.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3.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image" Target="../media/image-51-3.jp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jpg"/><Relationship Id="rId3" Type="http://schemas.openxmlformats.org/officeDocument/2006/relationships/image" Target="../media/image-52-3.jpg"/><Relationship Id="rId4" Type="http://schemas.openxmlformats.org/officeDocument/2006/relationships/image" Target="../media/image-52-4.jpg"/><Relationship Id="rId5" Type="http://schemas.openxmlformats.org/officeDocument/2006/relationships/image" Target="../media/image-52-5.jpg"/><Relationship Id="rId6" Type="http://schemas.openxmlformats.org/officeDocument/2006/relationships/image" Target="../media/image-52-6.jpg"/><Relationship Id="rId7" Type="http://schemas.openxmlformats.org/officeDocument/2006/relationships/slideLayout" Target="../slideLayouts/slideLayout2.xml"/><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image" Target="../media/image-53-2.jpg"/><Relationship Id="rId3" Type="http://schemas.openxmlformats.org/officeDocument/2006/relationships/image" Target="../media/image-53-3.jpg"/><Relationship Id="rId4" Type="http://schemas.openxmlformats.org/officeDocument/2006/relationships/image" Target="../media/image-53-4.jpg"/><Relationship Id="rId5" Type="http://schemas.openxmlformats.org/officeDocument/2006/relationships/image" Target="../media/image-53-5.jpg"/><Relationship Id="rId6" Type="http://schemas.openxmlformats.org/officeDocument/2006/relationships/slideLayout" Target="../slideLayouts/slideLayout2.xml"/><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image" Target="../media/image-55-2.jp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 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Responsable d'objets, Centre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 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photos/geo-north.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PORTUGAL VOLCANIQUE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Açores, terres de volcans</a:t>
            </a:r>
            <a:endParaRPr lang="en-US" sz="3400" dirty="0"/>
          </a:p>
        </p:txBody>
      </p:sp>
      <p:sp>
        <p:nvSpPr>
          <p:cNvPr id="4" name="Text 2"/>
          <p:cNvSpPr txBox="1"/>
          <p:nvPr/>
        </p:nvSpPr>
        <p:spPr>
          <a:xfrm>
            <a:off x="548640" y="1508760"/>
            <a:ext cx="10972800" cy="64008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îles de Madère et des Açores sont d'origine volcanique. Leur paysage spectaculaire est le résultat d'éruptions vieilles de millions d'années.</a:t>
            </a:r>
            <a:endParaRPr lang="en-US" sz="1600" dirty="0"/>
          </a:p>
        </p:txBody>
      </p:sp>
      <p:pic>
        <p:nvPicPr>
          <p:cNvPr id="5" name="Image 0" descr="/home/user/Portugal-Website/images/photos/geo-acores.jpg">    </p:cNvPr>
          <p:cNvPicPr>
            <a:picLocks noChangeAspect="1"/>
          </p:cNvPicPr>
          <p:nvPr/>
        </p:nvPicPr>
        <p:blipFill>
          <a:blip r:embed="rId1"/>
          <a:srcRect l="0" r="0" t="0" b="0"/>
          <a:stretch/>
        </p:blipFill>
        <p:spPr>
          <a:xfrm>
            <a:off x="548640" y="2331720"/>
            <a:ext cx="3566160" cy="2377440"/>
          </a:xfrm>
          <a:prstGeom prst="rect">
            <a:avLst/>
          </a:prstGeom>
        </p:spPr>
      </p:pic>
      <p:sp>
        <p:nvSpPr>
          <p:cNvPr id="6" name="Text 3"/>
          <p:cNvSpPr txBox="1"/>
          <p:nvPr/>
        </p:nvSpPr>
        <p:spPr>
          <a:xfrm>
            <a:off x="548640" y="4846320"/>
            <a:ext cx="3566160" cy="320040"/>
          </a:xfrm>
          <a:prstGeom prst="rect">
            <a:avLst/>
          </a:prstGeom>
          <a:noFill/>
          <a:ln/>
        </p:spPr>
        <p:txBody>
          <a:bodyPr wrap="square" lIns="0" tIns="0" rIns="0" bIns="0" rtlCol="0" anchor="t"/>
          <a:lstStyle/>
          <a:p>
            <a:pPr indent="0" marL="0">
              <a:buNone/>
            </a:pPr>
            <a:r>
              <a:rPr lang="en-US" sz="1400" b="1" spc="100" kern="0" dirty="0">
                <a:solidFill>
                  <a:srgbClr val="A83232"/>
                </a:solidFill>
                <a:latin typeface="Calibri" pitchFamily="34" charset="0"/>
                <a:ea typeface="Calibri" pitchFamily="34" charset="-122"/>
                <a:cs typeface="Calibri" pitchFamily="34" charset="-120"/>
              </a:rPr>
              <a:t>AÇORES</a:t>
            </a:r>
            <a:endParaRPr lang="en-US" sz="1400" dirty="0"/>
          </a:p>
        </p:txBody>
      </p:sp>
      <p:sp>
        <p:nvSpPr>
          <p:cNvPr id="7" name="Text 4"/>
          <p:cNvSpPr txBox="1"/>
          <p:nvPr/>
        </p:nvSpPr>
        <p:spPr>
          <a:xfrm>
            <a:off x="548640" y="516636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Neuf îles volcaniques avec des lacs de cratère, sources chaudes et paysages uniques.</a:t>
            </a:r>
            <a:endParaRPr lang="en-US" sz="1400" dirty="0"/>
          </a:p>
        </p:txBody>
      </p:sp>
      <p:pic>
        <p:nvPicPr>
          <p:cNvPr id="8" name="Image 1" descr="/home/user/Portugal-Website/images/photos/geo-volcano.jpg">    </p:cNvPr>
          <p:cNvPicPr>
            <a:picLocks noChangeAspect="1"/>
          </p:cNvPicPr>
          <p:nvPr/>
        </p:nvPicPr>
        <p:blipFill>
          <a:blip r:embed="rId2"/>
          <a:srcRect l="0" r="0" t="0" b="0"/>
          <a:stretch/>
        </p:blipFill>
        <p:spPr>
          <a:xfrm>
            <a:off x="4297680" y="2331720"/>
            <a:ext cx="3566160" cy="2377440"/>
          </a:xfrm>
          <a:prstGeom prst="rect">
            <a:avLst/>
          </a:prstGeom>
        </p:spPr>
      </p:pic>
      <p:sp>
        <p:nvSpPr>
          <p:cNvPr id="9" name="Text 5"/>
          <p:cNvSpPr txBox="1"/>
          <p:nvPr/>
        </p:nvSpPr>
        <p:spPr>
          <a:xfrm>
            <a:off x="4297680" y="4846320"/>
            <a:ext cx="3566160" cy="320040"/>
          </a:xfrm>
          <a:prstGeom prst="rect">
            <a:avLst/>
          </a:prstGeom>
          <a:noFill/>
          <a:ln/>
        </p:spPr>
        <p:txBody>
          <a:bodyPr wrap="square" lIns="0" tIns="0" rIns="0" bIns="0" rtlCol="0" anchor="t"/>
          <a:lstStyle/>
          <a:p>
            <a:pPr indent="0" marL="0">
              <a:buNone/>
            </a:pPr>
            <a:r>
              <a:rPr lang="en-US" sz="1400" b="1" spc="100" kern="0" dirty="0">
                <a:solidFill>
                  <a:srgbClr val="A83232"/>
                </a:solidFill>
                <a:latin typeface="Calibri" pitchFamily="34" charset="0"/>
                <a:ea typeface="Calibri" pitchFamily="34" charset="-122"/>
                <a:cs typeface="Calibri" pitchFamily="34" charset="-120"/>
              </a:rPr>
              <a:t>CAPELINHOS (1957-1958)</a:t>
            </a:r>
            <a:endParaRPr lang="en-US" sz="1400" dirty="0"/>
          </a:p>
        </p:txBody>
      </p:sp>
      <p:sp>
        <p:nvSpPr>
          <p:cNvPr id="10" name="Text 6"/>
          <p:cNvSpPr txBox="1"/>
          <p:nvPr/>
        </p:nvSpPr>
        <p:spPr>
          <a:xfrm>
            <a:off x="4297680" y="516636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En 1957-1958, l'éruption du volcan des Capelinhos (île de Faial) a fait naître de nouvelles terres sur l'océan.</a:t>
            </a:r>
            <a:endParaRPr lang="en-US" sz="1400" dirty="0"/>
          </a:p>
        </p:txBody>
      </p:sp>
      <p:pic>
        <p:nvPicPr>
          <p:cNvPr id="11" name="Image 2" descr="/home/user/Portugal-Website/images/photos/geo-madeira.jpg">    </p:cNvPr>
          <p:cNvPicPr>
            <a:picLocks noChangeAspect="1"/>
          </p:cNvPicPr>
          <p:nvPr/>
        </p:nvPicPr>
        <p:blipFill>
          <a:blip r:embed="rId3"/>
          <a:srcRect l="0" r="0" t="0" b="0"/>
          <a:stretch/>
        </p:blipFill>
        <p:spPr>
          <a:xfrm>
            <a:off x="8046720" y="2331720"/>
            <a:ext cx="3566160" cy="2377440"/>
          </a:xfrm>
          <a:prstGeom prst="rect">
            <a:avLst/>
          </a:prstGeom>
        </p:spPr>
      </p:pic>
      <p:sp>
        <p:nvSpPr>
          <p:cNvPr id="12" name="Text 7"/>
          <p:cNvSpPr txBox="1"/>
          <p:nvPr/>
        </p:nvSpPr>
        <p:spPr>
          <a:xfrm>
            <a:off x="8046720" y="4846320"/>
            <a:ext cx="3566160" cy="320040"/>
          </a:xfrm>
          <a:prstGeom prst="rect">
            <a:avLst/>
          </a:prstGeom>
          <a:noFill/>
          <a:ln/>
        </p:spPr>
        <p:txBody>
          <a:bodyPr wrap="square" lIns="0" tIns="0" rIns="0" bIns="0" rtlCol="0" anchor="t"/>
          <a:lstStyle/>
          <a:p>
            <a:pPr indent="0" marL="0">
              <a:buNone/>
            </a:pPr>
            <a:r>
              <a:rPr lang="en-US" sz="1400" b="1" spc="100" kern="0" dirty="0">
                <a:solidFill>
                  <a:srgbClr val="A83232"/>
                </a:solidFill>
                <a:latin typeface="Calibri" pitchFamily="34" charset="0"/>
                <a:ea typeface="Calibri" pitchFamily="34" charset="-122"/>
                <a:cs typeface="Calibri" pitchFamily="34" charset="-120"/>
              </a:rPr>
              <a:t>MADÈRE</a:t>
            </a:r>
            <a:endParaRPr lang="en-US" sz="1400" dirty="0"/>
          </a:p>
        </p:txBody>
      </p:sp>
      <p:sp>
        <p:nvSpPr>
          <p:cNvPr id="13" name="Text 8"/>
          <p:cNvSpPr txBox="1"/>
          <p:nvPr/>
        </p:nvSpPr>
        <p:spPr>
          <a:xfrm>
            <a:off x="8046720" y="516636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Île montagneuse d'origine volcanique, avec des falaises impressionnantes et des vallées profondes.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 aux Açores (Pico, 2 351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 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 vieilles de 175 millions d'années !</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 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 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 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de l'avenir et le rouge le sang versé pour l'indépendance.</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hist-guimaraes.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 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Du Comté de Portugal à la nation indépendante, une identité forgée au fil des siècles.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 (1386)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 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home/user/Portugal-Website/images/photos/hero-soc.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624328" cy="1828800"/>
          </a:xfrm>
          <a:prstGeom prst="rect">
            <a:avLst/>
          </a:prstGeom>
          <a:solidFill>
            <a:srgbClr val="F1F4F2"/>
          </a:solidFill>
          <a:ln w="12700">
            <a:solidFill>
              <a:srgbClr val="F1F4F2"/>
            </a:solidFill>
            <a:prstDash val="solid"/>
          </a:ln>
        </p:spPr>
      </p:sp>
      <p:sp>
        <p:nvSpPr>
          <p:cNvPr id="6" name="Text 4"/>
          <p:cNvSpPr txBox="1"/>
          <p:nvPr/>
        </p:nvSpPr>
        <p:spPr>
          <a:xfrm>
            <a:off x="548640" y="2148840"/>
            <a:ext cx="2624328" cy="731520"/>
          </a:xfrm>
          <a:prstGeom prst="rect">
            <a:avLst/>
          </a:prstGeom>
          <a:noFill/>
          <a:ln/>
        </p:spPr>
        <p:txBody>
          <a:bodyPr wrap="square" lIns="0" tIns="0" rIns="0" bIns="0" rtlCol="0" anchor="t"/>
          <a:lstStyle/>
          <a:p>
            <a:pPr algn="ctr" indent="0" marL="0">
              <a:buNone/>
            </a:pPr>
            <a:r>
              <a:rPr lang="en-US" sz="3600" b="1" dirty="0">
                <a:solidFill>
                  <a:srgbClr val="174A3A"/>
                </a:solidFill>
                <a:latin typeface="Cambria" pitchFamily="34" charset="0"/>
                <a:ea typeface="Cambria" pitchFamily="34" charset="-122"/>
                <a:cs typeface="Cambria" pitchFamily="34" charset="-120"/>
              </a:rPr>
              <a:t>78 Md €</a:t>
            </a:r>
            <a:endParaRPr lang="en-US" sz="3600" dirty="0"/>
          </a:p>
        </p:txBody>
      </p:sp>
      <p:sp>
        <p:nvSpPr>
          <p:cNvPr id="7" name="Text 5"/>
          <p:cNvSpPr txBox="1"/>
          <p:nvPr/>
        </p:nvSpPr>
        <p:spPr>
          <a:xfrm>
            <a:off x="731520"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crise de 2011</a:t>
            </a:r>
            <a:endParaRPr lang="en-US" sz="1800" dirty="0"/>
          </a:p>
        </p:txBody>
      </p:sp>
      <p:sp>
        <p:nvSpPr>
          <p:cNvPr id="8" name="Text 6"/>
          <p:cNvSpPr txBox="1"/>
          <p:nvPr/>
        </p:nvSpPr>
        <p:spPr>
          <a:xfrm>
            <a:off x="731520"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300" dirty="0"/>
          </a:p>
        </p:txBody>
      </p:sp>
      <p:sp>
        <p:nvSpPr>
          <p:cNvPr id="9" name="Shape 7"/>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3355848" y="1600200"/>
            <a:ext cx="2624328" cy="1828800"/>
          </a:xfrm>
          <a:prstGeom prst="rect">
            <a:avLst/>
          </a:prstGeom>
        </p:spPr>
      </p:pic>
      <p:sp>
        <p:nvSpPr>
          <p:cNvPr id="11" name="Text 8"/>
          <p:cNvSpPr txBox="1"/>
          <p:nvPr/>
        </p:nvSpPr>
        <p:spPr>
          <a:xfrm>
            <a:off x="3538728"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Champion du renouvelable</a:t>
            </a:r>
            <a:endParaRPr lang="en-US" sz="1800" dirty="0"/>
          </a:p>
        </p:txBody>
      </p:sp>
      <p:sp>
        <p:nvSpPr>
          <p:cNvPr id="12" name="Text 9"/>
          <p:cNvSpPr txBox="1"/>
          <p:nvPr/>
        </p:nvSpPr>
        <p:spPr>
          <a:xfrm>
            <a:off x="3538728"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300" dirty="0"/>
          </a:p>
        </p:txBody>
      </p:sp>
      <p:sp>
        <p:nvSpPr>
          <p:cNvPr id="13" name="Shape 10"/>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6163056" y="1600200"/>
            <a:ext cx="2624328" cy="1828800"/>
          </a:xfrm>
          <a:prstGeom prst="rect">
            <a:avLst/>
          </a:prstGeom>
        </p:spPr>
      </p:pic>
      <p:sp>
        <p:nvSpPr>
          <p:cNvPr id="15" name="Text 11"/>
          <p:cNvSpPr txBox="1"/>
          <p:nvPr/>
        </p:nvSpPr>
        <p:spPr>
          <a:xfrm>
            <a:off x="6345936"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pays du liège</a:t>
            </a:r>
            <a:endParaRPr lang="en-US" sz="1800" dirty="0"/>
          </a:p>
        </p:txBody>
      </p:sp>
      <p:sp>
        <p:nvSpPr>
          <p:cNvPr id="16" name="Text 12"/>
          <p:cNvSpPr txBox="1"/>
          <p:nvPr/>
        </p:nvSpPr>
        <p:spPr>
          <a:xfrm>
            <a:off x="6345936"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300" dirty="0"/>
          </a:p>
        </p:txBody>
      </p:sp>
      <p:sp>
        <p:nvSpPr>
          <p:cNvPr id="17" name="Shape 13"/>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8970264" y="1600200"/>
            <a:ext cx="2624328" cy="1828800"/>
          </a:xfrm>
          <a:prstGeom prst="rect">
            <a:avLst/>
          </a:prstGeom>
          <a:solidFill>
            <a:srgbClr val="EAF0F8"/>
          </a:solidFill>
          <a:ln w="12700">
            <a:solidFill>
              <a:srgbClr val="F1F4F2"/>
            </a:solidFill>
            <a:prstDash val="solid"/>
          </a:ln>
        </p:spPr>
      </p:sp>
      <p:sp>
        <p:nvSpPr>
          <p:cNvPr id="19" name="Text 15"/>
          <p:cNvSpPr txBox="1"/>
          <p:nvPr/>
        </p:nvSpPr>
        <p:spPr>
          <a:xfrm>
            <a:off x="8970264" y="2148840"/>
            <a:ext cx="2624328" cy="731520"/>
          </a:xfrm>
          <a:prstGeom prst="rect">
            <a:avLst/>
          </a:prstGeom>
          <a:noFill/>
          <a:ln/>
        </p:spPr>
        <p:txBody>
          <a:bodyPr wrap="square" lIns="0" tIns="0" rIns="0" bIns="0" rtlCol="0" anchor="t"/>
          <a:lstStyle/>
          <a:p>
            <a:pPr algn="ctr" indent="0" marL="0">
              <a:buNone/>
            </a:pPr>
            <a:r>
              <a:rPr lang="en-US" sz="3600" b="1" dirty="0">
                <a:solidFill>
                  <a:srgbClr val="B8955A"/>
                </a:solidFill>
                <a:latin typeface="Cambria" pitchFamily="34" charset="0"/>
                <a:ea typeface="Cambria" pitchFamily="34" charset="-122"/>
                <a:cs typeface="Cambria" pitchFamily="34" charset="-120"/>
              </a:rPr>
              <a:t>1,5 M</a:t>
            </a:r>
            <a:endParaRPr lang="en-US" sz="3600" dirty="0"/>
          </a:p>
        </p:txBody>
      </p:sp>
      <p:sp>
        <p:nvSpPr>
          <p:cNvPr id="20" name="Text 16"/>
          <p:cNvSpPr txBox="1"/>
          <p:nvPr/>
        </p:nvSpPr>
        <p:spPr>
          <a:xfrm>
            <a:off x="9153144"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Terre d'accueil</a:t>
            </a:r>
            <a:endParaRPr lang="en-US" sz="1800" dirty="0"/>
          </a:p>
        </p:txBody>
      </p:sp>
      <p:sp>
        <p:nvSpPr>
          <p:cNvPr id="21" name="Text 17"/>
          <p:cNvSpPr txBox="1"/>
          <p:nvPr/>
        </p:nvSpPr>
        <p:spPr>
          <a:xfrm>
            <a:off x="9153144"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c-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sp>
        <p:nvSpPr>
          <p:cNvPr id="4" name="Text 2"/>
          <p:cNvSpPr txBox="1"/>
          <p:nvPr/>
        </p:nvSpPr>
        <p:spPr>
          <a:xfrm>
            <a:off x="548640" y="1600200"/>
            <a:ext cx="1737360" cy="411480"/>
          </a:xfrm>
          <a:prstGeom prst="rect">
            <a:avLst/>
          </a:prstGeom>
          <a:noFill/>
          <a:ln/>
        </p:spPr>
        <p:txBody>
          <a:bodyPr wrap="square" lIns="0" tIns="0" rIns="0" bIns="0" rtlCol="0" anchor="t"/>
          <a:lstStyle/>
          <a:p>
            <a:pPr indent="0" marL="0">
              <a:buNone/>
            </a:pPr>
            <a:r>
              <a:rPr lang="en-US" sz="2000" b="1" i="1" dirty="0">
                <a:solidFill>
                  <a:srgbClr val="174A3A"/>
                </a:solidFill>
                <a:latin typeface="Cambria" pitchFamily="34" charset="0"/>
                <a:ea typeface="Cambria" pitchFamily="34" charset="-122"/>
                <a:cs typeface="Cambria" pitchFamily="34" charset="-120"/>
              </a:rPr>
              <a:t>Tempura</a:t>
            </a:r>
            <a:endParaRPr lang="en-US" sz="2000" dirty="0"/>
          </a:p>
        </p:txBody>
      </p:sp>
      <p:sp>
        <p:nvSpPr>
          <p:cNvPr id="5" name="Text 3"/>
          <p:cNvSpPr txBox="1"/>
          <p:nvPr/>
        </p:nvSpPr>
        <p:spPr>
          <a:xfrm>
            <a:off x="548640" y="2011680"/>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JAPON</a:t>
            </a:r>
            <a:endParaRPr lang="en-US" sz="1000" dirty="0"/>
          </a:p>
        </p:txBody>
      </p:sp>
      <p:sp>
        <p:nvSpPr>
          <p:cNvPr id="6" name="Text 4"/>
          <p:cNvSpPr txBox="1"/>
          <p:nvPr/>
        </p:nvSpPr>
        <p:spPr>
          <a:xfrm>
            <a:off x="2377440" y="1600200"/>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300" dirty="0"/>
          </a:p>
        </p:txBody>
      </p:sp>
      <p:sp>
        <p:nvSpPr>
          <p:cNvPr id="7" name="Text 5"/>
          <p:cNvSpPr txBox="1"/>
          <p:nvPr/>
        </p:nvSpPr>
        <p:spPr>
          <a:xfrm>
            <a:off x="548640" y="2532888"/>
            <a:ext cx="1737360" cy="411480"/>
          </a:xfrm>
          <a:prstGeom prst="rect">
            <a:avLst/>
          </a:prstGeom>
          <a:noFill/>
          <a:ln/>
        </p:spPr>
        <p:txBody>
          <a:bodyPr wrap="square" lIns="0" tIns="0" rIns="0" bIns="0" rtlCol="0" anchor="t"/>
          <a:lstStyle/>
          <a:p>
            <a:pPr indent="0" marL="0">
              <a:buNone/>
            </a:pPr>
            <a:r>
              <a:rPr lang="en-US" sz="2000" b="1" i="1" dirty="0">
                <a:solidFill>
                  <a:srgbClr val="A83232"/>
                </a:solidFill>
                <a:latin typeface="Cambria" pitchFamily="34" charset="0"/>
                <a:ea typeface="Cambria" pitchFamily="34" charset="-122"/>
                <a:cs typeface="Cambria" pitchFamily="34" charset="-120"/>
              </a:rPr>
              <a:t>Vindaloo</a:t>
            </a:r>
            <a:endParaRPr lang="en-US" sz="2000" dirty="0"/>
          </a:p>
        </p:txBody>
      </p:sp>
      <p:sp>
        <p:nvSpPr>
          <p:cNvPr id="8" name="Text 6"/>
          <p:cNvSpPr txBox="1"/>
          <p:nvPr/>
        </p:nvSpPr>
        <p:spPr>
          <a:xfrm>
            <a:off x="548640" y="2944368"/>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INDE</a:t>
            </a:r>
            <a:endParaRPr lang="en-US" sz="1000" dirty="0"/>
          </a:p>
        </p:txBody>
      </p:sp>
      <p:sp>
        <p:nvSpPr>
          <p:cNvPr id="9" name="Text 7"/>
          <p:cNvSpPr txBox="1"/>
          <p:nvPr/>
        </p:nvSpPr>
        <p:spPr>
          <a:xfrm>
            <a:off x="2377440" y="2532888"/>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300" dirty="0"/>
          </a:p>
        </p:txBody>
      </p:sp>
      <p:sp>
        <p:nvSpPr>
          <p:cNvPr id="10" name="Text 8"/>
          <p:cNvSpPr txBox="1"/>
          <p:nvPr/>
        </p:nvSpPr>
        <p:spPr>
          <a:xfrm>
            <a:off x="548640" y="3465576"/>
            <a:ext cx="1737360" cy="411480"/>
          </a:xfrm>
          <a:prstGeom prst="rect">
            <a:avLst/>
          </a:prstGeom>
          <a:noFill/>
          <a:ln/>
        </p:spPr>
        <p:txBody>
          <a:bodyPr wrap="square" lIns="0" tIns="0" rIns="0" bIns="0" rtlCol="0" anchor="t"/>
          <a:lstStyle/>
          <a:p>
            <a:pPr indent="0" marL="0">
              <a:buNone/>
            </a:pPr>
            <a:r>
              <a:rPr lang="en-US" sz="2000" b="1" i="1" dirty="0">
                <a:solidFill>
                  <a:srgbClr val="1E4F8F"/>
                </a:solidFill>
                <a:latin typeface="Cambria" pitchFamily="34" charset="0"/>
                <a:ea typeface="Cambria" pitchFamily="34" charset="-122"/>
                <a:cs typeface="Cambria" pitchFamily="34" charset="-120"/>
              </a:rPr>
              <a:t>Piri-piri</a:t>
            </a:r>
            <a:endParaRPr lang="en-US" sz="2000" dirty="0"/>
          </a:p>
        </p:txBody>
      </p:sp>
      <p:sp>
        <p:nvSpPr>
          <p:cNvPr id="11" name="Text 9"/>
          <p:cNvSpPr txBox="1"/>
          <p:nvPr/>
        </p:nvSpPr>
        <p:spPr>
          <a:xfrm>
            <a:off x="548640" y="3877056"/>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ASIE &amp; AFRIQUE</a:t>
            </a:r>
            <a:endParaRPr lang="en-US" sz="1000" dirty="0"/>
          </a:p>
        </p:txBody>
      </p:sp>
      <p:sp>
        <p:nvSpPr>
          <p:cNvPr id="12" name="Text 10"/>
          <p:cNvSpPr txBox="1"/>
          <p:nvPr/>
        </p:nvSpPr>
        <p:spPr>
          <a:xfrm>
            <a:off x="2377440" y="3465576"/>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300" dirty="0"/>
          </a:p>
        </p:txBody>
      </p:sp>
      <p:sp>
        <p:nvSpPr>
          <p:cNvPr id="13" name="Text 11"/>
          <p:cNvSpPr txBox="1"/>
          <p:nvPr/>
        </p:nvSpPr>
        <p:spPr>
          <a:xfrm>
            <a:off x="548640" y="4398264"/>
            <a:ext cx="1737360" cy="411480"/>
          </a:xfrm>
          <a:prstGeom prst="rect">
            <a:avLst/>
          </a:prstGeom>
          <a:noFill/>
          <a:ln/>
        </p:spPr>
        <p:txBody>
          <a:bodyPr wrap="square" lIns="0" tIns="0" rIns="0" bIns="0" rtlCol="0" anchor="t"/>
          <a:lstStyle/>
          <a:p>
            <a:pPr indent="0" marL="0">
              <a:buNone/>
            </a:pPr>
            <a:r>
              <a:rPr lang="en-US" sz="2000" b="1" i="1" dirty="0">
                <a:solidFill>
                  <a:srgbClr val="B8955A"/>
                </a:solidFill>
                <a:latin typeface="Cambria" pitchFamily="34" charset="0"/>
                <a:ea typeface="Cambria" pitchFamily="34" charset="-122"/>
                <a:cs typeface="Cambria" pitchFamily="34" charset="-120"/>
              </a:rPr>
              <a:t>Kasutera</a:t>
            </a:r>
            <a:endParaRPr lang="en-US" sz="2000" dirty="0"/>
          </a:p>
        </p:txBody>
      </p:sp>
      <p:sp>
        <p:nvSpPr>
          <p:cNvPr id="14" name="Text 12"/>
          <p:cNvSpPr txBox="1"/>
          <p:nvPr/>
        </p:nvSpPr>
        <p:spPr>
          <a:xfrm>
            <a:off x="548640" y="4809744"/>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JAPON</a:t>
            </a:r>
            <a:endParaRPr lang="en-US" sz="1000" dirty="0"/>
          </a:p>
        </p:txBody>
      </p:sp>
      <p:sp>
        <p:nvSpPr>
          <p:cNvPr id="15" name="Text 13"/>
          <p:cNvSpPr txBox="1"/>
          <p:nvPr/>
        </p:nvSpPr>
        <p:spPr>
          <a:xfrm>
            <a:off x="2377440" y="4398264"/>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300" dirty="0"/>
          </a:p>
        </p:txBody>
      </p:sp>
      <p:sp>
        <p:nvSpPr>
          <p:cNvPr id="16" name="Text 14"/>
          <p:cNvSpPr txBox="1"/>
          <p:nvPr/>
        </p:nvSpPr>
        <p:spPr>
          <a:xfrm>
            <a:off x="548640" y="5330952"/>
            <a:ext cx="1737360" cy="411480"/>
          </a:xfrm>
          <a:prstGeom prst="rect">
            <a:avLst/>
          </a:prstGeom>
          <a:noFill/>
          <a:ln/>
        </p:spPr>
        <p:txBody>
          <a:bodyPr wrap="square" lIns="0" tIns="0" rIns="0" bIns="0" rtlCol="0" anchor="t"/>
          <a:lstStyle/>
          <a:p>
            <a:pPr indent="0" marL="0">
              <a:buNone/>
            </a:pPr>
            <a:r>
              <a:rPr lang="en-US" sz="2000" b="1" i="1" dirty="0">
                <a:solidFill>
                  <a:srgbClr val="174A3A"/>
                </a:solidFill>
                <a:latin typeface="Cambria" pitchFamily="34" charset="0"/>
                <a:ea typeface="Cambria" pitchFamily="34" charset="-122"/>
                <a:cs typeface="Cambria" pitchFamily="34" charset="-120"/>
              </a:rPr>
              <a:t>Marmelada</a:t>
            </a:r>
            <a:endParaRPr lang="en-US" sz="2000" dirty="0"/>
          </a:p>
        </p:txBody>
      </p:sp>
      <p:sp>
        <p:nvSpPr>
          <p:cNvPr id="17" name="Text 15"/>
          <p:cNvSpPr txBox="1"/>
          <p:nvPr/>
        </p:nvSpPr>
        <p:spPr>
          <a:xfrm>
            <a:off x="548640" y="5742432"/>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EUROPE</a:t>
            </a:r>
            <a:endParaRPr lang="en-US" sz="1000" dirty="0"/>
          </a:p>
        </p:txBody>
      </p:sp>
      <p:sp>
        <p:nvSpPr>
          <p:cNvPr id="18" name="Text 16"/>
          <p:cNvSpPr txBox="1"/>
          <p:nvPr/>
        </p:nvSpPr>
        <p:spPr>
          <a:xfrm>
            <a:off x="2377440" y="5330952"/>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300" dirty="0"/>
          </a:p>
        </p:txBody>
      </p:sp>
      <p:sp>
        <p:nvSpPr>
          <p:cNvPr id="19"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0"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sp>
        <p:nvSpPr>
          <p:cNvPr id="21" name="Text 19"/>
          <p:cNvSpPr txBox="1"/>
          <p:nvPr/>
        </p:nvSpPr>
        <p:spPr>
          <a:xfrm>
            <a:off x="7955280" y="1188720"/>
            <a:ext cx="3474720" cy="502920"/>
          </a:xfrm>
          <a:prstGeom prst="rect">
            <a:avLst/>
          </a:prstGeom>
          <a:noFill/>
          <a:ln/>
        </p:spPr>
        <p:txBody>
          <a:bodyPr wrap="square" lIns="0" tIns="0" rIns="0" bIns="0" rtlCol="0" anchor="t"/>
          <a:lstStyle/>
          <a:p>
            <a:pPr indent="0" marL="0">
              <a:buNone/>
            </a:pPr>
            <a:r>
              <a:rPr lang="en-US" sz="2400" b="1" i="1" dirty="0">
                <a:solidFill>
                  <a:srgbClr val="FFFFFF"/>
                </a:solidFill>
                <a:latin typeface="Cambria" pitchFamily="34" charset="0"/>
                <a:ea typeface="Cambria" pitchFamily="34" charset="-122"/>
                <a:cs typeface="Cambria" pitchFamily="34" charset="-120"/>
              </a:rPr>
              <a:t>Vinho do Porto</a:t>
            </a:r>
            <a:endParaRPr lang="en-US" sz="2400" dirty="0"/>
          </a:p>
        </p:txBody>
      </p:sp>
      <p:sp>
        <p:nvSpPr>
          <p:cNvPr id="22" name="Text 20"/>
          <p:cNvSpPr txBox="1"/>
          <p:nvPr/>
        </p:nvSpPr>
        <p:spPr>
          <a:xfrm>
            <a:off x="7955280" y="1691640"/>
            <a:ext cx="3474720" cy="1005840"/>
          </a:xfrm>
          <a:prstGeom prst="rect">
            <a:avLst/>
          </a:prstGeom>
          <a:noFill/>
          <a:ln/>
        </p:spPr>
        <p:txBody>
          <a:bodyPr wrap="square" lIns="0" tIns="0" rIns="0" bIns="0" rtlCol="0" anchor="t"/>
          <a:lstStyle/>
          <a:p>
            <a:pPr indent="0" marL="0">
              <a:buNone/>
            </a:pPr>
            <a:r>
              <a:rPr lang="en-US" sz="13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300" dirty="0"/>
          </a:p>
        </p:txBody>
      </p:sp>
      <p:sp>
        <p:nvSpPr>
          <p:cNvPr id="23" name="Text 21"/>
          <p:cNvSpPr txBox="1"/>
          <p:nvPr/>
        </p:nvSpPr>
        <p:spPr>
          <a:xfrm>
            <a:off x="7955280" y="2834640"/>
            <a:ext cx="3474720" cy="502920"/>
          </a:xfrm>
          <a:prstGeom prst="rect">
            <a:avLst/>
          </a:prstGeom>
          <a:noFill/>
          <a:ln/>
        </p:spPr>
        <p:txBody>
          <a:bodyPr wrap="square" lIns="0" tIns="0" rIns="0" bIns="0" rtlCol="0" anchor="t"/>
          <a:lstStyle/>
          <a:p>
            <a:pPr indent="0" marL="0">
              <a:buNone/>
            </a:pPr>
            <a:r>
              <a:rPr lang="en-US" sz="2400" b="1" i="1" dirty="0">
                <a:solidFill>
                  <a:srgbClr val="FFFFFF"/>
                </a:solidFill>
                <a:latin typeface="Cambria" pitchFamily="34" charset="0"/>
                <a:ea typeface="Cambria" pitchFamily="34" charset="-122"/>
                <a:cs typeface="Cambria" pitchFamily="34" charset="-120"/>
              </a:rPr>
              <a:t>Vinho verde</a:t>
            </a:r>
            <a:endParaRPr lang="en-US" sz="2400" dirty="0"/>
          </a:p>
        </p:txBody>
      </p:sp>
      <p:sp>
        <p:nvSpPr>
          <p:cNvPr id="24" name="Text 22"/>
          <p:cNvSpPr txBox="1"/>
          <p:nvPr/>
        </p:nvSpPr>
        <p:spPr>
          <a:xfrm>
            <a:off x="7955280" y="3337560"/>
            <a:ext cx="3474720" cy="1005840"/>
          </a:xfrm>
          <a:prstGeom prst="rect">
            <a:avLst/>
          </a:prstGeom>
          <a:noFill/>
          <a:ln/>
        </p:spPr>
        <p:txBody>
          <a:bodyPr wrap="square" lIns="0" tIns="0" rIns="0" bIns="0" rtlCol="0" anchor="t"/>
          <a:lstStyle/>
          <a:p>
            <a:pPr indent="0" marL="0">
              <a:buNone/>
            </a:pPr>
            <a:r>
              <a:rPr lang="en-US" sz="1300" dirty="0">
                <a:solidFill>
                  <a:srgbClr val="F1E4E7"/>
                </a:solidFill>
                <a:latin typeface="Calibri" pitchFamily="34" charset="0"/>
                <a:ea typeface="Calibri" pitchFamily="34" charset="-122"/>
                <a:cs typeface="Calibri" pitchFamily="34" charset="-120"/>
              </a:rPr>
              <a:t>Vin jeune et frais du Minho, au nord du pays.</a:t>
            </a:r>
            <a:endParaRPr lang="en-US" sz="1300" dirty="0"/>
          </a:p>
        </p:txBody>
      </p:sp>
      <p:sp>
        <p:nvSpPr>
          <p:cNvPr id="25" name="Text 23"/>
          <p:cNvSpPr txBox="1"/>
          <p:nvPr/>
        </p:nvSpPr>
        <p:spPr>
          <a:xfrm>
            <a:off x="7955280" y="4480560"/>
            <a:ext cx="3474720" cy="502920"/>
          </a:xfrm>
          <a:prstGeom prst="rect">
            <a:avLst/>
          </a:prstGeom>
          <a:noFill/>
          <a:ln/>
        </p:spPr>
        <p:txBody>
          <a:bodyPr wrap="square" lIns="0" tIns="0" rIns="0" bIns="0" rtlCol="0" anchor="t"/>
          <a:lstStyle/>
          <a:p>
            <a:pPr indent="0" marL="0">
              <a:buNone/>
            </a:pPr>
            <a:r>
              <a:rPr lang="en-US" sz="2400" b="1" i="1" dirty="0">
                <a:solidFill>
                  <a:srgbClr val="FFFFFF"/>
                </a:solidFill>
                <a:latin typeface="Cambria" pitchFamily="34" charset="0"/>
                <a:ea typeface="Cambria" pitchFamily="34" charset="-122"/>
                <a:cs typeface="Cambria" pitchFamily="34" charset="-120"/>
              </a:rPr>
              <a:t>Dão</a:t>
            </a:r>
            <a:endParaRPr lang="en-US" sz="2400" dirty="0"/>
          </a:p>
        </p:txBody>
      </p:sp>
      <p:sp>
        <p:nvSpPr>
          <p:cNvPr id="26" name="Text 24"/>
          <p:cNvSpPr txBox="1"/>
          <p:nvPr/>
        </p:nvSpPr>
        <p:spPr>
          <a:xfrm>
            <a:off x="7955280" y="4983480"/>
            <a:ext cx="3474720" cy="1005840"/>
          </a:xfrm>
          <a:prstGeom prst="rect">
            <a:avLst/>
          </a:prstGeom>
          <a:noFill/>
          <a:ln/>
        </p:spPr>
        <p:txBody>
          <a:bodyPr wrap="square" lIns="0" tIns="0" rIns="0" bIns="0" rtlCol="0" anchor="t"/>
          <a:lstStyle/>
          <a:p>
            <a:pPr indent="0" marL="0">
              <a:buNone/>
            </a:pPr>
            <a:r>
              <a:rPr lang="en-US" sz="13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et double champion d'Europe.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Dans les années 1920, le docteur Jerónimo de Lacerda fonde à Caramulo une station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1920s</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sanatorium</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merveilles à découvrir</a:t>
            </a:r>
            <a:endParaRPr lang="en-US" sz="3400" dirty="0"/>
          </a:p>
        </p:txBody>
      </p:sp>
      <p:sp>
        <p:nvSpPr>
          <p:cNvPr id="5" name="Shape 2"/>
          <p:cNvSpPr/>
          <p:nvPr/>
        </p:nvSpPr>
        <p:spPr>
          <a:xfrm>
            <a:off x="3657600" y="169164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70992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La vallée du Douro</a:t>
            </a:r>
            <a:endParaRPr lang="en-US" sz="1600" dirty="0"/>
          </a:p>
        </p:txBody>
      </p:sp>
      <p:sp>
        <p:nvSpPr>
          <p:cNvPr id="8" name="Text 5"/>
          <p:cNvSpPr txBox="1"/>
          <p:nvPr/>
        </p:nvSpPr>
        <p:spPr>
          <a:xfrm>
            <a:off x="4297680" y="213055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NORD · ALTO DOURO</a:t>
            </a:r>
            <a:endParaRPr lang="en-US" sz="1000" dirty="0"/>
          </a:p>
        </p:txBody>
      </p:sp>
      <p:sp>
        <p:nvSpPr>
          <p:cNvPr id="9" name="Shape 6"/>
          <p:cNvSpPr/>
          <p:nvPr/>
        </p:nvSpPr>
        <p:spPr>
          <a:xfrm>
            <a:off x="3657600" y="256032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560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57860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Aveiro, la « Venise du Portugal »</a:t>
            </a:r>
            <a:endParaRPr lang="en-US" sz="1600" dirty="0"/>
          </a:p>
        </p:txBody>
      </p:sp>
      <p:sp>
        <p:nvSpPr>
          <p:cNvPr id="12" name="Text 9"/>
          <p:cNvSpPr txBox="1"/>
          <p:nvPr/>
        </p:nvSpPr>
        <p:spPr>
          <a:xfrm>
            <a:off x="4297680" y="299923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CENTRE · RIA DE AVEIRO</a:t>
            </a:r>
            <a:endParaRPr lang="en-US" sz="1000" dirty="0"/>
          </a:p>
        </p:txBody>
      </p:sp>
      <p:sp>
        <p:nvSpPr>
          <p:cNvPr id="13" name="Shape 10"/>
          <p:cNvSpPr/>
          <p:nvPr/>
        </p:nvSpPr>
        <p:spPr>
          <a:xfrm>
            <a:off x="3657600" y="342900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4290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44728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monastère de Batalha</a:t>
            </a:r>
            <a:endParaRPr lang="en-US" sz="1600" dirty="0"/>
          </a:p>
        </p:txBody>
      </p:sp>
      <p:sp>
        <p:nvSpPr>
          <p:cNvPr id="16" name="Text 13"/>
          <p:cNvSpPr txBox="1"/>
          <p:nvPr/>
        </p:nvSpPr>
        <p:spPr>
          <a:xfrm>
            <a:off x="4297680" y="386791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CENTRE · LEIRIA</a:t>
            </a:r>
            <a:endParaRPr lang="en-US" sz="1000" dirty="0"/>
          </a:p>
        </p:txBody>
      </p:sp>
      <p:sp>
        <p:nvSpPr>
          <p:cNvPr id="17" name="Shape 14"/>
          <p:cNvSpPr/>
          <p:nvPr/>
        </p:nvSpPr>
        <p:spPr>
          <a:xfrm>
            <a:off x="3657600" y="42976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31596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palais de la Pena, Sintra</a:t>
            </a:r>
            <a:endParaRPr lang="en-US" sz="1600" dirty="0"/>
          </a:p>
        </p:txBody>
      </p:sp>
      <p:sp>
        <p:nvSpPr>
          <p:cNvPr id="20" name="Text 17"/>
          <p:cNvSpPr txBox="1"/>
          <p:nvPr/>
        </p:nvSpPr>
        <p:spPr>
          <a:xfrm>
            <a:off x="4297680" y="473659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LISBONNE · SERRA DE SINTRA</a:t>
            </a:r>
            <a:endParaRPr lang="en-US" sz="1000" dirty="0"/>
          </a:p>
        </p:txBody>
      </p:sp>
      <p:sp>
        <p:nvSpPr>
          <p:cNvPr id="21" name="Shape 18"/>
          <p:cNvSpPr/>
          <p:nvPr/>
        </p:nvSpPr>
        <p:spPr>
          <a:xfrm>
            <a:off x="3657600" y="516636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5166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518464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La tour de Belém</a:t>
            </a:r>
            <a:endParaRPr lang="en-US" sz="1600" dirty="0"/>
          </a:p>
        </p:txBody>
      </p:sp>
      <p:sp>
        <p:nvSpPr>
          <p:cNvPr id="24" name="Text 21"/>
          <p:cNvSpPr txBox="1"/>
          <p:nvPr/>
        </p:nvSpPr>
        <p:spPr>
          <a:xfrm>
            <a:off x="4297680" y="560527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LISBONNE · BELÉM</a:t>
            </a:r>
            <a:endParaRPr lang="en-US" sz="1000" dirty="0"/>
          </a:p>
        </p:txBody>
      </p:sp>
      <p:sp>
        <p:nvSpPr>
          <p:cNvPr id="25" name="Shape 22"/>
          <p:cNvSpPr/>
          <p:nvPr/>
        </p:nvSpPr>
        <p:spPr>
          <a:xfrm>
            <a:off x="7680960" y="169164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70992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monastère des Hiéronymites</a:t>
            </a:r>
            <a:endParaRPr lang="en-US" sz="1600" dirty="0"/>
          </a:p>
        </p:txBody>
      </p:sp>
      <p:sp>
        <p:nvSpPr>
          <p:cNvPr id="28" name="Text 25"/>
          <p:cNvSpPr txBox="1"/>
          <p:nvPr/>
        </p:nvSpPr>
        <p:spPr>
          <a:xfrm>
            <a:off x="8321040" y="213055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LISBONNE · BELÉM</a:t>
            </a:r>
            <a:endParaRPr lang="en-US" sz="1000" dirty="0"/>
          </a:p>
        </p:txBody>
      </p:sp>
      <p:sp>
        <p:nvSpPr>
          <p:cNvPr id="29" name="Shape 26"/>
          <p:cNvSpPr/>
          <p:nvPr/>
        </p:nvSpPr>
        <p:spPr>
          <a:xfrm>
            <a:off x="7680960" y="256032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560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57860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pont Vasco de Gama et l'Expo 98</a:t>
            </a:r>
            <a:endParaRPr lang="en-US" sz="1600" dirty="0"/>
          </a:p>
        </p:txBody>
      </p:sp>
      <p:sp>
        <p:nvSpPr>
          <p:cNvPr id="32" name="Text 29"/>
          <p:cNvSpPr txBox="1"/>
          <p:nvPr/>
        </p:nvSpPr>
        <p:spPr>
          <a:xfrm>
            <a:off x="8321040" y="299923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LISBONNE · PARQUE DAS NAÇÕES</a:t>
            </a:r>
            <a:endParaRPr lang="en-US" sz="1000" dirty="0"/>
          </a:p>
        </p:txBody>
      </p:sp>
      <p:sp>
        <p:nvSpPr>
          <p:cNvPr id="33" name="Shape 30"/>
          <p:cNvSpPr/>
          <p:nvPr/>
        </p:nvSpPr>
        <p:spPr>
          <a:xfrm>
            <a:off x="7680960" y="342900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4290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44728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lac d'Alqueva</a:t>
            </a:r>
            <a:endParaRPr lang="en-US" sz="1600" dirty="0"/>
          </a:p>
        </p:txBody>
      </p:sp>
      <p:sp>
        <p:nvSpPr>
          <p:cNvPr id="36" name="Text 33"/>
          <p:cNvSpPr txBox="1"/>
          <p:nvPr/>
        </p:nvSpPr>
        <p:spPr>
          <a:xfrm>
            <a:off x="8321040" y="386791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ALENTEJO · FLEUVE GUADIANA</a:t>
            </a:r>
            <a:endParaRPr lang="en-US" sz="1000" dirty="0"/>
          </a:p>
        </p:txBody>
      </p:sp>
      <p:sp>
        <p:nvSpPr>
          <p:cNvPr id="37" name="Shape 34"/>
          <p:cNvSpPr/>
          <p:nvPr/>
        </p:nvSpPr>
        <p:spPr>
          <a:xfrm>
            <a:off x="7680960" y="42976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31596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La grotte de Benagil</a:t>
            </a:r>
            <a:endParaRPr lang="en-US" sz="1600" dirty="0"/>
          </a:p>
        </p:txBody>
      </p:sp>
      <p:sp>
        <p:nvSpPr>
          <p:cNvPr id="40" name="Text 37"/>
          <p:cNvSpPr txBox="1"/>
          <p:nvPr/>
        </p:nvSpPr>
        <p:spPr>
          <a:xfrm>
            <a:off x="8321040" y="473659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ALGARVE · LAGOA</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salina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41732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c'est le plus grand lac artificiel d'Europe occidentale. Il irrigue l'Alentejo, produit de l'électricité et offre un ciel parmi les plus étoilés d'Europe.</a:t>
            </a:r>
            <a:endParaRPr lang="en-US" sz="1400" dirty="0"/>
          </a:p>
        </p:txBody>
      </p:sp>
      <p:sp>
        <p:nvSpPr>
          <p:cNvPr id="8" name="Shape 5"/>
          <p:cNvSpPr/>
          <p:nvPr/>
        </p:nvSpPr>
        <p:spPr>
          <a:xfrm>
            <a:off x="6217920" y="320040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20040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250 km² de surface</a:t>
            </a:r>
            <a:endParaRPr lang="en-US" sz="1300" dirty="0"/>
          </a:p>
        </p:txBody>
      </p:sp>
      <p:sp>
        <p:nvSpPr>
          <p:cNvPr id="10" name="Shape 7"/>
          <p:cNvSpPr/>
          <p:nvPr/>
        </p:nvSpPr>
        <p:spPr>
          <a:xfrm>
            <a:off x="6217920" y="382219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82219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12" name="Shape 9"/>
          <p:cNvSpPr/>
          <p:nvPr/>
        </p:nvSpPr>
        <p:spPr>
          <a:xfrm>
            <a:off x="6492240" y="4672584"/>
            <a:ext cx="1737360" cy="1737360"/>
          </a:xfrm>
          <a:prstGeom prst="ellipse">
            <a:avLst/>
          </a:prstGeom>
          <a:solidFill>
            <a:srgbClr val="2B6CB8"/>
          </a:solidFill>
          <a:ln w="12700">
            <a:solidFill>
              <a:srgbClr val="2B6CB8"/>
            </a:solidFill>
            <a:prstDash val="solid"/>
          </a:ln>
        </p:spPr>
      </p:sp>
      <p:sp>
        <p:nvSpPr>
          <p:cNvPr id="13" name="Text 10"/>
          <p:cNvSpPr txBox="1"/>
          <p:nvPr/>
        </p:nvSpPr>
        <p:spPr>
          <a:xfrm>
            <a:off x="6492240" y="5221224"/>
            <a:ext cx="1737360" cy="64008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580 km²</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Lac Léman</a:t>
            </a:r>
            <a:endParaRPr lang="en-US" sz="1300" dirty="0"/>
          </a:p>
        </p:txBody>
      </p:sp>
      <p:sp>
        <p:nvSpPr>
          <p:cNvPr id="14" name="Shape 11"/>
          <p:cNvSpPr/>
          <p:nvPr/>
        </p:nvSpPr>
        <p:spPr>
          <a:xfrm>
            <a:off x="8595360" y="5269311"/>
            <a:ext cx="1140633" cy="1140633"/>
          </a:xfrm>
          <a:prstGeom prst="ellipse">
            <a:avLst/>
          </a:prstGeom>
          <a:solidFill>
            <a:srgbClr val="3BB3A0"/>
          </a:solidFill>
          <a:ln w="12700">
            <a:solidFill>
              <a:srgbClr val="3BB3A0"/>
            </a:solidFill>
            <a:prstDash val="solid"/>
          </a:ln>
        </p:spPr>
      </p:sp>
      <p:sp>
        <p:nvSpPr>
          <p:cNvPr id="15" name="Text 12"/>
          <p:cNvSpPr txBox="1"/>
          <p:nvPr/>
        </p:nvSpPr>
        <p:spPr>
          <a:xfrm>
            <a:off x="8595360" y="5565308"/>
            <a:ext cx="1140633" cy="548640"/>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250 km²</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Alqueva</a:t>
            </a:r>
            <a:endParaRPr lang="en-US" sz="1100" dirty="0"/>
          </a:p>
        </p:txBody>
      </p:sp>
      <p:sp>
        <p:nvSpPr>
          <p:cNvPr id="16" name="Text 13"/>
          <p:cNvSpPr txBox="1"/>
          <p:nvPr/>
        </p:nvSpPr>
        <p:spPr>
          <a:xfrm>
            <a:off x="9875520" y="4992624"/>
            <a:ext cx="1783080" cy="1280160"/>
          </a:xfrm>
          <a:prstGeom prst="rect">
            <a:avLst/>
          </a:prstGeom>
          <a:noFill/>
          <a:ln/>
        </p:spPr>
        <p:txBody>
          <a:bodyPr wrap="square" lIns="0" tIns="0" rIns="0" bIns="0" rtlCol="0" anchor="t"/>
          <a:lstStyle/>
          <a:p>
            <a:pPr indent="0" marL="0">
              <a:buNone/>
            </a:pPr>
            <a:r>
              <a:rPr lang="en-US" sz="1200" i="1" dirty="0">
                <a:solidFill>
                  <a:srgbClr val="4A524E"/>
                </a:solidFill>
                <a:latin typeface="Calibri" pitchFamily="34" charset="0"/>
                <a:ea typeface="Calibri" pitchFamily="34" charset="-122"/>
                <a:cs typeface="Calibri" pitchFamily="34" charset="-120"/>
              </a:rPr>
              <a:t>Le Léman reste environ 2,3 fois plus grand. Les surfaces sont dessinées à l'échelle.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photos/r-algarve.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vue inoubliable !</a:t>
            </a:r>
            <a:endParaRPr lang="en-US" sz="1100" dirty="0"/>
          </a:p>
        </p:txBody>
      </p:sp>
      <p:pic>
        <p:nvPicPr>
          <p:cNvPr id="13" name="Image 3" descr="/home/user/Portugal-Website/images/luis/jura.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Lissabon - Alfama - Largo de Santa Luzia - Stree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Number 28 tram, Calçada de São Francisco, Lisbon — Jules Verne Times Two</a:t>
            </a:r>
            <a:endParaRPr lang="en-US" sz="1000" dirty="0"/>
          </a:p>
          <a:p>
            <a:pPr indent="0" marL="0">
              <a:spcAft>
                <a:spcPts val="200"/>
              </a:spcAft>
              <a:buNone/>
            </a:pP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htt,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2026-10-24T20:15:52Z</dcterms:created>
  <dcterms:modified xsi:type="dcterms:W3CDTF">2026-10-24T20:15:52Z</dcterms:modified>
</cp:coreProperties>
</file>