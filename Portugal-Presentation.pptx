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dedfe6ff-c5c4-612a-1caf-ca1a0b8aeddc}">
          <p14:sldIdLst>
            <p14:sldId id="256"/>
            <p14:sldId id="257"/>
            <p14:sldId id="258"/>
            <p14:sldId id="259"/>
            <p14:sldId id="260"/>
          </p14:sldIdLst>
        </p14:section>
        <p14:section name="01 Géographie" id="{7a41ead3-0be4-7ed2-3779-193d8e797b0d}">
          <p14:sldIdLst>
            <p14:sldId id="261"/>
            <p14:sldId id="262"/>
            <p14:sldId id="263"/>
            <p14:sldId id="264"/>
            <p14:sldId id="265"/>
          </p14:sldIdLst>
        </p14:section>
        <p14:section name="02 Histoire" id="{c185499a-6f0c-51b1-2d11-5634f05c7138}">
          <p14:sldIdLst>
            <p14:sldId id="266"/>
            <p14:sldId id="267"/>
            <p14:sldId id="268"/>
            <p14:sldId id="269"/>
            <p14:sldId id="270"/>
          </p14:sldIdLst>
        </p14:section>
        <p14:section name="02 Histoire · Institutions" id="{d7163934-39d3-9d60-b605-828209105273}">
          <p14:sldIdLst>
            <p14:sldId id="271"/>
            <p14:sldId id="272"/>
            <p14:sldId id="273"/>
            <p14:sldId id="274"/>
          </p14:sldIdLst>
        </p14:section>
        <p14:section name="03 Société" id="{5af9697d-422e-537b-0bfd-b7c30193f2ef}">
          <p14:sldIdLst>
            <p14:sldId id="275"/>
            <p14:sldId id="276"/>
            <p14:sldId id="277"/>
            <p14:sldId id="278"/>
            <p14:sldId id="279"/>
          </p14:sldIdLst>
        </p14:section>
        <p14:section name="04 Culture" id="{b63b266c-91ee-502e-9f95-95f45278c442}">
          <p14:sldIdLst>
            <p14:sldId id="280"/>
            <p14:sldId id="281"/>
            <p14:sldId id="282"/>
            <p14:sldId id="283"/>
            <p14:sldId id="284"/>
            <p14:sldId id="285"/>
          </p14:sldIdLst>
        </p14:section>
        <p14:section name="05 Sport" id="{8d874aef-a59e-9a67-7bbd-7ef18eb9f360}">
          <p14:sldIdLst>
            <p14:sldId id="286"/>
            <p14:sldId id="287"/>
            <p14:sldId id="288"/>
            <p14:sldId id="289"/>
            <p14:sldId id="290"/>
          </p14:sldIdLst>
        </p14:section>
        <p14:section name="06 Régions" id="{6f719dd4-63c1-4bca-9c12-b66fa6c600f8}">
          <p14:sldIdLst>
            <p14:sldId id="291"/>
            <p14:sldId id="292"/>
            <p14:sldId id="293"/>
            <p14:sldId id="294"/>
            <p14:sldId id="295"/>
          </p14:sldIdLst>
        </p14:section>
        <p14:section name="07 Merveilles" id="{306156c0-9bfa-afa2-372d-063aef60a77d}">
          <p14:sldIdLst>
            <p14:sldId id="296"/>
            <p14:sldId id="297"/>
            <p14:sldId id="298"/>
            <p14:sldId id="299"/>
            <p14:sldId id="300"/>
            <p14:sldId id="301"/>
            <p14:sldId id="302"/>
            <p14:sldId id="303"/>
            <p14:sldId id="304"/>
            <p14:sldId id="305"/>
            <p14:sldId id="306"/>
            <p14:sldId id="307"/>
            <p14:sldId id="308"/>
          </p14:sldIdLst>
        </p14:section>
        <p14:section name="08 Conclusion" id="{c28d2094-3e41-adc3-6230-a7c83f03f649}">
          <p14:sldIdLst>
            <p14:sldId id="309"/>
            <p14:sldId id="310"/>
            <p14:sldId id="311"/>
            <p14:sldId id="312"/>
            <p14:sldId id="313"/>
            <p14:sldId id="314"/>
            <p14:sldId id="315"/>
          </p14:sldIdLst>
        </p14:section>
        <p14:section name="Crédits" id="{b7c2a7b9-ab23-53e0-041d-30996e873df2}">
          <p14:sldIdLst>
            <p14:sldId id="316"/>
            <p14:sldId id="317"/>
            <p14:sldId id="318"/>
            <p14:sldId id="3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privée,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 lac immense irrigue l'Alentejo, produit de l'électricité et offre un ciel parmi les plus étoilés d'Europe. Le plus grand lac artificiel d'Europe occidentale : environ 250 km².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expérience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image" Target="../media/image-28-5.jpg"/><Relationship Id="rId6" Type="http://schemas.openxmlformats.org/officeDocument/2006/relationships/image" Target="../media/image-28-6.jpg"/><Relationship Id="rId7" Type="http://schemas.openxmlformats.org/officeDocument/2006/relationships/image" Target="../media/image-28-7.jpg"/><Relationship Id="rId8" Type="http://schemas.openxmlformats.org/officeDocument/2006/relationships/image" Target="../media/image-28-8.jpg"/><Relationship Id="rId9" Type="http://schemas.openxmlformats.org/officeDocument/2006/relationships/image" Target="../media/image-28-9.jpg"/><Relationship Id="rId10" Type="http://schemas.openxmlformats.org/officeDocument/2006/relationships/image" Target="../media/image-28-10.jpg"/><Relationship Id="rId11" Type="http://schemas.openxmlformats.org/officeDocument/2006/relationships/image" Target="../media/image-28-11.jpg"/><Relationship Id="rId12" Type="http://schemas.openxmlformats.org/officeDocument/2006/relationships/image" Target="../media/image-28-12.jpg"/><Relationship Id="rId13" Type="http://schemas.openxmlformats.org/officeDocument/2006/relationships/slideLayout" Target="../slideLayouts/slideLayout2.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slideLayout" Target="../slideLayouts/slideLayout2.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3-1.jpg"/><Relationship Id="rId3" Type="http://schemas.openxmlformats.org/officeDocument/2006/relationships/image" Target="../media/image-33-2.jp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image" Target="../media/image-37-4.jpg"/><Relationship Id="rId5" Type="http://schemas.openxmlformats.org/officeDocument/2006/relationships/image" Target="../media/image-37-5.jpg"/><Relationship Id="rId6" Type="http://schemas.openxmlformats.org/officeDocument/2006/relationships/image" Target="../media/image-37-6.jpg"/><Relationship Id="rId7" Type="http://schemas.openxmlformats.org/officeDocument/2006/relationships/image" Target="../media/image-37-7.jpg"/><Relationship Id="rId8" Type="http://schemas.openxmlformats.org/officeDocument/2006/relationships/slideLayout" Target="../slideLayouts/slideLayout2.xml"/><Relationship Id="rId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39-1.jpg"/><Relationship Id="rId3" Type="http://schemas.openxmlformats.org/officeDocument/2006/relationships/slideLayout" Target="../slideLayouts/slideLayout3.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0-1.jp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3-1.jp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image" Target="../media/image-44-2.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image" Target="../media/image-48-2.jpg"/><Relationship Id="rId3" Type="http://schemas.openxmlformats.org/officeDocument/2006/relationships/slideLayout" Target="../slideLayouts/slideLayout2.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50-2.jpg"/><Relationship Id="rId3" Type="http://schemas.openxmlformats.org/officeDocument/2006/relationships/slideLayout" Target="../slideLayouts/slideLayout2.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image" Target="../media/image-53-2.jpg"/><Relationship Id="rId3" Type="http://schemas.openxmlformats.org/officeDocument/2006/relationships/slideLayout" Target="../slideLayouts/slideLayout2.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jpg"/><Relationship Id="rId3" Type="http://schemas.openxmlformats.org/officeDocument/2006/relationships/image" Target="../media/image-55-3.jpg"/><Relationship Id="rId4" Type="http://schemas.openxmlformats.org/officeDocument/2006/relationships/slideLayout" Target="../slideLayouts/slideLayout2.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image" Target="../media/image-56-4.jpg"/><Relationship Id="rId5" Type="http://schemas.openxmlformats.org/officeDocument/2006/relationships/image" Target="../media/image-56-5.jpg"/><Relationship Id="rId6" Type="http://schemas.openxmlformats.org/officeDocument/2006/relationships/image" Target="../media/image-56-6.jpg"/><Relationship Id="rId7" Type="http://schemas.openxmlformats.org/officeDocument/2006/relationships/slideLayout" Target="../slideLayouts/slideLayout2.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slideLayout" Target="../slideLayouts/slideLayout2.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www.loja-europeixe.ch/" TargetMode="External"/><Relationship Id="rId4" Type="http://schemas.openxmlformats.org/officeDocument/2006/relationships/hyperlink" Target="https://share.google/KC0aDwi6yydgWgbBS" TargetMode="External"/><Relationship Id="rId1" Type="http://schemas.openxmlformats.org/officeDocument/2006/relationships/image" Target="../media/image-59-1.jpg"/><Relationship Id="rId3" Type="http://schemas.openxmlformats.org/officeDocument/2006/relationships/image" Target="../media/image-59-2.jpg"/><Relationship Id="rId5" Type="http://schemas.openxmlformats.org/officeDocument/2006/relationships/slideLayout" Target="../slideLayouts/slideLayout2.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image" Target="../media/image-60-2.jp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privée,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103120" cy="1554480"/>
          </a:xfrm>
          <a:prstGeom prst="rect">
            <a:avLst/>
          </a:prstGeom>
          <a:solidFill>
            <a:srgbClr val="F1F4F2"/>
          </a:solidFill>
          <a:ln w="12700">
            <a:solidFill>
              <a:srgbClr val="F1F4F2"/>
            </a:solidFill>
            <a:prstDash val="solid"/>
          </a:ln>
        </p:spPr>
      </p:sp>
      <p:sp>
        <p:nvSpPr>
          <p:cNvPr id="6" name="Text 4"/>
          <p:cNvSpPr txBox="1"/>
          <p:nvPr/>
        </p:nvSpPr>
        <p:spPr>
          <a:xfrm>
            <a:off x="548640" y="2011680"/>
            <a:ext cx="2103120" cy="731520"/>
          </a:xfrm>
          <a:prstGeom prst="rect">
            <a:avLst/>
          </a:prstGeom>
          <a:noFill/>
          <a:ln/>
        </p:spPr>
        <p:txBody>
          <a:bodyPr wrap="square" lIns="0" tIns="0" rIns="0" bIns="0" rtlCol="0" anchor="t"/>
          <a:lstStyle/>
          <a:p>
            <a:pPr algn="ctr" indent="0" marL="0">
              <a:buNone/>
            </a:pPr>
            <a:r>
              <a:rPr lang="en-US" sz="3000" b="1" dirty="0">
                <a:solidFill>
                  <a:srgbClr val="174A3A"/>
                </a:solidFill>
                <a:latin typeface="Cambria" pitchFamily="34" charset="0"/>
                <a:ea typeface="Cambria" pitchFamily="34" charset="-122"/>
                <a:cs typeface="Cambria" pitchFamily="34" charset="-120"/>
              </a:rPr>
              <a:t>78 Md €</a:t>
            </a:r>
            <a:endParaRPr lang="en-US" sz="3000" dirty="0"/>
          </a:p>
        </p:txBody>
      </p:sp>
      <p:sp>
        <p:nvSpPr>
          <p:cNvPr id="7" name="Text 5"/>
          <p:cNvSpPr txBox="1"/>
          <p:nvPr/>
        </p:nvSpPr>
        <p:spPr>
          <a:xfrm>
            <a:off x="68580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La crise de 2011</a:t>
            </a:r>
            <a:endParaRPr lang="en-US" sz="1500" dirty="0"/>
          </a:p>
        </p:txBody>
      </p:sp>
      <p:sp>
        <p:nvSpPr>
          <p:cNvPr id="8" name="Text 6"/>
          <p:cNvSpPr txBox="1"/>
          <p:nvPr/>
        </p:nvSpPr>
        <p:spPr>
          <a:xfrm>
            <a:off x="68580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100" dirty="0"/>
          </a:p>
        </p:txBody>
      </p:sp>
      <p:sp>
        <p:nvSpPr>
          <p:cNvPr id="9" name="Shape 7"/>
          <p:cNvSpPr/>
          <p:nvPr/>
        </p:nvSpPr>
        <p:spPr>
          <a:xfrm>
            <a:off x="278892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2788920" y="1600200"/>
            <a:ext cx="2103120" cy="1554480"/>
          </a:xfrm>
          <a:prstGeom prst="rect">
            <a:avLst/>
          </a:prstGeom>
        </p:spPr>
      </p:pic>
      <p:sp>
        <p:nvSpPr>
          <p:cNvPr id="11" name="Text 8"/>
          <p:cNvSpPr txBox="1"/>
          <p:nvPr/>
        </p:nvSpPr>
        <p:spPr>
          <a:xfrm>
            <a:off x="292608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Champion du renouvelable</a:t>
            </a:r>
            <a:endParaRPr lang="en-US" sz="1500" dirty="0"/>
          </a:p>
        </p:txBody>
      </p:sp>
      <p:sp>
        <p:nvSpPr>
          <p:cNvPr id="12" name="Text 9"/>
          <p:cNvSpPr txBox="1"/>
          <p:nvPr/>
        </p:nvSpPr>
        <p:spPr>
          <a:xfrm>
            <a:off x="292608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100" dirty="0"/>
          </a:p>
        </p:txBody>
      </p:sp>
      <p:sp>
        <p:nvSpPr>
          <p:cNvPr id="13" name="Shape 10"/>
          <p:cNvSpPr/>
          <p:nvPr/>
        </p:nvSpPr>
        <p:spPr>
          <a:xfrm>
            <a:off x="502920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5029200" y="1600200"/>
            <a:ext cx="2103120" cy="1554480"/>
          </a:xfrm>
          <a:prstGeom prst="rect">
            <a:avLst/>
          </a:prstGeom>
        </p:spPr>
      </p:pic>
      <p:sp>
        <p:nvSpPr>
          <p:cNvPr id="15" name="Text 11"/>
          <p:cNvSpPr txBox="1"/>
          <p:nvPr/>
        </p:nvSpPr>
        <p:spPr>
          <a:xfrm>
            <a:off x="5166360" y="3246120"/>
            <a:ext cx="1828800" cy="274320"/>
          </a:xfrm>
          <a:prstGeom prst="rect">
            <a:avLst/>
          </a:prstGeom>
          <a:noFill/>
          <a:ln/>
        </p:spPr>
        <p:txBody>
          <a:bodyPr wrap="square" lIns="0" tIns="0" rIns="0" bIns="0" rtlCol="0" anchor="t"/>
          <a:lstStyle/>
          <a:p>
            <a:pPr indent="0" marL="0">
              <a:buNone/>
            </a:pPr>
            <a:r>
              <a:rPr lang="en-US" sz="1100" b="1" i="1" dirty="0">
                <a:solidFill>
                  <a:srgbClr val="A83232"/>
                </a:solidFill>
                <a:latin typeface="Calibri" pitchFamily="34" charset="0"/>
                <a:ea typeface="Calibri" pitchFamily="34" charset="-122"/>
                <a:cs typeface="Calibri" pitchFamily="34" charset="-120"/>
              </a:rPr>
              <a:t>Cortiça</a:t>
            </a:r>
            <a:endParaRPr lang="en-US" sz="1100" dirty="0"/>
          </a:p>
        </p:txBody>
      </p:sp>
      <p:sp>
        <p:nvSpPr>
          <p:cNvPr id="16" name="Text 12"/>
          <p:cNvSpPr txBox="1"/>
          <p:nvPr/>
        </p:nvSpPr>
        <p:spPr>
          <a:xfrm>
            <a:off x="516636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Le pays du liège</a:t>
            </a:r>
            <a:endParaRPr lang="en-US" sz="1500" dirty="0"/>
          </a:p>
        </p:txBody>
      </p:sp>
      <p:sp>
        <p:nvSpPr>
          <p:cNvPr id="17" name="Text 13"/>
          <p:cNvSpPr txBox="1"/>
          <p:nvPr/>
        </p:nvSpPr>
        <p:spPr>
          <a:xfrm>
            <a:off x="516636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100" dirty="0"/>
          </a:p>
        </p:txBody>
      </p:sp>
      <p:sp>
        <p:nvSpPr>
          <p:cNvPr id="18" name="Shape 14"/>
          <p:cNvSpPr/>
          <p:nvPr/>
        </p:nvSpPr>
        <p:spPr>
          <a:xfrm>
            <a:off x="726948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9" name="Image 2" descr="/home/user/Portugal-Website/images/photos/x-olival.jpg">    </p:cNvPr>
          <p:cNvPicPr>
            <a:picLocks noChangeAspect="1"/>
          </p:cNvPicPr>
          <p:nvPr/>
        </p:nvPicPr>
        <p:blipFill>
          <a:blip r:embed="rId3"/>
          <a:srcRect l="0" r="0" t="0" b="0"/>
          <a:stretch/>
        </p:blipFill>
        <p:spPr>
          <a:xfrm>
            <a:off x="7269480" y="1600200"/>
            <a:ext cx="2103120" cy="1554480"/>
          </a:xfrm>
          <a:prstGeom prst="rect">
            <a:avLst/>
          </a:prstGeom>
        </p:spPr>
      </p:pic>
      <p:sp>
        <p:nvSpPr>
          <p:cNvPr id="20" name="Text 15"/>
          <p:cNvSpPr txBox="1"/>
          <p:nvPr/>
        </p:nvSpPr>
        <p:spPr>
          <a:xfrm>
            <a:off x="7406640" y="3246120"/>
            <a:ext cx="1828800" cy="274320"/>
          </a:xfrm>
          <a:prstGeom prst="rect">
            <a:avLst/>
          </a:prstGeom>
          <a:noFill/>
          <a:ln/>
        </p:spPr>
        <p:txBody>
          <a:bodyPr wrap="square" lIns="0" tIns="0" rIns="0" bIns="0" rtlCol="0" anchor="t"/>
          <a:lstStyle/>
          <a:p>
            <a:pPr indent="0" marL="0">
              <a:buNone/>
            </a:pPr>
            <a:r>
              <a:rPr lang="en-US" sz="1100" b="1" i="1" dirty="0">
                <a:solidFill>
                  <a:srgbClr val="A83232"/>
                </a:solidFill>
                <a:latin typeface="Calibri" pitchFamily="34" charset="0"/>
                <a:ea typeface="Calibri" pitchFamily="34" charset="-122"/>
                <a:cs typeface="Calibri" pitchFamily="34" charset="-120"/>
              </a:rPr>
              <a:t>Azeite</a:t>
            </a:r>
            <a:endParaRPr lang="en-US" sz="1100" dirty="0"/>
          </a:p>
        </p:txBody>
      </p:sp>
      <p:sp>
        <p:nvSpPr>
          <p:cNvPr id="21" name="Text 16"/>
          <p:cNvSpPr txBox="1"/>
          <p:nvPr/>
        </p:nvSpPr>
        <p:spPr>
          <a:xfrm>
            <a:off x="740664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L'or vert</a:t>
            </a:r>
            <a:endParaRPr lang="en-US" sz="1500" dirty="0"/>
          </a:p>
        </p:txBody>
      </p:sp>
      <p:sp>
        <p:nvSpPr>
          <p:cNvPr id="22" name="Text 17"/>
          <p:cNvSpPr txBox="1"/>
          <p:nvPr/>
        </p:nvSpPr>
        <p:spPr>
          <a:xfrm>
            <a:off x="740664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Sur la table portugaise, l'azeite est partout : sur la morue, les légumes, ou simplement avec du pain.</a:t>
            </a:r>
            <a:endParaRPr lang="en-US" sz="1100" dirty="0"/>
          </a:p>
        </p:txBody>
      </p:sp>
      <p:sp>
        <p:nvSpPr>
          <p:cNvPr id="23" name="Shape 18"/>
          <p:cNvSpPr/>
          <p:nvPr/>
        </p:nvSpPr>
        <p:spPr>
          <a:xfrm>
            <a:off x="950976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4" name="Shape 19"/>
          <p:cNvSpPr/>
          <p:nvPr/>
        </p:nvSpPr>
        <p:spPr>
          <a:xfrm>
            <a:off x="9509760" y="1600200"/>
            <a:ext cx="2103120" cy="1554480"/>
          </a:xfrm>
          <a:prstGeom prst="rect">
            <a:avLst/>
          </a:prstGeom>
          <a:solidFill>
            <a:srgbClr val="EAF0F8"/>
          </a:solidFill>
          <a:ln w="12700">
            <a:solidFill>
              <a:srgbClr val="F1F4F2"/>
            </a:solidFill>
            <a:prstDash val="solid"/>
          </a:ln>
        </p:spPr>
      </p:sp>
      <p:sp>
        <p:nvSpPr>
          <p:cNvPr id="25" name="Text 20"/>
          <p:cNvSpPr txBox="1"/>
          <p:nvPr/>
        </p:nvSpPr>
        <p:spPr>
          <a:xfrm>
            <a:off x="9509760" y="2011680"/>
            <a:ext cx="2103120" cy="731520"/>
          </a:xfrm>
          <a:prstGeom prst="rect">
            <a:avLst/>
          </a:prstGeom>
          <a:noFill/>
          <a:ln/>
        </p:spPr>
        <p:txBody>
          <a:bodyPr wrap="square" lIns="0" tIns="0" rIns="0" bIns="0" rtlCol="0" anchor="t"/>
          <a:lstStyle/>
          <a:p>
            <a:pPr algn="ctr" indent="0" marL="0">
              <a:buNone/>
            </a:pPr>
            <a:r>
              <a:rPr lang="en-US" sz="3000" b="1" dirty="0">
                <a:solidFill>
                  <a:srgbClr val="174A3A"/>
                </a:solidFill>
                <a:latin typeface="Cambria" pitchFamily="34" charset="0"/>
                <a:ea typeface="Cambria" pitchFamily="34" charset="-122"/>
                <a:cs typeface="Cambria" pitchFamily="34" charset="-120"/>
              </a:rPr>
              <a:t>1,5 M</a:t>
            </a:r>
            <a:endParaRPr lang="en-US" sz="3000" dirty="0"/>
          </a:p>
        </p:txBody>
      </p:sp>
      <p:sp>
        <p:nvSpPr>
          <p:cNvPr id="26" name="Text 21"/>
          <p:cNvSpPr txBox="1"/>
          <p:nvPr/>
        </p:nvSpPr>
        <p:spPr>
          <a:xfrm>
            <a:off x="964692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Terre d'accueil</a:t>
            </a:r>
            <a:endParaRPr lang="en-US" sz="1500" dirty="0"/>
          </a:p>
        </p:txBody>
      </p:sp>
      <p:sp>
        <p:nvSpPr>
          <p:cNvPr id="27" name="Text 22"/>
          <p:cNvSpPr txBox="1"/>
          <p:nvPr/>
        </p:nvSpPr>
        <p:spPr>
          <a:xfrm>
            <a:off x="964692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 Et en 2024, un record de 29 millions de touristes étrangers l'ont visité, près de trois fois sa population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Dinis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wide.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ponte-25-abril.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pont 25 Avril et la statue du Cristo Rei.</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10" name="Shape 6"/>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11" name="Text 7"/>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12" name="Text 8"/>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3" name="Shape 9"/>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5" name="Shape 11"/>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6" name="Text 12"/>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17" name="Text 13"/>
          <p:cNvSpPr txBox="1"/>
          <p:nvPr/>
        </p:nvSpPr>
        <p:spPr>
          <a:xfrm>
            <a:off x="6217920" y="5221224"/>
            <a:ext cx="5440680" cy="365760"/>
          </a:xfrm>
          <a:prstGeom prst="rect">
            <a:avLst/>
          </a:prstGeom>
          <a:noFill/>
          <a:ln/>
        </p:spPr>
        <p:txBody>
          <a:bodyPr wrap="square" lIns="0" tIns="0" rIns="0" bIns="0" rtlCol="0" anchor="t"/>
          <a:lstStyle/>
          <a:p>
            <a:pPr indent="0" marL="0">
              <a:buNone/>
            </a:pPr>
            <a:r>
              <a:rPr lang="en-US" sz="1500" b="1" dirty="0">
                <a:solidFill>
                  <a:srgbClr val="1E4F8F"/>
                </a:solidFill>
                <a:latin typeface="Cambria" pitchFamily="34" charset="0"/>
                <a:ea typeface="Cambria" pitchFamily="34" charset="-122"/>
                <a:cs typeface="Cambria" pitchFamily="34" charset="-120"/>
              </a:rPr>
              <a:t>Et juste à côté : le pont 25 Avril</a:t>
            </a:r>
            <a:endParaRPr lang="en-US" sz="1500" dirty="0"/>
          </a:p>
        </p:txBody>
      </p:sp>
      <p:sp>
        <p:nvSpPr>
          <p:cNvPr id="18" name="Text 14"/>
          <p:cNvSpPr txBox="1"/>
          <p:nvPr/>
        </p:nvSpPr>
        <p:spPr>
          <a:xfrm>
            <a:off x="6217920" y="5586984"/>
            <a:ext cx="5440680" cy="14630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grand pont suspendu rouge enjambe le Tage depuis 1966. Avec sa couleur et ses hautes tours, il ressemble beaucoup au Golden Gate de San Francisco ; il a d'ailleurs été construit par une entreprise américaine. Il porte le nom de la Révolution des Œillets du 25 avril 1974. Environ 2,3 km de long. Voitures en haut, trains en bas.</a:t>
            </a:r>
            <a:endParaRPr lang="en-US" sz="11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 lac immense irrigue l'Alentejo, produit de l'électricité et offre un ciel parmi les plus étoilés d'Europe.</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grand lac artificiel d'Europe occidentale : environ 250 km²</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expérience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REMERCIEMENTS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grand merci !</a:t>
            </a:r>
            <a:endParaRPr lang="en-US" sz="3400" dirty="0"/>
          </a:p>
        </p:txBody>
      </p:sp>
      <p:sp>
        <p:nvSpPr>
          <p:cNvPr id="4" name="Text 2"/>
          <p:cNvSpPr txBox="1"/>
          <p:nvPr/>
        </p:nvSpPr>
        <p:spPr>
          <a:xfrm>
            <a:off x="548640" y="1371600"/>
            <a:ext cx="10972800" cy="45720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Cette présentation a aussi un goût de Portugal grâce à deux commerces portugais de la région.</a:t>
            </a:r>
            <a:endParaRPr lang="en-US" sz="1500" dirty="0"/>
          </a:p>
        </p:txBody>
      </p:sp>
      <p:sp>
        <p:nvSpPr>
          <p:cNvPr id="5" name="Shape 3"/>
          <p:cNvSpPr/>
          <p:nvPr/>
        </p:nvSpPr>
        <p:spPr>
          <a:xfrm>
            <a:off x="54864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luis/europeixe.jpg">    </p:cNvPr>
          <p:cNvPicPr>
            <a:picLocks noChangeAspect="1"/>
          </p:cNvPicPr>
          <p:nvPr/>
        </p:nvPicPr>
        <p:blipFill>
          <a:blip r:embed="rId1"/>
          <a:srcRect l="0" r="0" t="0" b="0"/>
          <a:stretch/>
        </p:blipFill>
        <p:spPr>
          <a:xfrm>
            <a:off x="548640" y="1965960"/>
            <a:ext cx="5394960" cy="2194560"/>
          </a:xfrm>
          <a:prstGeom prst="rect">
            <a:avLst/>
          </a:prstGeom>
        </p:spPr>
      </p:pic>
      <p:sp>
        <p:nvSpPr>
          <p:cNvPr id="7" name="Text 4"/>
          <p:cNvSpPr txBox="1"/>
          <p:nvPr/>
        </p:nvSpPr>
        <p:spPr>
          <a:xfrm>
            <a:off x="77724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Europeixe</a:t>
            </a:r>
            <a:endParaRPr lang="en-US" sz="2400" dirty="0"/>
          </a:p>
        </p:txBody>
      </p:sp>
      <p:sp>
        <p:nvSpPr>
          <p:cNvPr id="8" name="Text 5"/>
          <p:cNvSpPr txBox="1"/>
          <p:nvPr/>
        </p:nvSpPr>
        <p:spPr>
          <a:xfrm>
            <a:off x="77724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MAGASIN PORTUGAIS · AIGLE</a:t>
            </a:r>
            <a:endParaRPr lang="en-US" sz="1000" dirty="0"/>
          </a:p>
        </p:txBody>
      </p:sp>
      <p:sp>
        <p:nvSpPr>
          <p:cNvPr id="9" name="Text 6"/>
          <p:cNvSpPr txBox="1"/>
          <p:nvPr/>
        </p:nvSpPr>
        <p:spPr>
          <a:xfrm>
            <a:off x="77724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Épicerie et produits portugais. Europeixe a généreusement offert les produits que vous pouvez goûter aujourd'hui. Muito obrigado !</a:t>
            </a:r>
            <a:endParaRPr lang="en-US" sz="1250" dirty="0"/>
          </a:p>
        </p:txBody>
      </p:sp>
      <p:sp>
        <p:nvSpPr>
          <p:cNvPr id="10" name="Text 7"/>
          <p:cNvSpPr txBox="1"/>
          <p:nvPr/>
        </p:nvSpPr>
        <p:spPr>
          <a:xfrm>
            <a:off x="77724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loja-europeixe.ch  →</a:t>
            </a:r>
            <a:endParaRPr lang="en-US" sz="1200" dirty="0"/>
          </a:p>
        </p:txBody>
      </p:sp>
      <p:sp>
        <p:nvSpPr>
          <p:cNvPr id="11" name="Shape 8"/>
          <p:cNvSpPr/>
          <p:nvPr/>
        </p:nvSpPr>
        <p:spPr>
          <a:xfrm>
            <a:off x="621792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luis/nortejo-vitrine.jpg">    </p:cNvPr>
          <p:cNvPicPr>
            <a:picLocks noChangeAspect="1"/>
          </p:cNvPicPr>
          <p:nvPr/>
        </p:nvPicPr>
        <p:blipFill>
          <a:blip r:embed="rId3"/>
          <a:srcRect l="0" r="0" t="0" b="0"/>
          <a:stretch/>
        </p:blipFill>
        <p:spPr>
          <a:xfrm>
            <a:off x="6217920" y="1965960"/>
            <a:ext cx="5394960" cy="2194560"/>
          </a:xfrm>
          <a:prstGeom prst="rect">
            <a:avLst/>
          </a:prstGeom>
        </p:spPr>
      </p:pic>
      <p:sp>
        <p:nvSpPr>
          <p:cNvPr id="13" name="Text 9"/>
          <p:cNvSpPr txBox="1"/>
          <p:nvPr/>
        </p:nvSpPr>
        <p:spPr>
          <a:xfrm>
            <a:off x="644652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Nortejo</a:t>
            </a:r>
            <a:endParaRPr lang="en-US" sz="2400" dirty="0"/>
          </a:p>
        </p:txBody>
      </p:sp>
      <p:sp>
        <p:nvSpPr>
          <p:cNvPr id="14" name="Text 10"/>
          <p:cNvSpPr txBox="1"/>
          <p:nvPr/>
        </p:nvSpPr>
        <p:spPr>
          <a:xfrm>
            <a:off x="644652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PÂTISSERIE PORTUGAISE</a:t>
            </a:r>
            <a:endParaRPr lang="en-US" sz="1000" dirty="0"/>
          </a:p>
        </p:txBody>
      </p:sp>
      <p:sp>
        <p:nvSpPr>
          <p:cNvPr id="15" name="Text 11"/>
          <p:cNvSpPr txBox="1"/>
          <p:nvPr/>
        </p:nvSpPr>
        <p:spPr>
          <a:xfrm>
            <a:off x="644652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Les douceurs portugaises servies aujourd'hui viennent de la pâtisserie Nortejo : pastéis de nata et autres gourmandises. Obrigado !</a:t>
            </a:r>
            <a:endParaRPr lang="en-US" sz="1250" dirty="0"/>
          </a:p>
        </p:txBody>
      </p:sp>
      <p:sp>
        <p:nvSpPr>
          <p:cNvPr id="16" name="Text 12"/>
          <p:cNvSpPr txBox="1"/>
          <p:nvPr/>
        </p:nvSpPr>
        <p:spPr>
          <a:xfrm>
            <a:off x="644652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Voir sur Google  →</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2026-10-27T22:42:27Z</dcterms:created>
  <dcterms:modified xsi:type="dcterms:W3CDTF">2026-10-27T22:42:27Z</dcterms:modified>
</cp:coreProperties>
</file>