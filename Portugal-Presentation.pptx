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ccueil" id="{48b8cb9d-8ef3-35b6-34c1-5a3145933ee8}">
          <p14:sldIdLst>
            <p14:sldId id="256"/>
            <p14:sldId id="257"/>
            <p14:sldId id="258"/>
            <p14:sldId id="259"/>
            <p14:sldId id="260"/>
          </p14:sldIdLst>
        </p14:section>
        <p14:section name="01 Géographie" id="{570fa28f-03bc-52ce-9484-722f64c16956}">
          <p14:sldIdLst>
            <p14:sldId id="261"/>
            <p14:sldId id="262"/>
            <p14:sldId id="263"/>
            <p14:sldId id="264"/>
            <p14:sldId id="265"/>
          </p14:sldIdLst>
        </p14:section>
        <p14:section name="02 Histoire" id="{a31363a5-482f-0c4e-6390-f3f76e4166c1}">
          <p14:sldIdLst>
            <p14:sldId id="266"/>
            <p14:sldId id="267"/>
            <p14:sldId id="268"/>
            <p14:sldId id="269"/>
            <p14:sldId id="270"/>
          </p14:sldIdLst>
        </p14:section>
        <p14:section name="02 Histoire · Institutions" id="{b44d5c21-2c69-40d8-1db5-45c1ca9a63fa}">
          <p14:sldIdLst>
            <p14:sldId id="271"/>
            <p14:sldId id="272"/>
            <p14:sldId id="273"/>
            <p14:sldId id="274"/>
          </p14:sldIdLst>
        </p14:section>
        <p14:section name="03 Société" id="{46c7c00c-2dfb-a428-1db5-207c44ac50c0}">
          <p14:sldIdLst>
            <p14:sldId id="275"/>
            <p14:sldId id="276"/>
            <p14:sldId id="277"/>
            <p14:sldId id="278"/>
            <p14:sldId id="279"/>
            <p14:sldId id="280"/>
          </p14:sldIdLst>
        </p14:section>
        <p14:section name="04 Culture" id="{c732ea9a-7381-db7f-4c56-dcc7609c38df}">
          <p14:sldIdLst>
            <p14:sldId id="281"/>
            <p14:sldId id="282"/>
            <p14:sldId id="283"/>
            <p14:sldId id="284"/>
            <p14:sldId id="285"/>
            <p14:sldId id="286"/>
          </p14:sldIdLst>
        </p14:section>
        <p14:section name="05 Sport" id="{d42c006d-5d05-f5dd-429f-feb3fcf10465}">
          <p14:sldIdLst>
            <p14:sldId id="287"/>
            <p14:sldId id="288"/>
            <p14:sldId id="289"/>
            <p14:sldId id="290"/>
            <p14:sldId id="291"/>
          </p14:sldIdLst>
        </p14:section>
        <p14:section name="06 Régions" id="{560c4de2-cc94-1be3-bb7a-0f246c1ad930}">
          <p14:sldIdLst>
            <p14:sldId id="292"/>
            <p14:sldId id="293"/>
            <p14:sldId id="294"/>
            <p14:sldId id="295"/>
            <p14:sldId id="296"/>
          </p14:sldIdLst>
        </p14:section>
        <p14:section name="07 Merveilles" id="{47007fb6-2d53-f8b1-8157-261f58119232}">
          <p14:sldIdLst>
            <p14:sldId id="297"/>
            <p14:sldId id="298"/>
            <p14:sldId id="299"/>
            <p14:sldId id="300"/>
            <p14:sldId id="301"/>
            <p14:sldId id="302"/>
            <p14:sldId id="303"/>
            <p14:sldId id="304"/>
            <p14:sldId id="305"/>
            <p14:sldId id="306"/>
            <p14:sldId id="307"/>
            <p14:sldId id="308"/>
            <p14:sldId id="309"/>
          </p14:sldIdLst>
        </p14:section>
        <p14:section name="08 Conclusion" id="{53066742-0355-6572-70ad-e6d5735e7400}">
          <p14:sldIdLst>
            <p14:sldId id="310"/>
            <p14:sldId id="311"/>
            <p14:sldId id="312"/>
            <p14:sldId id="313"/>
            <p14:sldId id="314"/>
            <p14:sldId id="315"/>
            <p14:sldId id="316"/>
          </p14:sldIdLst>
        </p14:section>
        <p14:section name="Crédits" id="{4575a9ee-b0b0-667b-0fb5-645f810c3ec7}">
          <p14:sldIdLst>
            <p14:sldId id="317"/>
            <p14:sldId id="318"/>
            <p14:sldId id="319"/>
            <p14:sldId id="32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Bienvenue. « Un petit pays au bord de l'Atlantique, avec une grande histoire, une culture riche et beaucoup de soleil.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suis Luís Marques, originaire de Caramulo (Viseu). Arrivé en Suisse en 2013. Agent de sécurité privée, responsable du centre de sécurité.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Capitale Lisbonne, environ 10,6 millions d'habitants, 92 212 km², langue portugaise, euro, façade sur l'océan Atlantique.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Portugal, entre l'Europe et l'Atlantique. Un pays à la taille modeste, mais d'une richesse géographique exceptionnelle.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Portugal est situé sur la péninsule Ibérique, bordé à l'est et au nord par l'Espagne et à l'ouest et au sud par l'océan Atlantique.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climat du Portugal est influencé par le courant du Nord (océan Atlantique) et par les masses d'air chaudes venant du nord de l'Afrique.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peuple de navigateurs, une histoire de découvertes. Petite nation, grand destin : le Portugal a joué un rôle majeur dans l'histoire du monde, de la mer aux idées.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1143 : Traité de Zamora : le royaume de Portugal est reconnu. Dom Afonso Henriques devient son premier roi.
1415 : Prise de Ceuta : début de l'expansion maritime portugaise.
1494 : Traité de Tordesillas : le Portugal et l'Espagne se partagent les terres à découvrir.
1498 : Vasco de Gama atteint l'Inde par la mer en contournant l'Afrique.
1500 : Pedro Álvares Cabral arrive au Brésil.
1755 : Un tremblement de terre suivi d'un tsunami détruit Lisbonne. Le marquis de Pombal reconstruit la ville.
1910 : Fin de la monarchie : la République est proclamée le 5 octobre.
1974 : Révolution des Œillets (25 avril) : fin de la dictature de l'Estado Novo.
1986 : Le Portugal entre dans la Communauté européenne, l'actuelle Union européenne.
1999 : Macao est rendue à la Chine : fin de près de six siècles d'empire.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monde coupé en deux — En 1494, le Portugal et l'Espagne signent le traité de Tordesillas : une ligne imaginaire, tracée du nord au sud dans l'Atlantique, partage entre eux les terres à découvrir. C'est à cause de cette ligne qu'on parle aujourd'hui portugais au Brésil.
Les premiers Européens au Japon — En 1543, des marchands portugais débarquent sur l'île de Tanegashima : ce sont les premiers Européens à atteindre le Japon. Ils y apportent les armes à feu, le pain — en japonais, « pan » vient du portugais « pão » — et, selon une théorie répandue, l'idée de la tempura.
Le jour où Lisbonne a tremblé — Le 1er novembre 1755, un séisme suivi d'un tsunami et d'incendies détruit Lisbonne et fait des dizaines de milliers de morts. Le marquis de Pombal reconstruit la Baixa avec des rues droites et la « gaiola pombalina », une cage en bois qui protège les immeubles des secousses : l'une des premières constructions parasismiques au monde. Son enquête auprès des paroisses est considérée comme l'un des débuts de la sismologie moderne.
Un consul contre la dictature — En juin 1940, à Bordeaux, le consul Aristides de Sousa Mendes désobéit aux ordres de Salazar et délivre des visas à des milliers de réfugiés fuyant les nazis, dont de nombreux Juifs. Sanctionné et privé de sa carrière, il meurt dans la pauvreté en 1954. Il est reconnu « Juste parmi les nations » en 1966 et honoré au Panthéon national portugais en 2021.
48 ans de dictature — De 1926 à 1974, le Portugal vit sous une dictature, dirigée surtout par António de Oliveira Salazar : censure, police politique (la PIDE), prisonniers politiques. Le pays reste pauvre et isolé. Dans les années 1960, des centaines de milliers de Portugais émigrent, souvent clandestinement — « a salto » — vers la France.
La fin d'un empire — De 1961 à 1974, le Portugal mène une guerre en Angola, en Guinée-Bissau et au Mozambique pour garder ses colonies. Après la Révolution des Œillets, elles deviennent indépendantes et des centaines de milliers de « retornados » rentrent au Portugal. En 1999, la remise de Macao à la Chine met fin à près de six siècles d'empire.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république démocratique au cœur de l'Europe. Depuis la Révolution des Œillets de 1974, le Portugal est une démocratie stable, fondée sur la Constitution de 1976.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25 avril 1974, de jeunes officiers renversent presque sans violence la dictature de l'Estado Novo, au pouvoir depuis 48 ans. Le signal est donné par deux chansons à la radio : le 24 avril à 22 h 55, « E Depois do Adeus » de Paulo de Carvalho, sur les Emissores Associados de Lisboa, prévient les militaires de se préparer ; puis à 0 h 20, « Grândola, Vila Morena » de Zeca Afonso, sur Rádio Renascença, lance les opérations. La population offre des œillets rouges aux soldats, qui les glissent dans le canon de leurs fusils.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peuple chaleureux, ouvert sur le monde. Famille, accueil et saudade : les Portugais sont attachés à leurs traditions et présents sur tous les continents.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Environ 2 millions de personnes nées au Portugal vivent à l'étranger, sans compter leurs descendants. Les plus grandes communautés se trouvent notamment en France, en Suisse, au Royaume-Uni, en Espagne, aux États-Unis et au Brésil. Environ 250 000 Portugais vivent en Suisse : l'une des plus grandes communautés étrangères du pays. J'en fais partie depuis 2013.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Fado, azulejos et saveurs de l'Atlantique. Une culture façonnée par la mer, la musique et la table, transmise de génération en génération.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Bacalhau : La morue, plat national. On dit qu'il existe plus de 365 recettes : une pour chaque jour de l'année !
Pastel de nata : Petit flan à la crème dans une pâte feuilletée, né au monastère des Hiéronymites à Belém.
Francesinha : La spécialité de Porto : un sandwich généreux nappé de fromage fondu et d'une sauce épicée.
Sardinhas assadas : Sardines grillées, reines des fêtes populaires de juin.
Caldo verde : Soupe au chou vert, à la pomme de terre et au chouriço.
Leitão da Bairrada : Cochon de lait rôti, spécialité de la Bairrada, tout près de chez moi.
Polvo à lagareiro : Poulpe rôti au four avec beaucoup d'huile d'olive et d'ail, servi avec des pommes de terre « a murro », écrasées d'un coup de poing.
Cataplana : Fruits de mer cuits à l'étouffée dans une casserole en cuivre en forme de coquillage : la spécialité de l'Algarve.
Bifana : Petit pain garni de porc mariné à l'ail et au vin blanc : le casse-croûte préféré des Portugais.
Queijo da Serra : Fromage de brebis si crémeux qu'on le mange à la cuillère, fabriqué dans la région de la Serra da Estrela, voisine de Viseu.
Alheira : Saucisse à base de volaille et de pain. Selon la tradition, des Juifs l'auraient inventée sous l'Inquisition pour faire croire qu'ils mangeaient du porc.
Ovos moles : Douceur d'Aveiro au jaune d'œuf et au sucre. On raconte que beaucoup de desserts portugais sont nés dans les couvents, où les blancs d'œufs servaient à amidonner le linge.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passion nationale. Le football fait vibrer tout le pays, mais le Portugal brille aussi sur les vagues, sur roulettes et sur la piste.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 Minho à l'Algarve, jusqu'au milieu de l'Atlantique. Cinq régions sur le continent et deux archipels autonomes : sept visages d'un même pays.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Nord : Région verte et montagneuse. Guimarães est considérée comme le berceau du Portugal ; la vallée du Douro et ses vignes en terrasses sont classées à l'UNESCO.
Le Centre : Terre de contrastes : l'université de Coimbra (1290), Aveiro et ses canaux, la Serra da Estrela… et Caramulo, mon village !
Lisbonne : La capitale, ville aux sept collines au bord du Tage, avec ses trams jaunes, Belém et les palais romantiques de Sintra.
L'Alentejo : Vastes plaines dorées, oliviers et chênes-lièges : le Portugal produit environ la moitié du liège mondial. Évora est classée à l'UNESCO.
L'Algarve : Plages de sable doré, falaises spectaculaires et plus de 300 jours de soleil par an.
Les Açores : Neuf îles volcaniques au milieu de l'Atlantique : lacs de cratère, sources chaudes et le Pico, plus haut sommet du pays.
Madère : L'« île de l'éternel printemps » : levadas, fleurs, vin de Madère… et ville natale de Cristiano Ronaldo.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année début septembre, Caramulo devient la capitale portugaise du moteur. Organisé par le Musée du Caramulo, le Caramulo Motorfestival est la plus grande fête automobile du Portugal : la Rampa Histórica, une course de côte de voitures anciennes et de compétition sur les routes de la serra, des défilés, des expositions et même un air show. L'entrée est libre ! En 2026, plus de 60 000 personnes sont venues à Caramulo.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Santa Maria da Feira : Avant de partir pour la Suisse, j'ai vécu à Santa Maria da Feira, à une trentaine de kilomètres au sud de Porto. La ville est dominée par l'un des plus beaux châteaux médiévaux du Portugal. Chaque été depuis 1996, toute la ville remonte le temps pendant une douzaine de jours : tournois de chevaliers, spectacles, musique, fauconnerie et marchés d'époque. C'est la plus grande reconstitution médiévale de la péninsule Ibérique, avec des centaines de milliers de visiteurs.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trésors du Portugal, du nord au sud. Vignobles, monastères, palais, ponts et lacs : faites défiler la page et suivez la carte.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vallée du Douro. Pendant des siècles, les hommes ont taillé à la main des terrasses dans les collines de schiste pour y planter la vigne. C'est ici que naît le célèbre vin de Porto, transporté autrefois jusqu'à Porto sur les bateaux rabelos. Patrimoine mondial de l'UNESCO depuis 2001. Région viticole délimitée dès 1756, l'une des plus anciennes du monde.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Porto et le pont Dom Luís I. Inauguré en 1886, le pont Dom Luís I relie Porto à Vila Nova de Gaia par une arche de fer de 172 m. Il a été conçu par Théophile Seyrig, ancien associé de Gustave Eiffel. À ses pieds, les maisons colorées de la Ribeira se reflètent dans le Douro. Deux tabliers : le métro en haut, les voitures en bas. Centre historique classé à l'UNESCO en 1996.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Aveiro, la « Venise du Portugal ». Ses canaux sont parcourus par les moliceiros, des bateaux colorés qui servaient autrefois à récolter le moliço, une algue utilisée comme engrais. Autour de la ville, les salines produisent depuis des siècles un sel marin récolté à la main. Environ 2 600 hectares de salines dans la Ria. La fleur de sel : la fine couche de sel récoltée à la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monastère de Batalha. Le roi Jean Ier le fait construire à partir de 1386 pour remercier la Vierge de la victoire d'Aljubarrota contre la Castille (1385), qui sauve l'indépendance du Portugal. Il y repose avec son épouse anglaise, Philippa de Lancastre, et leur fils, Henri le Navigateur. Patrimoine mondial de l'UNESCO depuis 1983. Plus d'un siècle de travaux, du gothique au manuélin.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palais de la Pena, Sintra. Perché au sommet de la serra, ce palais aux couleurs vives a été construit au XIXe siècle pour le roi Ferdinand II. Avec ses jardins, ses châteaux et ses forêts, Sintra ressemble à un conte de fées. Paysage culturel de Sintra : UNESCO depuis 1995. Chef-d'œuvre du romantisme en Europe.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tour de Belém. Construite de 1514 à 1519 sur le Tage, elle protégeait l'entrée de Lisbonne et saluait les navigateurs qui partaient vers l'Afrique, l'Inde et le Brésil. C'est l'un des symboles de l'époque des Découvertes. Patrimoine mondial de l'UNESCO depuis 1983. Chef-d'œuvre du style manuélin.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monastère des Hiéronymites. Commandé par le roi Manuel Ier au début du XVIe siècle et financé grâce au commerce des épices, il célèbre le voyage de Vasco de Gama. On y trouve les tombeaux de Vasco de Gama et du poète Luís de Camões. Et c'est de ses moines que vient la recette du pastel de nata ! Patrimoine mondial de l'UNESCO depuis 1983. Tombeaux de Vasco de Gama et de Camões.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pont Vasco de Gama et l'Expo 98. Inauguré le 29 mars 1998 pour l'Exposition universelle, 500 ans après l'arrivée de Vasco de Gama en Inde, ce pont à haubans traverse l'estuaire du Tage. L'Expo 98, sur le thème « Les océans, un patrimoine pour le futur », a accueilli plus de 10 millions de visiteurs et a transformé tout un quartier de Lisbonne. 17,2 km de long, dont 12,3 km au-dessus de l'eau. Le plus long pont d'Europe à son ouverture. Construit pour l'Expo 98, c'est l'un des plus grands aquariums d'Europe, avec un bassin central de 5 millions de litres. Les voyageurs de TripAdvisor l'ont élu meilleur aquarium du monde en 2015, 2017 et 2018.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lac d'Alqueva. Créé par le barrage d'Alqueva sur le Guadiana et rempli en 2010, c'est le plus grand lac artificiel d'Europe occidentale. Il irrigue l'Alentejo, produit de l'électricité et offre un ciel parmi les plus étoilés d'Europe. Environ 250 km² de surface. Plus de 1 100 km de rives : plus que toute la côte du Portugal continental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grotte de Benagil. Creusée par la mer dans les falaises dorées de l'Algarve, cette grotte possède une ouverture dans son plafond : « l'œil », par où entre la lumière du soleil. On ne peut l'atteindre que par la mer, en bateau ou en kayak. Accessible uniquement par la mer. Parmi les grottes marines les plus célèbres du monde.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route N222. La route nationale 222 longe le Douro sur environ 226 km, de Vila Nova de Gaia jusqu'à Almendra, près de Vila Nova de Foz Côa. Son tronçon le plus célèbre, entre Peso da Régua et Pinhão, serpente au bord du fleuve, au milieu des vignobles en terrasses. En 2015, une étude du loueur de voitures Avis l'a classée meilleure route du monde à conduire.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que le Portugal représente pour moi. Un voyage à travers un pays… et à travers mon histoire.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moto : Ma grande passion. Je roule en Suisse, dans le nord de l'Italie, en France et en Allemagne, à la recherche des plus belles routes de montagne.
La mécanique : J'adore modifier ma moto et la réparer moi-même : chaque détail compte !
Le parapente : Récemment, j'ai volé en parapente au-dessus du lac Léman. Une vue inoubliable !
Les sorties : Découvrir de nouveaux endroits, comme le Jura, où je suis allé voir la course de côte automobile de Saint-Ursanne.
Le lac Léman : L'été, on profite du lac : kayak, baignade et détente.
Marcher et se balader : Randonnées et balades — « passear », comme on dit au Portugal —, par exemple jusqu'au lac de Tanay, au-dessus de Vouvry.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5486400" cy="274320"/>
          </a:xfrm>
          <a:prstGeom prst="rect">
            <a:avLst/>
          </a:prstGeom>
          <a:noFill/>
          <a:ln/>
        </p:spPr>
        <p:txBody>
          <a:bodyPr wrap="square" rtlCol="0" anchor="ctr"/>
          <a:lstStyle/>
          <a:p>
            <a:pPr indent="0" marL="0">
              <a:buNone/>
            </a:pPr>
            <a:r>
              <a:rPr lang="en-US" sz="1000" spc="200" kern="0" dirty="0">
                <a:solidFill>
                  <a:srgbClr val="8A918D"/>
                </a:solidFill>
                <a:latin typeface="Calibri" pitchFamily="34" charset="0"/>
                <a:ea typeface="Calibri" pitchFamily="34" charset="-122"/>
                <a:cs typeface="Calibri" pitchFamily="34" charset="-120"/>
              </a:rPr>
              <a:t>PORTUGAL · Luís Marques</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EED">
    <p:bg>
      <p:bgPr>
        <a:solidFill>
          <a:srgbClr val="0F2E25"/>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74A3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image" Target="../media/image-4-8.jpg"/><Relationship Id="rId9" Type="http://schemas.openxmlformats.org/officeDocument/2006/relationships/slideLayout" Target="../slideLayouts/slideLayout2.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image" Target="../media/image-17-4.jp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open.spotify.com/track/6ThJAONKSkyQxnfLmmtpIh" TargetMode="External"/><Relationship Id="rId3" Type="http://schemas.openxmlformats.org/officeDocument/2006/relationships/hyperlink" Target="https://open.spotify.com/track/7b0AYk76LUIOoE3IzbugaJ" TargetMode="External"/><Relationship Id="rId1" Type="http://schemas.openxmlformats.org/officeDocument/2006/relationships/image" Target="../media/image-19-1.jp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jp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image" Target="../media/image-27-3.jpg"/><Relationship Id="rId4" Type="http://schemas.openxmlformats.org/officeDocument/2006/relationships/image" Target="../media/image-27-4.jpg"/><Relationship Id="rId5" Type="http://schemas.openxmlformats.org/officeDocument/2006/relationships/slideLayout" Target="../slideLayouts/slideLayout2.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image" Target="../media/image-28-3.jpg"/><Relationship Id="rId4" Type="http://schemas.openxmlformats.org/officeDocument/2006/relationships/image" Target="../media/image-28-4.jpg"/><Relationship Id="rId5" Type="http://schemas.openxmlformats.org/officeDocument/2006/relationships/slideLayout" Target="../slideLayouts/slideLayout2.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image" Target="../media/image-29-3.jpg"/><Relationship Id="rId4" Type="http://schemas.openxmlformats.org/officeDocument/2006/relationships/image" Target="../media/image-29-4.jpg"/><Relationship Id="rId5" Type="http://schemas.openxmlformats.org/officeDocument/2006/relationships/image" Target="../media/image-29-5.jpg"/><Relationship Id="rId6" Type="http://schemas.openxmlformats.org/officeDocument/2006/relationships/image" Target="../media/image-29-6.jpg"/><Relationship Id="rId7" Type="http://schemas.openxmlformats.org/officeDocument/2006/relationships/image" Target="../media/image-29-7.jpg"/><Relationship Id="rId8" Type="http://schemas.openxmlformats.org/officeDocument/2006/relationships/image" Target="../media/image-29-8.jpg"/><Relationship Id="rId9" Type="http://schemas.openxmlformats.org/officeDocument/2006/relationships/image" Target="../media/image-29-9.jpg"/><Relationship Id="rId10" Type="http://schemas.openxmlformats.org/officeDocument/2006/relationships/image" Target="../media/image-29-10.jpg"/><Relationship Id="rId11" Type="http://schemas.openxmlformats.org/officeDocument/2006/relationships/image" Target="../media/image-29-11.jpg"/><Relationship Id="rId12" Type="http://schemas.openxmlformats.org/officeDocument/2006/relationships/image" Target="../media/image-29-12.jpg"/><Relationship Id="rId13" Type="http://schemas.openxmlformats.org/officeDocument/2006/relationships/slideLayout" Target="../slideLayouts/slideLayout2.xml"/><Relationship Id="rId1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jpg"/><Relationship Id="rId3" Type="http://schemas.openxmlformats.org/officeDocument/2006/relationships/image" Target="../media/image-30-3.jpg"/><Relationship Id="rId4" Type="http://schemas.openxmlformats.org/officeDocument/2006/relationships/image" Target="../media/image-30-4.jpg"/><Relationship Id="rId5" Type="http://schemas.openxmlformats.org/officeDocument/2006/relationships/image" Target="../media/image-30-5.jpg"/><Relationship Id="rId6" Type="http://schemas.openxmlformats.org/officeDocument/2006/relationships/image" Target="../media/image-30-6.jpg"/><Relationship Id="rId7" Type="http://schemas.openxmlformats.org/officeDocument/2006/relationships/image" Target="../media/image-30-7.jpg"/><Relationship Id="rId8" Type="http://schemas.openxmlformats.org/officeDocument/2006/relationships/image" Target="../media/image-30-8.jpg"/><Relationship Id="rId9" Type="http://schemas.openxmlformats.org/officeDocument/2006/relationships/slideLayout" Target="../slideLayouts/slideLayout2.xml"/><Relationship Id="rId1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jpg"/><Relationship Id="rId3" Type="http://schemas.openxmlformats.org/officeDocument/2006/relationships/image" Target="../media/image-31-3.jp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youtu.be/ZfLSN4mxY0E" TargetMode="External"/><Relationship Id="rId1" Type="http://schemas.openxmlformats.org/officeDocument/2006/relationships/image" Target="../media/image-34-1.jpg"/><Relationship Id="rId3" Type="http://schemas.openxmlformats.org/officeDocument/2006/relationships/image" Target="../media/image-34-2.jp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3.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3.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image" Target="../media/image-38-2.jpg"/><Relationship Id="rId3" Type="http://schemas.openxmlformats.org/officeDocument/2006/relationships/image" Target="../media/image-38-3.jpg"/><Relationship Id="rId4" Type="http://schemas.openxmlformats.org/officeDocument/2006/relationships/image" Target="../media/image-38-4.jpg"/><Relationship Id="rId5" Type="http://schemas.openxmlformats.org/officeDocument/2006/relationships/image" Target="../media/image-38-5.jpg"/><Relationship Id="rId6" Type="http://schemas.openxmlformats.org/officeDocument/2006/relationships/image" Target="../media/image-38-6.jpg"/><Relationship Id="rId7" Type="http://schemas.openxmlformats.org/officeDocument/2006/relationships/image" Target="../media/image-38-7.jpg"/><Relationship Id="rId8" Type="http://schemas.openxmlformats.org/officeDocument/2006/relationships/slideLayout" Target="../slideLayouts/slideLayout2.xml"/><Relationship Id="rId9"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image" Target="../media/image-39-2.jp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2" Type="http://schemas.openxmlformats.org/officeDocument/2006/relationships/hyperlink" Target="https://youtu.be/jJedre8t3Go" TargetMode="External"/><Relationship Id="rId1" Type="http://schemas.openxmlformats.org/officeDocument/2006/relationships/image" Target="../media/image-40-1.jpg"/><Relationship Id="rId3" Type="http://schemas.openxmlformats.org/officeDocument/2006/relationships/slideLayout" Target="../slideLayouts/slideLayout3.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2" Type="http://schemas.openxmlformats.org/officeDocument/2006/relationships/hyperlink" Target="https://youtu.be/s8ip94klcQs" TargetMode="External"/><Relationship Id="rId1" Type="http://schemas.openxmlformats.org/officeDocument/2006/relationships/image" Target="../media/image-41-1.jp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3.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hyperlink" Target="https://youtu.be/zbUbmYi2fHk" TargetMode="External"/><Relationship Id="rId1" Type="http://schemas.openxmlformats.org/officeDocument/2006/relationships/image" Target="../media/image-44-1.jpg"/><Relationship Id="rId3" Type="http://schemas.openxmlformats.org/officeDocument/2006/relationships/slideLayout" Target="../slideLayouts/slideLayout2.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image" Target="../media/image-45-2.jpg"/><Relationship Id="rId3" Type="http://schemas.openxmlformats.org/officeDocument/2006/relationships/slideLayout" Target="../slideLayouts/slideLayout2.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image" Target="../media/image-46-2.jpg"/><Relationship Id="rId3" Type="http://schemas.openxmlformats.org/officeDocument/2006/relationships/slideLayout" Target="../slideLayouts/slideLayout2.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image" Target="../media/image-51-2.jpg"/><Relationship Id="rId3" Type="http://schemas.openxmlformats.org/officeDocument/2006/relationships/slideLayout" Target="../slideLayouts/slideLayout2.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image" Target="../media/image-54-2.jpg"/><Relationship Id="rId3" Type="http://schemas.openxmlformats.org/officeDocument/2006/relationships/slideLayout" Target="../slideLayouts/slideLayout2.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3.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image" Target="../media/image-56-2.jpg"/><Relationship Id="rId3" Type="http://schemas.openxmlformats.org/officeDocument/2006/relationships/image" Target="../media/image-56-3.jpg"/><Relationship Id="rId4" Type="http://schemas.openxmlformats.org/officeDocument/2006/relationships/slideLayout" Target="../slideLayouts/slideLayout2.xm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image" Target="../media/image-57-2.jpg"/><Relationship Id="rId3" Type="http://schemas.openxmlformats.org/officeDocument/2006/relationships/image" Target="../media/image-57-3.jpg"/><Relationship Id="rId4" Type="http://schemas.openxmlformats.org/officeDocument/2006/relationships/image" Target="../media/image-57-4.jpg"/><Relationship Id="rId5" Type="http://schemas.openxmlformats.org/officeDocument/2006/relationships/image" Target="../media/image-57-5.jpg"/><Relationship Id="rId6" Type="http://schemas.openxmlformats.org/officeDocument/2006/relationships/image" Target="../media/image-57-6.jpg"/><Relationship Id="rId7" Type="http://schemas.openxmlformats.org/officeDocument/2006/relationships/slideLayout" Target="../slideLayouts/slideLayout2.xml"/><Relationship Id="rId8"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image" Target="../media/image-58-2.jpg"/><Relationship Id="rId3" Type="http://schemas.openxmlformats.org/officeDocument/2006/relationships/image" Target="../media/image-58-3.jpg"/><Relationship Id="rId4" Type="http://schemas.openxmlformats.org/officeDocument/2006/relationships/image" Target="../media/image-58-4.jpg"/><Relationship Id="rId5" Type="http://schemas.openxmlformats.org/officeDocument/2006/relationships/image" Target="../media/image-58-5.jpg"/><Relationship Id="rId6" Type="http://schemas.openxmlformats.org/officeDocument/2006/relationships/slideLayout" Target="../slideLayouts/slideLayout2.xml"/><Relationship Id="rId7"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2" Type="http://schemas.openxmlformats.org/officeDocument/2006/relationships/hyperlink" Target="https://www.loja-europeixe.ch/" TargetMode="External"/><Relationship Id="rId4" Type="http://schemas.openxmlformats.org/officeDocument/2006/relationships/hyperlink" Target="https://share.google/KC0aDwi6yydgWgbBS" TargetMode="External"/><Relationship Id="rId1" Type="http://schemas.openxmlformats.org/officeDocument/2006/relationships/image" Target="../media/image-60-1.jpg"/><Relationship Id="rId3" Type="http://schemas.openxmlformats.org/officeDocument/2006/relationships/image" Target="../media/image-60-2.jpg"/><Relationship Id="rId5" Type="http://schemas.openxmlformats.org/officeDocument/2006/relationships/slideLayout" Target="../slideLayouts/slideLayout2.xml"/><Relationship Id="rId6"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image" Target="../media/image-61-2.jpg"/><Relationship Id="rId3" Type="http://schemas.openxmlformats.org/officeDocument/2006/relationships/slideLayout" Target="../slideLayouts/slideLayout4.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Portugal-Website/images/photos/hero-home.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949440" cy="6858000"/>
          </a:xfrm>
          <a:prstGeom prst="rect">
            <a:avLst/>
          </a:prstGeom>
          <a:solidFill>
            <a:srgbClr val="08140F">
              <a:alpha val="65000"/>
            </a:srgbClr>
          </a:solidFill>
          <a:ln w="12700">
            <a:solidFill>
              <a:srgbClr val="08140F">
                <a:alpha val="0"/>
              </a:srgbClr>
            </a:solidFill>
            <a:prstDash val="solid"/>
          </a:ln>
        </p:spPr>
      </p:sp>
      <p:sp>
        <p:nvSpPr>
          <p:cNvPr id="4" name="Text 1"/>
          <p:cNvSpPr txBox="1"/>
          <p:nvPr/>
        </p:nvSpPr>
        <p:spPr>
          <a:xfrm>
            <a:off x="822960" y="1737360"/>
            <a:ext cx="5486400" cy="365760"/>
          </a:xfrm>
          <a:prstGeom prst="rect">
            <a:avLst/>
          </a:prstGeom>
          <a:noFill/>
          <a:ln/>
        </p:spPr>
        <p:txBody>
          <a:bodyPr wrap="square" lIns="0" tIns="0" rIns="0" bIns="0" rtlCol="0" anchor="t"/>
          <a:lstStyle/>
          <a:p>
            <a:pPr indent="0" marL="0">
              <a:buNone/>
            </a:pPr>
            <a:r>
              <a:rPr lang="en-US" sz="1600" b="1" spc="400" kern="0" dirty="0">
                <a:solidFill>
                  <a:srgbClr val="F2C14E"/>
                </a:solidFill>
                <a:latin typeface="Calibri" pitchFamily="34" charset="0"/>
                <a:ea typeface="Calibri" pitchFamily="34" charset="-122"/>
                <a:cs typeface="Calibri" pitchFamily="34" charset="-120"/>
              </a:rPr>
              <a:t>BIENVENUE AU</a:t>
            </a:r>
            <a:endParaRPr lang="en-US" sz="1600" dirty="0"/>
          </a:p>
        </p:txBody>
      </p:sp>
      <p:sp>
        <p:nvSpPr>
          <p:cNvPr id="5" name="Text 2"/>
          <p:cNvSpPr txBox="1"/>
          <p:nvPr/>
        </p:nvSpPr>
        <p:spPr>
          <a:xfrm>
            <a:off x="822960" y="2103120"/>
            <a:ext cx="5943600" cy="1463040"/>
          </a:xfrm>
          <a:prstGeom prst="rect">
            <a:avLst/>
          </a:prstGeom>
          <a:noFill/>
          <a:ln/>
        </p:spPr>
        <p:txBody>
          <a:bodyPr wrap="square" lIns="0" tIns="0" rIns="0" bIns="0" rtlCol="0" anchor="t"/>
          <a:lstStyle/>
          <a:p>
            <a:pPr indent="0" marL="0">
              <a:buNone/>
            </a:pPr>
            <a:r>
              <a:rPr lang="en-US" sz="9600" b="1" dirty="0">
                <a:solidFill>
                  <a:srgbClr val="FFFFFF"/>
                </a:solidFill>
                <a:latin typeface="Cambria" pitchFamily="34" charset="0"/>
                <a:ea typeface="Cambria" pitchFamily="34" charset="-122"/>
                <a:cs typeface="Cambria" pitchFamily="34" charset="-120"/>
              </a:rPr>
              <a:t>Portugal</a:t>
            </a:r>
            <a:endParaRPr lang="en-US" sz="9600" dirty="0"/>
          </a:p>
        </p:txBody>
      </p:sp>
      <p:sp>
        <p:nvSpPr>
          <p:cNvPr id="6" name="Text 3"/>
          <p:cNvSpPr txBox="1"/>
          <p:nvPr/>
        </p:nvSpPr>
        <p:spPr>
          <a:xfrm>
            <a:off x="822960" y="3611880"/>
            <a:ext cx="5669280" cy="548640"/>
          </a:xfrm>
          <a:prstGeom prst="rect">
            <a:avLst/>
          </a:prstGeom>
          <a:noFill/>
          <a:ln/>
        </p:spPr>
        <p:txBody>
          <a:bodyPr wrap="square" lIns="0" tIns="0" rIns="0" bIns="0" rtlCol="0" anchor="t"/>
          <a:lstStyle/>
          <a:p>
            <a:pPr indent="0" marL="0">
              <a:buNone/>
            </a:pPr>
            <a:r>
              <a:rPr lang="en-US" sz="2600" dirty="0">
                <a:solidFill>
                  <a:srgbClr val="FFFFFF"/>
                </a:solidFill>
                <a:latin typeface="Cambria" pitchFamily="34" charset="0"/>
                <a:ea typeface="Cambria" pitchFamily="34" charset="-122"/>
                <a:cs typeface="Cambria" pitchFamily="34" charset="-120"/>
              </a:rPr>
              <a:t>Une présentation du Portugal</a:t>
            </a:r>
            <a:endParaRPr lang="en-US" sz="2600" dirty="0"/>
          </a:p>
        </p:txBody>
      </p:sp>
      <p:sp>
        <p:nvSpPr>
          <p:cNvPr id="7" name="Text 4"/>
          <p:cNvSpPr txBox="1"/>
          <p:nvPr/>
        </p:nvSpPr>
        <p:spPr>
          <a:xfrm>
            <a:off x="822960" y="4251960"/>
            <a:ext cx="5303520" cy="1097280"/>
          </a:xfrm>
          <a:prstGeom prst="rect">
            <a:avLst/>
          </a:prstGeom>
          <a:noFill/>
          <a:ln/>
        </p:spPr>
        <p:txBody>
          <a:bodyPr wrap="square" lIns="0" tIns="0" rIns="0" bIns="0" rtlCol="0" anchor="t"/>
          <a:lstStyle/>
          <a:p>
            <a:pPr indent="0" marL="0">
              <a:buNone/>
            </a:pPr>
            <a:r>
              <a:rPr lang="en-US" sz="1700" i="1" dirty="0">
                <a:solidFill>
                  <a:srgbClr val="E6ECE8"/>
                </a:solidFill>
                <a:latin typeface="Cambria" pitchFamily="34" charset="0"/>
                <a:ea typeface="Cambria" pitchFamily="34" charset="-122"/>
                <a:cs typeface="Cambria" pitchFamily="34" charset="-120"/>
              </a:rPr>
              <a:t>« Un petit pays au bord de l'Atlantique, avec une grande histoire, une culture riche et beaucoup de soleil. »</a:t>
            </a:r>
            <a:endParaRPr lang="en-US" sz="1700" dirty="0"/>
          </a:p>
        </p:txBody>
      </p:sp>
      <p:sp>
        <p:nvSpPr>
          <p:cNvPr id="8" name="Text 5"/>
          <p:cNvSpPr txBox="1"/>
          <p:nvPr/>
        </p:nvSpPr>
        <p:spPr>
          <a:xfrm>
            <a:off x="822960" y="5669280"/>
            <a:ext cx="457200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Luís Marques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home/user/Portugal-Website/images/luis.jpg">    </p:cNvPr>
          <p:cNvPicPr>
            <a:picLocks noChangeAspect="1"/>
          </p:cNvPicPr>
          <p:nvPr/>
        </p:nvPicPr>
        <p:blipFill>
          <a:blip r:embed="rId1"/>
          <a:srcRect l="0" r="0" t="0" b="0"/>
          <a:stretch/>
        </p:blipFill>
        <p:spPr>
          <a:xfrm>
            <a:off x="548640" y="548640"/>
            <a:ext cx="3749040" cy="5669280"/>
          </a:xfrm>
          <a:prstGeom prst="rect">
            <a:avLst/>
          </a:prstGeom>
        </p:spPr>
      </p:pic>
      <p:sp>
        <p:nvSpPr>
          <p:cNvPr id="3" name="Text 0"/>
          <p:cNvSpPr txBox="1"/>
          <p:nvPr/>
        </p:nvSpPr>
        <p:spPr>
          <a:xfrm>
            <a:off x="4846320" y="640080"/>
            <a:ext cx="6400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QUI SUIS-JE ?</a:t>
            </a:r>
            <a:endParaRPr lang="en-US" sz="1200" dirty="0"/>
          </a:p>
        </p:txBody>
      </p:sp>
      <p:sp>
        <p:nvSpPr>
          <p:cNvPr id="4" name="Text 1"/>
          <p:cNvSpPr txBox="1"/>
          <p:nvPr/>
        </p:nvSpPr>
        <p:spPr>
          <a:xfrm>
            <a:off x="4846320" y="914400"/>
            <a:ext cx="6766560" cy="731520"/>
          </a:xfrm>
          <a:prstGeom prst="rect">
            <a:avLst/>
          </a:prstGeom>
          <a:noFill/>
          <a:ln/>
        </p:spPr>
        <p:txBody>
          <a:bodyPr wrap="square" lIns="0" tIns="0" rIns="0" bIns="0" rtlCol="0" anchor="t"/>
          <a:lstStyle/>
          <a:p>
            <a:pPr indent="0" marL="0">
              <a:buNone/>
            </a:pPr>
            <a:r>
              <a:rPr lang="en-US" sz="3800" b="1" dirty="0">
                <a:solidFill>
                  <a:srgbClr val="174A3A"/>
                </a:solidFill>
                <a:latin typeface="Cambria" pitchFamily="34" charset="0"/>
                <a:ea typeface="Cambria" pitchFamily="34" charset="-122"/>
                <a:cs typeface="Cambria" pitchFamily="34" charset="-120"/>
              </a:rPr>
              <a:t>Faisons connaissance</a:t>
            </a:r>
            <a:endParaRPr lang="en-US" sz="3800" dirty="0"/>
          </a:p>
        </p:txBody>
      </p:sp>
      <p:sp>
        <p:nvSpPr>
          <p:cNvPr id="5" name="Text 2"/>
          <p:cNvSpPr txBox="1"/>
          <p:nvPr/>
        </p:nvSpPr>
        <p:spPr>
          <a:xfrm>
            <a:off x="4846320" y="1645920"/>
            <a:ext cx="6400800" cy="457200"/>
          </a:xfrm>
          <a:prstGeom prst="rect">
            <a:avLst/>
          </a:prstGeom>
          <a:noFill/>
          <a:ln/>
        </p:spPr>
        <p:txBody>
          <a:bodyPr wrap="square" lIns="0" tIns="0" rIns="0" bIns="0" rtlCol="0" anchor="t"/>
          <a:lstStyle/>
          <a:p>
            <a:pPr indent="0" marL="0">
              <a:buNone/>
            </a:pPr>
            <a:r>
              <a:rPr lang="en-US" sz="2200" i="1" dirty="0">
                <a:solidFill>
                  <a:srgbClr val="B8955A"/>
                </a:solidFill>
                <a:latin typeface="Cambria" pitchFamily="34" charset="0"/>
                <a:ea typeface="Cambria" pitchFamily="34" charset="-122"/>
                <a:cs typeface="Cambria" pitchFamily="34" charset="-120"/>
              </a:rPr>
              <a:t>Je suis Luís Marques.</a:t>
            </a:r>
            <a:endParaRPr lang="en-US" sz="2200" dirty="0"/>
          </a:p>
        </p:txBody>
      </p:sp>
      <p:sp>
        <p:nvSpPr>
          <p:cNvPr id="6" name="Shape 3"/>
          <p:cNvSpPr/>
          <p:nvPr/>
        </p:nvSpPr>
        <p:spPr>
          <a:xfrm>
            <a:off x="4846320" y="242316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7" name="Shape 4"/>
          <p:cNvSpPr/>
          <p:nvPr/>
        </p:nvSpPr>
        <p:spPr>
          <a:xfrm>
            <a:off x="5074920" y="2651760"/>
            <a:ext cx="457200" cy="457200"/>
          </a:xfrm>
          <a:prstGeom prst="ellipse">
            <a:avLst/>
          </a:prstGeom>
          <a:solidFill>
            <a:srgbClr val="174A3A"/>
          </a:solidFill>
          <a:ln w="12700">
            <a:solidFill>
              <a:srgbClr val="174A3A"/>
            </a:solidFill>
            <a:prstDash val="solid"/>
          </a:ln>
        </p:spPr>
      </p:sp>
      <p:sp>
        <p:nvSpPr>
          <p:cNvPr id="8" name="Text 5"/>
          <p:cNvSpPr txBox="1"/>
          <p:nvPr/>
        </p:nvSpPr>
        <p:spPr>
          <a:xfrm>
            <a:off x="5074920" y="322783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ORIGINAIRE DE</a:t>
            </a:r>
            <a:endParaRPr lang="en-US" sz="1200" dirty="0"/>
          </a:p>
        </p:txBody>
      </p:sp>
      <p:sp>
        <p:nvSpPr>
          <p:cNvPr id="9" name="Text 6"/>
          <p:cNvSpPr txBox="1"/>
          <p:nvPr/>
        </p:nvSpPr>
        <p:spPr>
          <a:xfrm>
            <a:off x="5074920" y="350215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Caramulo, Viseu</a:t>
            </a:r>
            <a:endParaRPr lang="en-US" sz="1600" dirty="0"/>
          </a:p>
        </p:txBody>
      </p:sp>
      <p:sp>
        <p:nvSpPr>
          <p:cNvPr id="10" name="Shape 7"/>
          <p:cNvSpPr/>
          <p:nvPr/>
        </p:nvSpPr>
        <p:spPr>
          <a:xfrm>
            <a:off x="8321040" y="242316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1" name="Shape 8"/>
          <p:cNvSpPr/>
          <p:nvPr/>
        </p:nvSpPr>
        <p:spPr>
          <a:xfrm>
            <a:off x="8549640" y="2651760"/>
            <a:ext cx="457200" cy="457200"/>
          </a:xfrm>
          <a:prstGeom prst="ellipse">
            <a:avLst/>
          </a:prstGeom>
          <a:solidFill>
            <a:srgbClr val="A83232"/>
          </a:solidFill>
          <a:ln w="12700">
            <a:solidFill>
              <a:srgbClr val="A83232"/>
            </a:solidFill>
            <a:prstDash val="solid"/>
          </a:ln>
        </p:spPr>
      </p:sp>
      <p:sp>
        <p:nvSpPr>
          <p:cNvPr id="12" name="Text 9"/>
          <p:cNvSpPr txBox="1"/>
          <p:nvPr/>
        </p:nvSpPr>
        <p:spPr>
          <a:xfrm>
            <a:off x="8549640" y="322783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ARRIVÉ EN SUISSE</a:t>
            </a:r>
            <a:endParaRPr lang="en-US" sz="1200" dirty="0"/>
          </a:p>
        </p:txBody>
      </p:sp>
      <p:sp>
        <p:nvSpPr>
          <p:cNvPr id="13" name="Text 10"/>
          <p:cNvSpPr txBox="1"/>
          <p:nvPr/>
        </p:nvSpPr>
        <p:spPr>
          <a:xfrm>
            <a:off x="8549640" y="350215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2013 — Plus de 13 ans en Suisse</a:t>
            </a:r>
            <a:endParaRPr lang="en-US" sz="1600" dirty="0"/>
          </a:p>
        </p:txBody>
      </p:sp>
      <p:sp>
        <p:nvSpPr>
          <p:cNvPr id="14" name="Shape 11"/>
          <p:cNvSpPr/>
          <p:nvPr/>
        </p:nvSpPr>
        <p:spPr>
          <a:xfrm>
            <a:off x="4846320" y="429768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5" name="Shape 12"/>
          <p:cNvSpPr/>
          <p:nvPr/>
        </p:nvSpPr>
        <p:spPr>
          <a:xfrm>
            <a:off x="5074920" y="4526280"/>
            <a:ext cx="457200" cy="457200"/>
          </a:xfrm>
          <a:prstGeom prst="ellipse">
            <a:avLst/>
          </a:prstGeom>
          <a:solidFill>
            <a:srgbClr val="1E4F8F"/>
          </a:solidFill>
          <a:ln w="12700">
            <a:solidFill>
              <a:srgbClr val="1E4F8F"/>
            </a:solidFill>
            <a:prstDash val="solid"/>
          </a:ln>
        </p:spPr>
      </p:sp>
      <p:sp>
        <p:nvSpPr>
          <p:cNvPr id="16" name="Text 13"/>
          <p:cNvSpPr txBox="1"/>
          <p:nvPr/>
        </p:nvSpPr>
        <p:spPr>
          <a:xfrm>
            <a:off x="5074920" y="510235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PROFESSION</a:t>
            </a:r>
            <a:endParaRPr lang="en-US" sz="1200" dirty="0"/>
          </a:p>
        </p:txBody>
      </p:sp>
      <p:sp>
        <p:nvSpPr>
          <p:cNvPr id="17" name="Text 14"/>
          <p:cNvSpPr txBox="1"/>
          <p:nvPr/>
        </p:nvSpPr>
        <p:spPr>
          <a:xfrm>
            <a:off x="5074920" y="537667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Agent de sécurité privée, responsable du centre de sécurité</a:t>
            </a:r>
            <a:endParaRPr lang="en-US" sz="1600" dirty="0"/>
          </a:p>
        </p:txBody>
      </p:sp>
      <p:sp>
        <p:nvSpPr>
          <p:cNvPr id="18" name="Shape 15"/>
          <p:cNvSpPr/>
          <p:nvPr/>
        </p:nvSpPr>
        <p:spPr>
          <a:xfrm>
            <a:off x="8321040" y="429768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9" name="Shape 16"/>
          <p:cNvSpPr/>
          <p:nvPr/>
        </p:nvSpPr>
        <p:spPr>
          <a:xfrm>
            <a:off x="8549640" y="4526280"/>
            <a:ext cx="457200" cy="457200"/>
          </a:xfrm>
          <a:prstGeom prst="ellipse">
            <a:avLst/>
          </a:prstGeom>
          <a:solidFill>
            <a:srgbClr val="B8955A"/>
          </a:solidFill>
          <a:ln w="12700">
            <a:solidFill>
              <a:srgbClr val="B8955A"/>
            </a:solidFill>
            <a:prstDash val="solid"/>
          </a:ln>
        </p:spPr>
      </p:sp>
      <p:sp>
        <p:nvSpPr>
          <p:cNvPr id="20" name="Text 17"/>
          <p:cNvSpPr txBox="1"/>
          <p:nvPr/>
        </p:nvSpPr>
        <p:spPr>
          <a:xfrm>
            <a:off x="8549640" y="510235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CENTRES D'INTÉRÊT</a:t>
            </a:r>
            <a:endParaRPr lang="en-US" sz="1200" dirty="0"/>
          </a:p>
        </p:txBody>
      </p:sp>
      <p:sp>
        <p:nvSpPr>
          <p:cNvPr id="21" name="Text 18"/>
          <p:cNvSpPr txBox="1"/>
          <p:nvPr/>
        </p:nvSpPr>
        <p:spPr>
          <a:xfrm>
            <a:off x="8549640" y="537667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Voyages · Sport · Gastronomie · Culture</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EN BREF</a:t>
            </a:r>
            <a:endParaRPr lang="en-US" sz="1200" dirty="0"/>
          </a:p>
        </p:txBody>
      </p:sp>
      <p:sp>
        <p:nvSpPr>
          <p:cNvPr id="3" name="Text 1"/>
          <p:cNvSpPr txBox="1"/>
          <p:nvPr/>
        </p:nvSpPr>
        <p:spPr>
          <a:xfrm>
            <a:off x="548640" y="685800"/>
            <a:ext cx="694944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Portugal en un coup d'œil</a:t>
            </a:r>
            <a:endParaRPr lang="en-US" sz="3400" dirty="0"/>
          </a:p>
        </p:txBody>
      </p:sp>
      <p:sp>
        <p:nvSpPr>
          <p:cNvPr id="4" name="Shape 2"/>
          <p:cNvSpPr/>
          <p:nvPr/>
        </p:nvSpPr>
        <p:spPr>
          <a:xfrm>
            <a:off x="54864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777240" y="2011680"/>
            <a:ext cx="457200" cy="457200"/>
          </a:xfrm>
          <a:prstGeom prst="ellipse">
            <a:avLst/>
          </a:prstGeom>
          <a:solidFill>
            <a:srgbClr val="174A3A"/>
          </a:solidFill>
          <a:ln w="12700">
            <a:solidFill>
              <a:srgbClr val="174A3A"/>
            </a:solidFill>
            <a:prstDash val="solid"/>
          </a:ln>
        </p:spPr>
      </p:sp>
      <p:sp>
        <p:nvSpPr>
          <p:cNvPr id="6" name="Text 4"/>
          <p:cNvSpPr txBox="1"/>
          <p:nvPr/>
        </p:nvSpPr>
        <p:spPr>
          <a:xfrm>
            <a:off x="77724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Capitale</a:t>
            </a:r>
            <a:endParaRPr lang="en-US" sz="1300" dirty="0"/>
          </a:p>
        </p:txBody>
      </p:sp>
      <p:sp>
        <p:nvSpPr>
          <p:cNvPr id="7" name="Text 5"/>
          <p:cNvSpPr txBox="1"/>
          <p:nvPr/>
        </p:nvSpPr>
        <p:spPr>
          <a:xfrm>
            <a:off x="77724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Lisbonne</a:t>
            </a:r>
            <a:endParaRPr lang="en-US" sz="1800" dirty="0"/>
          </a:p>
        </p:txBody>
      </p:sp>
      <p:sp>
        <p:nvSpPr>
          <p:cNvPr id="8" name="Shape 6"/>
          <p:cNvSpPr/>
          <p:nvPr/>
        </p:nvSpPr>
        <p:spPr>
          <a:xfrm>
            <a:off x="288036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9" name="Shape 7"/>
          <p:cNvSpPr/>
          <p:nvPr/>
        </p:nvSpPr>
        <p:spPr>
          <a:xfrm>
            <a:off x="3108960" y="2011680"/>
            <a:ext cx="457200" cy="457200"/>
          </a:xfrm>
          <a:prstGeom prst="ellipse">
            <a:avLst/>
          </a:prstGeom>
          <a:solidFill>
            <a:srgbClr val="A83232"/>
          </a:solidFill>
          <a:ln w="12700">
            <a:solidFill>
              <a:srgbClr val="A83232"/>
            </a:solidFill>
            <a:prstDash val="solid"/>
          </a:ln>
        </p:spPr>
      </p:sp>
      <p:sp>
        <p:nvSpPr>
          <p:cNvPr id="10" name="Text 8"/>
          <p:cNvSpPr txBox="1"/>
          <p:nvPr/>
        </p:nvSpPr>
        <p:spPr>
          <a:xfrm>
            <a:off x="310896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Population</a:t>
            </a:r>
            <a:endParaRPr lang="en-US" sz="1300" dirty="0"/>
          </a:p>
        </p:txBody>
      </p:sp>
      <p:sp>
        <p:nvSpPr>
          <p:cNvPr id="11" name="Text 9"/>
          <p:cNvSpPr txBox="1"/>
          <p:nvPr/>
        </p:nvSpPr>
        <p:spPr>
          <a:xfrm>
            <a:off x="310896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 10,6 millions</a:t>
            </a:r>
            <a:endParaRPr lang="en-US" sz="1800" dirty="0"/>
          </a:p>
        </p:txBody>
      </p:sp>
      <p:sp>
        <p:nvSpPr>
          <p:cNvPr id="12" name="Shape 10"/>
          <p:cNvSpPr/>
          <p:nvPr/>
        </p:nvSpPr>
        <p:spPr>
          <a:xfrm>
            <a:off x="521208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3" name="Shape 11"/>
          <p:cNvSpPr/>
          <p:nvPr/>
        </p:nvSpPr>
        <p:spPr>
          <a:xfrm>
            <a:off x="5440680" y="201168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544068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Superficie</a:t>
            </a:r>
            <a:endParaRPr lang="en-US" sz="1300" dirty="0"/>
          </a:p>
        </p:txBody>
      </p:sp>
      <p:sp>
        <p:nvSpPr>
          <p:cNvPr id="15" name="Text 13"/>
          <p:cNvSpPr txBox="1"/>
          <p:nvPr/>
        </p:nvSpPr>
        <p:spPr>
          <a:xfrm>
            <a:off x="544068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92 212 km²</a:t>
            </a:r>
            <a:endParaRPr lang="en-US" sz="1800" dirty="0"/>
          </a:p>
        </p:txBody>
      </p:sp>
      <p:sp>
        <p:nvSpPr>
          <p:cNvPr id="16" name="Shape 14"/>
          <p:cNvSpPr/>
          <p:nvPr/>
        </p:nvSpPr>
        <p:spPr>
          <a:xfrm>
            <a:off x="54864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7" name="Shape 15"/>
          <p:cNvSpPr/>
          <p:nvPr/>
        </p:nvSpPr>
        <p:spPr>
          <a:xfrm>
            <a:off x="777240" y="4160520"/>
            <a:ext cx="457200" cy="457200"/>
          </a:xfrm>
          <a:prstGeom prst="ellipse">
            <a:avLst/>
          </a:prstGeom>
          <a:solidFill>
            <a:srgbClr val="B8955A"/>
          </a:solidFill>
          <a:ln w="12700">
            <a:solidFill>
              <a:srgbClr val="B8955A"/>
            </a:solidFill>
            <a:prstDash val="solid"/>
          </a:ln>
        </p:spPr>
      </p:sp>
      <p:sp>
        <p:nvSpPr>
          <p:cNvPr id="18" name="Text 16"/>
          <p:cNvSpPr txBox="1"/>
          <p:nvPr/>
        </p:nvSpPr>
        <p:spPr>
          <a:xfrm>
            <a:off x="77724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Langue officielle</a:t>
            </a:r>
            <a:endParaRPr lang="en-US" sz="1300" dirty="0"/>
          </a:p>
        </p:txBody>
      </p:sp>
      <p:sp>
        <p:nvSpPr>
          <p:cNvPr id="19" name="Text 17"/>
          <p:cNvSpPr txBox="1"/>
          <p:nvPr/>
        </p:nvSpPr>
        <p:spPr>
          <a:xfrm>
            <a:off x="77724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Portugais</a:t>
            </a:r>
            <a:endParaRPr lang="en-US" sz="1800" dirty="0"/>
          </a:p>
        </p:txBody>
      </p:sp>
      <p:sp>
        <p:nvSpPr>
          <p:cNvPr id="20" name="Shape 18"/>
          <p:cNvSpPr/>
          <p:nvPr/>
        </p:nvSpPr>
        <p:spPr>
          <a:xfrm>
            <a:off x="288036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21" name="Shape 19"/>
          <p:cNvSpPr/>
          <p:nvPr/>
        </p:nvSpPr>
        <p:spPr>
          <a:xfrm>
            <a:off x="3108960" y="4160520"/>
            <a:ext cx="457200" cy="457200"/>
          </a:xfrm>
          <a:prstGeom prst="ellipse">
            <a:avLst/>
          </a:prstGeom>
          <a:solidFill>
            <a:srgbClr val="174A3A"/>
          </a:solidFill>
          <a:ln w="12700">
            <a:solidFill>
              <a:srgbClr val="174A3A"/>
            </a:solidFill>
            <a:prstDash val="solid"/>
          </a:ln>
        </p:spPr>
      </p:sp>
      <p:sp>
        <p:nvSpPr>
          <p:cNvPr id="22" name="Text 20"/>
          <p:cNvSpPr txBox="1"/>
          <p:nvPr/>
        </p:nvSpPr>
        <p:spPr>
          <a:xfrm>
            <a:off x="310896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Monnaie</a:t>
            </a:r>
            <a:endParaRPr lang="en-US" sz="1300" dirty="0"/>
          </a:p>
        </p:txBody>
      </p:sp>
      <p:sp>
        <p:nvSpPr>
          <p:cNvPr id="23" name="Text 21"/>
          <p:cNvSpPr txBox="1"/>
          <p:nvPr/>
        </p:nvSpPr>
        <p:spPr>
          <a:xfrm>
            <a:off x="310896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Euro (€)</a:t>
            </a:r>
            <a:endParaRPr lang="en-US" sz="1800" dirty="0"/>
          </a:p>
        </p:txBody>
      </p:sp>
      <p:sp>
        <p:nvSpPr>
          <p:cNvPr id="24" name="Shape 22"/>
          <p:cNvSpPr/>
          <p:nvPr/>
        </p:nvSpPr>
        <p:spPr>
          <a:xfrm>
            <a:off x="521208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25" name="Shape 23"/>
          <p:cNvSpPr/>
          <p:nvPr/>
        </p:nvSpPr>
        <p:spPr>
          <a:xfrm>
            <a:off x="5440680" y="4160520"/>
            <a:ext cx="457200" cy="457200"/>
          </a:xfrm>
          <a:prstGeom prst="ellipse">
            <a:avLst/>
          </a:prstGeom>
          <a:solidFill>
            <a:srgbClr val="A83232"/>
          </a:solidFill>
          <a:ln w="12700">
            <a:solidFill>
              <a:srgbClr val="A83232"/>
            </a:solidFill>
            <a:prstDash val="solid"/>
          </a:ln>
        </p:spPr>
      </p:sp>
      <p:sp>
        <p:nvSpPr>
          <p:cNvPr id="26" name="Text 24"/>
          <p:cNvSpPr txBox="1"/>
          <p:nvPr/>
        </p:nvSpPr>
        <p:spPr>
          <a:xfrm>
            <a:off x="544068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Façade maritime</a:t>
            </a:r>
            <a:endParaRPr lang="en-US" sz="1300" dirty="0"/>
          </a:p>
        </p:txBody>
      </p:sp>
      <p:sp>
        <p:nvSpPr>
          <p:cNvPr id="27" name="Text 25"/>
          <p:cNvSpPr txBox="1"/>
          <p:nvPr/>
        </p:nvSpPr>
        <p:spPr>
          <a:xfrm>
            <a:off x="544068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Océan Atlantique</a:t>
            </a:r>
            <a:endParaRPr lang="en-US" sz="1800" dirty="0"/>
          </a:p>
        </p:txBody>
      </p:sp>
      <p:pic>
        <p:nvPicPr>
          <p:cNvPr id="28" name="Image 0" descr="/home/user/Portugal-Website/images/photos/j-geo.jpg">    </p:cNvPr>
          <p:cNvPicPr>
            <a:picLocks noChangeAspect="1"/>
          </p:cNvPicPr>
          <p:nvPr/>
        </p:nvPicPr>
        <p:blipFill>
          <a:blip r:embed="rId1"/>
          <a:srcRect l="0" r="0" t="0" b="0"/>
          <a:stretch/>
        </p:blipFill>
        <p:spPr>
          <a:xfrm>
            <a:off x="7863840" y="548640"/>
            <a:ext cx="3776472" cy="5669280"/>
          </a:xfrm>
          <a:prstGeom prst="rect">
            <a:avLst/>
          </a:prstGeom>
        </p:spPr>
      </p:pic>
      <p:sp>
        <p:nvSpPr>
          <p:cNvPr id="29" name="Shape 26"/>
          <p:cNvSpPr/>
          <p:nvPr/>
        </p:nvSpPr>
        <p:spPr>
          <a:xfrm>
            <a:off x="7863840" y="5833872"/>
            <a:ext cx="3776472" cy="384048"/>
          </a:xfrm>
          <a:prstGeom prst="rect">
            <a:avLst/>
          </a:prstGeom>
          <a:solidFill>
            <a:srgbClr val="000000">
              <a:alpha val="55000"/>
            </a:srgbClr>
          </a:solidFill>
          <a:ln w="12700">
            <a:solidFill>
              <a:srgbClr val="000000">
                <a:alpha val="0"/>
              </a:srgbClr>
            </a:solidFill>
            <a:prstDash val="solid"/>
          </a:ln>
        </p:spPr>
      </p:sp>
      <p:sp>
        <p:nvSpPr>
          <p:cNvPr id="30" name="Text 27"/>
          <p:cNvSpPr txBox="1"/>
          <p:nvPr/>
        </p:nvSpPr>
        <p:spPr>
          <a:xfrm>
            <a:off x="7973568" y="5870448"/>
            <a:ext cx="3557016"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Ponta da Piedade, Algarve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PROGRAMME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Au fil de cette présentation</a:t>
            </a:r>
            <a:endParaRPr lang="en-US" sz="3400" dirty="0"/>
          </a:p>
        </p:txBody>
      </p:sp>
      <p:pic>
        <p:nvPicPr>
          <p:cNvPr id="4" name="Image 0" descr="/home/user/Portugal-Website/images/photos/j-geo.jpg">    </p:cNvPr>
          <p:cNvPicPr>
            <a:picLocks noChangeAspect="1"/>
          </p:cNvPicPr>
          <p:nvPr/>
        </p:nvPicPr>
        <p:blipFill>
          <a:blip r:embed="rId1"/>
          <a:srcRect l="0" r="0" t="0" b="0"/>
          <a:stretch/>
        </p:blipFill>
        <p:spPr>
          <a:xfrm>
            <a:off x="548640" y="1691640"/>
            <a:ext cx="2624328" cy="2103120"/>
          </a:xfrm>
          <a:prstGeom prst="rect">
            <a:avLst/>
          </a:prstGeom>
        </p:spPr>
      </p:pic>
      <p:sp>
        <p:nvSpPr>
          <p:cNvPr id="5" name="Shape 2"/>
          <p:cNvSpPr/>
          <p:nvPr/>
        </p:nvSpPr>
        <p:spPr>
          <a:xfrm>
            <a:off x="548640" y="3017520"/>
            <a:ext cx="2624328" cy="777240"/>
          </a:xfrm>
          <a:prstGeom prst="rect">
            <a:avLst/>
          </a:prstGeom>
          <a:solidFill>
            <a:srgbClr val="000000">
              <a:alpha val="60000"/>
            </a:srgbClr>
          </a:solidFill>
          <a:ln w="12700">
            <a:solidFill>
              <a:srgbClr val="000000">
                <a:alpha val="0"/>
              </a:srgbClr>
            </a:solidFill>
            <a:prstDash val="solid"/>
          </a:ln>
        </p:spPr>
      </p:sp>
      <p:sp>
        <p:nvSpPr>
          <p:cNvPr id="6" name="Text 3"/>
          <p:cNvSpPr txBox="1"/>
          <p:nvPr/>
        </p:nvSpPr>
        <p:spPr>
          <a:xfrm>
            <a:off x="713232"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01</a:t>
            </a:r>
            <a:endParaRPr lang="en-US" sz="1300" dirty="0"/>
          </a:p>
        </p:txBody>
      </p:sp>
      <p:sp>
        <p:nvSpPr>
          <p:cNvPr id="7" name="Text 4"/>
          <p:cNvSpPr txBox="1"/>
          <p:nvPr/>
        </p:nvSpPr>
        <p:spPr>
          <a:xfrm>
            <a:off x="713232"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Géographie</a:t>
            </a:r>
            <a:endParaRPr lang="en-US" sz="1800" dirty="0"/>
          </a:p>
        </p:txBody>
      </p:sp>
      <p:pic>
        <p:nvPicPr>
          <p:cNvPr id="8" name="Image 1" descr="/home/user/Portugal-Website/images/photos/j-hist.jpg">    </p:cNvPr>
          <p:cNvPicPr>
            <a:picLocks noChangeAspect="1"/>
          </p:cNvPicPr>
          <p:nvPr/>
        </p:nvPicPr>
        <p:blipFill>
          <a:blip r:embed="rId2"/>
          <a:srcRect l="0" r="0" t="0" b="0"/>
          <a:stretch/>
        </p:blipFill>
        <p:spPr>
          <a:xfrm>
            <a:off x="3355848" y="1691640"/>
            <a:ext cx="2624328" cy="2103120"/>
          </a:xfrm>
          <a:prstGeom prst="rect">
            <a:avLst/>
          </a:prstGeom>
        </p:spPr>
      </p:pic>
      <p:sp>
        <p:nvSpPr>
          <p:cNvPr id="9" name="Shape 5"/>
          <p:cNvSpPr/>
          <p:nvPr/>
        </p:nvSpPr>
        <p:spPr>
          <a:xfrm>
            <a:off x="3355848" y="3017520"/>
            <a:ext cx="2624328" cy="777240"/>
          </a:xfrm>
          <a:prstGeom prst="rect">
            <a:avLst/>
          </a:prstGeom>
          <a:solidFill>
            <a:srgbClr val="000000">
              <a:alpha val="60000"/>
            </a:srgbClr>
          </a:solidFill>
          <a:ln w="12700">
            <a:solidFill>
              <a:srgbClr val="000000">
                <a:alpha val="0"/>
              </a:srgbClr>
            </a:solidFill>
            <a:prstDash val="solid"/>
          </a:ln>
        </p:spPr>
      </p:sp>
      <p:sp>
        <p:nvSpPr>
          <p:cNvPr id="10" name="Text 6"/>
          <p:cNvSpPr txBox="1"/>
          <p:nvPr/>
        </p:nvSpPr>
        <p:spPr>
          <a:xfrm>
            <a:off x="3520440"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02</a:t>
            </a:r>
            <a:endParaRPr lang="en-US" sz="1300" dirty="0"/>
          </a:p>
        </p:txBody>
      </p:sp>
      <p:sp>
        <p:nvSpPr>
          <p:cNvPr id="11" name="Text 7"/>
          <p:cNvSpPr txBox="1"/>
          <p:nvPr/>
        </p:nvSpPr>
        <p:spPr>
          <a:xfrm>
            <a:off x="3520440"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Histoire</a:t>
            </a:r>
            <a:endParaRPr lang="en-US" sz="1800" dirty="0"/>
          </a:p>
        </p:txBody>
      </p:sp>
      <p:pic>
        <p:nvPicPr>
          <p:cNvPr id="12" name="Image 2" descr="/home/user/Portugal-Website/images/photos/j-soc.jpg">    </p:cNvPr>
          <p:cNvPicPr>
            <a:picLocks noChangeAspect="1"/>
          </p:cNvPicPr>
          <p:nvPr/>
        </p:nvPicPr>
        <p:blipFill>
          <a:blip r:embed="rId3"/>
          <a:srcRect l="0" r="0" t="0" b="0"/>
          <a:stretch/>
        </p:blipFill>
        <p:spPr>
          <a:xfrm>
            <a:off x="6163056" y="1691640"/>
            <a:ext cx="2624328" cy="2103120"/>
          </a:xfrm>
          <a:prstGeom prst="rect">
            <a:avLst/>
          </a:prstGeom>
        </p:spPr>
      </p:pic>
      <p:sp>
        <p:nvSpPr>
          <p:cNvPr id="13" name="Shape 8"/>
          <p:cNvSpPr/>
          <p:nvPr/>
        </p:nvSpPr>
        <p:spPr>
          <a:xfrm>
            <a:off x="6163056" y="3017520"/>
            <a:ext cx="2624328" cy="777240"/>
          </a:xfrm>
          <a:prstGeom prst="rect">
            <a:avLst/>
          </a:prstGeom>
          <a:solidFill>
            <a:srgbClr val="000000">
              <a:alpha val="60000"/>
            </a:srgbClr>
          </a:solidFill>
          <a:ln w="12700">
            <a:solidFill>
              <a:srgbClr val="000000">
                <a:alpha val="0"/>
              </a:srgbClr>
            </a:solidFill>
            <a:prstDash val="solid"/>
          </a:ln>
        </p:spPr>
      </p:sp>
      <p:sp>
        <p:nvSpPr>
          <p:cNvPr id="14" name="Text 9"/>
          <p:cNvSpPr txBox="1"/>
          <p:nvPr/>
        </p:nvSpPr>
        <p:spPr>
          <a:xfrm>
            <a:off x="6327648"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03</a:t>
            </a:r>
            <a:endParaRPr lang="en-US" sz="1300" dirty="0"/>
          </a:p>
        </p:txBody>
      </p:sp>
      <p:sp>
        <p:nvSpPr>
          <p:cNvPr id="15" name="Text 10"/>
          <p:cNvSpPr txBox="1"/>
          <p:nvPr/>
        </p:nvSpPr>
        <p:spPr>
          <a:xfrm>
            <a:off x="6327648"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Société</a:t>
            </a:r>
            <a:endParaRPr lang="en-US" sz="1800" dirty="0"/>
          </a:p>
        </p:txBody>
      </p:sp>
      <p:pic>
        <p:nvPicPr>
          <p:cNvPr id="16" name="Image 3" descr="/home/user/Portugal-Website/images/photos/j-cult.jpg">    </p:cNvPr>
          <p:cNvPicPr>
            <a:picLocks noChangeAspect="1"/>
          </p:cNvPicPr>
          <p:nvPr/>
        </p:nvPicPr>
        <p:blipFill>
          <a:blip r:embed="rId4"/>
          <a:srcRect l="0" r="0" t="0" b="0"/>
          <a:stretch/>
        </p:blipFill>
        <p:spPr>
          <a:xfrm>
            <a:off x="8970264" y="1691640"/>
            <a:ext cx="2624328" cy="2103120"/>
          </a:xfrm>
          <a:prstGeom prst="rect">
            <a:avLst/>
          </a:prstGeom>
        </p:spPr>
      </p:pic>
      <p:sp>
        <p:nvSpPr>
          <p:cNvPr id="17" name="Shape 11"/>
          <p:cNvSpPr/>
          <p:nvPr/>
        </p:nvSpPr>
        <p:spPr>
          <a:xfrm>
            <a:off x="8970264" y="3017520"/>
            <a:ext cx="2624328" cy="777240"/>
          </a:xfrm>
          <a:prstGeom prst="rect">
            <a:avLst/>
          </a:prstGeom>
          <a:solidFill>
            <a:srgbClr val="000000">
              <a:alpha val="60000"/>
            </a:srgbClr>
          </a:solidFill>
          <a:ln w="12700">
            <a:solidFill>
              <a:srgbClr val="000000">
                <a:alpha val="0"/>
              </a:srgbClr>
            </a:solidFill>
            <a:prstDash val="solid"/>
          </a:ln>
        </p:spPr>
      </p:sp>
      <p:sp>
        <p:nvSpPr>
          <p:cNvPr id="18" name="Text 12"/>
          <p:cNvSpPr txBox="1"/>
          <p:nvPr/>
        </p:nvSpPr>
        <p:spPr>
          <a:xfrm>
            <a:off x="9134856"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04</a:t>
            </a:r>
            <a:endParaRPr lang="en-US" sz="1300" dirty="0"/>
          </a:p>
        </p:txBody>
      </p:sp>
      <p:sp>
        <p:nvSpPr>
          <p:cNvPr id="19" name="Text 13"/>
          <p:cNvSpPr txBox="1"/>
          <p:nvPr/>
        </p:nvSpPr>
        <p:spPr>
          <a:xfrm>
            <a:off x="9134856"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Culture &amp; gastronomie</a:t>
            </a:r>
            <a:endParaRPr lang="en-US" sz="1800" dirty="0"/>
          </a:p>
        </p:txBody>
      </p:sp>
      <p:pic>
        <p:nvPicPr>
          <p:cNvPr id="20" name="Image 4" descr="/home/user/Portugal-Website/images/photos/hero-sport.jpg">    </p:cNvPr>
          <p:cNvPicPr>
            <a:picLocks noChangeAspect="1"/>
          </p:cNvPicPr>
          <p:nvPr/>
        </p:nvPicPr>
        <p:blipFill>
          <a:blip r:embed="rId5"/>
          <a:srcRect l="0" r="0" t="0" b="0"/>
          <a:stretch/>
        </p:blipFill>
        <p:spPr>
          <a:xfrm>
            <a:off x="548640" y="4023360"/>
            <a:ext cx="2624328" cy="2103120"/>
          </a:xfrm>
          <a:prstGeom prst="rect">
            <a:avLst/>
          </a:prstGeom>
        </p:spPr>
      </p:pic>
      <p:sp>
        <p:nvSpPr>
          <p:cNvPr id="21" name="Shape 14"/>
          <p:cNvSpPr/>
          <p:nvPr/>
        </p:nvSpPr>
        <p:spPr>
          <a:xfrm>
            <a:off x="548640" y="5349240"/>
            <a:ext cx="2624328" cy="777240"/>
          </a:xfrm>
          <a:prstGeom prst="rect">
            <a:avLst/>
          </a:prstGeom>
          <a:solidFill>
            <a:srgbClr val="000000">
              <a:alpha val="60000"/>
            </a:srgbClr>
          </a:solidFill>
          <a:ln w="12700">
            <a:solidFill>
              <a:srgbClr val="000000">
                <a:alpha val="0"/>
              </a:srgbClr>
            </a:solidFill>
            <a:prstDash val="solid"/>
          </a:ln>
        </p:spPr>
      </p:sp>
      <p:sp>
        <p:nvSpPr>
          <p:cNvPr id="22" name="Text 15"/>
          <p:cNvSpPr txBox="1"/>
          <p:nvPr/>
        </p:nvSpPr>
        <p:spPr>
          <a:xfrm>
            <a:off x="713232"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05</a:t>
            </a:r>
            <a:endParaRPr lang="en-US" sz="1300" dirty="0"/>
          </a:p>
        </p:txBody>
      </p:sp>
      <p:sp>
        <p:nvSpPr>
          <p:cNvPr id="23" name="Text 16"/>
          <p:cNvSpPr txBox="1"/>
          <p:nvPr/>
        </p:nvSpPr>
        <p:spPr>
          <a:xfrm>
            <a:off x="713232"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Sport</a:t>
            </a:r>
            <a:endParaRPr lang="en-US" sz="1800" dirty="0"/>
          </a:p>
        </p:txBody>
      </p:sp>
      <p:pic>
        <p:nvPicPr>
          <p:cNvPr id="24" name="Image 5" descr="/home/user/Portugal-Website/images/photos/r-douro.jpg">    </p:cNvPr>
          <p:cNvPicPr>
            <a:picLocks noChangeAspect="1"/>
          </p:cNvPicPr>
          <p:nvPr/>
        </p:nvPicPr>
        <p:blipFill>
          <a:blip r:embed="rId6"/>
          <a:srcRect l="0" r="0" t="0" b="0"/>
          <a:stretch/>
        </p:blipFill>
        <p:spPr>
          <a:xfrm>
            <a:off x="3355848" y="4023360"/>
            <a:ext cx="2624328" cy="2103120"/>
          </a:xfrm>
          <a:prstGeom prst="rect">
            <a:avLst/>
          </a:prstGeom>
        </p:spPr>
      </p:pic>
      <p:sp>
        <p:nvSpPr>
          <p:cNvPr id="25" name="Shape 17"/>
          <p:cNvSpPr/>
          <p:nvPr/>
        </p:nvSpPr>
        <p:spPr>
          <a:xfrm>
            <a:off x="3355848" y="5349240"/>
            <a:ext cx="2624328" cy="777240"/>
          </a:xfrm>
          <a:prstGeom prst="rect">
            <a:avLst/>
          </a:prstGeom>
          <a:solidFill>
            <a:srgbClr val="000000">
              <a:alpha val="60000"/>
            </a:srgbClr>
          </a:solidFill>
          <a:ln w="12700">
            <a:solidFill>
              <a:srgbClr val="000000">
                <a:alpha val="0"/>
              </a:srgbClr>
            </a:solidFill>
            <a:prstDash val="solid"/>
          </a:ln>
        </p:spPr>
      </p:sp>
      <p:sp>
        <p:nvSpPr>
          <p:cNvPr id="26" name="Text 18"/>
          <p:cNvSpPr txBox="1"/>
          <p:nvPr/>
        </p:nvSpPr>
        <p:spPr>
          <a:xfrm>
            <a:off x="3520440"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06</a:t>
            </a:r>
            <a:endParaRPr lang="en-US" sz="1300" dirty="0"/>
          </a:p>
        </p:txBody>
      </p:sp>
      <p:sp>
        <p:nvSpPr>
          <p:cNvPr id="27" name="Text 19"/>
          <p:cNvSpPr txBox="1"/>
          <p:nvPr/>
        </p:nvSpPr>
        <p:spPr>
          <a:xfrm>
            <a:off x="3520440"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Régions</a:t>
            </a:r>
            <a:endParaRPr lang="en-US" sz="1800" dirty="0"/>
          </a:p>
        </p:txBody>
      </p:sp>
      <p:pic>
        <p:nvPicPr>
          <p:cNvPr id="28" name="Image 6" descr="/home/user/Portugal-Website/images/photos/hero-merv.jpg">    </p:cNvPr>
          <p:cNvPicPr>
            <a:picLocks noChangeAspect="1"/>
          </p:cNvPicPr>
          <p:nvPr/>
        </p:nvPicPr>
        <p:blipFill>
          <a:blip r:embed="rId7"/>
          <a:srcRect l="0" r="0" t="0" b="0"/>
          <a:stretch/>
        </p:blipFill>
        <p:spPr>
          <a:xfrm>
            <a:off x="6163056" y="4023360"/>
            <a:ext cx="2624328" cy="2103120"/>
          </a:xfrm>
          <a:prstGeom prst="rect">
            <a:avLst/>
          </a:prstGeom>
        </p:spPr>
      </p:pic>
      <p:sp>
        <p:nvSpPr>
          <p:cNvPr id="29" name="Shape 20"/>
          <p:cNvSpPr/>
          <p:nvPr/>
        </p:nvSpPr>
        <p:spPr>
          <a:xfrm>
            <a:off x="6163056" y="5349240"/>
            <a:ext cx="2624328" cy="777240"/>
          </a:xfrm>
          <a:prstGeom prst="rect">
            <a:avLst/>
          </a:prstGeom>
          <a:solidFill>
            <a:srgbClr val="000000">
              <a:alpha val="60000"/>
            </a:srgbClr>
          </a:solidFill>
          <a:ln w="12700">
            <a:solidFill>
              <a:srgbClr val="000000">
                <a:alpha val="0"/>
              </a:srgbClr>
            </a:solidFill>
            <a:prstDash val="solid"/>
          </a:ln>
        </p:spPr>
      </p:sp>
      <p:sp>
        <p:nvSpPr>
          <p:cNvPr id="30" name="Text 21"/>
          <p:cNvSpPr txBox="1"/>
          <p:nvPr/>
        </p:nvSpPr>
        <p:spPr>
          <a:xfrm>
            <a:off x="6327648"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07</a:t>
            </a:r>
            <a:endParaRPr lang="en-US" sz="1300" dirty="0"/>
          </a:p>
        </p:txBody>
      </p:sp>
      <p:sp>
        <p:nvSpPr>
          <p:cNvPr id="31" name="Text 22"/>
          <p:cNvSpPr txBox="1"/>
          <p:nvPr/>
        </p:nvSpPr>
        <p:spPr>
          <a:xfrm>
            <a:off x="6327648"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Merveilles</a:t>
            </a:r>
            <a:endParaRPr lang="en-US" sz="1800" dirty="0"/>
          </a:p>
        </p:txBody>
      </p:sp>
      <p:pic>
        <p:nvPicPr>
          <p:cNvPr id="32" name="Image 7" descr="/home/user/Portugal-Website/images/luis/caramulo-vue.jpg">    </p:cNvPr>
          <p:cNvPicPr>
            <a:picLocks noChangeAspect="1"/>
          </p:cNvPicPr>
          <p:nvPr/>
        </p:nvPicPr>
        <p:blipFill>
          <a:blip r:embed="rId8"/>
          <a:srcRect l="0" r="0" t="0" b="0"/>
          <a:stretch/>
        </p:blipFill>
        <p:spPr>
          <a:xfrm>
            <a:off x="8970264" y="4023360"/>
            <a:ext cx="2624328" cy="2103120"/>
          </a:xfrm>
          <a:prstGeom prst="rect">
            <a:avLst/>
          </a:prstGeom>
        </p:spPr>
      </p:pic>
      <p:sp>
        <p:nvSpPr>
          <p:cNvPr id="33" name="Shape 23"/>
          <p:cNvSpPr/>
          <p:nvPr/>
        </p:nvSpPr>
        <p:spPr>
          <a:xfrm>
            <a:off x="8970264" y="5349240"/>
            <a:ext cx="2624328" cy="777240"/>
          </a:xfrm>
          <a:prstGeom prst="rect">
            <a:avLst/>
          </a:prstGeom>
          <a:solidFill>
            <a:srgbClr val="000000">
              <a:alpha val="60000"/>
            </a:srgbClr>
          </a:solidFill>
          <a:ln w="12700">
            <a:solidFill>
              <a:srgbClr val="000000">
                <a:alpha val="0"/>
              </a:srgbClr>
            </a:solidFill>
            <a:prstDash val="solid"/>
          </a:ln>
        </p:spPr>
      </p:sp>
      <p:sp>
        <p:nvSpPr>
          <p:cNvPr id="34" name="Text 24"/>
          <p:cNvSpPr txBox="1"/>
          <p:nvPr/>
        </p:nvSpPr>
        <p:spPr>
          <a:xfrm>
            <a:off x="9134856"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08</a:t>
            </a:r>
            <a:endParaRPr lang="en-US" sz="1300" dirty="0"/>
          </a:p>
        </p:txBody>
      </p:sp>
      <p:sp>
        <p:nvSpPr>
          <p:cNvPr id="35" name="Text 25"/>
          <p:cNvSpPr txBox="1"/>
          <p:nvPr/>
        </p:nvSpPr>
        <p:spPr>
          <a:xfrm>
            <a:off x="9134856"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Conclusion</a:t>
            </a:r>
            <a:endParaRPr lang="en-US" sz="18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home/user/Portugal-Website/images/photos/bridge-alps.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8140F">
              <a:alpha val="55000"/>
            </a:srgbClr>
          </a:solidFill>
          <a:ln w="12700">
            <a:solidFill>
              <a:srgbClr val="08140F">
                <a:alpha val="0"/>
              </a:srgbClr>
            </a:solidFill>
            <a:prstDash val="solid"/>
          </a:ln>
        </p:spPr>
      </p:sp>
      <p:pic>
        <p:nvPicPr>
          <p:cNvPr id="4" name="Image 1" descr="/home/user/Portugal-Website/images/flag-pt.jpg">    </p:cNvPr>
          <p:cNvPicPr>
            <a:picLocks noChangeAspect="1"/>
          </p:cNvPicPr>
          <p:nvPr/>
        </p:nvPicPr>
        <p:blipFill>
          <a:blip r:embed="rId2"/>
          <a:srcRect l="0" r="0" t="0" b="0"/>
          <a:stretch/>
        </p:blipFill>
        <p:spPr>
          <a:xfrm>
            <a:off x="4206240" y="1828800"/>
            <a:ext cx="731520" cy="731520"/>
          </a:xfrm>
          <a:prstGeom prst="ellipse">
            <a:avLst/>
          </a:prstGeom>
        </p:spPr>
      </p:pic>
      <p:pic>
        <p:nvPicPr>
          <p:cNvPr id="5" name="Image 2" descr="/home/user/Portugal-Website/images/flag-ch.jpg">    </p:cNvPr>
          <p:cNvPicPr>
            <a:picLocks noChangeAspect="1"/>
          </p:cNvPicPr>
          <p:nvPr/>
        </p:nvPicPr>
        <p:blipFill>
          <a:blip r:embed="rId3"/>
          <a:srcRect l="0" r="0" t="0" b="0"/>
          <a:stretch/>
        </p:blipFill>
        <p:spPr>
          <a:xfrm>
            <a:off x="7251192" y="1828800"/>
            <a:ext cx="731520" cy="731520"/>
          </a:xfrm>
          <a:prstGeom prst="ellipse">
            <a:avLst/>
          </a:prstGeom>
        </p:spPr>
      </p:pic>
      <p:sp>
        <p:nvSpPr>
          <p:cNvPr id="6" name="Text 1"/>
          <p:cNvSpPr txBox="1"/>
          <p:nvPr/>
        </p:nvSpPr>
        <p:spPr>
          <a:xfrm>
            <a:off x="914400" y="2651760"/>
            <a:ext cx="10362895" cy="822960"/>
          </a:xfrm>
          <a:prstGeom prst="rect">
            <a:avLst/>
          </a:prstGeom>
          <a:noFill/>
          <a:ln/>
        </p:spPr>
        <p:txBody>
          <a:bodyPr wrap="square" lIns="0" tIns="0" rIns="0" bIns="0" rtlCol="0" anchor="t"/>
          <a:lstStyle/>
          <a:p>
            <a:pPr algn="ctr" indent="0" marL="0">
              <a:buNone/>
            </a:pPr>
            <a:r>
              <a:rPr lang="en-US" sz="4400" b="1" dirty="0">
                <a:solidFill>
                  <a:srgbClr val="FFFFFF"/>
                </a:solidFill>
                <a:latin typeface="Cambria" pitchFamily="34" charset="0"/>
                <a:ea typeface="Cambria" pitchFamily="34" charset="-122"/>
                <a:cs typeface="Cambria" pitchFamily="34" charset="-120"/>
              </a:rPr>
              <a:t>Portugal  —  Suisse</a:t>
            </a:r>
            <a:endParaRPr lang="en-US" sz="4400" dirty="0"/>
          </a:p>
        </p:txBody>
      </p:sp>
      <p:sp>
        <p:nvSpPr>
          <p:cNvPr id="7" name="Text 2"/>
          <p:cNvSpPr txBox="1"/>
          <p:nvPr/>
        </p:nvSpPr>
        <p:spPr>
          <a:xfrm>
            <a:off x="914400" y="3520440"/>
            <a:ext cx="10362895" cy="548640"/>
          </a:xfrm>
          <a:prstGeom prst="rect">
            <a:avLst/>
          </a:prstGeom>
          <a:noFill/>
          <a:ln/>
        </p:spPr>
        <p:txBody>
          <a:bodyPr wrap="square" lIns="0" tIns="0" rIns="0" bIns="0" rtlCol="0" anchor="t"/>
          <a:lstStyle/>
          <a:p>
            <a:pPr algn="ctr" indent="0" marL="0">
              <a:buNone/>
            </a:pPr>
            <a:r>
              <a:rPr lang="en-US" sz="2400" i="1" dirty="0">
                <a:solidFill>
                  <a:srgbClr val="F2C14E"/>
                </a:solidFill>
                <a:latin typeface="Cambria" pitchFamily="34" charset="0"/>
                <a:ea typeface="Cambria" pitchFamily="34" charset="-122"/>
                <a:cs typeface="Cambria" pitchFamily="34" charset="-120"/>
              </a:rPr>
              <a:t>Deux pays, deux cultures, un parcours.</a:t>
            </a:r>
            <a:endParaRPr lang="en-US" sz="2400" dirty="0"/>
          </a:p>
        </p:txBody>
      </p:sp>
      <p:sp>
        <p:nvSpPr>
          <p:cNvPr id="8" name="Text 3"/>
          <p:cNvSpPr txBox="1"/>
          <p:nvPr/>
        </p:nvSpPr>
        <p:spPr>
          <a:xfrm>
            <a:off x="2194560" y="4206240"/>
            <a:ext cx="7802575" cy="1097280"/>
          </a:xfrm>
          <a:prstGeom prst="rect">
            <a:avLst/>
          </a:prstGeom>
          <a:noFill/>
          <a:ln/>
        </p:spPr>
        <p:txBody>
          <a:bodyPr wrap="square" lIns="0" tIns="0" rIns="0" bIns="0" rtlCol="0" anchor="t"/>
          <a:lstStyle/>
          <a:p>
            <a:pPr algn="ctr" indent="0" marL="0">
              <a:buNone/>
            </a:pPr>
            <a:r>
              <a:rPr lang="en-US" sz="1800" dirty="0">
                <a:solidFill>
                  <a:srgbClr val="FFFFFF"/>
                </a:solidFill>
                <a:latin typeface="Calibri" pitchFamily="34" charset="0"/>
                <a:ea typeface="Calibri" pitchFamily="34" charset="-122"/>
                <a:cs typeface="Calibri" pitchFamily="34" charset="-120"/>
              </a:rPr>
              <a:t>Le Portugal est mes racines. La Suisse est aujourd'hui le pays où je construis mon avenir. Cette présentation est le pont entre ces deux parties de ma vie.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home/user/Portugal-Website/images/photos/hero-geo.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01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Géographie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Le Portugal, entre l'Europe et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 pays à la taille modeste, mais d'une richesse géographique exceptionnelle.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OÙ SE TROUVE LE PORTUGAL ?</a:t>
            </a:r>
            <a:endParaRPr lang="en-US" sz="1200" dirty="0"/>
          </a:p>
        </p:txBody>
      </p:sp>
      <p:sp>
        <p:nvSpPr>
          <p:cNvPr id="3" name="Text 1"/>
          <p:cNvSpPr txBox="1"/>
          <p:nvPr/>
        </p:nvSpPr>
        <p:spPr>
          <a:xfrm>
            <a:off x="548640" y="685800"/>
            <a:ext cx="585216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À l'extrémité sud-ouest de l'Europe</a:t>
            </a:r>
            <a:endParaRPr lang="en-US" sz="2600" dirty="0"/>
          </a:p>
        </p:txBody>
      </p:sp>
      <p:pic>
        <p:nvPicPr>
          <p:cNvPr id="4" name="Image 0" descr="/home/user/Portugal-Website/images/geo-map-europe.jpg">    </p:cNvPr>
          <p:cNvPicPr>
            <a:picLocks noChangeAspect="1"/>
          </p:cNvPicPr>
          <p:nvPr/>
        </p:nvPicPr>
        <p:blipFill>
          <a:blip r:embed="rId1"/>
          <a:srcRect l="0" r="0" t="0" b="0"/>
          <a:stretch/>
        </p:blipFill>
        <p:spPr>
          <a:xfrm>
            <a:off x="6492240" y="548640"/>
            <a:ext cx="5148072" cy="5669280"/>
          </a:xfrm>
          <a:prstGeom prst="rect">
            <a:avLst/>
          </a:prstGeom>
        </p:spPr>
      </p:pic>
      <p:sp>
        <p:nvSpPr>
          <p:cNvPr id="5" name="Text 2"/>
          <p:cNvSpPr txBox="1"/>
          <p:nvPr/>
        </p:nvSpPr>
        <p:spPr>
          <a:xfrm>
            <a:off x="548640" y="1554480"/>
            <a:ext cx="5486400" cy="100584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Portugal est situé sur la péninsule Ibérique, bordé à l'est et au nord par l'Espagne et à l'ouest et au sud par l'océan Atlantique.</a:t>
            </a:r>
            <a:endParaRPr lang="en-US" sz="1600" dirty="0"/>
          </a:p>
        </p:txBody>
      </p:sp>
      <p:sp>
        <p:nvSpPr>
          <p:cNvPr id="6" name="Text 3"/>
          <p:cNvSpPr txBox="1"/>
          <p:nvPr/>
        </p:nvSpPr>
        <p:spPr>
          <a:xfrm>
            <a:off x="548640" y="2880360"/>
            <a:ext cx="178308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561 km</a:t>
            </a:r>
            <a:endParaRPr lang="en-US" sz="3600" dirty="0"/>
          </a:p>
        </p:txBody>
      </p:sp>
      <p:sp>
        <p:nvSpPr>
          <p:cNvPr id="7" name="Text 4"/>
          <p:cNvSpPr txBox="1"/>
          <p:nvPr/>
        </p:nvSpPr>
        <p:spPr>
          <a:xfrm>
            <a:off x="54864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du nord au sud</a:t>
            </a:r>
            <a:endParaRPr lang="en-US" sz="1300" dirty="0"/>
          </a:p>
        </p:txBody>
      </p:sp>
      <p:sp>
        <p:nvSpPr>
          <p:cNvPr id="8" name="Text 5"/>
          <p:cNvSpPr txBox="1"/>
          <p:nvPr/>
        </p:nvSpPr>
        <p:spPr>
          <a:xfrm>
            <a:off x="2423160" y="2880360"/>
            <a:ext cx="178308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218 km</a:t>
            </a:r>
            <a:endParaRPr lang="en-US" sz="3600" dirty="0"/>
          </a:p>
        </p:txBody>
      </p:sp>
      <p:sp>
        <p:nvSpPr>
          <p:cNvPr id="9" name="Text 6"/>
          <p:cNvSpPr txBox="1"/>
          <p:nvPr/>
        </p:nvSpPr>
        <p:spPr>
          <a:xfrm>
            <a:off x="242316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d'est en ouest</a:t>
            </a:r>
            <a:endParaRPr lang="en-US" sz="1300" dirty="0"/>
          </a:p>
        </p:txBody>
      </p:sp>
      <p:sp>
        <p:nvSpPr>
          <p:cNvPr id="10" name="Text 7"/>
          <p:cNvSpPr txBox="1"/>
          <p:nvPr/>
        </p:nvSpPr>
        <p:spPr>
          <a:xfrm>
            <a:off x="4297680" y="2880360"/>
            <a:ext cx="178308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832 km</a:t>
            </a:r>
            <a:endParaRPr lang="en-US" sz="3600" dirty="0"/>
          </a:p>
        </p:txBody>
      </p:sp>
      <p:sp>
        <p:nvSpPr>
          <p:cNvPr id="11" name="Text 8"/>
          <p:cNvSpPr txBox="1"/>
          <p:nvPr/>
        </p:nvSpPr>
        <p:spPr>
          <a:xfrm>
            <a:off x="429768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de côte atlantique</a:t>
            </a:r>
            <a:endParaRPr lang="en-US" sz="1300" dirty="0"/>
          </a:p>
        </p:txBody>
      </p:sp>
      <p:sp>
        <p:nvSpPr>
          <p:cNvPr id="12" name="Text 9"/>
          <p:cNvSpPr txBox="1"/>
          <p:nvPr/>
        </p:nvSpPr>
        <p:spPr>
          <a:xfrm>
            <a:off x="548640" y="4480560"/>
            <a:ext cx="1783080" cy="685800"/>
          </a:xfrm>
          <a:prstGeom prst="rect">
            <a:avLst/>
          </a:prstGeom>
          <a:noFill/>
          <a:ln/>
        </p:spPr>
        <p:txBody>
          <a:bodyPr wrap="square" lIns="0" tIns="0" rIns="0" bIns="0" rtlCol="0" anchor="t"/>
          <a:lstStyle/>
          <a:p>
            <a:pPr indent="0" marL="0">
              <a:buNone/>
            </a:pPr>
            <a:r>
              <a:rPr lang="en-US" sz="3600" b="1" dirty="0">
                <a:solidFill>
                  <a:srgbClr val="B8955A"/>
                </a:solidFill>
                <a:latin typeface="Cambria" pitchFamily="34" charset="0"/>
                <a:ea typeface="Cambria" pitchFamily="34" charset="-122"/>
                <a:cs typeface="Cambria" pitchFamily="34" charset="-120"/>
              </a:rPr>
              <a:t>1 993 m</a:t>
            </a:r>
            <a:endParaRPr lang="en-US" sz="3600" dirty="0"/>
          </a:p>
        </p:txBody>
      </p:sp>
      <p:sp>
        <p:nvSpPr>
          <p:cNvPr id="13" name="Text 10"/>
          <p:cNvSpPr txBox="1"/>
          <p:nvPr/>
        </p:nvSpPr>
        <p:spPr>
          <a:xfrm>
            <a:off x="548640" y="51663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Serra da Estrela, point culminant du continent</a:t>
            </a:r>
            <a:endParaRPr lang="en-US" sz="1300" dirty="0"/>
          </a:p>
        </p:txBody>
      </p:sp>
      <p:sp>
        <p:nvSpPr>
          <p:cNvPr id="14" name="Text 11"/>
          <p:cNvSpPr txBox="1"/>
          <p:nvPr/>
        </p:nvSpPr>
        <p:spPr>
          <a:xfrm>
            <a:off x="2423160" y="4480560"/>
            <a:ext cx="178308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2 351 m</a:t>
            </a:r>
            <a:endParaRPr lang="en-US" sz="3600" dirty="0"/>
          </a:p>
        </p:txBody>
      </p:sp>
      <p:sp>
        <p:nvSpPr>
          <p:cNvPr id="15" name="Text 12"/>
          <p:cNvSpPr txBox="1"/>
          <p:nvPr/>
        </p:nvSpPr>
        <p:spPr>
          <a:xfrm>
            <a:off x="2423160" y="51663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Pico (Açores), point culminant du pays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PETIT PAYS, GRANDE DIVERSITÉ</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Deux visages, un même pays</a:t>
            </a:r>
            <a:endParaRPr lang="en-US" sz="3400" dirty="0"/>
          </a:p>
        </p:txBody>
      </p:sp>
      <p:pic>
        <p:nvPicPr>
          <p:cNvPr id="4" name="Image 0" descr="/home/user/Portugal-Website/images/luis/douro-train.jpg">    </p:cNvPr>
          <p:cNvPicPr>
            <a:picLocks noChangeAspect="1"/>
          </p:cNvPicPr>
          <p:nvPr/>
        </p:nvPicPr>
        <p:blipFill>
          <a:blip r:embed="rId1"/>
          <a:srcRect l="0" r="0" t="0" b="0"/>
          <a:stretch/>
        </p:blipFill>
        <p:spPr>
          <a:xfrm>
            <a:off x="548640" y="1600200"/>
            <a:ext cx="5486400" cy="2743200"/>
          </a:xfrm>
          <a:prstGeom prst="rect">
            <a:avLst/>
          </a:prstGeom>
        </p:spPr>
      </p:pic>
      <p:sp>
        <p:nvSpPr>
          <p:cNvPr id="5" name="Shape 2"/>
          <p:cNvSpPr/>
          <p:nvPr/>
        </p:nvSpPr>
        <p:spPr>
          <a:xfrm>
            <a:off x="548640" y="3959352"/>
            <a:ext cx="5486400" cy="384048"/>
          </a:xfrm>
          <a:prstGeom prst="rect">
            <a:avLst/>
          </a:prstGeom>
          <a:solidFill>
            <a:srgbClr val="000000">
              <a:alpha val="55000"/>
            </a:srgbClr>
          </a:solidFill>
          <a:ln w="12700">
            <a:solidFill>
              <a:srgbClr val="000000">
                <a:alpha val="0"/>
              </a:srgbClr>
            </a:solidFill>
            <a:prstDash val="solid"/>
          </a:ln>
        </p:spPr>
      </p:sp>
      <p:sp>
        <p:nvSpPr>
          <p:cNvPr id="6" name="Text 3"/>
          <p:cNvSpPr txBox="1"/>
          <p:nvPr/>
        </p:nvSpPr>
        <p:spPr>
          <a:xfrm>
            <a:off x="658368" y="3995928"/>
            <a:ext cx="526694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NORD : MONTAGNEUX</a:t>
            </a:r>
            <a:endParaRPr lang="en-US" sz="1100" dirty="0"/>
          </a:p>
        </p:txBody>
      </p:sp>
      <p:pic>
        <p:nvPicPr>
          <p:cNvPr id="7" name="Image 1" descr="/home/user/Portugal-Website/images/photos/geo-south.jpg">    </p:cNvPr>
          <p:cNvPicPr>
            <a:picLocks noChangeAspect="1"/>
          </p:cNvPicPr>
          <p:nvPr/>
        </p:nvPicPr>
        <p:blipFill>
          <a:blip r:embed="rId2"/>
          <a:srcRect l="0" r="0" t="0" b="0"/>
          <a:stretch/>
        </p:blipFill>
        <p:spPr>
          <a:xfrm>
            <a:off x="6153912" y="1600200"/>
            <a:ext cx="5486400" cy="2743200"/>
          </a:xfrm>
          <a:prstGeom prst="rect">
            <a:avLst/>
          </a:prstGeom>
        </p:spPr>
      </p:pic>
      <p:sp>
        <p:nvSpPr>
          <p:cNvPr id="8" name="Shape 4"/>
          <p:cNvSpPr/>
          <p:nvPr/>
        </p:nvSpPr>
        <p:spPr>
          <a:xfrm>
            <a:off x="6153912" y="3959352"/>
            <a:ext cx="5486400" cy="384048"/>
          </a:xfrm>
          <a:prstGeom prst="rect">
            <a:avLst/>
          </a:prstGeom>
          <a:solidFill>
            <a:srgbClr val="000000">
              <a:alpha val="55000"/>
            </a:srgbClr>
          </a:solidFill>
          <a:ln w="12700">
            <a:solidFill>
              <a:srgbClr val="000000">
                <a:alpha val="0"/>
              </a:srgbClr>
            </a:solidFill>
            <a:prstDash val="solid"/>
          </a:ln>
        </p:spPr>
      </p:sp>
      <p:sp>
        <p:nvSpPr>
          <p:cNvPr id="9" name="Text 5"/>
          <p:cNvSpPr txBox="1"/>
          <p:nvPr/>
        </p:nvSpPr>
        <p:spPr>
          <a:xfrm>
            <a:off x="6263640" y="3995928"/>
            <a:ext cx="526694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SUD : PLAINE</a:t>
            </a:r>
            <a:endParaRPr lang="en-US" sz="1100" dirty="0"/>
          </a:p>
        </p:txBody>
      </p:sp>
      <p:sp>
        <p:nvSpPr>
          <p:cNvPr id="10" name="Text 6"/>
          <p:cNvSpPr txBox="1"/>
          <p:nvPr/>
        </p:nvSpPr>
        <p:spPr>
          <a:xfrm>
            <a:off x="548640" y="4572000"/>
            <a:ext cx="5486400" cy="82296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Relief marqué, collines, vallées verdoyantes et villages traditionnels.  Hivers plus froids et pluvieux, étés doux.</a:t>
            </a:r>
            <a:endParaRPr lang="en-US" sz="1500" dirty="0"/>
          </a:p>
        </p:txBody>
      </p:sp>
      <p:sp>
        <p:nvSpPr>
          <p:cNvPr id="11" name="Text 7"/>
          <p:cNvSpPr txBox="1"/>
          <p:nvPr/>
        </p:nvSpPr>
        <p:spPr>
          <a:xfrm>
            <a:off x="6153912" y="4572000"/>
            <a:ext cx="5486400" cy="82296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Grands espaces ouverts, paysages doux et lumières intenses.  Hivers doux et ensoleillés, étés chauds et secs.</a:t>
            </a:r>
            <a:endParaRPr lang="en-US" sz="1500" dirty="0"/>
          </a:p>
        </p:txBody>
      </p:sp>
      <p:sp>
        <p:nvSpPr>
          <p:cNvPr id="12" name="Text 8"/>
          <p:cNvSpPr txBox="1"/>
          <p:nvPr/>
        </p:nvSpPr>
        <p:spPr>
          <a:xfrm>
            <a:off x="548640" y="5532120"/>
            <a:ext cx="11064240" cy="640080"/>
          </a:xfrm>
          <a:prstGeom prst="rect">
            <a:avLst/>
          </a:prstGeom>
          <a:noFill/>
          <a:ln/>
        </p:spPr>
        <p:txBody>
          <a:bodyPr wrap="square" lIns="0" tIns="0" rIns="0" bIns="0" rtlCol="0" anchor="t"/>
          <a:lstStyle/>
          <a:p>
            <a:pPr indent="0" marL="0">
              <a:buNone/>
            </a:pPr>
            <a:r>
              <a:rPr lang="en-US" sz="1400" i="1" dirty="0">
                <a:solidFill>
                  <a:srgbClr val="4A524E"/>
                </a:solidFill>
                <a:latin typeface="Calibri" pitchFamily="34" charset="0"/>
                <a:ea typeface="Calibri" pitchFamily="34" charset="-122"/>
                <a:cs typeface="Calibri" pitchFamily="34" charset="-120"/>
              </a:rPr>
              <a:t>Le climat du Portugal est influencé par le courant du Nord (océan Atlantique) et par les masses d'air chaudes venant du nord de l'Afrique.</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ÎLES DU PORTUGAL</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Madère et les Açores</a:t>
            </a:r>
            <a:endParaRPr lang="en-US" sz="3400" dirty="0"/>
          </a:p>
        </p:txBody>
      </p:sp>
      <p:sp>
        <p:nvSpPr>
          <p:cNvPr id="4" name="Text 2"/>
          <p:cNvSpPr txBox="1"/>
          <p:nvPr/>
        </p:nvSpPr>
        <p:spPr>
          <a:xfrm>
            <a:off x="548640" y="1371600"/>
            <a:ext cx="10972800" cy="5943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Les deux archipels sont nés de volcans au milieu de l'Atlantique : les Açores à environ 1 400 km de Lisbonne, Madère à près de 1 000 km. Ce sont aujourd'hui deux régions autonomes du Portugal.</a:t>
            </a:r>
            <a:endParaRPr lang="en-US" sz="1400" dirty="0"/>
          </a:p>
        </p:txBody>
      </p:sp>
      <p:pic>
        <p:nvPicPr>
          <p:cNvPr id="5" name="Image 0" descr="/home/user/Portugal-Website/images/luis/sete-cidades.jpg">    </p:cNvPr>
          <p:cNvPicPr>
            <a:picLocks noChangeAspect="1"/>
          </p:cNvPicPr>
          <p:nvPr/>
        </p:nvPicPr>
        <p:blipFill>
          <a:blip r:embed="rId1"/>
          <a:srcRect l="0" r="0" t="0" b="0"/>
          <a:stretch/>
        </p:blipFill>
        <p:spPr>
          <a:xfrm>
            <a:off x="548640" y="2057400"/>
            <a:ext cx="3108960" cy="2103120"/>
          </a:xfrm>
          <a:prstGeom prst="rect">
            <a:avLst/>
          </a:prstGeom>
        </p:spPr>
      </p:pic>
      <p:pic>
        <p:nvPicPr>
          <p:cNvPr id="6" name="Image 1" descr="/home/user/Portugal-Website/images/photos/x-acores2.jpg">    </p:cNvPr>
          <p:cNvPicPr>
            <a:picLocks noChangeAspect="1"/>
          </p:cNvPicPr>
          <p:nvPr/>
        </p:nvPicPr>
        <p:blipFill>
          <a:blip r:embed="rId2"/>
          <a:srcRect l="0" r="0" t="0" b="0"/>
          <a:stretch/>
        </p:blipFill>
        <p:spPr>
          <a:xfrm>
            <a:off x="3749040" y="2057400"/>
            <a:ext cx="2194560" cy="2103120"/>
          </a:xfrm>
          <a:prstGeom prst="rect">
            <a:avLst/>
          </a:prstGeom>
        </p:spPr>
      </p:pic>
      <p:sp>
        <p:nvSpPr>
          <p:cNvPr id="7" name="Text 3"/>
          <p:cNvSpPr txBox="1"/>
          <p:nvPr/>
        </p:nvSpPr>
        <p:spPr>
          <a:xfrm>
            <a:off x="548640" y="4297680"/>
            <a:ext cx="5394960" cy="274320"/>
          </a:xfrm>
          <a:prstGeom prst="rect">
            <a:avLst/>
          </a:prstGeom>
          <a:noFill/>
          <a:ln/>
        </p:spPr>
        <p:txBody>
          <a:bodyPr wrap="square" lIns="0" tIns="0" rIns="0" bIns="0" rtlCol="0" anchor="t"/>
          <a:lstStyle/>
          <a:p>
            <a:pPr indent="0" marL="0">
              <a:buNone/>
            </a:pPr>
            <a:r>
              <a:rPr lang="en-US" sz="1300" b="1" spc="200" kern="0" dirty="0">
                <a:solidFill>
                  <a:srgbClr val="A83232"/>
                </a:solidFill>
                <a:latin typeface="Calibri" pitchFamily="34" charset="0"/>
                <a:ea typeface="Calibri" pitchFamily="34" charset="-122"/>
                <a:cs typeface="Calibri" pitchFamily="34" charset="-120"/>
              </a:rPr>
              <a:t>AÇORES</a:t>
            </a:r>
            <a:endParaRPr lang="en-US" sz="1300" dirty="0"/>
          </a:p>
        </p:txBody>
      </p:sp>
      <p:sp>
        <p:nvSpPr>
          <p:cNvPr id="8" name="Text 4"/>
          <p:cNvSpPr txBox="1"/>
          <p:nvPr/>
        </p:nvSpPr>
        <p:spPr>
          <a:xfrm>
            <a:off x="548640" y="4572000"/>
            <a:ext cx="5394960" cy="123444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Neuf îles réparties sur plus de 600 km. Les navigateurs portugais découvrent les premières vers 1427 et les peuplent à partir des années 1430 ; Flores et Corvo, les plus à l'ouest, ne sont atteintes qu'en 1452. Lacs de cratère, sources chaudes, baleines et hortensias.</a:t>
            </a:r>
            <a:endParaRPr lang="en-US" sz="1150" dirty="0"/>
          </a:p>
        </p:txBody>
      </p:sp>
      <p:sp>
        <p:nvSpPr>
          <p:cNvPr id="9" name="Text 5"/>
          <p:cNvSpPr txBox="1"/>
          <p:nvPr/>
        </p:nvSpPr>
        <p:spPr>
          <a:xfrm>
            <a:off x="54864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9</a:t>
            </a:r>
            <a:endParaRPr lang="en-US" sz="1800" dirty="0"/>
          </a:p>
        </p:txBody>
      </p:sp>
      <p:sp>
        <p:nvSpPr>
          <p:cNvPr id="10" name="Text 6"/>
          <p:cNvSpPr txBox="1"/>
          <p:nvPr/>
        </p:nvSpPr>
        <p:spPr>
          <a:xfrm>
            <a:off x="54864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ÎLES</a:t>
            </a:r>
            <a:endParaRPr lang="en-US" sz="850" dirty="0"/>
          </a:p>
        </p:txBody>
      </p:sp>
      <p:sp>
        <p:nvSpPr>
          <p:cNvPr id="11" name="Text 7"/>
          <p:cNvSpPr txBox="1"/>
          <p:nvPr/>
        </p:nvSpPr>
        <p:spPr>
          <a:xfrm>
            <a:off x="237744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1427</a:t>
            </a:r>
            <a:endParaRPr lang="en-US" sz="1800" dirty="0"/>
          </a:p>
        </p:txBody>
      </p:sp>
      <p:sp>
        <p:nvSpPr>
          <p:cNvPr id="12" name="Text 8"/>
          <p:cNvSpPr txBox="1"/>
          <p:nvPr/>
        </p:nvSpPr>
        <p:spPr>
          <a:xfrm>
            <a:off x="237744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DÉCOUVERTE DES PREMIÈRES ÎLES</a:t>
            </a:r>
            <a:endParaRPr lang="en-US" sz="850" dirty="0"/>
          </a:p>
        </p:txBody>
      </p:sp>
      <p:sp>
        <p:nvSpPr>
          <p:cNvPr id="13" name="Text 9"/>
          <p:cNvSpPr txBox="1"/>
          <p:nvPr/>
        </p:nvSpPr>
        <p:spPr>
          <a:xfrm>
            <a:off x="420624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2 351 m</a:t>
            </a:r>
            <a:endParaRPr lang="en-US" sz="1800" dirty="0"/>
          </a:p>
        </p:txBody>
      </p:sp>
      <p:sp>
        <p:nvSpPr>
          <p:cNvPr id="14" name="Text 10"/>
          <p:cNvSpPr txBox="1"/>
          <p:nvPr/>
        </p:nvSpPr>
        <p:spPr>
          <a:xfrm>
            <a:off x="420624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PICO</a:t>
            </a:r>
            <a:endParaRPr lang="en-US" sz="850" dirty="0"/>
          </a:p>
        </p:txBody>
      </p:sp>
      <p:pic>
        <p:nvPicPr>
          <p:cNvPr id="15" name="Image 2" descr="/home/user/Portugal-Website/images/photos/x-madeira1.jpg">    </p:cNvPr>
          <p:cNvPicPr>
            <a:picLocks noChangeAspect="1"/>
          </p:cNvPicPr>
          <p:nvPr/>
        </p:nvPicPr>
        <p:blipFill>
          <a:blip r:embed="rId3"/>
          <a:srcRect l="0" r="0" t="0" b="0"/>
          <a:stretch/>
        </p:blipFill>
        <p:spPr>
          <a:xfrm>
            <a:off x="6217920" y="2057400"/>
            <a:ext cx="3108960" cy="2103120"/>
          </a:xfrm>
          <a:prstGeom prst="rect">
            <a:avLst/>
          </a:prstGeom>
        </p:spPr>
      </p:pic>
      <p:pic>
        <p:nvPicPr>
          <p:cNvPr id="16" name="Image 3" descr="/home/user/Portugal-Website/images/photos/x-madeira2.jpg">    </p:cNvPr>
          <p:cNvPicPr>
            <a:picLocks noChangeAspect="1"/>
          </p:cNvPicPr>
          <p:nvPr/>
        </p:nvPicPr>
        <p:blipFill>
          <a:blip r:embed="rId4"/>
          <a:srcRect l="0" r="0" t="0" b="0"/>
          <a:stretch/>
        </p:blipFill>
        <p:spPr>
          <a:xfrm>
            <a:off x="9418320" y="2057400"/>
            <a:ext cx="2194560" cy="2103120"/>
          </a:xfrm>
          <a:prstGeom prst="rect">
            <a:avLst/>
          </a:prstGeom>
        </p:spPr>
      </p:pic>
      <p:sp>
        <p:nvSpPr>
          <p:cNvPr id="17" name="Text 11"/>
          <p:cNvSpPr txBox="1"/>
          <p:nvPr/>
        </p:nvSpPr>
        <p:spPr>
          <a:xfrm>
            <a:off x="6217920" y="4297680"/>
            <a:ext cx="5394960" cy="274320"/>
          </a:xfrm>
          <a:prstGeom prst="rect">
            <a:avLst/>
          </a:prstGeom>
          <a:noFill/>
          <a:ln/>
        </p:spPr>
        <p:txBody>
          <a:bodyPr wrap="square" lIns="0" tIns="0" rIns="0" bIns="0" rtlCol="0" anchor="t"/>
          <a:lstStyle/>
          <a:p>
            <a:pPr indent="0" marL="0">
              <a:buNone/>
            </a:pPr>
            <a:r>
              <a:rPr lang="en-US" sz="1300" b="1" spc="200" kern="0" dirty="0">
                <a:solidFill>
                  <a:srgbClr val="A83232"/>
                </a:solidFill>
                <a:latin typeface="Calibri" pitchFamily="34" charset="0"/>
                <a:ea typeface="Calibri" pitchFamily="34" charset="-122"/>
                <a:cs typeface="Calibri" pitchFamily="34" charset="-120"/>
              </a:rPr>
              <a:t>MADÈRE</a:t>
            </a:r>
            <a:endParaRPr lang="en-US" sz="1300" dirty="0"/>
          </a:p>
        </p:txBody>
      </p:sp>
      <p:sp>
        <p:nvSpPr>
          <p:cNvPr id="18" name="Text 12"/>
          <p:cNvSpPr txBox="1"/>
          <p:nvPr/>
        </p:nvSpPr>
        <p:spPr>
          <a:xfrm>
            <a:off x="6217920" y="4572000"/>
            <a:ext cx="5394960" cy="123444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Deux îles habitées : Madère et Porto Santo (les îles Desertas et Selvagens, elles, sont inhabitées). João Gonçalves Zarco et Tristão Vaz Teixeira découvrent Porto Santo en 1418, puis Madère en 1419. Falaises vertigineuses, levadas et douceur toute l'année.</a:t>
            </a:r>
            <a:endParaRPr lang="en-US" sz="1150" dirty="0"/>
          </a:p>
        </p:txBody>
      </p:sp>
      <p:sp>
        <p:nvSpPr>
          <p:cNvPr id="19" name="Text 13"/>
          <p:cNvSpPr txBox="1"/>
          <p:nvPr/>
        </p:nvSpPr>
        <p:spPr>
          <a:xfrm>
            <a:off x="621792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2</a:t>
            </a:r>
            <a:endParaRPr lang="en-US" sz="1800" dirty="0"/>
          </a:p>
        </p:txBody>
      </p:sp>
      <p:sp>
        <p:nvSpPr>
          <p:cNvPr id="20" name="Text 14"/>
          <p:cNvSpPr txBox="1"/>
          <p:nvPr/>
        </p:nvSpPr>
        <p:spPr>
          <a:xfrm>
            <a:off x="621792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ÎLES HABITÉES</a:t>
            </a:r>
            <a:endParaRPr lang="en-US" sz="850" dirty="0"/>
          </a:p>
        </p:txBody>
      </p:sp>
      <p:sp>
        <p:nvSpPr>
          <p:cNvPr id="21" name="Text 15"/>
          <p:cNvSpPr txBox="1"/>
          <p:nvPr/>
        </p:nvSpPr>
        <p:spPr>
          <a:xfrm>
            <a:off x="804672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1419</a:t>
            </a:r>
            <a:endParaRPr lang="en-US" sz="1800" dirty="0"/>
          </a:p>
        </p:txBody>
      </p:sp>
      <p:sp>
        <p:nvSpPr>
          <p:cNvPr id="22" name="Text 16"/>
          <p:cNvSpPr txBox="1"/>
          <p:nvPr/>
        </p:nvSpPr>
        <p:spPr>
          <a:xfrm>
            <a:off x="804672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DÉCOUVERTE DE MADÈRE</a:t>
            </a:r>
            <a:endParaRPr lang="en-US" sz="850" dirty="0"/>
          </a:p>
        </p:txBody>
      </p:sp>
      <p:sp>
        <p:nvSpPr>
          <p:cNvPr id="23" name="Text 17"/>
          <p:cNvSpPr txBox="1"/>
          <p:nvPr/>
        </p:nvSpPr>
        <p:spPr>
          <a:xfrm>
            <a:off x="987552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1976</a:t>
            </a:r>
            <a:endParaRPr lang="en-US" sz="1800" dirty="0"/>
          </a:p>
        </p:txBody>
      </p:sp>
      <p:sp>
        <p:nvSpPr>
          <p:cNvPr id="24" name="Text 18"/>
          <p:cNvSpPr txBox="1"/>
          <p:nvPr/>
        </p:nvSpPr>
        <p:spPr>
          <a:xfrm>
            <a:off x="987552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AUTONOMIE</a:t>
            </a:r>
            <a:endParaRPr lang="en-US" sz="8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 SAVIEZ-VOUS ?</a:t>
            </a:r>
            <a:endParaRPr lang="en-US" sz="1200" dirty="0"/>
          </a:p>
        </p:txBody>
      </p:sp>
      <p:sp>
        <p:nvSpPr>
          <p:cNvPr id="3" name="Text 1"/>
          <p:cNvSpPr txBox="1"/>
          <p:nvPr/>
        </p:nvSpPr>
        <p:spPr>
          <a:xfrm>
            <a:off x="548640" y="685800"/>
            <a:ext cx="65836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Petits faits étonnants</a:t>
            </a:r>
            <a:endParaRPr lang="en-US" sz="3400" dirty="0"/>
          </a:p>
        </p:txBody>
      </p:sp>
      <p:sp>
        <p:nvSpPr>
          <p:cNvPr id="4" name="Shape 2"/>
          <p:cNvSpPr/>
          <p:nvPr/>
        </p:nvSpPr>
        <p:spPr>
          <a:xfrm>
            <a:off x="548640" y="1691640"/>
            <a:ext cx="457200" cy="457200"/>
          </a:xfrm>
          <a:prstGeom prst="ellipse">
            <a:avLst/>
          </a:prstGeom>
          <a:solidFill>
            <a:srgbClr val="174A3A"/>
          </a:solidFill>
          <a:ln w="12700">
            <a:solidFill>
              <a:srgbClr val="174A3A"/>
            </a:solidFill>
            <a:prstDash val="solid"/>
          </a:ln>
        </p:spPr>
      </p:sp>
      <p:sp>
        <p:nvSpPr>
          <p:cNvPr id="5" name="Text 3"/>
          <p:cNvSpPr txBox="1"/>
          <p:nvPr/>
        </p:nvSpPr>
        <p:spPr>
          <a:xfrm>
            <a:off x="548640" y="16916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234440" y="164592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point culminant du pays se trouve aux Açores (Pico, 2 351 m). Sur le continent, c'est la Serra da Estrela (1 993 m).</a:t>
            </a:r>
            <a:endParaRPr lang="en-US" sz="1600" dirty="0"/>
          </a:p>
        </p:txBody>
      </p:sp>
      <p:sp>
        <p:nvSpPr>
          <p:cNvPr id="7" name="Shape 5"/>
          <p:cNvSpPr/>
          <p:nvPr/>
        </p:nvSpPr>
        <p:spPr>
          <a:xfrm>
            <a:off x="548640" y="2788920"/>
            <a:ext cx="457200" cy="457200"/>
          </a:xfrm>
          <a:prstGeom prst="ellipse">
            <a:avLst/>
          </a:prstGeom>
          <a:solidFill>
            <a:srgbClr val="A83232"/>
          </a:solidFill>
          <a:ln w="12700">
            <a:solidFill>
              <a:srgbClr val="A83232"/>
            </a:solidFill>
            <a:prstDash val="solid"/>
          </a:ln>
        </p:spPr>
      </p:sp>
      <p:sp>
        <p:nvSpPr>
          <p:cNvPr id="8" name="Text 6"/>
          <p:cNvSpPr txBox="1"/>
          <p:nvPr/>
        </p:nvSpPr>
        <p:spPr>
          <a:xfrm>
            <a:off x="548640" y="2788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1234440" y="274320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Portugal n'a qu'un seul voisin terrestre : l'Espagne.</a:t>
            </a:r>
            <a:endParaRPr lang="en-US" sz="1600" dirty="0"/>
          </a:p>
        </p:txBody>
      </p:sp>
      <p:sp>
        <p:nvSpPr>
          <p:cNvPr id="10" name="Shape 8"/>
          <p:cNvSpPr/>
          <p:nvPr/>
        </p:nvSpPr>
        <p:spPr>
          <a:xfrm>
            <a:off x="548640" y="3886200"/>
            <a:ext cx="457200" cy="457200"/>
          </a:xfrm>
          <a:prstGeom prst="ellipse">
            <a:avLst/>
          </a:prstGeom>
          <a:solidFill>
            <a:srgbClr val="1E4F8F"/>
          </a:solidFill>
          <a:ln w="12700">
            <a:solidFill>
              <a:srgbClr val="1E4F8F"/>
            </a:solidFill>
            <a:prstDash val="solid"/>
          </a:ln>
        </p:spPr>
      </p:sp>
      <p:sp>
        <p:nvSpPr>
          <p:cNvPr id="11" name="Text 9"/>
          <p:cNvSpPr txBox="1"/>
          <p:nvPr/>
        </p:nvSpPr>
        <p:spPr>
          <a:xfrm>
            <a:off x="548640" y="3886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1234440" y="384048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Il y a des empreintes de dinosaures vieilles de 175 millions d'années, près de Fátima (Pedreira do Galinha) ! Et dans la vallée du Côa (Douro), des gravures préhistoriques de plus de 20 000 ans.</a:t>
            </a:r>
            <a:endParaRPr lang="en-US" sz="1600" dirty="0"/>
          </a:p>
        </p:txBody>
      </p:sp>
      <p:sp>
        <p:nvSpPr>
          <p:cNvPr id="13" name="Shape 11"/>
          <p:cNvSpPr/>
          <p:nvPr/>
        </p:nvSpPr>
        <p:spPr>
          <a:xfrm>
            <a:off x="548640" y="4983480"/>
            <a:ext cx="457200" cy="457200"/>
          </a:xfrm>
          <a:prstGeom prst="ellipse">
            <a:avLst/>
          </a:prstGeom>
          <a:solidFill>
            <a:srgbClr val="B8955A"/>
          </a:solidFill>
          <a:ln w="12700">
            <a:solidFill>
              <a:srgbClr val="B8955A"/>
            </a:solidFill>
            <a:prstDash val="solid"/>
          </a:ln>
        </p:spPr>
      </p:sp>
      <p:sp>
        <p:nvSpPr>
          <p:cNvPr id="14" name="Text 12"/>
          <p:cNvSpPr txBox="1"/>
          <p:nvPr/>
        </p:nvSpPr>
        <p:spPr>
          <a:xfrm>
            <a:off x="548640" y="49834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txBox="1"/>
          <p:nvPr/>
        </p:nvSpPr>
        <p:spPr>
          <a:xfrm>
            <a:off x="1234440" y="493776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cabo da Roca est le point le plus occidental de l'Europe continentale : « là où la terre finit et où la mer commence » (Camões).</a:t>
            </a:r>
            <a:endParaRPr lang="en-US" sz="1600" dirty="0"/>
          </a:p>
        </p:txBody>
      </p:sp>
      <p:sp>
        <p:nvSpPr>
          <p:cNvPr id="16" name="Shape 14"/>
          <p:cNvSpPr/>
          <p:nvPr/>
        </p:nvSpPr>
        <p:spPr>
          <a:xfrm>
            <a:off x="7406640" y="548640"/>
            <a:ext cx="4233672" cy="5669280"/>
          </a:xfrm>
          <a:prstGeom prst="roundRect">
            <a:avLst>
              <a:gd name="adj" fmla="val 1728"/>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7" name="Text 15"/>
          <p:cNvSpPr txBox="1"/>
          <p:nvPr/>
        </p:nvSpPr>
        <p:spPr>
          <a:xfrm>
            <a:off x="7680960" y="777240"/>
            <a:ext cx="374904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CARAMULO, VISEU — CHEZ LUÍS</a:t>
            </a:r>
            <a:endParaRPr lang="en-US" sz="1100" dirty="0"/>
          </a:p>
        </p:txBody>
      </p:sp>
      <p:sp>
        <p:nvSpPr>
          <p:cNvPr id="18" name="Text 16"/>
          <p:cNvSpPr txBox="1"/>
          <p:nvPr/>
        </p:nvSpPr>
        <p:spPr>
          <a:xfrm>
            <a:off x="7680960" y="1051560"/>
            <a:ext cx="3749040" cy="457200"/>
          </a:xfrm>
          <a:prstGeom prst="rect">
            <a:avLst/>
          </a:prstGeom>
          <a:noFill/>
          <a:ln/>
        </p:spPr>
        <p:txBody>
          <a:bodyPr wrap="square" lIns="0" tIns="0" rIns="0" bIns="0" rtlCol="0" anchor="t"/>
          <a:lstStyle/>
          <a:p>
            <a:pPr indent="0" marL="0">
              <a:buNone/>
            </a:pPr>
            <a:r>
              <a:rPr lang="en-US" sz="2200" b="1" dirty="0">
                <a:solidFill>
                  <a:srgbClr val="17211D"/>
                </a:solidFill>
                <a:latin typeface="Cambria" pitchFamily="34" charset="0"/>
                <a:ea typeface="Cambria" pitchFamily="34" charset="-122"/>
                <a:cs typeface="Cambria" pitchFamily="34" charset="-120"/>
              </a:rPr>
              <a:t>Ma ville, mon origine</a:t>
            </a:r>
            <a:endParaRPr lang="en-US" sz="2200" dirty="0"/>
          </a:p>
        </p:txBody>
      </p:sp>
      <p:sp>
        <p:nvSpPr>
          <p:cNvPr id="19" name="Text 17"/>
          <p:cNvSpPr txBox="1"/>
          <p:nvPr/>
        </p:nvSpPr>
        <p:spPr>
          <a:xfrm>
            <a:off x="7680960" y="1554480"/>
            <a:ext cx="3749040" cy="8229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Caramulo est un village de montagne au centre du Portugal, terre du peuple lusitanien.</a:t>
            </a:r>
            <a:endParaRPr lang="en-US" sz="1400" dirty="0"/>
          </a:p>
        </p:txBody>
      </p:sp>
      <p:pic>
        <p:nvPicPr>
          <p:cNvPr id="20" name="Image 0" descr="/home/user/Portugal-Website/images/asterix.jpg">    </p:cNvPr>
          <p:cNvPicPr>
            <a:picLocks noChangeAspect="1"/>
          </p:cNvPicPr>
          <p:nvPr/>
        </p:nvPicPr>
        <p:blipFill>
          <a:blip r:embed="rId1"/>
          <a:srcRect l="0" r="0" t="0" b="0"/>
          <a:stretch/>
        </p:blipFill>
        <p:spPr>
          <a:xfrm>
            <a:off x="8732520" y="2468880"/>
            <a:ext cx="1600200" cy="2130552"/>
          </a:xfrm>
          <a:prstGeom prst="rect">
            <a:avLst/>
          </a:prstGeom>
        </p:spPr>
      </p:pic>
      <p:sp>
        <p:nvSpPr>
          <p:cNvPr id="21" name="Text 18"/>
          <p:cNvSpPr txBox="1"/>
          <p:nvPr/>
        </p:nvSpPr>
        <p:spPr>
          <a:xfrm>
            <a:off x="7680960" y="4800600"/>
            <a:ext cx="3749040" cy="548640"/>
          </a:xfrm>
          <a:prstGeom prst="rect">
            <a:avLst/>
          </a:prstGeom>
          <a:noFill/>
          <a:ln/>
        </p:spPr>
        <p:txBody>
          <a:bodyPr wrap="square" lIns="0" tIns="0" rIns="0" bIns="0" rtlCol="0" anchor="t"/>
          <a:lstStyle/>
          <a:p>
            <a:pPr algn="ctr" indent="0" marL="0">
              <a:buNone/>
            </a:pPr>
            <a:r>
              <a:rPr lang="en-US" sz="1300" i="1" dirty="0">
                <a:solidFill>
                  <a:srgbClr val="4A524E"/>
                </a:solidFill>
                <a:latin typeface="Cambria" pitchFamily="34" charset="0"/>
                <a:ea typeface="Cambria" pitchFamily="34" charset="-122"/>
                <a:cs typeface="Cambria" pitchFamily="34" charset="-120"/>
              </a:rPr>
              <a:t>Le peuple lusitanien, même dans Astérix !</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home/user/Portugal-Website/images/photos/hero-his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02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Histoire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 peuple de navigateurs, une histoire de découvertes</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Petite nation, grand destin : le Portugal a joué un rôle majeur dans l'histoire du monde, de la mer aux idées.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SYMBOLES &amp; ALLIANCES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identité forgée au fil des siècles</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hist-flag.jpg">    </p:cNvPr>
          <p:cNvPicPr>
            <a:picLocks noChangeAspect="1"/>
          </p:cNvPicPr>
          <p:nvPr/>
        </p:nvPicPr>
        <p:blipFill>
          <a:blip r:embed="rId1"/>
          <a:srcRect l="0" r="0" t="0" b="0"/>
          <a:stretch/>
        </p:blipFill>
        <p:spPr>
          <a:xfrm>
            <a:off x="548640" y="1600200"/>
            <a:ext cx="2624328" cy="1828800"/>
          </a:xfrm>
          <a:prstGeom prst="rect">
            <a:avLst/>
          </a:prstGeom>
        </p:spPr>
      </p:pic>
      <p:sp>
        <p:nvSpPr>
          <p:cNvPr id="6" name="Text 3"/>
          <p:cNvSpPr txBox="1"/>
          <p:nvPr/>
        </p:nvSpPr>
        <p:spPr>
          <a:xfrm>
            <a:off x="731520"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drapeau portugais</a:t>
            </a:r>
            <a:endParaRPr lang="en-US" sz="1800" dirty="0"/>
          </a:p>
        </p:txBody>
      </p:sp>
      <p:sp>
        <p:nvSpPr>
          <p:cNvPr id="7" name="Text 4"/>
          <p:cNvSpPr txBox="1"/>
          <p:nvPr/>
        </p:nvSpPr>
        <p:spPr>
          <a:xfrm>
            <a:off x="731520"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Le vert symbolise l'espoir et le rouge le sang versé pour la nation. Au centre, la sphère armillaire, un instrument d'astronomie utilisé par les navigateurs, célèbre les grandes découvertes maritimes des XVe et XVIe siècles.</a:t>
            </a:r>
            <a:endParaRPr lang="en-US" sz="13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x-afonso.jpg">    </p:cNvPr>
          <p:cNvPicPr>
            <a:picLocks noChangeAspect="1"/>
          </p:cNvPicPr>
          <p:nvPr/>
        </p:nvPicPr>
        <p:blipFill>
          <a:blip r:embed="rId2"/>
          <a:srcRect l="0" r="0" t="0" b="0"/>
          <a:stretch/>
        </p:blipFill>
        <p:spPr>
          <a:xfrm>
            <a:off x="3355848" y="1600200"/>
            <a:ext cx="2624328" cy="1828800"/>
          </a:xfrm>
          <a:prstGeom prst="rect">
            <a:avLst/>
          </a:prstGeom>
        </p:spPr>
      </p:pic>
      <p:sp>
        <p:nvSpPr>
          <p:cNvPr id="10" name="Text 6"/>
          <p:cNvSpPr txBox="1"/>
          <p:nvPr/>
        </p:nvSpPr>
        <p:spPr>
          <a:xfrm>
            <a:off x="3538728"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construction du Portugal</a:t>
            </a:r>
            <a:endParaRPr lang="en-US" sz="1800" dirty="0"/>
          </a:p>
        </p:txBody>
      </p:sp>
      <p:sp>
        <p:nvSpPr>
          <p:cNvPr id="11" name="Text 7"/>
          <p:cNvSpPr txBox="1"/>
          <p:nvPr/>
        </p:nvSpPr>
        <p:spPr>
          <a:xfrm>
            <a:off x="3538728"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24 juin 1128 : à la bataille de São Mamede, Afonso Henriques prend le contrôle du Comté de Portugal. 1143 : par le traité de Zamora, Alphonse VII de León et de Castille reconnaît l'indépendance du Portugal.</a:t>
            </a:r>
            <a:endParaRPr lang="en-US" sz="13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photos/hist-windsor.jpg">    </p:cNvPr>
          <p:cNvPicPr>
            <a:picLocks noChangeAspect="1"/>
          </p:cNvPicPr>
          <p:nvPr/>
        </p:nvPicPr>
        <p:blipFill>
          <a:blip r:embed="rId3"/>
          <a:srcRect l="0" r="0" t="0" b="0"/>
          <a:stretch/>
        </p:blipFill>
        <p:spPr>
          <a:xfrm>
            <a:off x="6163056" y="1600200"/>
            <a:ext cx="2624328" cy="1828800"/>
          </a:xfrm>
          <a:prstGeom prst="rect">
            <a:avLst/>
          </a:prstGeom>
        </p:spPr>
      </p:pic>
      <p:sp>
        <p:nvSpPr>
          <p:cNvPr id="14" name="Text 9"/>
          <p:cNvSpPr txBox="1"/>
          <p:nvPr/>
        </p:nvSpPr>
        <p:spPr>
          <a:xfrm>
            <a:off x="6345936"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Traité de Windsor (1386)</a:t>
            </a:r>
            <a:endParaRPr lang="en-US" sz="1800" dirty="0"/>
          </a:p>
        </p:txBody>
      </p:sp>
      <p:sp>
        <p:nvSpPr>
          <p:cNvPr id="15" name="Text 10"/>
          <p:cNvSpPr txBox="1"/>
          <p:nvPr/>
        </p:nvSpPr>
        <p:spPr>
          <a:xfrm>
            <a:off x="6345936"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Le plus ancien traité toujours en vigueur. Alliance avec l'Angleterre qui a résisté à deux invasions de Napoléon.</a:t>
            </a:r>
            <a:endParaRPr lang="en-US" sz="13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photos/hist-tea.jpg">    </p:cNvPr>
          <p:cNvPicPr>
            <a:picLocks noChangeAspect="1"/>
          </p:cNvPicPr>
          <p:nvPr/>
        </p:nvPicPr>
        <p:blipFill>
          <a:blip r:embed="rId4"/>
          <a:srcRect l="0" r="0" t="0" b="0"/>
          <a:stretch/>
        </p:blipFill>
        <p:spPr>
          <a:xfrm>
            <a:off x="8970264" y="1600200"/>
            <a:ext cx="2624328" cy="1828800"/>
          </a:xfrm>
          <a:prstGeom prst="rect">
            <a:avLst/>
          </a:prstGeom>
        </p:spPr>
      </p:pic>
      <p:sp>
        <p:nvSpPr>
          <p:cNvPr id="18" name="Text 12"/>
          <p:cNvSpPr txBox="1"/>
          <p:nvPr/>
        </p:nvSpPr>
        <p:spPr>
          <a:xfrm>
            <a:off x="9153144"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thé en Angleterre</a:t>
            </a:r>
            <a:endParaRPr lang="en-US" sz="1800" dirty="0"/>
          </a:p>
        </p:txBody>
      </p:sp>
      <p:sp>
        <p:nvSpPr>
          <p:cNvPr id="19" name="Text 13"/>
          <p:cNvSpPr txBox="1"/>
          <p:nvPr/>
        </p:nvSpPr>
        <p:spPr>
          <a:xfrm>
            <a:off x="9153144"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Popularisé en Angleterre par la reine portugaise Catherine de Bragance. Une légende raconte que le mot « Tea » viendrait de « Tem ervas aromáticas ? », écrit sur les caisses.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home/user/Portugal-Website/images/photos/hist-routes.png">    </p:cNvPr>
          <p:cNvPicPr>
            <a:picLocks noChangeAspect="1"/>
          </p:cNvPicPr>
          <p:nvPr/>
        </p:nvPicPr>
        <p:blipFill>
          <a:blip r:embed="rId1"/>
          <a:srcRect l="0" r="0" t="0" b="0"/>
          <a:stretch/>
        </p:blipFill>
        <p:spPr>
          <a:xfrm>
            <a:off x="4206240" y="548640"/>
            <a:ext cx="7434072" cy="5669280"/>
          </a:xfrm>
          <a:prstGeom prst="rect">
            <a:avLst/>
          </a:prstGeom>
        </p:spPr>
      </p:pic>
      <p:sp>
        <p:nvSpPr>
          <p:cNvPr id="3"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DÉCOUVERTES</a:t>
            </a:r>
            <a:endParaRPr lang="en-US" sz="1200" dirty="0"/>
          </a:p>
        </p:txBody>
      </p:sp>
      <p:sp>
        <p:nvSpPr>
          <p:cNvPr id="4" name="Text 1"/>
          <p:cNvSpPr txBox="1"/>
          <p:nvPr/>
        </p:nvSpPr>
        <p:spPr>
          <a:xfrm>
            <a:off x="548640" y="685800"/>
            <a:ext cx="38404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 empire de routes maritimes</a:t>
            </a:r>
            <a:endParaRPr lang="en-US" sz="3400" dirty="0"/>
          </a:p>
        </p:txBody>
      </p:sp>
      <p:sp>
        <p:nvSpPr>
          <p:cNvPr id="5" name="Text 2"/>
          <p:cNvSpPr txBox="1"/>
          <p:nvPr/>
        </p:nvSpPr>
        <p:spPr>
          <a:xfrm>
            <a:off x="548640" y="2194560"/>
            <a:ext cx="347472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Les navigateurs portugais ont ouvert des routes commerciales vers le monde entier.</a:t>
            </a:r>
            <a:endParaRPr lang="en-US" sz="1600" dirty="0"/>
          </a:p>
        </p:txBody>
      </p:sp>
      <p:sp>
        <p:nvSpPr>
          <p:cNvPr id="6" name="Shape 3"/>
          <p:cNvSpPr/>
          <p:nvPr/>
        </p:nvSpPr>
        <p:spPr>
          <a:xfrm>
            <a:off x="548640" y="3291840"/>
            <a:ext cx="457200" cy="457200"/>
          </a:xfrm>
          <a:prstGeom prst="ellipse">
            <a:avLst/>
          </a:prstGeom>
          <a:solidFill>
            <a:srgbClr val="174A3A"/>
          </a:solidFill>
          <a:ln w="12700">
            <a:solidFill>
              <a:srgbClr val="174A3A"/>
            </a:solidFill>
            <a:prstDash val="solid"/>
          </a:ln>
        </p:spPr>
      </p:sp>
      <p:sp>
        <p:nvSpPr>
          <p:cNvPr id="7" name="Text 4"/>
          <p:cNvSpPr txBox="1"/>
          <p:nvPr/>
        </p:nvSpPr>
        <p:spPr>
          <a:xfrm>
            <a:off x="1188720" y="329184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Afrique</a:t>
            </a:r>
            <a:endParaRPr lang="en-US" sz="1700" dirty="0"/>
          </a:p>
        </p:txBody>
      </p:sp>
      <p:sp>
        <p:nvSpPr>
          <p:cNvPr id="8" name="Shape 5"/>
          <p:cNvSpPr/>
          <p:nvPr/>
        </p:nvSpPr>
        <p:spPr>
          <a:xfrm>
            <a:off x="548640" y="3840480"/>
            <a:ext cx="457200" cy="457200"/>
          </a:xfrm>
          <a:prstGeom prst="ellipse">
            <a:avLst/>
          </a:prstGeom>
          <a:solidFill>
            <a:srgbClr val="A83232"/>
          </a:solidFill>
          <a:ln w="12700">
            <a:solidFill>
              <a:srgbClr val="A83232"/>
            </a:solidFill>
            <a:prstDash val="solid"/>
          </a:ln>
        </p:spPr>
      </p:sp>
      <p:sp>
        <p:nvSpPr>
          <p:cNvPr id="9" name="Text 6"/>
          <p:cNvSpPr txBox="1"/>
          <p:nvPr/>
        </p:nvSpPr>
        <p:spPr>
          <a:xfrm>
            <a:off x="1188720" y="384048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Inde</a:t>
            </a:r>
            <a:endParaRPr lang="en-US" sz="1700" dirty="0"/>
          </a:p>
        </p:txBody>
      </p:sp>
      <p:sp>
        <p:nvSpPr>
          <p:cNvPr id="10" name="Shape 7"/>
          <p:cNvSpPr/>
          <p:nvPr/>
        </p:nvSpPr>
        <p:spPr>
          <a:xfrm>
            <a:off x="548640" y="4389120"/>
            <a:ext cx="457200" cy="457200"/>
          </a:xfrm>
          <a:prstGeom prst="ellipse">
            <a:avLst/>
          </a:prstGeom>
          <a:solidFill>
            <a:srgbClr val="1E4F8F"/>
          </a:solidFill>
          <a:ln w="12700">
            <a:solidFill>
              <a:srgbClr val="1E4F8F"/>
            </a:solidFill>
            <a:prstDash val="solid"/>
          </a:ln>
        </p:spPr>
      </p:sp>
      <p:sp>
        <p:nvSpPr>
          <p:cNvPr id="11" name="Text 8"/>
          <p:cNvSpPr txBox="1"/>
          <p:nvPr/>
        </p:nvSpPr>
        <p:spPr>
          <a:xfrm>
            <a:off x="1188720" y="438912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Brésil</a:t>
            </a:r>
            <a:endParaRPr lang="en-US" sz="1700" dirty="0"/>
          </a:p>
        </p:txBody>
      </p:sp>
      <p:sp>
        <p:nvSpPr>
          <p:cNvPr id="12" name="Shape 9"/>
          <p:cNvSpPr/>
          <p:nvPr/>
        </p:nvSpPr>
        <p:spPr>
          <a:xfrm>
            <a:off x="548640" y="4937760"/>
            <a:ext cx="457200" cy="457200"/>
          </a:xfrm>
          <a:prstGeom prst="ellipse">
            <a:avLst/>
          </a:prstGeom>
          <a:solidFill>
            <a:srgbClr val="B8955A"/>
          </a:solidFill>
          <a:ln w="12700">
            <a:solidFill>
              <a:srgbClr val="B8955A"/>
            </a:solidFill>
            <a:prstDash val="solid"/>
          </a:ln>
        </p:spPr>
      </p:sp>
      <p:sp>
        <p:nvSpPr>
          <p:cNvPr id="13" name="Text 10"/>
          <p:cNvSpPr txBox="1"/>
          <p:nvPr/>
        </p:nvSpPr>
        <p:spPr>
          <a:xfrm>
            <a:off x="1188720" y="493776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Chine</a:t>
            </a:r>
            <a:endParaRPr lang="en-US" sz="1700" dirty="0"/>
          </a:p>
        </p:txBody>
      </p:sp>
      <p:sp>
        <p:nvSpPr>
          <p:cNvPr id="14" name="Shape 11"/>
          <p:cNvSpPr/>
          <p:nvPr/>
        </p:nvSpPr>
        <p:spPr>
          <a:xfrm>
            <a:off x="548640" y="5486400"/>
            <a:ext cx="457200" cy="457200"/>
          </a:xfrm>
          <a:prstGeom prst="ellipse">
            <a:avLst/>
          </a:prstGeom>
          <a:solidFill>
            <a:srgbClr val="174A3A"/>
          </a:solidFill>
          <a:ln w="12700">
            <a:solidFill>
              <a:srgbClr val="174A3A"/>
            </a:solidFill>
            <a:prstDash val="solid"/>
          </a:ln>
        </p:spPr>
      </p:sp>
      <p:sp>
        <p:nvSpPr>
          <p:cNvPr id="15" name="Text 12"/>
          <p:cNvSpPr txBox="1"/>
          <p:nvPr/>
        </p:nvSpPr>
        <p:spPr>
          <a:xfrm>
            <a:off x="1188720" y="548640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Japon</a:t>
            </a:r>
            <a:endParaRPr lang="en-US" sz="17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GRANDES DATES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Neuf siècles d'histoire</a:t>
            </a:r>
            <a:endParaRPr lang="en-US" sz="3400" dirty="0"/>
          </a:p>
        </p:txBody>
      </p:sp>
      <p:sp>
        <p:nvSpPr>
          <p:cNvPr id="4" name="Shape 2"/>
          <p:cNvSpPr/>
          <p:nvPr/>
        </p:nvSpPr>
        <p:spPr>
          <a:xfrm>
            <a:off x="548640" y="2148840"/>
            <a:ext cx="11064240" cy="0"/>
          </a:xfrm>
          <a:prstGeom prst="line">
            <a:avLst/>
          </a:prstGeom>
          <a:noFill/>
          <a:ln w="25400">
            <a:solidFill>
              <a:srgbClr val="C9CFCB"/>
            </a:solidFill>
            <a:prstDash val="solid"/>
          </a:ln>
        </p:spPr>
      </p:sp>
      <p:sp>
        <p:nvSpPr>
          <p:cNvPr id="5" name="Shape 3"/>
          <p:cNvSpPr/>
          <p:nvPr/>
        </p:nvSpPr>
        <p:spPr>
          <a:xfrm>
            <a:off x="594360" y="2011680"/>
            <a:ext cx="274320" cy="274320"/>
          </a:xfrm>
          <a:prstGeom prst="ellipse">
            <a:avLst/>
          </a:prstGeom>
          <a:solidFill>
            <a:srgbClr val="A83232"/>
          </a:solidFill>
          <a:ln w="31750">
            <a:solidFill>
              <a:srgbClr val="A83232"/>
            </a:solidFill>
            <a:prstDash val="solid"/>
          </a:ln>
        </p:spPr>
      </p:sp>
      <p:sp>
        <p:nvSpPr>
          <p:cNvPr id="6" name="Text 4"/>
          <p:cNvSpPr txBox="1"/>
          <p:nvPr/>
        </p:nvSpPr>
        <p:spPr>
          <a:xfrm>
            <a:off x="548640" y="2377440"/>
            <a:ext cx="2103120" cy="502920"/>
          </a:xfrm>
          <a:prstGeom prst="rect">
            <a:avLst/>
          </a:prstGeom>
          <a:noFill/>
          <a:ln/>
        </p:spPr>
        <p:txBody>
          <a:bodyPr wrap="square" lIns="0" tIns="0" rIns="0" bIns="0" rtlCol="0" anchor="t"/>
          <a:lstStyle/>
          <a:p>
            <a:pPr indent="0" marL="0">
              <a:buNone/>
            </a:pPr>
            <a:r>
              <a:rPr lang="en-US" sz="2600" b="1" dirty="0">
                <a:solidFill>
                  <a:srgbClr val="A83232"/>
                </a:solidFill>
                <a:latin typeface="Cambria" pitchFamily="34" charset="0"/>
                <a:ea typeface="Cambria" pitchFamily="34" charset="-122"/>
                <a:cs typeface="Cambria" pitchFamily="34" charset="-120"/>
              </a:rPr>
              <a:t>1143</a:t>
            </a:r>
            <a:endParaRPr lang="en-US" sz="2600" dirty="0"/>
          </a:p>
        </p:txBody>
      </p:sp>
      <p:sp>
        <p:nvSpPr>
          <p:cNvPr id="7" name="Text 5"/>
          <p:cNvSpPr txBox="1"/>
          <p:nvPr/>
        </p:nvSpPr>
        <p:spPr>
          <a:xfrm>
            <a:off x="54864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Traité de Zamora : le royaume de Portugal est reconnu. Dom Afonso Henriques devient son premier roi.</a:t>
            </a:r>
            <a:endParaRPr lang="en-US" sz="1200" dirty="0"/>
          </a:p>
        </p:txBody>
      </p:sp>
      <p:sp>
        <p:nvSpPr>
          <p:cNvPr id="8" name="Shape 6"/>
          <p:cNvSpPr/>
          <p:nvPr/>
        </p:nvSpPr>
        <p:spPr>
          <a:xfrm>
            <a:off x="2834640" y="2011680"/>
            <a:ext cx="274320" cy="274320"/>
          </a:xfrm>
          <a:prstGeom prst="ellipse">
            <a:avLst/>
          </a:prstGeom>
          <a:solidFill>
            <a:srgbClr val="FFFFFF"/>
          </a:solidFill>
          <a:ln w="31750">
            <a:solidFill>
              <a:srgbClr val="B8955A"/>
            </a:solidFill>
            <a:prstDash val="solid"/>
          </a:ln>
        </p:spPr>
      </p:sp>
      <p:sp>
        <p:nvSpPr>
          <p:cNvPr id="9" name="Text 7"/>
          <p:cNvSpPr txBox="1"/>
          <p:nvPr/>
        </p:nvSpPr>
        <p:spPr>
          <a:xfrm>
            <a:off x="278892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1415</a:t>
            </a:r>
            <a:endParaRPr lang="en-US" sz="2600" dirty="0"/>
          </a:p>
        </p:txBody>
      </p:sp>
      <p:sp>
        <p:nvSpPr>
          <p:cNvPr id="10" name="Text 8"/>
          <p:cNvSpPr txBox="1"/>
          <p:nvPr/>
        </p:nvSpPr>
        <p:spPr>
          <a:xfrm>
            <a:off x="278892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Prise de Ceuta : début de l'expansion maritime portugaise.</a:t>
            </a:r>
            <a:endParaRPr lang="en-US" sz="1200" dirty="0"/>
          </a:p>
        </p:txBody>
      </p:sp>
      <p:sp>
        <p:nvSpPr>
          <p:cNvPr id="11" name="Shape 9"/>
          <p:cNvSpPr/>
          <p:nvPr/>
        </p:nvSpPr>
        <p:spPr>
          <a:xfrm>
            <a:off x="5074920" y="2011680"/>
            <a:ext cx="274320" cy="274320"/>
          </a:xfrm>
          <a:prstGeom prst="ellipse">
            <a:avLst/>
          </a:prstGeom>
          <a:solidFill>
            <a:srgbClr val="FFFFFF"/>
          </a:solidFill>
          <a:ln w="31750">
            <a:solidFill>
              <a:srgbClr val="B8955A"/>
            </a:solidFill>
            <a:prstDash val="solid"/>
          </a:ln>
        </p:spPr>
      </p:sp>
      <p:sp>
        <p:nvSpPr>
          <p:cNvPr id="12" name="Text 10"/>
          <p:cNvSpPr txBox="1"/>
          <p:nvPr/>
        </p:nvSpPr>
        <p:spPr>
          <a:xfrm>
            <a:off x="502920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1494</a:t>
            </a:r>
            <a:endParaRPr lang="en-US" sz="2600" dirty="0"/>
          </a:p>
        </p:txBody>
      </p:sp>
      <p:sp>
        <p:nvSpPr>
          <p:cNvPr id="13" name="Text 11"/>
          <p:cNvSpPr txBox="1"/>
          <p:nvPr/>
        </p:nvSpPr>
        <p:spPr>
          <a:xfrm>
            <a:off x="502920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Traité de Tordesillas : le Portugal et l'Espagne se partagent les terres à découvrir.</a:t>
            </a:r>
            <a:endParaRPr lang="en-US" sz="1200" dirty="0"/>
          </a:p>
        </p:txBody>
      </p:sp>
      <p:sp>
        <p:nvSpPr>
          <p:cNvPr id="14" name="Shape 12"/>
          <p:cNvSpPr/>
          <p:nvPr/>
        </p:nvSpPr>
        <p:spPr>
          <a:xfrm>
            <a:off x="7315200" y="2011680"/>
            <a:ext cx="274320" cy="274320"/>
          </a:xfrm>
          <a:prstGeom prst="ellipse">
            <a:avLst/>
          </a:prstGeom>
          <a:solidFill>
            <a:srgbClr val="FFFFFF"/>
          </a:solidFill>
          <a:ln w="31750">
            <a:solidFill>
              <a:srgbClr val="B8955A"/>
            </a:solidFill>
            <a:prstDash val="solid"/>
          </a:ln>
        </p:spPr>
      </p:sp>
      <p:sp>
        <p:nvSpPr>
          <p:cNvPr id="15" name="Text 13"/>
          <p:cNvSpPr txBox="1"/>
          <p:nvPr/>
        </p:nvSpPr>
        <p:spPr>
          <a:xfrm>
            <a:off x="726948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1498</a:t>
            </a:r>
            <a:endParaRPr lang="en-US" sz="2600" dirty="0"/>
          </a:p>
        </p:txBody>
      </p:sp>
      <p:sp>
        <p:nvSpPr>
          <p:cNvPr id="16" name="Text 14"/>
          <p:cNvSpPr txBox="1"/>
          <p:nvPr/>
        </p:nvSpPr>
        <p:spPr>
          <a:xfrm>
            <a:off x="726948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Vasco de Gama atteint l'Inde par la mer en contournant l'Afrique.</a:t>
            </a:r>
            <a:endParaRPr lang="en-US" sz="1200" dirty="0"/>
          </a:p>
        </p:txBody>
      </p:sp>
      <p:sp>
        <p:nvSpPr>
          <p:cNvPr id="17" name="Shape 15"/>
          <p:cNvSpPr/>
          <p:nvPr/>
        </p:nvSpPr>
        <p:spPr>
          <a:xfrm>
            <a:off x="9555480" y="2011680"/>
            <a:ext cx="274320" cy="274320"/>
          </a:xfrm>
          <a:prstGeom prst="ellipse">
            <a:avLst/>
          </a:prstGeom>
          <a:solidFill>
            <a:srgbClr val="FFFFFF"/>
          </a:solidFill>
          <a:ln w="31750">
            <a:solidFill>
              <a:srgbClr val="B8955A"/>
            </a:solidFill>
            <a:prstDash val="solid"/>
          </a:ln>
        </p:spPr>
      </p:sp>
      <p:sp>
        <p:nvSpPr>
          <p:cNvPr id="18" name="Text 16"/>
          <p:cNvSpPr txBox="1"/>
          <p:nvPr/>
        </p:nvSpPr>
        <p:spPr>
          <a:xfrm>
            <a:off x="950976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1500</a:t>
            </a:r>
            <a:endParaRPr lang="en-US" sz="2600" dirty="0"/>
          </a:p>
        </p:txBody>
      </p:sp>
      <p:sp>
        <p:nvSpPr>
          <p:cNvPr id="19" name="Text 17"/>
          <p:cNvSpPr txBox="1"/>
          <p:nvPr/>
        </p:nvSpPr>
        <p:spPr>
          <a:xfrm>
            <a:off x="950976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Pedro Álvares Cabral arrive au Brésil.</a:t>
            </a:r>
            <a:endParaRPr lang="en-US" sz="1200" dirty="0"/>
          </a:p>
        </p:txBody>
      </p:sp>
      <p:sp>
        <p:nvSpPr>
          <p:cNvPr id="20" name="Shape 18"/>
          <p:cNvSpPr/>
          <p:nvPr/>
        </p:nvSpPr>
        <p:spPr>
          <a:xfrm>
            <a:off x="548640" y="4389120"/>
            <a:ext cx="11064240" cy="0"/>
          </a:xfrm>
          <a:prstGeom prst="line">
            <a:avLst/>
          </a:prstGeom>
          <a:noFill/>
          <a:ln w="25400">
            <a:solidFill>
              <a:srgbClr val="C9CFCB"/>
            </a:solidFill>
            <a:prstDash val="solid"/>
          </a:ln>
        </p:spPr>
      </p:sp>
      <p:sp>
        <p:nvSpPr>
          <p:cNvPr id="21" name="Shape 19"/>
          <p:cNvSpPr/>
          <p:nvPr/>
        </p:nvSpPr>
        <p:spPr>
          <a:xfrm>
            <a:off x="594360" y="4251960"/>
            <a:ext cx="274320" cy="274320"/>
          </a:xfrm>
          <a:prstGeom prst="ellipse">
            <a:avLst/>
          </a:prstGeom>
          <a:solidFill>
            <a:srgbClr val="FFFFFF"/>
          </a:solidFill>
          <a:ln w="31750">
            <a:solidFill>
              <a:srgbClr val="B8955A"/>
            </a:solidFill>
            <a:prstDash val="solid"/>
          </a:ln>
        </p:spPr>
      </p:sp>
      <p:sp>
        <p:nvSpPr>
          <p:cNvPr id="22" name="Text 20"/>
          <p:cNvSpPr txBox="1"/>
          <p:nvPr/>
        </p:nvSpPr>
        <p:spPr>
          <a:xfrm>
            <a:off x="54864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1755</a:t>
            </a:r>
            <a:endParaRPr lang="en-US" sz="2600" dirty="0"/>
          </a:p>
        </p:txBody>
      </p:sp>
      <p:sp>
        <p:nvSpPr>
          <p:cNvPr id="23" name="Text 21"/>
          <p:cNvSpPr txBox="1"/>
          <p:nvPr/>
        </p:nvSpPr>
        <p:spPr>
          <a:xfrm>
            <a:off x="54864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Un tremblement de terre suivi d'un tsunami détruit Lisbonne. Le marquis de Pombal reconstruit la ville.</a:t>
            </a:r>
            <a:endParaRPr lang="en-US" sz="1200" dirty="0"/>
          </a:p>
        </p:txBody>
      </p:sp>
      <p:sp>
        <p:nvSpPr>
          <p:cNvPr id="24" name="Shape 22"/>
          <p:cNvSpPr/>
          <p:nvPr/>
        </p:nvSpPr>
        <p:spPr>
          <a:xfrm>
            <a:off x="2834640" y="4251960"/>
            <a:ext cx="274320" cy="274320"/>
          </a:xfrm>
          <a:prstGeom prst="ellipse">
            <a:avLst/>
          </a:prstGeom>
          <a:solidFill>
            <a:srgbClr val="FFFFFF"/>
          </a:solidFill>
          <a:ln w="31750">
            <a:solidFill>
              <a:srgbClr val="B8955A"/>
            </a:solidFill>
            <a:prstDash val="solid"/>
          </a:ln>
        </p:spPr>
      </p:sp>
      <p:sp>
        <p:nvSpPr>
          <p:cNvPr id="25" name="Text 23"/>
          <p:cNvSpPr txBox="1"/>
          <p:nvPr/>
        </p:nvSpPr>
        <p:spPr>
          <a:xfrm>
            <a:off x="278892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1910</a:t>
            </a:r>
            <a:endParaRPr lang="en-US" sz="2600" dirty="0"/>
          </a:p>
        </p:txBody>
      </p:sp>
      <p:sp>
        <p:nvSpPr>
          <p:cNvPr id="26" name="Text 24"/>
          <p:cNvSpPr txBox="1"/>
          <p:nvPr/>
        </p:nvSpPr>
        <p:spPr>
          <a:xfrm>
            <a:off x="278892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Fin de la monarchie : la République est proclamée le 5 octobre.</a:t>
            </a:r>
            <a:endParaRPr lang="en-US" sz="1200" dirty="0"/>
          </a:p>
        </p:txBody>
      </p:sp>
      <p:sp>
        <p:nvSpPr>
          <p:cNvPr id="27" name="Shape 25"/>
          <p:cNvSpPr/>
          <p:nvPr/>
        </p:nvSpPr>
        <p:spPr>
          <a:xfrm>
            <a:off x="5074920" y="4251960"/>
            <a:ext cx="274320" cy="274320"/>
          </a:xfrm>
          <a:prstGeom prst="ellipse">
            <a:avLst/>
          </a:prstGeom>
          <a:solidFill>
            <a:srgbClr val="A83232"/>
          </a:solidFill>
          <a:ln w="31750">
            <a:solidFill>
              <a:srgbClr val="A83232"/>
            </a:solidFill>
            <a:prstDash val="solid"/>
          </a:ln>
        </p:spPr>
      </p:sp>
      <p:sp>
        <p:nvSpPr>
          <p:cNvPr id="28" name="Text 26"/>
          <p:cNvSpPr txBox="1"/>
          <p:nvPr/>
        </p:nvSpPr>
        <p:spPr>
          <a:xfrm>
            <a:off x="5029200" y="4617720"/>
            <a:ext cx="2103120" cy="502920"/>
          </a:xfrm>
          <a:prstGeom prst="rect">
            <a:avLst/>
          </a:prstGeom>
          <a:noFill/>
          <a:ln/>
        </p:spPr>
        <p:txBody>
          <a:bodyPr wrap="square" lIns="0" tIns="0" rIns="0" bIns="0" rtlCol="0" anchor="t"/>
          <a:lstStyle/>
          <a:p>
            <a:pPr indent="0" marL="0">
              <a:buNone/>
            </a:pPr>
            <a:r>
              <a:rPr lang="en-US" sz="2600" b="1" dirty="0">
                <a:solidFill>
                  <a:srgbClr val="A83232"/>
                </a:solidFill>
                <a:latin typeface="Cambria" pitchFamily="34" charset="0"/>
                <a:ea typeface="Cambria" pitchFamily="34" charset="-122"/>
                <a:cs typeface="Cambria" pitchFamily="34" charset="-120"/>
              </a:rPr>
              <a:t>1974</a:t>
            </a:r>
            <a:endParaRPr lang="en-US" sz="2600" dirty="0"/>
          </a:p>
        </p:txBody>
      </p:sp>
      <p:sp>
        <p:nvSpPr>
          <p:cNvPr id="29" name="Text 27"/>
          <p:cNvSpPr txBox="1"/>
          <p:nvPr/>
        </p:nvSpPr>
        <p:spPr>
          <a:xfrm>
            <a:off x="502920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Révolution des Œillets (25 avril) : fin de la dictature de l'Estado Novo.</a:t>
            </a:r>
            <a:endParaRPr lang="en-US" sz="1200" dirty="0"/>
          </a:p>
        </p:txBody>
      </p:sp>
      <p:sp>
        <p:nvSpPr>
          <p:cNvPr id="30" name="Shape 28"/>
          <p:cNvSpPr/>
          <p:nvPr/>
        </p:nvSpPr>
        <p:spPr>
          <a:xfrm>
            <a:off x="7315200" y="4251960"/>
            <a:ext cx="274320" cy="274320"/>
          </a:xfrm>
          <a:prstGeom prst="ellipse">
            <a:avLst/>
          </a:prstGeom>
          <a:solidFill>
            <a:srgbClr val="FFFFFF"/>
          </a:solidFill>
          <a:ln w="31750">
            <a:solidFill>
              <a:srgbClr val="B8955A"/>
            </a:solidFill>
            <a:prstDash val="solid"/>
          </a:ln>
        </p:spPr>
      </p:sp>
      <p:sp>
        <p:nvSpPr>
          <p:cNvPr id="31" name="Text 29"/>
          <p:cNvSpPr txBox="1"/>
          <p:nvPr/>
        </p:nvSpPr>
        <p:spPr>
          <a:xfrm>
            <a:off x="726948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1986</a:t>
            </a:r>
            <a:endParaRPr lang="en-US" sz="2600" dirty="0"/>
          </a:p>
        </p:txBody>
      </p:sp>
      <p:sp>
        <p:nvSpPr>
          <p:cNvPr id="32" name="Text 30"/>
          <p:cNvSpPr txBox="1"/>
          <p:nvPr/>
        </p:nvSpPr>
        <p:spPr>
          <a:xfrm>
            <a:off x="726948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Le Portugal entre dans la Communauté européenne, l'actuelle Union européenne.</a:t>
            </a:r>
            <a:endParaRPr lang="en-US" sz="1200" dirty="0"/>
          </a:p>
        </p:txBody>
      </p:sp>
      <p:sp>
        <p:nvSpPr>
          <p:cNvPr id="33" name="Shape 31"/>
          <p:cNvSpPr/>
          <p:nvPr/>
        </p:nvSpPr>
        <p:spPr>
          <a:xfrm>
            <a:off x="9555480" y="4251960"/>
            <a:ext cx="274320" cy="274320"/>
          </a:xfrm>
          <a:prstGeom prst="ellipse">
            <a:avLst/>
          </a:prstGeom>
          <a:solidFill>
            <a:srgbClr val="FFFFFF"/>
          </a:solidFill>
          <a:ln w="31750">
            <a:solidFill>
              <a:srgbClr val="B8955A"/>
            </a:solidFill>
            <a:prstDash val="solid"/>
          </a:ln>
        </p:spPr>
      </p:sp>
      <p:sp>
        <p:nvSpPr>
          <p:cNvPr id="34" name="Text 32"/>
          <p:cNvSpPr txBox="1"/>
          <p:nvPr/>
        </p:nvSpPr>
        <p:spPr>
          <a:xfrm>
            <a:off x="950976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1999</a:t>
            </a:r>
            <a:endParaRPr lang="en-US" sz="2600" dirty="0"/>
          </a:p>
        </p:txBody>
      </p:sp>
      <p:sp>
        <p:nvSpPr>
          <p:cNvPr id="35" name="Text 33"/>
          <p:cNvSpPr txBox="1"/>
          <p:nvPr/>
        </p:nvSpPr>
        <p:spPr>
          <a:xfrm>
            <a:off x="950976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Macao est rendue à la Chine : fin de près de six siècles d'empire.</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CE QU'ON SAIT MOINS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Six histoires surprenantes</a:t>
            </a:r>
            <a:endParaRPr lang="en-US" sz="3400" dirty="0"/>
          </a:p>
        </p:txBody>
      </p:sp>
      <p:pic>
        <p:nvPicPr>
          <p:cNvPr id="4" name="Image 0" descr="/home/user/Portugal-Website/images/photos/st-cantino.jpg">    </p:cNvPr>
          <p:cNvPicPr>
            <a:picLocks noChangeAspect="1"/>
          </p:cNvPicPr>
          <p:nvPr/>
        </p:nvPicPr>
        <p:blipFill>
          <a:blip r:embed="rId1"/>
          <a:srcRect l="0" r="0" t="0" b="0"/>
          <a:stretch/>
        </p:blipFill>
        <p:spPr>
          <a:xfrm>
            <a:off x="548640" y="1554480"/>
            <a:ext cx="1600200" cy="2148840"/>
          </a:xfrm>
          <a:prstGeom prst="rect">
            <a:avLst/>
          </a:prstGeom>
        </p:spPr>
      </p:pic>
      <p:sp>
        <p:nvSpPr>
          <p:cNvPr id="5" name="Text 2"/>
          <p:cNvSpPr txBox="1"/>
          <p:nvPr/>
        </p:nvSpPr>
        <p:spPr>
          <a:xfrm>
            <a:off x="233172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01</a:t>
            </a:r>
            <a:endParaRPr lang="en-US" sz="1300" dirty="0"/>
          </a:p>
        </p:txBody>
      </p:sp>
      <p:sp>
        <p:nvSpPr>
          <p:cNvPr id="6" name="Text 3"/>
          <p:cNvSpPr txBox="1"/>
          <p:nvPr/>
        </p:nvSpPr>
        <p:spPr>
          <a:xfrm>
            <a:off x="233172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monde coupé en deux</a:t>
            </a:r>
            <a:endParaRPr lang="en-US" sz="1600" dirty="0"/>
          </a:p>
        </p:txBody>
      </p:sp>
      <p:sp>
        <p:nvSpPr>
          <p:cNvPr id="7" name="Text 4"/>
          <p:cNvSpPr txBox="1"/>
          <p:nvPr/>
        </p:nvSpPr>
        <p:spPr>
          <a:xfrm>
            <a:off x="233172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1494 : le traité de Tordesillas partage le monde. C'est pour cela que le Brésil parle portugais.</a:t>
            </a:r>
            <a:endParaRPr lang="en-US" sz="1200" dirty="0"/>
          </a:p>
        </p:txBody>
      </p:sp>
      <p:pic>
        <p:nvPicPr>
          <p:cNvPr id="8" name="Image 1" descr="/home/user/Portugal-Website/images/photos/st-nanban.jpg">    </p:cNvPr>
          <p:cNvPicPr>
            <a:picLocks noChangeAspect="1"/>
          </p:cNvPicPr>
          <p:nvPr/>
        </p:nvPicPr>
        <p:blipFill>
          <a:blip r:embed="rId2"/>
          <a:srcRect l="0" r="0" t="0" b="0"/>
          <a:stretch/>
        </p:blipFill>
        <p:spPr>
          <a:xfrm>
            <a:off x="4297680" y="1554480"/>
            <a:ext cx="1600200" cy="2148840"/>
          </a:xfrm>
          <a:prstGeom prst="rect">
            <a:avLst/>
          </a:prstGeom>
        </p:spPr>
      </p:pic>
      <p:sp>
        <p:nvSpPr>
          <p:cNvPr id="9" name="Text 5"/>
          <p:cNvSpPr txBox="1"/>
          <p:nvPr/>
        </p:nvSpPr>
        <p:spPr>
          <a:xfrm>
            <a:off x="608076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02</a:t>
            </a:r>
            <a:endParaRPr lang="en-US" sz="1300" dirty="0"/>
          </a:p>
        </p:txBody>
      </p:sp>
      <p:sp>
        <p:nvSpPr>
          <p:cNvPr id="10" name="Text 6"/>
          <p:cNvSpPr txBox="1"/>
          <p:nvPr/>
        </p:nvSpPr>
        <p:spPr>
          <a:xfrm>
            <a:off x="608076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premiers Européens au Japon</a:t>
            </a:r>
            <a:endParaRPr lang="en-US" sz="1600" dirty="0"/>
          </a:p>
        </p:txBody>
      </p:sp>
      <p:sp>
        <p:nvSpPr>
          <p:cNvPr id="11" name="Text 7"/>
          <p:cNvSpPr txBox="1"/>
          <p:nvPr/>
        </p:nvSpPr>
        <p:spPr>
          <a:xfrm>
            <a:off x="608076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1543 : armes à feu, pain (« pan » vient de « pão ») et peut-être la tempura.</a:t>
            </a:r>
            <a:endParaRPr lang="en-US" sz="1200" dirty="0"/>
          </a:p>
        </p:txBody>
      </p:sp>
      <p:pic>
        <p:nvPicPr>
          <p:cNvPr id="12" name="Image 2" descr="/home/user/Portugal-Website/images/photos/st-1755.jpg">    </p:cNvPr>
          <p:cNvPicPr>
            <a:picLocks noChangeAspect="1"/>
          </p:cNvPicPr>
          <p:nvPr/>
        </p:nvPicPr>
        <p:blipFill>
          <a:blip r:embed="rId3"/>
          <a:srcRect l="0" r="0" t="0" b="0"/>
          <a:stretch/>
        </p:blipFill>
        <p:spPr>
          <a:xfrm>
            <a:off x="8046720" y="1554480"/>
            <a:ext cx="1600200" cy="2148840"/>
          </a:xfrm>
          <a:prstGeom prst="rect">
            <a:avLst/>
          </a:prstGeom>
        </p:spPr>
      </p:pic>
      <p:sp>
        <p:nvSpPr>
          <p:cNvPr id="13" name="Text 8"/>
          <p:cNvSpPr txBox="1"/>
          <p:nvPr/>
        </p:nvSpPr>
        <p:spPr>
          <a:xfrm>
            <a:off x="982980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03</a:t>
            </a:r>
            <a:endParaRPr lang="en-US" sz="1300" dirty="0"/>
          </a:p>
        </p:txBody>
      </p:sp>
      <p:sp>
        <p:nvSpPr>
          <p:cNvPr id="14" name="Text 9"/>
          <p:cNvSpPr txBox="1"/>
          <p:nvPr/>
        </p:nvSpPr>
        <p:spPr>
          <a:xfrm>
            <a:off x="982980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jour où Lisbonne a tremblé</a:t>
            </a:r>
            <a:endParaRPr lang="en-US" sz="1600" dirty="0"/>
          </a:p>
        </p:txBody>
      </p:sp>
      <p:sp>
        <p:nvSpPr>
          <p:cNvPr id="15" name="Text 10"/>
          <p:cNvSpPr txBox="1"/>
          <p:nvPr/>
        </p:nvSpPr>
        <p:spPr>
          <a:xfrm>
            <a:off x="982980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1755 : séisme et tsunami. Pombal reconstruit avec l'une des premières constructions parasismiques.</a:t>
            </a:r>
            <a:endParaRPr lang="en-US" sz="1200" dirty="0"/>
          </a:p>
        </p:txBody>
      </p:sp>
      <p:pic>
        <p:nvPicPr>
          <p:cNvPr id="16" name="Image 3" descr="/home/user/Portugal-Website/images/photos/st-mendes.jpg">    </p:cNvPr>
          <p:cNvPicPr>
            <a:picLocks noChangeAspect="1"/>
          </p:cNvPicPr>
          <p:nvPr/>
        </p:nvPicPr>
        <p:blipFill>
          <a:blip r:embed="rId4"/>
          <a:srcRect l="0" r="0" t="0" b="0"/>
          <a:stretch/>
        </p:blipFill>
        <p:spPr>
          <a:xfrm>
            <a:off x="548640" y="3977640"/>
            <a:ext cx="1600200" cy="2148840"/>
          </a:xfrm>
          <a:prstGeom prst="rect">
            <a:avLst/>
          </a:prstGeom>
        </p:spPr>
      </p:pic>
      <p:sp>
        <p:nvSpPr>
          <p:cNvPr id="17" name="Text 11"/>
          <p:cNvSpPr txBox="1"/>
          <p:nvPr/>
        </p:nvSpPr>
        <p:spPr>
          <a:xfrm>
            <a:off x="233172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04</a:t>
            </a:r>
            <a:endParaRPr lang="en-US" sz="1300" dirty="0"/>
          </a:p>
        </p:txBody>
      </p:sp>
      <p:sp>
        <p:nvSpPr>
          <p:cNvPr id="18" name="Text 12"/>
          <p:cNvSpPr txBox="1"/>
          <p:nvPr/>
        </p:nvSpPr>
        <p:spPr>
          <a:xfrm>
            <a:off x="233172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Un consul contre la dictature</a:t>
            </a:r>
            <a:endParaRPr lang="en-US" sz="1600" dirty="0"/>
          </a:p>
        </p:txBody>
      </p:sp>
      <p:sp>
        <p:nvSpPr>
          <p:cNvPr id="19" name="Text 13"/>
          <p:cNvSpPr txBox="1"/>
          <p:nvPr/>
        </p:nvSpPr>
        <p:spPr>
          <a:xfrm>
            <a:off x="233172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1940 : le consul Sousa Mendes défie Salazar et sauve des milliers de réfugiés.</a:t>
            </a:r>
            <a:endParaRPr lang="en-US" sz="1200" dirty="0"/>
          </a:p>
        </p:txBody>
      </p:sp>
      <p:pic>
        <p:nvPicPr>
          <p:cNvPr id="20" name="Image 4" descr="/home/user/Portugal-Website/images/photos/st-salazar.jpg">    </p:cNvPr>
          <p:cNvPicPr>
            <a:picLocks noChangeAspect="1"/>
          </p:cNvPicPr>
          <p:nvPr/>
        </p:nvPicPr>
        <p:blipFill>
          <a:blip r:embed="rId5"/>
          <a:srcRect l="0" r="0" t="0" b="0"/>
          <a:stretch/>
        </p:blipFill>
        <p:spPr>
          <a:xfrm>
            <a:off x="4297680" y="3977640"/>
            <a:ext cx="1600200" cy="2148840"/>
          </a:xfrm>
          <a:prstGeom prst="rect">
            <a:avLst/>
          </a:prstGeom>
        </p:spPr>
      </p:pic>
      <p:sp>
        <p:nvSpPr>
          <p:cNvPr id="21" name="Text 14"/>
          <p:cNvSpPr txBox="1"/>
          <p:nvPr/>
        </p:nvSpPr>
        <p:spPr>
          <a:xfrm>
            <a:off x="608076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05</a:t>
            </a:r>
            <a:endParaRPr lang="en-US" sz="1300" dirty="0"/>
          </a:p>
        </p:txBody>
      </p:sp>
      <p:sp>
        <p:nvSpPr>
          <p:cNvPr id="22" name="Text 15"/>
          <p:cNvSpPr txBox="1"/>
          <p:nvPr/>
        </p:nvSpPr>
        <p:spPr>
          <a:xfrm>
            <a:off x="608076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48 ans de dictature</a:t>
            </a:r>
            <a:endParaRPr lang="en-US" sz="1600" dirty="0"/>
          </a:p>
        </p:txBody>
      </p:sp>
      <p:sp>
        <p:nvSpPr>
          <p:cNvPr id="23" name="Text 16"/>
          <p:cNvSpPr txBox="1"/>
          <p:nvPr/>
        </p:nvSpPr>
        <p:spPr>
          <a:xfrm>
            <a:off x="608076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1926-1974 : censure, police politique, émigration « a salto » vers la France.</a:t>
            </a:r>
            <a:endParaRPr lang="en-US" sz="1200" dirty="0"/>
          </a:p>
        </p:txBody>
      </p:sp>
      <p:pic>
        <p:nvPicPr>
          <p:cNvPr id="24" name="Image 5" descr="/home/user/Portugal-Website/images/photos/st-macau.jpg">    </p:cNvPr>
          <p:cNvPicPr>
            <a:picLocks noChangeAspect="1"/>
          </p:cNvPicPr>
          <p:nvPr/>
        </p:nvPicPr>
        <p:blipFill>
          <a:blip r:embed="rId6"/>
          <a:srcRect l="0" r="0" t="0" b="0"/>
          <a:stretch/>
        </p:blipFill>
        <p:spPr>
          <a:xfrm>
            <a:off x="8046720" y="3977640"/>
            <a:ext cx="1600200" cy="2148840"/>
          </a:xfrm>
          <a:prstGeom prst="rect">
            <a:avLst/>
          </a:prstGeom>
        </p:spPr>
      </p:pic>
      <p:sp>
        <p:nvSpPr>
          <p:cNvPr id="25" name="Text 17"/>
          <p:cNvSpPr txBox="1"/>
          <p:nvPr/>
        </p:nvSpPr>
        <p:spPr>
          <a:xfrm>
            <a:off x="982980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06</a:t>
            </a:r>
            <a:endParaRPr lang="en-US" sz="1300" dirty="0"/>
          </a:p>
        </p:txBody>
      </p:sp>
      <p:sp>
        <p:nvSpPr>
          <p:cNvPr id="26" name="Text 18"/>
          <p:cNvSpPr txBox="1"/>
          <p:nvPr/>
        </p:nvSpPr>
        <p:spPr>
          <a:xfrm>
            <a:off x="982980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fin d'un empire</a:t>
            </a:r>
            <a:endParaRPr lang="en-US" sz="1600" dirty="0"/>
          </a:p>
        </p:txBody>
      </p:sp>
      <p:sp>
        <p:nvSpPr>
          <p:cNvPr id="27" name="Text 19"/>
          <p:cNvSpPr txBox="1"/>
          <p:nvPr/>
        </p:nvSpPr>
        <p:spPr>
          <a:xfrm>
            <a:off x="982980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Guerres coloniales, indépendances, puis Macao rendue à la Chine en 1999.</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home/user/Portugal-Website/images/photos/hero-ins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HISTOIRE · INSTITUTIONS</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Institutions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Une république démocratique au cœur de l'Europe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Depuis la Révolution des Œillets de 1974, le Portugal est une démocratie stable, fondée sur la Constitution de 1976.</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SÉPARATION DES POUVOIRS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Qui fait quoi ?</a:t>
            </a:r>
            <a:endParaRPr lang="en-US" sz="3400" dirty="0"/>
          </a:p>
        </p:txBody>
      </p:sp>
      <p:sp>
        <p:nvSpPr>
          <p:cNvPr id="4" name="Text 2"/>
          <p:cNvSpPr txBox="1"/>
          <p:nvPr/>
        </p:nvSpPr>
        <p:spPr>
          <a:xfrm>
            <a:off x="548640" y="1417320"/>
            <a:ext cx="10972800" cy="41148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Le Portugal est une république semi-présidentielle : le pouvoir est partagé entre quatre organes de souveraineté.</a:t>
            </a:r>
            <a:endParaRPr lang="en-US" sz="1500" dirty="0"/>
          </a:p>
        </p:txBody>
      </p:sp>
      <p:sp>
        <p:nvSpPr>
          <p:cNvPr id="5" name="Shape 3"/>
          <p:cNvSpPr/>
          <p:nvPr/>
        </p:nvSpPr>
        <p:spPr>
          <a:xfrm>
            <a:off x="548640"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6" name="Image 0" descr="/home/user/Portugal-Website/images/photos/inst-belem.jpg">    </p:cNvPr>
          <p:cNvPicPr>
            <a:picLocks noChangeAspect="1"/>
          </p:cNvPicPr>
          <p:nvPr/>
        </p:nvPicPr>
        <p:blipFill>
          <a:blip r:embed="rId1"/>
          <a:srcRect l="0" r="0" t="0" b="0"/>
          <a:stretch/>
        </p:blipFill>
        <p:spPr>
          <a:xfrm>
            <a:off x="548640" y="1965960"/>
            <a:ext cx="2624328" cy="1508760"/>
          </a:xfrm>
          <a:prstGeom prst="rect">
            <a:avLst/>
          </a:prstGeom>
        </p:spPr>
      </p:pic>
      <p:sp>
        <p:nvSpPr>
          <p:cNvPr id="7" name="Text 4"/>
          <p:cNvSpPr txBox="1"/>
          <p:nvPr/>
        </p:nvSpPr>
        <p:spPr>
          <a:xfrm>
            <a:off x="731520" y="3611880"/>
            <a:ext cx="2286000" cy="274320"/>
          </a:xfrm>
          <a:prstGeom prst="rect">
            <a:avLst/>
          </a:prstGeom>
          <a:noFill/>
          <a:ln/>
        </p:spPr>
        <p:txBody>
          <a:bodyPr wrap="square" lIns="0" tIns="0" rIns="0" bIns="0" rtlCol="0" anchor="t"/>
          <a:lstStyle/>
          <a:p>
            <a:pPr indent="0" marL="0">
              <a:buNone/>
            </a:pPr>
            <a:r>
              <a:rPr lang="en-US" sz="1100" b="1" spc="200" kern="0" dirty="0">
                <a:solidFill>
                  <a:srgbClr val="174A3A"/>
                </a:solidFill>
                <a:latin typeface="Calibri" pitchFamily="34" charset="0"/>
                <a:ea typeface="Calibri" pitchFamily="34" charset="-122"/>
                <a:cs typeface="Calibri" pitchFamily="34" charset="-120"/>
              </a:rPr>
              <a:t>CHEF DE L'ÉTAT</a:t>
            </a:r>
            <a:endParaRPr lang="en-US" sz="1100" dirty="0"/>
          </a:p>
        </p:txBody>
      </p:sp>
      <p:sp>
        <p:nvSpPr>
          <p:cNvPr id="8" name="Text 5"/>
          <p:cNvSpPr txBox="1"/>
          <p:nvPr/>
        </p:nvSpPr>
        <p:spPr>
          <a:xfrm>
            <a:off x="731520"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Président de la République</a:t>
            </a:r>
            <a:endParaRPr lang="en-US" sz="1700" dirty="0"/>
          </a:p>
        </p:txBody>
      </p:sp>
      <p:sp>
        <p:nvSpPr>
          <p:cNvPr id="9" name="Text 6"/>
          <p:cNvSpPr txBox="1"/>
          <p:nvPr/>
        </p:nvSpPr>
        <p:spPr>
          <a:xfrm>
            <a:off x="731520"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Depuis mars 2026 : António José Seguro</a:t>
            </a:r>
            <a:endParaRPr lang="en-US" sz="1300" dirty="0"/>
          </a:p>
        </p:txBody>
      </p:sp>
      <p:sp>
        <p:nvSpPr>
          <p:cNvPr id="10" name="Text 7"/>
          <p:cNvSpPr txBox="1"/>
          <p:nvPr/>
        </p:nvSpPr>
        <p:spPr>
          <a:xfrm>
            <a:off x="731520"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Élu au suffrage universel direct pour 5 ans (2 mandats consécutifs au maximum). Il peut dissoudre le Parlement et opposer son veto aux lois.</a:t>
            </a:r>
            <a:endParaRPr lang="en-US" sz="1100" dirty="0"/>
          </a:p>
        </p:txBody>
      </p:sp>
      <p:sp>
        <p:nvSpPr>
          <p:cNvPr id="11" name="Shape 8"/>
          <p:cNvSpPr/>
          <p:nvPr/>
        </p:nvSpPr>
        <p:spPr>
          <a:xfrm>
            <a:off x="3355848"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2" name="Image 1" descr="/home/user/Portugal-Website/images/photos/inst-saobento.jpg">    </p:cNvPr>
          <p:cNvPicPr>
            <a:picLocks noChangeAspect="1"/>
          </p:cNvPicPr>
          <p:nvPr/>
        </p:nvPicPr>
        <p:blipFill>
          <a:blip r:embed="rId2"/>
          <a:srcRect l="0" r="0" t="0" b="0"/>
          <a:stretch/>
        </p:blipFill>
        <p:spPr>
          <a:xfrm>
            <a:off x="3355848" y="1965960"/>
            <a:ext cx="2624328" cy="1508760"/>
          </a:xfrm>
          <a:prstGeom prst="rect">
            <a:avLst/>
          </a:prstGeom>
        </p:spPr>
      </p:pic>
      <p:sp>
        <p:nvSpPr>
          <p:cNvPr id="13" name="Text 9"/>
          <p:cNvSpPr txBox="1"/>
          <p:nvPr/>
        </p:nvSpPr>
        <p:spPr>
          <a:xfrm>
            <a:off x="3538728" y="3611880"/>
            <a:ext cx="2286000" cy="274320"/>
          </a:xfrm>
          <a:prstGeom prst="rect">
            <a:avLst/>
          </a:prstGeom>
          <a:noFill/>
          <a:ln/>
        </p:spPr>
        <p:txBody>
          <a:bodyPr wrap="square" lIns="0" tIns="0" rIns="0" bIns="0" rtlCol="0" anchor="t"/>
          <a:lstStyle/>
          <a:p>
            <a:pPr indent="0" marL="0">
              <a:buNone/>
            </a:pPr>
            <a:r>
              <a:rPr lang="en-US" sz="1100" b="1" spc="200" kern="0" dirty="0">
                <a:solidFill>
                  <a:srgbClr val="A83232"/>
                </a:solidFill>
                <a:latin typeface="Calibri" pitchFamily="34" charset="0"/>
                <a:ea typeface="Calibri" pitchFamily="34" charset="-122"/>
                <a:cs typeface="Calibri" pitchFamily="34" charset="-120"/>
              </a:rPr>
              <a:t>POUVOIR LÉGISLATIF</a:t>
            </a:r>
            <a:endParaRPr lang="en-US" sz="1100" dirty="0"/>
          </a:p>
        </p:txBody>
      </p:sp>
      <p:sp>
        <p:nvSpPr>
          <p:cNvPr id="14" name="Text 10"/>
          <p:cNvSpPr txBox="1"/>
          <p:nvPr/>
        </p:nvSpPr>
        <p:spPr>
          <a:xfrm>
            <a:off x="3538728"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Assemblée de la République</a:t>
            </a:r>
            <a:endParaRPr lang="en-US" sz="1700" dirty="0"/>
          </a:p>
        </p:txBody>
      </p:sp>
      <p:sp>
        <p:nvSpPr>
          <p:cNvPr id="15" name="Text 11"/>
          <p:cNvSpPr txBox="1"/>
          <p:nvPr/>
        </p:nvSpPr>
        <p:spPr>
          <a:xfrm>
            <a:off x="3538728"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Siège : palais de São Bento, Lisbonne</a:t>
            </a:r>
            <a:endParaRPr lang="en-US" sz="1300" dirty="0"/>
          </a:p>
        </p:txBody>
      </p:sp>
      <p:sp>
        <p:nvSpPr>
          <p:cNvPr id="16" name="Text 12"/>
          <p:cNvSpPr txBox="1"/>
          <p:nvPr/>
        </p:nvSpPr>
        <p:spPr>
          <a:xfrm>
            <a:off x="3538728"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230 députés élus pour 4 ans à la proportionnelle. Elle vote les lois et le budget, et contrôle le gouvernement.</a:t>
            </a:r>
            <a:endParaRPr lang="en-US" sz="1100" dirty="0"/>
          </a:p>
        </p:txBody>
      </p:sp>
      <p:sp>
        <p:nvSpPr>
          <p:cNvPr id="17" name="Shape 13"/>
          <p:cNvSpPr/>
          <p:nvPr/>
        </p:nvSpPr>
        <p:spPr>
          <a:xfrm>
            <a:off x="6163056"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8" name="Image 2" descr="/home/user/Portugal-Website/images/photos/inst-praca.jpg">    </p:cNvPr>
          <p:cNvPicPr>
            <a:picLocks noChangeAspect="1"/>
          </p:cNvPicPr>
          <p:nvPr/>
        </p:nvPicPr>
        <p:blipFill>
          <a:blip r:embed="rId3"/>
          <a:srcRect l="0" r="0" t="0" b="0"/>
          <a:stretch/>
        </p:blipFill>
        <p:spPr>
          <a:xfrm>
            <a:off x="6163056" y="1965960"/>
            <a:ext cx="2624328" cy="1508760"/>
          </a:xfrm>
          <a:prstGeom prst="rect">
            <a:avLst/>
          </a:prstGeom>
        </p:spPr>
      </p:pic>
      <p:sp>
        <p:nvSpPr>
          <p:cNvPr id="19" name="Text 14"/>
          <p:cNvSpPr txBox="1"/>
          <p:nvPr/>
        </p:nvSpPr>
        <p:spPr>
          <a:xfrm>
            <a:off x="6345936" y="3611880"/>
            <a:ext cx="22860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POUVOIR EXÉCUTIF</a:t>
            </a:r>
            <a:endParaRPr lang="en-US" sz="1100" dirty="0"/>
          </a:p>
        </p:txBody>
      </p:sp>
      <p:sp>
        <p:nvSpPr>
          <p:cNvPr id="20" name="Text 15"/>
          <p:cNvSpPr txBox="1"/>
          <p:nvPr/>
        </p:nvSpPr>
        <p:spPr>
          <a:xfrm>
            <a:off x="6345936"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Gouvernement</a:t>
            </a:r>
            <a:endParaRPr lang="en-US" sz="1700" dirty="0"/>
          </a:p>
        </p:txBody>
      </p:sp>
      <p:sp>
        <p:nvSpPr>
          <p:cNvPr id="21" name="Text 16"/>
          <p:cNvSpPr txBox="1"/>
          <p:nvPr/>
        </p:nvSpPr>
        <p:spPr>
          <a:xfrm>
            <a:off x="6345936"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Premier ministre : Luís Montenegro</a:t>
            </a:r>
            <a:endParaRPr lang="en-US" sz="1300" dirty="0"/>
          </a:p>
        </p:txBody>
      </p:sp>
      <p:sp>
        <p:nvSpPr>
          <p:cNvPr id="22" name="Text 17"/>
          <p:cNvSpPr txBox="1"/>
          <p:nvPr/>
        </p:nvSpPr>
        <p:spPr>
          <a:xfrm>
            <a:off x="6345936"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Dirigé par le Premier ministre, nommé par le Président selon les résultats des élections. Il est responsable devant le Parlement.</a:t>
            </a:r>
            <a:endParaRPr lang="en-US" sz="1100" dirty="0"/>
          </a:p>
        </p:txBody>
      </p:sp>
      <p:sp>
        <p:nvSpPr>
          <p:cNvPr id="23" name="Shape 18"/>
          <p:cNvSpPr/>
          <p:nvPr/>
        </p:nvSpPr>
        <p:spPr>
          <a:xfrm>
            <a:off x="8970264"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4" name="Image 3" descr="/home/user/Portugal-Website/images/photos/inst-tc.jpg">    </p:cNvPr>
          <p:cNvPicPr>
            <a:picLocks noChangeAspect="1"/>
          </p:cNvPicPr>
          <p:nvPr/>
        </p:nvPicPr>
        <p:blipFill>
          <a:blip r:embed="rId4"/>
          <a:srcRect l="0" r="0" t="0" b="0"/>
          <a:stretch/>
        </p:blipFill>
        <p:spPr>
          <a:xfrm>
            <a:off x="8970264" y="1965960"/>
            <a:ext cx="2624328" cy="1508760"/>
          </a:xfrm>
          <a:prstGeom prst="rect">
            <a:avLst/>
          </a:prstGeom>
        </p:spPr>
      </p:pic>
      <p:sp>
        <p:nvSpPr>
          <p:cNvPr id="25" name="Text 19"/>
          <p:cNvSpPr txBox="1"/>
          <p:nvPr/>
        </p:nvSpPr>
        <p:spPr>
          <a:xfrm>
            <a:off x="9153144" y="3611880"/>
            <a:ext cx="2286000" cy="274320"/>
          </a:xfrm>
          <a:prstGeom prst="rect">
            <a:avLst/>
          </a:prstGeom>
          <a:noFill/>
          <a:ln/>
        </p:spPr>
        <p:txBody>
          <a:bodyPr wrap="square" lIns="0" tIns="0" rIns="0" bIns="0" rtlCol="0" anchor="t"/>
          <a:lstStyle/>
          <a:p>
            <a:pPr indent="0" marL="0">
              <a:buNone/>
            </a:pPr>
            <a:r>
              <a:rPr lang="en-US" sz="1100" b="1" spc="200" kern="0" dirty="0">
                <a:solidFill>
                  <a:srgbClr val="B8955A"/>
                </a:solidFill>
                <a:latin typeface="Calibri" pitchFamily="34" charset="0"/>
                <a:ea typeface="Calibri" pitchFamily="34" charset="-122"/>
                <a:cs typeface="Calibri" pitchFamily="34" charset="-120"/>
              </a:rPr>
              <a:t>POUVOIR JUDICIAIRE</a:t>
            </a:r>
            <a:endParaRPr lang="en-US" sz="1100" dirty="0"/>
          </a:p>
        </p:txBody>
      </p:sp>
      <p:sp>
        <p:nvSpPr>
          <p:cNvPr id="26" name="Text 20"/>
          <p:cNvSpPr txBox="1"/>
          <p:nvPr/>
        </p:nvSpPr>
        <p:spPr>
          <a:xfrm>
            <a:off x="9153144"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Tribunaux</a:t>
            </a:r>
            <a:endParaRPr lang="en-US" sz="1700" dirty="0"/>
          </a:p>
        </p:txBody>
      </p:sp>
      <p:sp>
        <p:nvSpPr>
          <p:cNvPr id="27" name="Text 21"/>
          <p:cNvSpPr txBox="1"/>
          <p:nvPr/>
        </p:nvSpPr>
        <p:spPr>
          <a:xfrm>
            <a:off x="9153144"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Ils rendent la justice « au nom du peuple »</a:t>
            </a:r>
            <a:endParaRPr lang="en-US" sz="1300" dirty="0"/>
          </a:p>
        </p:txBody>
      </p:sp>
      <p:sp>
        <p:nvSpPr>
          <p:cNvPr id="28" name="Text 22"/>
          <p:cNvSpPr txBox="1"/>
          <p:nvPr/>
        </p:nvSpPr>
        <p:spPr>
          <a:xfrm>
            <a:off x="9153144"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Indépendants des autres pouvoirs. Le Tribunal constitutionnel veille au respect de la Constitution.</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PORTUGAL — SUISSE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Deux systèmes, deux façons de décider</a:t>
            </a:r>
            <a:endParaRPr lang="en-US" sz="3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286000"/>
                <a:gridCol w="4389120"/>
                <a:gridCol w="4389120"/>
              </a:tblGrid>
              <a:tr h="566928">
                <a:tc>
                  <a:txBody>
                    <a:bodyPr/>
                    <a:lstStyle/>
                    <a:p>
                      <a:pPr indent="0" marL="0">
                        <a:buNone/>
                      </a:pP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  Portugal</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  Suisse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RÉGIME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République semi-présidentielle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État fédéral, démocratie directe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CHEF DE L'ÉTAT</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Un président élu par le peuple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Le Conseil fédéral (7 membres), présidé à tour de rôle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PARLEMENT</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Une chambre : 230 députés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Deux chambres : 200 + 46 membres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ORGANISATION</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État unitaire, 2 régions autonomes (Açores, Madère)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26 cantons très autonomes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LE PEUPLE VOTE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Élections ; référendums rares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Votations plusieurs fois par an</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EUROPE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Membre de l'UE depuis 1986, zone euro</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Hors UE : accords bilatéraux, Schengen</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F2C14E"/>
                </a:solidFill>
                <a:latin typeface="Calibri" pitchFamily="34" charset="0"/>
                <a:ea typeface="Calibri" pitchFamily="34" charset="-122"/>
                <a:cs typeface="Calibri" pitchFamily="34" charset="-120"/>
              </a:rPr>
              <a:t>25 · IV · 1974</a:t>
            </a:r>
            <a:endParaRPr lang="en-US" sz="1200" dirty="0"/>
          </a:p>
        </p:txBody>
      </p:sp>
      <p:sp>
        <p:nvSpPr>
          <p:cNvPr id="3" name="Text 1"/>
          <p:cNvSpPr txBox="1"/>
          <p:nvPr/>
        </p:nvSpPr>
        <p:spPr>
          <a:xfrm>
            <a:off x="548640" y="685800"/>
            <a:ext cx="5943600" cy="68580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La Révolution des Œillets</a:t>
            </a:r>
            <a:endParaRPr lang="en-US" sz="3400" dirty="0"/>
          </a:p>
        </p:txBody>
      </p:sp>
      <p:sp>
        <p:nvSpPr>
          <p:cNvPr id="4" name="Text 2"/>
          <p:cNvSpPr txBox="1"/>
          <p:nvPr/>
        </p:nvSpPr>
        <p:spPr>
          <a:xfrm>
            <a:off x="548640" y="1600200"/>
            <a:ext cx="5760720" cy="32918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Le 25 avril 1974, de jeunes officiers renversent presque sans violence la dictature de l'Estado Novo, au pouvoir depuis 48 ans. Le signal est donné par deux chansons à la radio : le 24 avril à 22 h 55, « E Depois do Adeus » de Paulo de Carvalho, sur les Emissores Associados de Lisboa, prévient les militaires de se préparer ; puis à 0 h 20, « Grândola, Vila Morena » de Zeca Afonso, sur Rádio Renascença, lance les opérations. La population offre des œillets rouges aux soldats, qui les glissent dans le canon de leurs fusils.</a:t>
            </a:r>
            <a:endParaRPr lang="en-US" sz="1500" dirty="0"/>
          </a:p>
        </p:txBody>
      </p:sp>
      <p:sp>
        <p:nvSpPr>
          <p:cNvPr id="5" name="Shape 3"/>
          <p:cNvSpPr/>
          <p:nvPr/>
        </p:nvSpPr>
        <p:spPr>
          <a:xfrm>
            <a:off x="548640" y="5074920"/>
            <a:ext cx="5760720" cy="548640"/>
          </a:xfrm>
          <a:prstGeom prst="roundRect">
            <a:avLst>
              <a:gd name="adj" fmla="val 50000"/>
            </a:avLst>
          </a:prstGeom>
          <a:solidFill>
            <a:srgbClr val="A83232"/>
          </a:solidFill>
          <a:ln w="12700">
            <a:solidFill>
              <a:srgbClr val="A83232"/>
            </a:solidFill>
            <a:prstDash val="solid"/>
          </a:ln>
        </p:spPr>
      </p:sp>
      <p:sp>
        <p:nvSpPr>
          <p:cNvPr id="6" name="Text 4"/>
          <p:cNvSpPr txBox="1"/>
          <p:nvPr/>
        </p:nvSpPr>
        <p:spPr>
          <a:xfrm>
            <a:off x="731520" y="5074920"/>
            <a:ext cx="5394960"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Aujourd'hui, le 25 avril est un jour férié : le « Dia da Liberdade », jour de la Liberté.</a:t>
            </a:r>
            <a:endParaRPr lang="en-US" sz="1300" dirty="0"/>
          </a:p>
        </p:txBody>
      </p:sp>
      <p:pic>
        <p:nvPicPr>
          <p:cNvPr id="7" name="Image 0" descr="/home/user/Portugal-Website/images/photos/inst-1974.jpg">    </p:cNvPr>
          <p:cNvPicPr>
            <a:picLocks noChangeAspect="1"/>
          </p:cNvPicPr>
          <p:nvPr/>
        </p:nvPicPr>
        <p:blipFill>
          <a:blip r:embed="rId1"/>
          <a:srcRect l="0" r="0" t="0" b="0"/>
          <a:stretch/>
        </p:blipFill>
        <p:spPr>
          <a:xfrm>
            <a:off x="6766560" y="548640"/>
            <a:ext cx="4873752" cy="3108960"/>
          </a:xfrm>
          <a:prstGeom prst="rect">
            <a:avLst/>
          </a:prstGeom>
        </p:spPr>
      </p:pic>
      <p:sp>
        <p:nvSpPr>
          <p:cNvPr id="8" name="Text 5"/>
          <p:cNvSpPr txBox="1"/>
          <p:nvPr/>
        </p:nvSpPr>
        <p:spPr>
          <a:xfrm>
            <a:off x="6766560" y="3703320"/>
            <a:ext cx="4873752" cy="457200"/>
          </a:xfrm>
          <a:prstGeom prst="rect">
            <a:avLst/>
          </a:prstGeom>
          <a:noFill/>
          <a:ln/>
        </p:spPr>
        <p:txBody>
          <a:bodyPr wrap="square" lIns="0" tIns="0" rIns="0" bIns="0" rtlCol="0" anchor="t"/>
          <a:lstStyle/>
          <a:p>
            <a:pPr indent="0" marL="0">
              <a:buNone/>
            </a:pPr>
            <a:r>
              <a:rPr lang="en-US" sz="1000" dirty="0">
                <a:solidFill>
                  <a:srgbClr val="B9C9C1"/>
                </a:solidFill>
                <a:latin typeface="Calibri" pitchFamily="34" charset="0"/>
                <a:ea typeface="Calibri" pitchFamily="34" charset="-122"/>
                <a:cs typeface="Calibri" pitchFamily="34" charset="-120"/>
              </a:rPr>
              <a:t>Lisbonne, 25 avril 2024 : 50 ans après, la foule défile encore : « Ils ont planté en nous la liberté ».</a:t>
            </a:r>
            <a:endParaRPr lang="en-US" sz="1000" dirty="0"/>
          </a:p>
        </p:txBody>
      </p:sp>
      <p:sp>
        <p:nvSpPr>
          <p:cNvPr id="9" name="Text 6"/>
          <p:cNvSpPr txBox="1"/>
          <p:nvPr/>
        </p:nvSpPr>
        <p:spPr>
          <a:xfrm>
            <a:off x="6766560" y="4297680"/>
            <a:ext cx="4846320" cy="27432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LES DEUX SIGNAUX RADIO</a:t>
            </a:r>
            <a:endParaRPr lang="en-US" sz="1200" dirty="0"/>
          </a:p>
        </p:txBody>
      </p:sp>
      <p:sp>
        <p:nvSpPr>
          <p:cNvPr id="10" name="Text 7"/>
          <p:cNvSpPr txBox="1"/>
          <p:nvPr/>
        </p:nvSpPr>
        <p:spPr>
          <a:xfrm>
            <a:off x="6766560" y="4663440"/>
            <a:ext cx="1097280" cy="548640"/>
          </a:xfrm>
          <a:prstGeom prst="rect">
            <a:avLst/>
          </a:prstGeom>
          <a:noFill/>
          <a:ln/>
        </p:spPr>
        <p:txBody>
          <a:bodyPr wrap="square" lIns="0" tIns="0" rIns="0" bIns="0" rtlCol="0" anchor="t"/>
          <a:lstStyle/>
          <a:p>
            <a:pPr indent="0" marL="0">
              <a:buNone/>
            </a:pPr>
            <a:r>
              <a:rPr lang="en-US" sz="2400" b="1" dirty="0">
                <a:solidFill>
                  <a:srgbClr val="F2C14E"/>
                </a:solidFill>
                <a:latin typeface="Cambria" pitchFamily="34" charset="0"/>
                <a:ea typeface="Cambria" pitchFamily="34" charset="-122"/>
                <a:cs typeface="Cambria" pitchFamily="34" charset="-120"/>
              </a:rPr>
              <a:t>22:55</a:t>
            </a:r>
            <a:endParaRPr lang="en-US" sz="2400" dirty="0"/>
          </a:p>
        </p:txBody>
      </p:sp>
      <p:sp>
        <p:nvSpPr>
          <p:cNvPr id="11" name="Text 8"/>
          <p:cNvSpPr txBox="1"/>
          <p:nvPr/>
        </p:nvSpPr>
        <p:spPr>
          <a:xfrm>
            <a:off x="7909560" y="4663440"/>
            <a:ext cx="3749040" cy="685800"/>
          </a:xfrm>
          <a:prstGeom prst="rect">
            <a:avLst/>
          </a:prstGeom>
          <a:noFill/>
          <a:ln/>
        </p:spPr>
        <p:txBody>
          <a:bodyPr wrap="square" lIns="0" tIns="0" rIns="0" bIns="0" rtlCol="0" anchor="t"/>
          <a:lstStyle/>
          <a:p>
            <a:pPr indent="0" marL="0">
              <a:buNone/>
            </a:pPr>
            <a:r>
              <a:rPr lang="en-US" sz="16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 E Depois do Adeus »</a:t>
            </a:r>
            <a:pPr indent="0" marL="0">
              <a:buNone/>
            </a:pPr>
            <a:endParaRPr lang="en-US" sz="1600" dirty="0"/>
          </a:p>
          <a:p>
            <a:pPr indent="0" marL="0">
              <a:buNone/>
            </a:pPr>
            <a:r>
              <a:rPr lang="en-US" sz="1100" dirty="0">
                <a:solidFill>
                  <a:srgbClr val="B9C9C1"/>
                </a:solidFill>
                <a:latin typeface="Calibri" pitchFamily="34" charset="0"/>
                <a:ea typeface="Calibri" pitchFamily="34" charset="-122"/>
                <a:cs typeface="Calibri" pitchFamily="34" charset="-120"/>
              </a:rPr>
              <a:t>Paulo de Carvalho (cliquer pour écouter)</a:t>
            </a:r>
            <a:endParaRPr lang="en-US" sz="1600" dirty="0"/>
          </a:p>
        </p:txBody>
      </p:sp>
      <p:sp>
        <p:nvSpPr>
          <p:cNvPr id="12" name="Text 9"/>
          <p:cNvSpPr txBox="1"/>
          <p:nvPr/>
        </p:nvSpPr>
        <p:spPr>
          <a:xfrm>
            <a:off x="6766560" y="5440680"/>
            <a:ext cx="1097280" cy="548640"/>
          </a:xfrm>
          <a:prstGeom prst="rect">
            <a:avLst/>
          </a:prstGeom>
          <a:noFill/>
          <a:ln/>
        </p:spPr>
        <p:txBody>
          <a:bodyPr wrap="square" lIns="0" tIns="0" rIns="0" bIns="0" rtlCol="0" anchor="t"/>
          <a:lstStyle/>
          <a:p>
            <a:pPr indent="0" marL="0">
              <a:buNone/>
            </a:pPr>
            <a:r>
              <a:rPr lang="en-US" sz="2400" b="1" dirty="0">
                <a:solidFill>
                  <a:srgbClr val="F2C14E"/>
                </a:solidFill>
                <a:latin typeface="Cambria" pitchFamily="34" charset="0"/>
                <a:ea typeface="Cambria" pitchFamily="34" charset="-122"/>
                <a:cs typeface="Cambria" pitchFamily="34" charset="-120"/>
              </a:rPr>
              <a:t>00:20</a:t>
            </a:r>
            <a:endParaRPr lang="en-US" sz="2400" dirty="0"/>
          </a:p>
        </p:txBody>
      </p:sp>
      <p:sp>
        <p:nvSpPr>
          <p:cNvPr id="13" name="Text 10"/>
          <p:cNvSpPr txBox="1"/>
          <p:nvPr/>
        </p:nvSpPr>
        <p:spPr>
          <a:xfrm>
            <a:off x="7909560" y="5440680"/>
            <a:ext cx="3749040" cy="685800"/>
          </a:xfrm>
          <a:prstGeom prst="rect">
            <a:avLst/>
          </a:prstGeom>
          <a:noFill/>
          <a:ln/>
        </p:spPr>
        <p:txBody>
          <a:bodyPr wrap="square" lIns="0" tIns="0" rIns="0" bIns="0" rtlCol="0" anchor="t"/>
          <a:lstStyle/>
          <a:p>
            <a:pPr indent="0" marL="0">
              <a:buNone/>
            </a:pPr>
            <a:r>
              <a:rPr lang="en-US" sz="1600" b="1" u="sng" dirty="0">
                <a:solidFill>
                  <a:srgbClr val="FFFFFF"/>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Grândola, Vila Morena »</a:t>
            </a:r>
            <a:pPr indent="0" marL="0">
              <a:buNone/>
            </a:pPr>
            <a:endParaRPr lang="en-US" sz="1600" dirty="0"/>
          </a:p>
          <a:p>
            <a:pPr indent="0" marL="0">
              <a:buNone/>
            </a:pPr>
            <a:r>
              <a:rPr lang="en-US" sz="1100" dirty="0">
                <a:solidFill>
                  <a:srgbClr val="B9C9C1"/>
                </a:solidFill>
                <a:latin typeface="Calibri" pitchFamily="34" charset="0"/>
                <a:ea typeface="Calibri" pitchFamily="34" charset="-122"/>
                <a:cs typeface="Calibri" pitchFamily="34" charset="-120"/>
              </a:rPr>
              <a:t>Zeca Afonso (cliquer pour écouter)</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home/user/Portugal-Website/images/photos/hero-soc2.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03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Société</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 peuple chaleureux, ouvert sur le monde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Famille, accueil et saudade : les Portugais sont attachés à leurs traditions et présents sur tous les continents.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VIE AU QUOTIDIEN</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Ce qui compte pour les Portugais</a:t>
            </a:r>
            <a:endParaRPr lang="en-US" sz="3400" dirty="0"/>
          </a:p>
        </p:txBody>
      </p:sp>
      <p:sp>
        <p:nvSpPr>
          <p:cNvPr id="4" name="Text 2"/>
          <p:cNvSpPr txBox="1"/>
          <p:nvPr/>
        </p:nvSpPr>
        <p:spPr>
          <a:xfrm>
            <a:off x="548640" y="1554480"/>
            <a:ext cx="210312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10,6 M</a:t>
            </a:r>
            <a:endParaRPr lang="en-US" sz="3600" dirty="0"/>
          </a:p>
        </p:txBody>
      </p:sp>
      <p:sp>
        <p:nvSpPr>
          <p:cNvPr id="5" name="Text 3"/>
          <p:cNvSpPr txBox="1"/>
          <p:nvPr/>
        </p:nvSpPr>
        <p:spPr>
          <a:xfrm>
            <a:off x="54864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HABITANTS</a:t>
            </a:r>
            <a:endParaRPr lang="en-US" sz="1300" dirty="0"/>
          </a:p>
        </p:txBody>
      </p:sp>
      <p:sp>
        <p:nvSpPr>
          <p:cNvPr id="6" name="Text 4"/>
          <p:cNvSpPr txBox="1"/>
          <p:nvPr/>
        </p:nvSpPr>
        <p:spPr>
          <a:xfrm>
            <a:off x="2788920" y="1554480"/>
            <a:ext cx="210312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 2,9 M</a:t>
            </a:r>
            <a:endParaRPr lang="en-US" sz="3600" dirty="0"/>
          </a:p>
        </p:txBody>
      </p:sp>
      <p:sp>
        <p:nvSpPr>
          <p:cNvPr id="7" name="Text 5"/>
          <p:cNvSpPr txBox="1"/>
          <p:nvPr/>
        </p:nvSpPr>
        <p:spPr>
          <a:xfrm>
            <a:off x="278892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Région de Lisbonne</a:t>
            </a:r>
            <a:endParaRPr lang="en-US" sz="1300" dirty="0"/>
          </a:p>
        </p:txBody>
      </p:sp>
      <p:sp>
        <p:nvSpPr>
          <p:cNvPr id="8" name="Text 6"/>
          <p:cNvSpPr txBox="1"/>
          <p:nvPr/>
        </p:nvSpPr>
        <p:spPr>
          <a:xfrm>
            <a:off x="5029200" y="1554480"/>
            <a:ext cx="210312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 1,7 M</a:t>
            </a:r>
            <a:endParaRPr lang="en-US" sz="3600" dirty="0"/>
          </a:p>
        </p:txBody>
      </p:sp>
      <p:sp>
        <p:nvSpPr>
          <p:cNvPr id="9" name="Text 7"/>
          <p:cNvSpPr txBox="1"/>
          <p:nvPr/>
        </p:nvSpPr>
        <p:spPr>
          <a:xfrm>
            <a:off x="502920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Région de Porto</a:t>
            </a:r>
            <a:endParaRPr lang="en-US" sz="1300" dirty="0"/>
          </a:p>
        </p:txBody>
      </p:sp>
      <p:sp>
        <p:nvSpPr>
          <p:cNvPr id="10" name="Text 8"/>
          <p:cNvSpPr txBox="1"/>
          <p:nvPr/>
        </p:nvSpPr>
        <p:spPr>
          <a:xfrm>
            <a:off x="7269480" y="1554480"/>
            <a:ext cx="2103120" cy="685800"/>
          </a:xfrm>
          <a:prstGeom prst="rect">
            <a:avLst/>
          </a:prstGeom>
          <a:noFill/>
          <a:ln/>
        </p:spPr>
        <p:txBody>
          <a:bodyPr wrap="square" lIns="0" tIns="0" rIns="0" bIns="0" rtlCol="0" anchor="t"/>
          <a:lstStyle/>
          <a:p>
            <a:pPr indent="0" marL="0">
              <a:buNone/>
            </a:pPr>
            <a:r>
              <a:rPr lang="en-US" sz="3600" b="1" dirty="0">
                <a:solidFill>
                  <a:srgbClr val="B8955A"/>
                </a:solidFill>
                <a:latin typeface="Cambria" pitchFamily="34" charset="0"/>
                <a:ea typeface="Cambria" pitchFamily="34" charset="-122"/>
                <a:cs typeface="Cambria" pitchFamily="34" charset="-120"/>
              </a:rPr>
              <a:t>≈ 81 ans</a:t>
            </a:r>
            <a:endParaRPr lang="en-US" sz="3600" dirty="0"/>
          </a:p>
        </p:txBody>
      </p:sp>
      <p:sp>
        <p:nvSpPr>
          <p:cNvPr id="11" name="Text 9"/>
          <p:cNvSpPr txBox="1"/>
          <p:nvPr/>
        </p:nvSpPr>
        <p:spPr>
          <a:xfrm>
            <a:off x="726948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Espérance de vie</a:t>
            </a:r>
            <a:endParaRPr lang="en-US" sz="1300" dirty="0"/>
          </a:p>
        </p:txBody>
      </p:sp>
      <p:sp>
        <p:nvSpPr>
          <p:cNvPr id="12" name="Text 10"/>
          <p:cNvSpPr txBox="1"/>
          <p:nvPr/>
        </p:nvSpPr>
        <p:spPr>
          <a:xfrm>
            <a:off x="9509760" y="1554480"/>
            <a:ext cx="210312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 260 M</a:t>
            </a:r>
            <a:endParaRPr lang="en-US" sz="3600" dirty="0"/>
          </a:p>
        </p:txBody>
      </p:sp>
      <p:sp>
        <p:nvSpPr>
          <p:cNvPr id="13" name="Text 11"/>
          <p:cNvSpPr txBox="1"/>
          <p:nvPr/>
        </p:nvSpPr>
        <p:spPr>
          <a:xfrm>
            <a:off x="950976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Lusophones dans le monde</a:t>
            </a:r>
            <a:endParaRPr lang="en-US" sz="1300" dirty="0"/>
          </a:p>
        </p:txBody>
      </p:sp>
      <p:sp>
        <p:nvSpPr>
          <p:cNvPr id="14" name="Shape 12"/>
          <p:cNvSpPr/>
          <p:nvPr/>
        </p:nvSpPr>
        <p:spPr>
          <a:xfrm>
            <a:off x="548640"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15" name="Shape 13"/>
          <p:cNvSpPr/>
          <p:nvPr/>
        </p:nvSpPr>
        <p:spPr>
          <a:xfrm>
            <a:off x="548640" y="3017520"/>
            <a:ext cx="2624328" cy="1371600"/>
          </a:xfrm>
          <a:prstGeom prst="rect">
            <a:avLst/>
          </a:prstGeom>
          <a:solidFill>
            <a:srgbClr val="F1F4F2"/>
          </a:solidFill>
          <a:ln w="12700">
            <a:solidFill>
              <a:srgbClr val="F1F4F2"/>
            </a:solidFill>
            <a:prstDash val="solid"/>
          </a:ln>
        </p:spPr>
      </p:sp>
      <p:sp>
        <p:nvSpPr>
          <p:cNvPr id="16" name="Shape 14"/>
          <p:cNvSpPr/>
          <p:nvPr/>
        </p:nvSpPr>
        <p:spPr>
          <a:xfrm>
            <a:off x="1627632" y="3474720"/>
            <a:ext cx="457200" cy="457200"/>
          </a:xfrm>
          <a:prstGeom prst="ellipse">
            <a:avLst/>
          </a:prstGeom>
          <a:solidFill>
            <a:srgbClr val="174A3A"/>
          </a:solidFill>
          <a:ln w="12700">
            <a:solidFill>
              <a:srgbClr val="174A3A"/>
            </a:solidFill>
            <a:prstDash val="solid"/>
          </a:ln>
        </p:spPr>
      </p:sp>
      <p:sp>
        <p:nvSpPr>
          <p:cNvPr id="17" name="Text 15"/>
          <p:cNvSpPr txBox="1"/>
          <p:nvPr/>
        </p:nvSpPr>
        <p:spPr>
          <a:xfrm>
            <a:off x="731520"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famille</a:t>
            </a:r>
            <a:endParaRPr lang="en-US" sz="1800" dirty="0"/>
          </a:p>
        </p:txBody>
      </p:sp>
      <p:sp>
        <p:nvSpPr>
          <p:cNvPr id="18" name="Text 16"/>
          <p:cNvSpPr txBox="1"/>
          <p:nvPr/>
        </p:nvSpPr>
        <p:spPr>
          <a:xfrm>
            <a:off x="731520"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 cœur de la société. Les grands repas du dimanche réunissent souvent plusieurs générations.</a:t>
            </a:r>
            <a:endParaRPr lang="en-US" sz="1300" dirty="0"/>
          </a:p>
        </p:txBody>
      </p:sp>
      <p:sp>
        <p:nvSpPr>
          <p:cNvPr id="19" name="Shape 17"/>
          <p:cNvSpPr/>
          <p:nvPr/>
        </p:nvSpPr>
        <p:spPr>
          <a:xfrm>
            <a:off x="3355848"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20" name="Shape 18"/>
          <p:cNvSpPr/>
          <p:nvPr/>
        </p:nvSpPr>
        <p:spPr>
          <a:xfrm>
            <a:off x="3355848" y="3017520"/>
            <a:ext cx="2624328" cy="1371600"/>
          </a:xfrm>
          <a:prstGeom prst="rect">
            <a:avLst/>
          </a:prstGeom>
          <a:solidFill>
            <a:srgbClr val="EAF0F8"/>
          </a:solidFill>
          <a:ln w="12700">
            <a:solidFill>
              <a:srgbClr val="F1F4F2"/>
            </a:solidFill>
            <a:prstDash val="solid"/>
          </a:ln>
        </p:spPr>
      </p:sp>
      <p:sp>
        <p:nvSpPr>
          <p:cNvPr id="21" name="Shape 19"/>
          <p:cNvSpPr/>
          <p:nvPr/>
        </p:nvSpPr>
        <p:spPr>
          <a:xfrm>
            <a:off x="4434840" y="3474720"/>
            <a:ext cx="457200" cy="457200"/>
          </a:xfrm>
          <a:prstGeom prst="ellipse">
            <a:avLst/>
          </a:prstGeom>
          <a:solidFill>
            <a:srgbClr val="A83232"/>
          </a:solidFill>
          <a:ln w="12700">
            <a:solidFill>
              <a:srgbClr val="A83232"/>
            </a:solidFill>
            <a:prstDash val="solid"/>
          </a:ln>
        </p:spPr>
      </p:sp>
      <p:sp>
        <p:nvSpPr>
          <p:cNvPr id="22" name="Text 20"/>
          <p:cNvSpPr txBox="1"/>
          <p:nvPr/>
        </p:nvSpPr>
        <p:spPr>
          <a:xfrm>
            <a:off x="3538728"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L'accueil</a:t>
            </a:r>
            <a:endParaRPr lang="en-US" sz="1800" dirty="0"/>
          </a:p>
        </p:txBody>
      </p:sp>
      <p:sp>
        <p:nvSpPr>
          <p:cNvPr id="23" name="Text 21"/>
          <p:cNvSpPr txBox="1"/>
          <p:nvPr/>
        </p:nvSpPr>
        <p:spPr>
          <a:xfrm>
            <a:off x="3538728"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Les Portugais sont réputés pour leur gentillesse et leur hospitalité envers les visiteurs.</a:t>
            </a:r>
            <a:endParaRPr lang="en-US" sz="1300" dirty="0"/>
          </a:p>
        </p:txBody>
      </p:sp>
      <p:sp>
        <p:nvSpPr>
          <p:cNvPr id="24" name="Shape 22"/>
          <p:cNvSpPr/>
          <p:nvPr/>
        </p:nvSpPr>
        <p:spPr>
          <a:xfrm>
            <a:off x="6163056"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5" name="Image 0" descr="/home/user/Portugal-Website/images/photos/e-cafe.jpg">    </p:cNvPr>
          <p:cNvPicPr>
            <a:picLocks noChangeAspect="1"/>
          </p:cNvPicPr>
          <p:nvPr/>
        </p:nvPicPr>
        <p:blipFill>
          <a:blip r:embed="rId1"/>
          <a:srcRect l="0" r="0" t="0" b="0"/>
          <a:stretch/>
        </p:blipFill>
        <p:spPr>
          <a:xfrm>
            <a:off x="6163056" y="3017520"/>
            <a:ext cx="2624328" cy="1371600"/>
          </a:xfrm>
          <a:prstGeom prst="rect">
            <a:avLst/>
          </a:prstGeom>
        </p:spPr>
      </p:pic>
      <p:sp>
        <p:nvSpPr>
          <p:cNvPr id="26" name="Text 23"/>
          <p:cNvSpPr txBox="1"/>
          <p:nvPr/>
        </p:nvSpPr>
        <p:spPr>
          <a:xfrm>
            <a:off x="6345936"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café</a:t>
            </a:r>
            <a:endParaRPr lang="en-US" sz="1800" dirty="0"/>
          </a:p>
        </p:txBody>
      </p:sp>
      <p:sp>
        <p:nvSpPr>
          <p:cNvPr id="27" name="Text 24"/>
          <p:cNvSpPr txBox="1"/>
          <p:nvPr/>
        </p:nvSpPr>
        <p:spPr>
          <a:xfrm>
            <a:off x="6345936"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Une « bica » à Lisbonne ou un « cimbalino » à Porto : le petit café est un rituel de chaque jour.</a:t>
            </a:r>
            <a:endParaRPr lang="en-US" sz="1300" dirty="0"/>
          </a:p>
        </p:txBody>
      </p:sp>
      <p:sp>
        <p:nvSpPr>
          <p:cNvPr id="28" name="Shape 25"/>
          <p:cNvSpPr/>
          <p:nvPr/>
        </p:nvSpPr>
        <p:spPr>
          <a:xfrm>
            <a:off x="8970264"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9" name="Image 1" descr="/home/user/Portugal-Website/images/photos/e-fatima.jpg">    </p:cNvPr>
          <p:cNvPicPr>
            <a:picLocks noChangeAspect="1"/>
          </p:cNvPicPr>
          <p:nvPr/>
        </p:nvPicPr>
        <p:blipFill>
          <a:blip r:embed="rId2"/>
          <a:srcRect l="0" r="0" t="0" b="0"/>
          <a:stretch/>
        </p:blipFill>
        <p:spPr>
          <a:xfrm>
            <a:off x="8970264" y="3017520"/>
            <a:ext cx="2624328" cy="1371600"/>
          </a:xfrm>
          <a:prstGeom prst="rect">
            <a:avLst/>
          </a:prstGeom>
        </p:spPr>
      </p:pic>
      <p:sp>
        <p:nvSpPr>
          <p:cNvPr id="30" name="Text 26"/>
          <p:cNvSpPr txBox="1"/>
          <p:nvPr/>
        </p:nvSpPr>
        <p:spPr>
          <a:xfrm>
            <a:off x="9153144"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foi</a:t>
            </a:r>
            <a:endParaRPr lang="en-US" sz="1800" dirty="0"/>
          </a:p>
        </p:txBody>
      </p:sp>
      <p:sp>
        <p:nvSpPr>
          <p:cNvPr id="31" name="Text 27"/>
          <p:cNvSpPr txBox="1"/>
          <p:nvPr/>
        </p:nvSpPr>
        <p:spPr>
          <a:xfrm>
            <a:off x="9153144"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Pays de tradition catholique. Le sanctuaire de Fátima attire des millions de pèlerins chaque année.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LANGUE PORTUGAISE</a:t>
            </a:r>
            <a:endParaRPr lang="en-US" sz="1200" dirty="0"/>
          </a:p>
        </p:txBody>
      </p:sp>
      <p:sp>
        <p:nvSpPr>
          <p:cNvPr id="3" name="Text 1"/>
          <p:cNvSpPr txBox="1"/>
          <p:nvPr/>
        </p:nvSpPr>
        <p:spPr>
          <a:xfrm>
            <a:off x="548640" y="685800"/>
            <a:ext cx="658368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Une langue parlée sur quatre continents</a:t>
            </a:r>
            <a:endParaRPr lang="en-US" sz="2600" dirty="0"/>
          </a:p>
        </p:txBody>
      </p:sp>
      <p:sp>
        <p:nvSpPr>
          <p:cNvPr id="4" name="Text 2"/>
          <p:cNvSpPr txBox="1"/>
          <p:nvPr/>
        </p:nvSpPr>
        <p:spPr>
          <a:xfrm>
            <a:off x="548640" y="1554480"/>
            <a:ext cx="6400800" cy="9144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Le portugais est la langue officielle de 9 pays et l'une des langues les plus parlées au monde. Au Portugal, le mirandais est aussi reconnu officiellement depuis 1999.</a:t>
            </a:r>
            <a:endParaRPr lang="en-US" sz="1500" dirty="0"/>
          </a:p>
        </p:txBody>
      </p:sp>
      <p:sp>
        <p:nvSpPr>
          <p:cNvPr id="5" name="Shape 3"/>
          <p:cNvSpPr/>
          <p:nvPr/>
        </p:nvSpPr>
        <p:spPr>
          <a:xfrm>
            <a:off x="548640" y="2651760"/>
            <a:ext cx="6400800" cy="1737360"/>
          </a:xfrm>
          <a:prstGeom prst="roundRect">
            <a:avLst>
              <a:gd name="adj" fmla="val 4211"/>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6" name="Text 4"/>
          <p:cNvSpPr txBox="1"/>
          <p:nvPr/>
        </p:nvSpPr>
        <p:spPr>
          <a:xfrm>
            <a:off x="822960" y="2743200"/>
            <a:ext cx="5852160" cy="731520"/>
          </a:xfrm>
          <a:prstGeom prst="rect">
            <a:avLst/>
          </a:prstGeom>
          <a:noFill/>
          <a:ln/>
        </p:spPr>
        <p:txBody>
          <a:bodyPr wrap="square" lIns="0" tIns="0" rIns="0" bIns="0" rtlCol="0" anchor="t"/>
          <a:lstStyle/>
          <a:p>
            <a:pPr indent="0" marL="0">
              <a:buNone/>
            </a:pPr>
            <a:r>
              <a:rPr lang="en-US" sz="4000" b="1" i="1" dirty="0">
                <a:solidFill>
                  <a:srgbClr val="1E4F8F"/>
                </a:solidFill>
                <a:latin typeface="Cambria" pitchFamily="34" charset="0"/>
                <a:ea typeface="Cambria" pitchFamily="34" charset="-122"/>
                <a:cs typeface="Cambria" pitchFamily="34" charset="-120"/>
              </a:rPr>
              <a:t>Saudade</a:t>
            </a:r>
            <a:endParaRPr lang="en-US" sz="4000" dirty="0"/>
          </a:p>
        </p:txBody>
      </p:sp>
      <p:sp>
        <p:nvSpPr>
          <p:cNvPr id="7" name="Text 5"/>
          <p:cNvSpPr txBox="1"/>
          <p:nvPr/>
        </p:nvSpPr>
        <p:spPr>
          <a:xfrm>
            <a:off x="822960" y="3474720"/>
            <a:ext cx="5852160" cy="8686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La saudade, c'est la nostalgie douce-amère de quelqu'un ou de quelque chose que l'on aime et qui est loin. Un sentiment que connaît bien chaque Portugais vivant à l'étranger.</a:t>
            </a:r>
            <a:endParaRPr lang="en-US" sz="1300" dirty="0"/>
          </a:p>
        </p:txBody>
      </p:sp>
      <p:sp>
        <p:nvSpPr>
          <p:cNvPr id="8" name="Text 6"/>
          <p:cNvSpPr txBox="1"/>
          <p:nvPr/>
        </p:nvSpPr>
        <p:spPr>
          <a:xfrm>
            <a:off x="548640" y="4617720"/>
            <a:ext cx="6400800" cy="411480"/>
          </a:xfrm>
          <a:prstGeom prst="rect">
            <a:avLst/>
          </a:prstGeom>
          <a:noFill/>
          <a:ln/>
        </p:spPr>
        <p:txBody>
          <a:bodyPr wrap="square" lIns="0" tIns="0" rIns="0" bIns="0" rtlCol="0" anchor="t"/>
          <a:lstStyle/>
          <a:p>
            <a:pPr indent="0" marL="0">
              <a:buNone/>
            </a:pPr>
            <a:r>
              <a:rPr lang="en-US" sz="2000" b="1" dirty="0">
                <a:solidFill>
                  <a:srgbClr val="174A3A"/>
                </a:solidFill>
                <a:latin typeface="Cambria" pitchFamily="34" charset="0"/>
                <a:ea typeface="Cambria" pitchFamily="34" charset="-122"/>
                <a:cs typeface="Cambria" pitchFamily="34" charset="-120"/>
              </a:rPr>
              <a:t>La diaspora portugaise</a:t>
            </a:r>
            <a:endParaRPr lang="en-US" sz="2000" dirty="0"/>
          </a:p>
        </p:txBody>
      </p:sp>
      <p:sp>
        <p:nvSpPr>
          <p:cNvPr id="9" name="Text 7"/>
          <p:cNvSpPr txBox="1"/>
          <p:nvPr/>
        </p:nvSpPr>
        <p:spPr>
          <a:xfrm>
            <a:off x="548640" y="5029200"/>
            <a:ext cx="301752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 2 M</a:t>
            </a:r>
            <a:endParaRPr lang="en-US" sz="3600" dirty="0"/>
          </a:p>
        </p:txBody>
      </p:sp>
      <p:sp>
        <p:nvSpPr>
          <p:cNvPr id="10" name="Text 8"/>
          <p:cNvSpPr txBox="1"/>
          <p:nvPr/>
        </p:nvSpPr>
        <p:spPr>
          <a:xfrm>
            <a:off x="548640" y="5715000"/>
            <a:ext cx="30175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Portugais nés au Portugal vivant à l'étranger</a:t>
            </a:r>
            <a:endParaRPr lang="en-US" sz="1300" dirty="0"/>
          </a:p>
        </p:txBody>
      </p:sp>
      <p:sp>
        <p:nvSpPr>
          <p:cNvPr id="11" name="Text 9"/>
          <p:cNvSpPr txBox="1"/>
          <p:nvPr/>
        </p:nvSpPr>
        <p:spPr>
          <a:xfrm>
            <a:off x="3840480" y="5029200"/>
            <a:ext cx="31089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 250 000</a:t>
            </a:r>
            <a:endParaRPr lang="en-US" sz="3600" dirty="0"/>
          </a:p>
        </p:txBody>
      </p:sp>
      <p:sp>
        <p:nvSpPr>
          <p:cNvPr id="12" name="Text 10"/>
          <p:cNvSpPr txBox="1"/>
          <p:nvPr/>
        </p:nvSpPr>
        <p:spPr>
          <a:xfrm>
            <a:off x="3840480" y="5715000"/>
            <a:ext cx="31089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Portugais en Suisse (j'en fais partie depuis 2013)</a:t>
            </a:r>
            <a:endParaRPr lang="en-US" sz="1300" dirty="0"/>
          </a:p>
        </p:txBody>
      </p:sp>
      <p:sp>
        <p:nvSpPr>
          <p:cNvPr id="13" name="Shape 11"/>
          <p:cNvSpPr/>
          <p:nvPr/>
        </p:nvSpPr>
        <p:spPr>
          <a:xfrm>
            <a:off x="7498080" y="548640"/>
            <a:ext cx="4142232" cy="5669280"/>
          </a:xfrm>
          <a:prstGeom prst="roundRect">
            <a:avLst>
              <a:gd name="adj" fmla="val 1766"/>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Text 12"/>
          <p:cNvSpPr txBox="1"/>
          <p:nvPr/>
        </p:nvSpPr>
        <p:spPr>
          <a:xfrm>
            <a:off x="7772400" y="777240"/>
            <a:ext cx="3657600" cy="457200"/>
          </a:xfrm>
          <a:prstGeom prst="rect">
            <a:avLst/>
          </a:prstGeom>
          <a:noFill/>
          <a:ln/>
        </p:spPr>
        <p:txBody>
          <a:bodyPr wrap="square" lIns="0" tIns="0" rIns="0" bIns="0" rtlCol="0" anchor="t"/>
          <a:lstStyle/>
          <a:p>
            <a:pPr indent="0" marL="0">
              <a:buNone/>
            </a:pPr>
            <a:r>
              <a:rPr lang="en-US" sz="1800" b="1" dirty="0">
                <a:solidFill>
                  <a:srgbClr val="17211D"/>
                </a:solidFill>
                <a:latin typeface="Cambria" pitchFamily="34" charset="0"/>
                <a:ea typeface="Cambria" pitchFamily="34" charset="-122"/>
                <a:cs typeface="Cambria" pitchFamily="34" charset="-120"/>
              </a:rPr>
              <a:t>Quelques mots pour commencer</a:t>
            </a:r>
            <a:endParaRPr lang="en-US" sz="1800" dirty="0"/>
          </a:p>
        </p:txBody>
      </p:sp>
      <p:sp>
        <p:nvSpPr>
          <p:cNvPr id="15" name="Text 13"/>
          <p:cNvSpPr txBox="1"/>
          <p:nvPr/>
        </p:nvSpPr>
        <p:spPr>
          <a:xfrm>
            <a:off x="7772400" y="1463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Olá</a:t>
            </a:r>
            <a:endParaRPr lang="en-US" sz="2400" dirty="0"/>
          </a:p>
        </p:txBody>
      </p:sp>
      <p:sp>
        <p:nvSpPr>
          <p:cNvPr id="16" name="Text 14"/>
          <p:cNvSpPr txBox="1"/>
          <p:nvPr/>
        </p:nvSpPr>
        <p:spPr>
          <a:xfrm>
            <a:off x="7772400" y="1965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Salut</a:t>
            </a:r>
            <a:endParaRPr lang="en-US" sz="1500" dirty="0"/>
          </a:p>
        </p:txBody>
      </p:sp>
      <p:sp>
        <p:nvSpPr>
          <p:cNvPr id="17" name="Text 15"/>
          <p:cNvSpPr txBox="1"/>
          <p:nvPr/>
        </p:nvSpPr>
        <p:spPr>
          <a:xfrm>
            <a:off x="7772400" y="2606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Bom dia</a:t>
            </a:r>
            <a:endParaRPr lang="en-US" sz="2400" dirty="0"/>
          </a:p>
        </p:txBody>
      </p:sp>
      <p:sp>
        <p:nvSpPr>
          <p:cNvPr id="18" name="Text 16"/>
          <p:cNvSpPr txBox="1"/>
          <p:nvPr/>
        </p:nvSpPr>
        <p:spPr>
          <a:xfrm>
            <a:off x="7772400" y="3108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Bonjour</a:t>
            </a:r>
            <a:endParaRPr lang="en-US" sz="1500" dirty="0"/>
          </a:p>
        </p:txBody>
      </p:sp>
      <p:sp>
        <p:nvSpPr>
          <p:cNvPr id="19" name="Text 17"/>
          <p:cNvSpPr txBox="1"/>
          <p:nvPr/>
        </p:nvSpPr>
        <p:spPr>
          <a:xfrm>
            <a:off x="7772400" y="3749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Obrigado / Obrigada</a:t>
            </a:r>
            <a:endParaRPr lang="en-US" sz="2400" dirty="0"/>
          </a:p>
        </p:txBody>
      </p:sp>
      <p:sp>
        <p:nvSpPr>
          <p:cNvPr id="20" name="Text 18"/>
          <p:cNvSpPr txBox="1"/>
          <p:nvPr/>
        </p:nvSpPr>
        <p:spPr>
          <a:xfrm>
            <a:off x="7772400" y="4251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Merci</a:t>
            </a:r>
            <a:endParaRPr lang="en-US" sz="1500" dirty="0"/>
          </a:p>
        </p:txBody>
      </p:sp>
      <p:sp>
        <p:nvSpPr>
          <p:cNvPr id="21" name="Text 19"/>
          <p:cNvSpPr txBox="1"/>
          <p:nvPr/>
        </p:nvSpPr>
        <p:spPr>
          <a:xfrm>
            <a:off x="7772400" y="4892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Até logo</a:t>
            </a:r>
            <a:endParaRPr lang="en-US" sz="2400" dirty="0"/>
          </a:p>
        </p:txBody>
      </p:sp>
      <p:sp>
        <p:nvSpPr>
          <p:cNvPr id="22" name="Text 20"/>
          <p:cNvSpPr txBox="1"/>
          <p:nvPr/>
        </p:nvSpPr>
        <p:spPr>
          <a:xfrm>
            <a:off x="7772400" y="5394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À bientôt</a:t>
            </a:r>
            <a:endParaRPr lang="en-US" sz="15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ÉCONOMIE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 la crise à un nouvel élan</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548640" y="1600200"/>
            <a:ext cx="2624328" cy="1828800"/>
          </a:xfrm>
          <a:prstGeom prst="rect">
            <a:avLst/>
          </a:prstGeom>
          <a:solidFill>
            <a:srgbClr val="F1F4F2"/>
          </a:solidFill>
          <a:ln w="12700">
            <a:solidFill>
              <a:srgbClr val="F1F4F2"/>
            </a:solidFill>
            <a:prstDash val="solid"/>
          </a:ln>
        </p:spPr>
      </p:sp>
      <p:sp>
        <p:nvSpPr>
          <p:cNvPr id="6" name="Text 4"/>
          <p:cNvSpPr txBox="1"/>
          <p:nvPr/>
        </p:nvSpPr>
        <p:spPr>
          <a:xfrm>
            <a:off x="548640" y="2148840"/>
            <a:ext cx="2624328" cy="731520"/>
          </a:xfrm>
          <a:prstGeom prst="rect">
            <a:avLst/>
          </a:prstGeom>
          <a:noFill/>
          <a:ln/>
        </p:spPr>
        <p:txBody>
          <a:bodyPr wrap="square" lIns="0" tIns="0" rIns="0" bIns="0" rtlCol="0" anchor="t"/>
          <a:lstStyle/>
          <a:p>
            <a:pPr algn="ctr" indent="0" marL="0">
              <a:buNone/>
            </a:pPr>
            <a:r>
              <a:rPr lang="en-US" sz="3600" b="1" dirty="0">
                <a:solidFill>
                  <a:srgbClr val="174A3A"/>
                </a:solidFill>
                <a:latin typeface="Cambria" pitchFamily="34" charset="0"/>
                <a:ea typeface="Cambria" pitchFamily="34" charset="-122"/>
                <a:cs typeface="Cambria" pitchFamily="34" charset="-120"/>
              </a:rPr>
              <a:t>78 Md €</a:t>
            </a:r>
            <a:endParaRPr lang="en-US" sz="3600" dirty="0"/>
          </a:p>
        </p:txBody>
      </p:sp>
      <p:sp>
        <p:nvSpPr>
          <p:cNvPr id="7" name="Text 5"/>
          <p:cNvSpPr txBox="1"/>
          <p:nvPr/>
        </p:nvSpPr>
        <p:spPr>
          <a:xfrm>
            <a:off x="731520"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crise de 2011</a:t>
            </a:r>
            <a:endParaRPr lang="en-US" sz="1800" dirty="0"/>
          </a:p>
        </p:txBody>
      </p:sp>
      <p:sp>
        <p:nvSpPr>
          <p:cNvPr id="8" name="Text 6"/>
          <p:cNvSpPr txBox="1"/>
          <p:nvPr/>
        </p:nvSpPr>
        <p:spPr>
          <a:xfrm>
            <a:off x="731520"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 pleine crise de la dette, le Portugal reçoit 78 milliards d'euros de l'UE et du FMI, en échange d'une forte austérité. Il sort du programme en 2014 et rembourse le FMI en avance, dès 2018.</a:t>
            </a:r>
            <a:endParaRPr lang="en-US" sz="1300" dirty="0"/>
          </a:p>
        </p:txBody>
      </p:sp>
      <p:sp>
        <p:nvSpPr>
          <p:cNvPr id="9" name="Shape 7"/>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0" name="Image 0" descr="/home/user/Portugal-Website/images/photos/e-wind.jpg">    </p:cNvPr>
          <p:cNvPicPr>
            <a:picLocks noChangeAspect="1"/>
          </p:cNvPicPr>
          <p:nvPr/>
        </p:nvPicPr>
        <p:blipFill>
          <a:blip r:embed="rId1"/>
          <a:srcRect l="0" r="0" t="0" b="0"/>
          <a:stretch/>
        </p:blipFill>
        <p:spPr>
          <a:xfrm>
            <a:off x="3355848" y="1600200"/>
            <a:ext cx="2624328" cy="1828800"/>
          </a:xfrm>
          <a:prstGeom prst="rect">
            <a:avLst/>
          </a:prstGeom>
        </p:spPr>
      </p:pic>
      <p:sp>
        <p:nvSpPr>
          <p:cNvPr id="11" name="Text 8"/>
          <p:cNvSpPr txBox="1"/>
          <p:nvPr/>
        </p:nvSpPr>
        <p:spPr>
          <a:xfrm>
            <a:off x="3538728"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Champion du renouvelable</a:t>
            </a:r>
            <a:endParaRPr lang="en-US" sz="1800" dirty="0"/>
          </a:p>
        </p:txBody>
      </p:sp>
      <p:sp>
        <p:nvSpPr>
          <p:cNvPr id="12" name="Text 9"/>
          <p:cNvSpPr txBox="1"/>
          <p:nvPr/>
        </p:nvSpPr>
        <p:spPr>
          <a:xfrm>
            <a:off x="3538728"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Environ 71 % de l'électricité consommée en 2024 venait d'énergies renouvelables : barrages, éoliennes et soleil.</a:t>
            </a:r>
            <a:endParaRPr lang="en-US" sz="1300" dirty="0"/>
          </a:p>
        </p:txBody>
      </p:sp>
      <p:sp>
        <p:nvSpPr>
          <p:cNvPr id="13" name="Shape 10"/>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4" name="Image 1" descr="/home/user/Portugal-Website/images/photos/e-cork.jpg">    </p:cNvPr>
          <p:cNvPicPr>
            <a:picLocks noChangeAspect="1"/>
          </p:cNvPicPr>
          <p:nvPr/>
        </p:nvPicPr>
        <p:blipFill>
          <a:blip r:embed="rId2"/>
          <a:srcRect l="0" r="0" t="0" b="0"/>
          <a:stretch/>
        </p:blipFill>
        <p:spPr>
          <a:xfrm>
            <a:off x="6163056" y="1600200"/>
            <a:ext cx="2624328" cy="1828800"/>
          </a:xfrm>
          <a:prstGeom prst="rect">
            <a:avLst/>
          </a:prstGeom>
        </p:spPr>
      </p:pic>
      <p:sp>
        <p:nvSpPr>
          <p:cNvPr id="15" name="Text 11"/>
          <p:cNvSpPr txBox="1"/>
          <p:nvPr/>
        </p:nvSpPr>
        <p:spPr>
          <a:xfrm>
            <a:off x="6345936"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pays du liège</a:t>
            </a:r>
            <a:endParaRPr lang="en-US" sz="1800" dirty="0"/>
          </a:p>
        </p:txBody>
      </p:sp>
      <p:sp>
        <p:nvSpPr>
          <p:cNvPr id="16" name="Text 12"/>
          <p:cNvSpPr txBox="1"/>
          <p:nvPr/>
        </p:nvSpPr>
        <p:spPr>
          <a:xfrm>
            <a:off x="6345936"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Environ la moitié du liège mondial vient du Portugal. On écorce le chêne-liège à la main tous les 9 ans environ, sans abattre l'arbre.</a:t>
            </a:r>
            <a:endParaRPr lang="en-US" sz="1300" dirty="0"/>
          </a:p>
        </p:txBody>
      </p:sp>
      <p:sp>
        <p:nvSpPr>
          <p:cNvPr id="17" name="Shape 13"/>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18" name="Shape 14"/>
          <p:cNvSpPr/>
          <p:nvPr/>
        </p:nvSpPr>
        <p:spPr>
          <a:xfrm>
            <a:off x="8970264" y="1600200"/>
            <a:ext cx="2624328" cy="1828800"/>
          </a:xfrm>
          <a:prstGeom prst="rect">
            <a:avLst/>
          </a:prstGeom>
          <a:solidFill>
            <a:srgbClr val="EAF0F8"/>
          </a:solidFill>
          <a:ln w="12700">
            <a:solidFill>
              <a:srgbClr val="F1F4F2"/>
            </a:solidFill>
            <a:prstDash val="solid"/>
          </a:ln>
        </p:spPr>
      </p:sp>
      <p:sp>
        <p:nvSpPr>
          <p:cNvPr id="19" name="Text 15"/>
          <p:cNvSpPr txBox="1"/>
          <p:nvPr/>
        </p:nvSpPr>
        <p:spPr>
          <a:xfrm>
            <a:off x="8970264" y="2148840"/>
            <a:ext cx="2624328" cy="731520"/>
          </a:xfrm>
          <a:prstGeom prst="rect">
            <a:avLst/>
          </a:prstGeom>
          <a:noFill/>
          <a:ln/>
        </p:spPr>
        <p:txBody>
          <a:bodyPr wrap="square" lIns="0" tIns="0" rIns="0" bIns="0" rtlCol="0" anchor="t"/>
          <a:lstStyle/>
          <a:p>
            <a:pPr algn="ctr" indent="0" marL="0">
              <a:buNone/>
            </a:pPr>
            <a:r>
              <a:rPr lang="en-US" sz="3600" b="1" dirty="0">
                <a:solidFill>
                  <a:srgbClr val="B8955A"/>
                </a:solidFill>
                <a:latin typeface="Cambria" pitchFamily="34" charset="0"/>
                <a:ea typeface="Cambria" pitchFamily="34" charset="-122"/>
                <a:cs typeface="Cambria" pitchFamily="34" charset="-120"/>
              </a:rPr>
              <a:t>1,5 M</a:t>
            </a:r>
            <a:endParaRPr lang="en-US" sz="3600" dirty="0"/>
          </a:p>
        </p:txBody>
      </p:sp>
      <p:sp>
        <p:nvSpPr>
          <p:cNvPr id="20" name="Text 16"/>
          <p:cNvSpPr txBox="1"/>
          <p:nvPr/>
        </p:nvSpPr>
        <p:spPr>
          <a:xfrm>
            <a:off x="9153144"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Terre d'accueil</a:t>
            </a:r>
            <a:endParaRPr lang="en-US" sz="1800" dirty="0"/>
          </a:p>
        </p:txBody>
      </p:sp>
      <p:sp>
        <p:nvSpPr>
          <p:cNvPr id="21" name="Text 17"/>
          <p:cNvSpPr txBox="1"/>
          <p:nvPr/>
        </p:nvSpPr>
        <p:spPr>
          <a:xfrm>
            <a:off x="9153144"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Longtemps pays d'émigration, le Portugal attire aujourd'hui : plus de 1,5 million d'étrangers y vivaient fin 2024, surtout des Brésiliens.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SAVEURS DU TERROIR</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L'huile d'olive et le porc noir</a:t>
            </a:r>
            <a:endParaRPr lang="en-US" sz="3400" dirty="0"/>
          </a:p>
        </p:txBody>
      </p:sp>
      <p:sp>
        <p:nvSpPr>
          <p:cNvPr id="4" name="Shape 2"/>
          <p:cNvSpPr/>
          <p:nvPr/>
        </p:nvSpPr>
        <p:spPr>
          <a:xfrm>
            <a:off x="548640" y="1600200"/>
            <a:ext cx="5394960" cy="4617720"/>
          </a:xfrm>
          <a:prstGeom prst="roundRect">
            <a:avLst>
              <a:gd name="adj" fmla="val 1584"/>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x-olival.jpg">    </p:cNvPr>
          <p:cNvPicPr>
            <a:picLocks noChangeAspect="1"/>
          </p:cNvPicPr>
          <p:nvPr/>
        </p:nvPicPr>
        <p:blipFill>
          <a:blip r:embed="rId1"/>
          <a:srcRect l="0" r="0" t="0" b="0"/>
          <a:stretch/>
        </p:blipFill>
        <p:spPr>
          <a:xfrm>
            <a:off x="548640" y="1600200"/>
            <a:ext cx="5394960" cy="2651760"/>
          </a:xfrm>
          <a:prstGeom prst="rect">
            <a:avLst/>
          </a:prstGeom>
        </p:spPr>
      </p:pic>
      <p:sp>
        <p:nvSpPr>
          <p:cNvPr id="6" name="Text 3"/>
          <p:cNvSpPr txBox="1"/>
          <p:nvPr/>
        </p:nvSpPr>
        <p:spPr>
          <a:xfrm>
            <a:off x="777240" y="4389120"/>
            <a:ext cx="4937760" cy="457200"/>
          </a:xfrm>
          <a:prstGeom prst="rect">
            <a:avLst/>
          </a:prstGeom>
          <a:noFill/>
          <a:ln/>
        </p:spPr>
        <p:txBody>
          <a:bodyPr wrap="square" lIns="0" tIns="0" rIns="0" bIns="0" rtlCol="0" anchor="t"/>
          <a:lstStyle/>
          <a:p>
            <a:pPr indent="0" marL="0">
              <a:buNone/>
            </a:pPr>
            <a:r>
              <a:rPr lang="en-US" sz="2000" b="1" dirty="0">
                <a:solidFill>
                  <a:srgbClr val="174A3A"/>
                </a:solidFill>
                <a:latin typeface="Cambria" pitchFamily="34" charset="0"/>
                <a:ea typeface="Cambria" pitchFamily="34" charset="-122"/>
                <a:cs typeface="Cambria" pitchFamily="34" charset="-120"/>
              </a:rPr>
              <a:t>L'azeite, l'or vert</a:t>
            </a:r>
            <a:endParaRPr lang="en-US" sz="2000" dirty="0"/>
          </a:p>
        </p:txBody>
      </p:sp>
      <p:sp>
        <p:nvSpPr>
          <p:cNvPr id="7" name="Text 4"/>
          <p:cNvSpPr txBox="1"/>
          <p:nvPr/>
        </p:nvSpPr>
        <p:spPr>
          <a:xfrm>
            <a:off x="777240" y="4846320"/>
            <a:ext cx="4937760" cy="1280160"/>
          </a:xfrm>
          <a:prstGeom prst="rect">
            <a:avLst/>
          </a:prstGeom>
          <a:noFill/>
          <a:ln/>
        </p:spPr>
        <p:txBody>
          <a:bodyPr wrap="square" lIns="0" tIns="0" rIns="0" bIns="0" rtlCol="0" anchor="t"/>
          <a:lstStyle/>
          <a:p>
            <a:pPr indent="0" marL="0">
              <a:buNone/>
            </a:pPr>
            <a:r>
              <a:rPr lang="en-US" sz="1250" dirty="0">
                <a:solidFill>
                  <a:srgbClr val="17211D"/>
                </a:solidFill>
                <a:latin typeface="Calibri" pitchFamily="34" charset="0"/>
                <a:ea typeface="Calibri" pitchFamily="34" charset="-122"/>
                <a:cs typeface="Calibri" pitchFamily="34" charset="-120"/>
              </a:rPr>
              <a:t>Le Portugal compte parmi les dix plus grands producteurs d'huile d'olive au monde, surtout grâce à l'Alentejo, couvert d'oliveraies. Sur la table portugaise, l'azeite est partout : sur la morue, les légumes, ou simplement avec du pain.</a:t>
            </a:r>
            <a:endParaRPr lang="en-US" sz="1250" dirty="0"/>
          </a:p>
        </p:txBody>
      </p:sp>
      <p:sp>
        <p:nvSpPr>
          <p:cNvPr id="8" name="Shape 5"/>
          <p:cNvSpPr/>
          <p:nvPr/>
        </p:nvSpPr>
        <p:spPr>
          <a:xfrm>
            <a:off x="6217920" y="1600200"/>
            <a:ext cx="5394960" cy="4617720"/>
          </a:xfrm>
          <a:prstGeom prst="roundRect">
            <a:avLst>
              <a:gd name="adj" fmla="val 1584"/>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x-porco.jpg">    </p:cNvPr>
          <p:cNvPicPr>
            <a:picLocks noChangeAspect="1"/>
          </p:cNvPicPr>
          <p:nvPr/>
        </p:nvPicPr>
        <p:blipFill>
          <a:blip r:embed="rId2"/>
          <a:srcRect l="0" r="0" t="0" b="0"/>
          <a:stretch/>
        </p:blipFill>
        <p:spPr>
          <a:xfrm>
            <a:off x="6217920" y="1600200"/>
            <a:ext cx="5394960" cy="2651760"/>
          </a:xfrm>
          <a:prstGeom prst="rect">
            <a:avLst/>
          </a:prstGeom>
        </p:spPr>
      </p:pic>
      <p:sp>
        <p:nvSpPr>
          <p:cNvPr id="10" name="Text 6"/>
          <p:cNvSpPr txBox="1"/>
          <p:nvPr/>
        </p:nvSpPr>
        <p:spPr>
          <a:xfrm>
            <a:off x="6446520" y="4389120"/>
            <a:ext cx="4937760" cy="457200"/>
          </a:xfrm>
          <a:prstGeom prst="rect">
            <a:avLst/>
          </a:prstGeom>
          <a:noFill/>
          <a:ln/>
        </p:spPr>
        <p:txBody>
          <a:bodyPr wrap="square" lIns="0" tIns="0" rIns="0" bIns="0" rtlCol="0" anchor="t"/>
          <a:lstStyle/>
          <a:p>
            <a:pPr indent="0" marL="0">
              <a:buNone/>
            </a:pPr>
            <a:r>
              <a:rPr lang="en-US" sz="2000" b="1" dirty="0">
                <a:solidFill>
                  <a:srgbClr val="174A3A"/>
                </a:solidFill>
                <a:latin typeface="Cambria" pitchFamily="34" charset="0"/>
                <a:ea typeface="Cambria" pitchFamily="34" charset="-122"/>
                <a:cs typeface="Cambria" pitchFamily="34" charset="-120"/>
              </a:rPr>
              <a:t>Le porco preto</a:t>
            </a:r>
            <a:endParaRPr lang="en-US" sz="2000" dirty="0"/>
          </a:p>
        </p:txBody>
      </p:sp>
      <p:sp>
        <p:nvSpPr>
          <p:cNvPr id="11" name="Text 7"/>
          <p:cNvSpPr txBox="1"/>
          <p:nvPr/>
        </p:nvSpPr>
        <p:spPr>
          <a:xfrm>
            <a:off x="6446520" y="4846320"/>
            <a:ext cx="4937760" cy="1280160"/>
          </a:xfrm>
          <a:prstGeom prst="rect">
            <a:avLst/>
          </a:prstGeom>
          <a:noFill/>
          <a:ln/>
        </p:spPr>
        <p:txBody>
          <a:bodyPr wrap="square" lIns="0" tIns="0" rIns="0" bIns="0" rtlCol="0" anchor="t"/>
          <a:lstStyle/>
          <a:p>
            <a:pPr indent="0" marL="0">
              <a:buNone/>
            </a:pPr>
            <a:r>
              <a:rPr lang="en-US" sz="1250" dirty="0">
                <a:solidFill>
                  <a:srgbClr val="17211D"/>
                </a:solidFill>
                <a:latin typeface="Calibri" pitchFamily="34" charset="0"/>
                <a:ea typeface="Calibri" pitchFamily="34" charset="-122"/>
                <a:cs typeface="Calibri" pitchFamily="34" charset="-120"/>
              </a:rPr>
              <a:t>Le porc noir de race alentejana vit en liberté dans le montado, la forêt de chênes-lièges et de chênes verts, où il se nourrit de glands. Sa viande tendre et persillée donne des grillades réputées (secretos, plumas) et un jambon d'exception, comme le presunto de Barrancos (AOP).</a:t>
            </a:r>
            <a:endParaRPr lang="en-US" sz="12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 PAYS PIONNIER</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Des choix qui ont fait école</a:t>
            </a:r>
            <a:endParaRPr lang="en-US" sz="3400" dirty="0"/>
          </a:p>
        </p:txBody>
      </p:sp>
      <p:sp>
        <p:nvSpPr>
          <p:cNvPr id="4" name="Shape 2"/>
          <p:cNvSpPr/>
          <p:nvPr/>
        </p:nvSpPr>
        <p:spPr>
          <a:xfrm>
            <a:off x="548640"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Text 3"/>
          <p:cNvSpPr txBox="1"/>
          <p:nvPr/>
        </p:nvSpPr>
        <p:spPr>
          <a:xfrm>
            <a:off x="731520" y="1737360"/>
            <a:ext cx="2286000" cy="685800"/>
          </a:xfrm>
          <a:prstGeom prst="rect">
            <a:avLst/>
          </a:prstGeom>
          <a:noFill/>
          <a:ln/>
        </p:spPr>
        <p:txBody>
          <a:bodyPr wrap="square" lIns="0" tIns="0" rIns="0" bIns="0" rtlCol="0" anchor="t"/>
          <a:lstStyle/>
          <a:p>
            <a:pPr indent="0" marL="0">
              <a:buNone/>
            </a:pPr>
            <a:r>
              <a:rPr lang="en-US" sz="3800" b="1" dirty="0">
                <a:solidFill>
                  <a:srgbClr val="174A3A"/>
                </a:solidFill>
                <a:latin typeface="Cambria" pitchFamily="34" charset="0"/>
                <a:ea typeface="Cambria" pitchFamily="34" charset="-122"/>
                <a:cs typeface="Cambria" pitchFamily="34" charset="-120"/>
              </a:rPr>
              <a:t>1867</a:t>
            </a:r>
            <a:endParaRPr lang="en-US" sz="3800" dirty="0"/>
          </a:p>
        </p:txBody>
      </p:sp>
      <p:sp>
        <p:nvSpPr>
          <p:cNvPr id="6" name="Text 4"/>
          <p:cNvSpPr txBox="1"/>
          <p:nvPr/>
        </p:nvSpPr>
        <p:spPr>
          <a:xfrm>
            <a:off x="731520"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L'un des premiers pays au monde à abolir la peine de mort pour les crimes civils. Victor Hugo félicite alors le Portugal d'être à l'avant-garde de l'Europe.</a:t>
            </a:r>
            <a:endParaRPr lang="en-US" sz="1200" dirty="0"/>
          </a:p>
        </p:txBody>
      </p:sp>
      <p:sp>
        <p:nvSpPr>
          <p:cNvPr id="7" name="Shape 5"/>
          <p:cNvSpPr/>
          <p:nvPr/>
        </p:nvSpPr>
        <p:spPr>
          <a:xfrm>
            <a:off x="3355848"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8" name="Text 6"/>
          <p:cNvSpPr txBox="1"/>
          <p:nvPr/>
        </p:nvSpPr>
        <p:spPr>
          <a:xfrm>
            <a:off x="3538728" y="1737360"/>
            <a:ext cx="2286000" cy="685800"/>
          </a:xfrm>
          <a:prstGeom prst="rect">
            <a:avLst/>
          </a:prstGeom>
          <a:noFill/>
          <a:ln/>
        </p:spPr>
        <p:txBody>
          <a:bodyPr wrap="square" lIns="0" tIns="0" rIns="0" bIns="0" rtlCol="0" anchor="t"/>
          <a:lstStyle/>
          <a:p>
            <a:pPr indent="0" marL="0">
              <a:buNone/>
            </a:pPr>
            <a:r>
              <a:rPr lang="en-US" sz="3800" b="1" dirty="0">
                <a:solidFill>
                  <a:srgbClr val="A83232"/>
                </a:solidFill>
                <a:latin typeface="Cambria" pitchFamily="34" charset="0"/>
                <a:ea typeface="Cambria" pitchFamily="34" charset="-122"/>
                <a:cs typeface="Cambria" pitchFamily="34" charset="-120"/>
              </a:rPr>
              <a:t>2001</a:t>
            </a:r>
            <a:endParaRPr lang="en-US" sz="3800" dirty="0"/>
          </a:p>
        </p:txBody>
      </p:sp>
      <p:sp>
        <p:nvSpPr>
          <p:cNvPr id="9" name="Text 7"/>
          <p:cNvSpPr txBox="1"/>
          <p:nvPr/>
        </p:nvSpPr>
        <p:spPr>
          <a:xfrm>
            <a:off x="3538728"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Dépénalisation de la consommation de toutes les drogues : les consommateurs sont orientés vers les soins plutôt que vers la prison. Le trafic reste un crime, et les contaminations au VIH liées aux seringues chutent fortement.</a:t>
            </a:r>
            <a:endParaRPr lang="en-US" sz="1200" dirty="0"/>
          </a:p>
        </p:txBody>
      </p:sp>
      <p:sp>
        <p:nvSpPr>
          <p:cNvPr id="10" name="Shape 8"/>
          <p:cNvSpPr/>
          <p:nvPr/>
        </p:nvSpPr>
        <p:spPr>
          <a:xfrm>
            <a:off x="6163056"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1" name="Text 9"/>
          <p:cNvSpPr txBox="1"/>
          <p:nvPr/>
        </p:nvSpPr>
        <p:spPr>
          <a:xfrm>
            <a:off x="6345936" y="1737360"/>
            <a:ext cx="2286000" cy="685800"/>
          </a:xfrm>
          <a:prstGeom prst="rect">
            <a:avLst/>
          </a:prstGeom>
          <a:noFill/>
          <a:ln/>
        </p:spPr>
        <p:txBody>
          <a:bodyPr wrap="square" lIns="0" tIns="0" rIns="0" bIns="0" rtlCol="0" anchor="t"/>
          <a:lstStyle/>
          <a:p>
            <a:pPr indent="0" marL="0">
              <a:buNone/>
            </a:pPr>
            <a:r>
              <a:rPr lang="en-US" sz="3800" b="1" dirty="0">
                <a:solidFill>
                  <a:srgbClr val="1E4F8F"/>
                </a:solidFill>
                <a:latin typeface="Cambria" pitchFamily="34" charset="0"/>
                <a:ea typeface="Cambria" pitchFamily="34" charset="-122"/>
                <a:cs typeface="Cambria" pitchFamily="34" charset="-120"/>
              </a:rPr>
              <a:t>2010</a:t>
            </a:r>
            <a:endParaRPr lang="en-US" sz="3800" dirty="0"/>
          </a:p>
        </p:txBody>
      </p:sp>
      <p:sp>
        <p:nvSpPr>
          <p:cNvPr id="12" name="Text 10"/>
          <p:cNvSpPr txBox="1"/>
          <p:nvPr/>
        </p:nvSpPr>
        <p:spPr>
          <a:xfrm>
            <a:off x="6345936"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Le mariage est ouvert aux couples de même sexe.</a:t>
            </a:r>
            <a:endParaRPr lang="en-US" sz="1200" dirty="0"/>
          </a:p>
        </p:txBody>
      </p:sp>
      <p:sp>
        <p:nvSpPr>
          <p:cNvPr id="13" name="Shape 11"/>
          <p:cNvSpPr/>
          <p:nvPr/>
        </p:nvSpPr>
        <p:spPr>
          <a:xfrm>
            <a:off x="8970264"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Text 12"/>
          <p:cNvSpPr txBox="1"/>
          <p:nvPr/>
        </p:nvSpPr>
        <p:spPr>
          <a:xfrm>
            <a:off x="9153144" y="1737360"/>
            <a:ext cx="2286000" cy="685800"/>
          </a:xfrm>
          <a:prstGeom prst="rect">
            <a:avLst/>
          </a:prstGeom>
          <a:noFill/>
          <a:ln/>
        </p:spPr>
        <p:txBody>
          <a:bodyPr wrap="square" lIns="0" tIns="0" rIns="0" bIns="0" rtlCol="0" anchor="t"/>
          <a:lstStyle/>
          <a:p>
            <a:pPr indent="0" marL="0">
              <a:buNone/>
            </a:pPr>
            <a:r>
              <a:rPr lang="en-US" sz="3800" b="1" dirty="0">
                <a:solidFill>
                  <a:srgbClr val="B8955A"/>
                </a:solidFill>
                <a:latin typeface="Cambria" pitchFamily="34" charset="0"/>
                <a:ea typeface="Cambria" pitchFamily="34" charset="-122"/>
                <a:cs typeface="Cambria" pitchFamily="34" charset="-120"/>
              </a:rPr>
              <a:t>7e</a:t>
            </a:r>
            <a:endParaRPr lang="en-US" sz="3800" dirty="0"/>
          </a:p>
        </p:txBody>
      </p:sp>
      <p:sp>
        <p:nvSpPr>
          <p:cNvPr id="15" name="Text 13"/>
          <p:cNvSpPr txBox="1"/>
          <p:nvPr/>
        </p:nvSpPr>
        <p:spPr>
          <a:xfrm>
            <a:off x="9153144"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pays le plus pacifique du monde selon le Global Peace Index 2025, et dans le top 10 depuis 2015.</a:t>
            </a:r>
            <a:endParaRPr lang="en-US" sz="1200" dirty="0"/>
          </a:p>
        </p:txBody>
      </p:sp>
      <p:sp>
        <p:nvSpPr>
          <p:cNvPr id="16" name="Text 14"/>
          <p:cNvSpPr txBox="1"/>
          <p:nvPr/>
        </p:nvSpPr>
        <p:spPr>
          <a:xfrm>
            <a:off x="548640" y="4389120"/>
            <a:ext cx="10972800" cy="457200"/>
          </a:xfrm>
          <a:prstGeom prst="rect">
            <a:avLst/>
          </a:prstGeom>
          <a:noFill/>
          <a:ln/>
        </p:spPr>
        <p:txBody>
          <a:bodyPr wrap="square" lIns="0" tIns="0" rIns="0" bIns="0" rtlCol="0" anchor="t"/>
          <a:lstStyle/>
          <a:p>
            <a:pPr indent="0" marL="0">
              <a:buNone/>
            </a:pPr>
            <a:r>
              <a:rPr lang="en-US" sz="2200" b="1" dirty="0">
                <a:solidFill>
                  <a:srgbClr val="174A3A"/>
                </a:solidFill>
                <a:latin typeface="Cambria" pitchFamily="34" charset="0"/>
                <a:ea typeface="Cambria" pitchFamily="34" charset="-122"/>
                <a:cs typeface="Cambria" pitchFamily="34" charset="-120"/>
              </a:rPr>
              <a:t>Un petit pays, une grande voix</a:t>
            </a:r>
            <a:endParaRPr lang="en-US" sz="2200" dirty="0"/>
          </a:p>
        </p:txBody>
      </p:sp>
      <p:sp>
        <p:nvSpPr>
          <p:cNvPr id="17" name="Text 15"/>
          <p:cNvSpPr txBox="1"/>
          <p:nvPr/>
        </p:nvSpPr>
        <p:spPr>
          <a:xfrm>
            <a:off x="548640"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OTAN</a:t>
            </a:r>
            <a:endParaRPr lang="en-US" sz="1800" dirty="0"/>
          </a:p>
        </p:txBody>
      </p:sp>
      <p:sp>
        <p:nvSpPr>
          <p:cNvPr id="18" name="Text 16"/>
          <p:cNvSpPr txBox="1"/>
          <p:nvPr/>
        </p:nvSpPr>
        <p:spPr>
          <a:xfrm>
            <a:off x="548640"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Membre fondateur en 1949.</a:t>
            </a:r>
            <a:endParaRPr lang="en-US" sz="1200" dirty="0"/>
          </a:p>
        </p:txBody>
      </p:sp>
      <p:sp>
        <p:nvSpPr>
          <p:cNvPr id="19" name="Text 17"/>
          <p:cNvSpPr txBox="1"/>
          <p:nvPr/>
        </p:nvSpPr>
        <p:spPr>
          <a:xfrm>
            <a:off x="3355848"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Union européenne</a:t>
            </a:r>
            <a:endParaRPr lang="en-US" sz="1800" dirty="0"/>
          </a:p>
        </p:txBody>
      </p:sp>
      <p:sp>
        <p:nvSpPr>
          <p:cNvPr id="20" name="Text 18"/>
          <p:cNvSpPr txBox="1"/>
          <p:nvPr/>
        </p:nvSpPr>
        <p:spPr>
          <a:xfrm>
            <a:off x="3355848"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Membre depuis 1986. António Costa préside le Conseil européen depuis 2024.</a:t>
            </a:r>
            <a:endParaRPr lang="en-US" sz="1200" dirty="0"/>
          </a:p>
        </p:txBody>
      </p:sp>
      <p:sp>
        <p:nvSpPr>
          <p:cNvPr id="21" name="Text 19"/>
          <p:cNvSpPr txBox="1"/>
          <p:nvPr/>
        </p:nvSpPr>
        <p:spPr>
          <a:xfrm>
            <a:off x="6163056"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ONU</a:t>
            </a:r>
            <a:endParaRPr lang="en-US" sz="1800" dirty="0"/>
          </a:p>
        </p:txBody>
      </p:sp>
      <p:sp>
        <p:nvSpPr>
          <p:cNvPr id="22" name="Text 20"/>
          <p:cNvSpPr txBox="1"/>
          <p:nvPr/>
        </p:nvSpPr>
        <p:spPr>
          <a:xfrm>
            <a:off x="6163056"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António Guterres, ancien Premier ministre portugais, est secrétaire général de l'ONU depuis 2017.</a:t>
            </a:r>
            <a:endParaRPr lang="en-US" sz="1200" dirty="0"/>
          </a:p>
        </p:txBody>
      </p:sp>
      <p:sp>
        <p:nvSpPr>
          <p:cNvPr id="23" name="Text 21"/>
          <p:cNvSpPr txBox="1"/>
          <p:nvPr/>
        </p:nvSpPr>
        <p:spPr>
          <a:xfrm>
            <a:off x="8970264"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CPLP</a:t>
            </a:r>
            <a:endParaRPr lang="en-US" sz="1800" dirty="0"/>
          </a:p>
        </p:txBody>
      </p:sp>
      <p:sp>
        <p:nvSpPr>
          <p:cNvPr id="24" name="Text 22"/>
          <p:cNvSpPr txBox="1"/>
          <p:nvPr/>
        </p:nvSpPr>
        <p:spPr>
          <a:xfrm>
            <a:off x="8970264"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La Communauté des pays de langue portugaise réunit 9 pays sur 4 continents.</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home/user/Portugal-Website/images/photos/hero-cul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04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Culture &amp; gastronomie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Fado, azulejos et saveurs de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Une culture façonnée par la mer, la musique et la table, transmise de génération en génération.</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ARTS &amp; PATRIMOINE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L'âme portugaise</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c-fado.jpg">    </p:cNvPr>
          <p:cNvPicPr>
            <a:picLocks noChangeAspect="1"/>
          </p:cNvPicPr>
          <p:nvPr/>
        </p:nvPicPr>
        <p:blipFill>
          <a:blip r:embed="rId1"/>
          <a:srcRect l="0" r="0" t="0" b="0"/>
          <a:stretch/>
        </p:blipFill>
        <p:spPr>
          <a:xfrm>
            <a:off x="548640" y="1600200"/>
            <a:ext cx="2624328" cy="2103120"/>
          </a:xfrm>
          <a:prstGeom prst="rect">
            <a:avLst/>
          </a:prstGeom>
        </p:spPr>
      </p:pic>
      <p:sp>
        <p:nvSpPr>
          <p:cNvPr id="6" name="Text 3"/>
          <p:cNvSpPr txBox="1"/>
          <p:nvPr/>
        </p:nvSpPr>
        <p:spPr>
          <a:xfrm>
            <a:off x="731520"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Le fado</a:t>
            </a:r>
            <a:endParaRPr lang="en-US" sz="1900" dirty="0"/>
          </a:p>
        </p:txBody>
      </p:sp>
      <p:sp>
        <p:nvSpPr>
          <p:cNvPr id="7" name="Text 4"/>
          <p:cNvSpPr txBox="1"/>
          <p:nvPr/>
        </p:nvSpPr>
        <p:spPr>
          <a:xfrm>
            <a:off x="731520"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Chant mélancolique accompagné de la guitare portugaise. Amália Rodrigues en est la grande voix. Patrimoine immatériel de l'UNESCO depuis 2011.</a:t>
            </a:r>
            <a:endParaRPr lang="en-US" sz="13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c-azulejo.jpg">    </p:cNvPr>
          <p:cNvPicPr>
            <a:picLocks noChangeAspect="1"/>
          </p:cNvPicPr>
          <p:nvPr/>
        </p:nvPicPr>
        <p:blipFill>
          <a:blip r:embed="rId2"/>
          <a:srcRect l="0" r="0" t="0" b="0"/>
          <a:stretch/>
        </p:blipFill>
        <p:spPr>
          <a:xfrm>
            <a:off x="3355848" y="1600200"/>
            <a:ext cx="2624328" cy="2103120"/>
          </a:xfrm>
          <a:prstGeom prst="rect">
            <a:avLst/>
          </a:prstGeom>
        </p:spPr>
      </p:pic>
      <p:sp>
        <p:nvSpPr>
          <p:cNvPr id="10" name="Text 6"/>
          <p:cNvSpPr txBox="1"/>
          <p:nvPr/>
        </p:nvSpPr>
        <p:spPr>
          <a:xfrm>
            <a:off x="3538728"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Les azulejos</a:t>
            </a:r>
            <a:endParaRPr lang="en-US" sz="1900" dirty="0"/>
          </a:p>
        </p:txBody>
      </p:sp>
      <p:sp>
        <p:nvSpPr>
          <p:cNvPr id="11" name="Text 7"/>
          <p:cNvSpPr txBox="1"/>
          <p:nvPr/>
        </p:nvSpPr>
        <p:spPr>
          <a:xfrm>
            <a:off x="3538728"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Carreaux de faïence peints, souvent bleus et blancs, qui décorent églises, gares et façades.</a:t>
            </a:r>
            <a:endParaRPr lang="en-US" sz="13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photos/c-manuelino.jpg">    </p:cNvPr>
          <p:cNvPicPr>
            <a:picLocks noChangeAspect="1"/>
          </p:cNvPicPr>
          <p:nvPr/>
        </p:nvPicPr>
        <p:blipFill>
          <a:blip r:embed="rId3"/>
          <a:srcRect l="0" r="0" t="0" b="0"/>
          <a:stretch/>
        </p:blipFill>
        <p:spPr>
          <a:xfrm>
            <a:off x="6163056" y="1600200"/>
            <a:ext cx="2624328" cy="2103120"/>
          </a:xfrm>
          <a:prstGeom prst="rect">
            <a:avLst/>
          </a:prstGeom>
        </p:spPr>
      </p:pic>
      <p:sp>
        <p:nvSpPr>
          <p:cNvPr id="14" name="Text 9"/>
          <p:cNvSpPr txBox="1"/>
          <p:nvPr/>
        </p:nvSpPr>
        <p:spPr>
          <a:xfrm>
            <a:off x="6345936"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L'art manuélin</a:t>
            </a:r>
            <a:endParaRPr lang="en-US" sz="1900" dirty="0"/>
          </a:p>
        </p:txBody>
      </p:sp>
      <p:sp>
        <p:nvSpPr>
          <p:cNvPr id="15" name="Text 10"/>
          <p:cNvSpPr txBox="1"/>
          <p:nvPr/>
        </p:nvSpPr>
        <p:spPr>
          <a:xfrm>
            <a:off x="6345936"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Style de l'époque des Découvertes, riche en motifs marins : cordages, coquillages, sphères armillaires. Exemple : le monastère des Hiéronymites.</a:t>
            </a:r>
            <a:endParaRPr lang="en-US" sz="13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photos/x-pessoa.jpg">    </p:cNvPr>
          <p:cNvPicPr>
            <a:picLocks noChangeAspect="1"/>
          </p:cNvPicPr>
          <p:nvPr/>
        </p:nvPicPr>
        <p:blipFill>
          <a:blip r:embed="rId4"/>
          <a:srcRect l="0" r="0" t="0" b="0"/>
          <a:stretch/>
        </p:blipFill>
        <p:spPr>
          <a:xfrm>
            <a:off x="8970264" y="1600200"/>
            <a:ext cx="2624328" cy="2103120"/>
          </a:xfrm>
          <a:prstGeom prst="rect">
            <a:avLst/>
          </a:prstGeom>
        </p:spPr>
      </p:pic>
      <p:sp>
        <p:nvSpPr>
          <p:cNvPr id="18" name="Text 12"/>
          <p:cNvSpPr txBox="1"/>
          <p:nvPr/>
        </p:nvSpPr>
        <p:spPr>
          <a:xfrm>
            <a:off x="9153144"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La littérature</a:t>
            </a:r>
            <a:endParaRPr lang="en-US" sz="1900" dirty="0"/>
          </a:p>
        </p:txBody>
      </p:sp>
      <p:sp>
        <p:nvSpPr>
          <p:cNvPr id="19" name="Text 13"/>
          <p:cNvSpPr txBox="1"/>
          <p:nvPr/>
        </p:nvSpPr>
        <p:spPr>
          <a:xfrm>
            <a:off x="9153144"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Luís de Camões (Les Lusiades, 1572), Fernando Pessoa et José Saramago, prix Nobel de littérature 1998.</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ÉTUDES &amp; TRADITIONS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Universités, capes noires et Harry Potter</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z-coimbra.jpg">    </p:cNvPr>
          <p:cNvPicPr>
            <a:picLocks noChangeAspect="1"/>
          </p:cNvPicPr>
          <p:nvPr/>
        </p:nvPicPr>
        <p:blipFill>
          <a:blip r:embed="rId1"/>
          <a:srcRect l="0" r="0" t="0" b="0"/>
          <a:stretch/>
        </p:blipFill>
        <p:spPr>
          <a:xfrm>
            <a:off x="548640" y="1600200"/>
            <a:ext cx="2624328" cy="1828800"/>
          </a:xfrm>
          <a:prstGeom prst="rect">
            <a:avLst/>
          </a:prstGeom>
        </p:spPr>
      </p:pic>
      <p:sp>
        <p:nvSpPr>
          <p:cNvPr id="6" name="Text 3"/>
          <p:cNvSpPr txBox="1"/>
          <p:nvPr/>
        </p:nvSpPr>
        <p:spPr>
          <a:xfrm>
            <a:off x="731520"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L'Université de Coimbra</a:t>
            </a:r>
            <a:endParaRPr lang="en-US" sz="1600" dirty="0"/>
          </a:p>
        </p:txBody>
      </p:sp>
      <p:sp>
        <p:nvSpPr>
          <p:cNvPr id="7" name="Text 4"/>
          <p:cNvSpPr txBox="1"/>
          <p:nvPr/>
        </p:nvSpPr>
        <p:spPr>
          <a:xfrm>
            <a:off x="731520"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Fondée en 1290 par le roi Denis Ier et installée définitivement à Coimbra en 1537, c'est l'une des plus anciennes universités du monde. Elle est classée à l'UNESCO depuis 2013, avec sa splendide bibliothèque baroque, la Joanina.</a:t>
            </a:r>
            <a:endParaRPr lang="en-US" sz="11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luis/traje.jpg">    </p:cNvPr>
          <p:cNvPicPr>
            <a:picLocks noChangeAspect="1"/>
          </p:cNvPicPr>
          <p:nvPr/>
        </p:nvPicPr>
        <p:blipFill>
          <a:blip r:embed="rId2"/>
          <a:srcRect l="0" r="0" t="0" b="0"/>
          <a:stretch/>
        </p:blipFill>
        <p:spPr>
          <a:xfrm>
            <a:off x="3355848" y="1600200"/>
            <a:ext cx="2624328" cy="1828800"/>
          </a:xfrm>
          <a:prstGeom prst="rect">
            <a:avLst/>
          </a:prstGeom>
        </p:spPr>
      </p:pic>
      <p:sp>
        <p:nvSpPr>
          <p:cNvPr id="10" name="Text 6"/>
          <p:cNvSpPr txBox="1"/>
          <p:nvPr/>
        </p:nvSpPr>
        <p:spPr>
          <a:xfrm>
            <a:off x="3538728"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étudiants « trajados »</a:t>
            </a:r>
            <a:endParaRPr lang="en-US" sz="1600" dirty="0"/>
          </a:p>
        </p:txBody>
      </p:sp>
      <p:sp>
        <p:nvSpPr>
          <p:cNvPr id="11" name="Text 7"/>
          <p:cNvSpPr txBox="1"/>
          <p:nvPr/>
        </p:nvSpPr>
        <p:spPr>
          <a:xfrm>
            <a:off x="3538728"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Costume noir et grande cape : c'est le traje académico. Selon la tradition, la cape ne se lave pas et chaque déchirure rappelle une personne ou un moment important. En mai, la Queima das Fitas fête la fin des études.</a:t>
            </a:r>
            <a:endParaRPr lang="en-US" sz="11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luis/lello.jpg">    </p:cNvPr>
          <p:cNvPicPr>
            <a:picLocks noChangeAspect="1"/>
          </p:cNvPicPr>
          <p:nvPr/>
        </p:nvPicPr>
        <p:blipFill>
          <a:blip r:embed="rId3"/>
          <a:srcRect l="0" r="0" t="0" b="0"/>
          <a:stretch/>
        </p:blipFill>
        <p:spPr>
          <a:xfrm>
            <a:off x="6163056" y="1600200"/>
            <a:ext cx="2624328" cy="1828800"/>
          </a:xfrm>
          <a:prstGeom prst="rect">
            <a:avLst/>
          </a:prstGeom>
        </p:spPr>
      </p:pic>
      <p:sp>
        <p:nvSpPr>
          <p:cNvPr id="14" name="Text 9"/>
          <p:cNvSpPr txBox="1"/>
          <p:nvPr/>
        </p:nvSpPr>
        <p:spPr>
          <a:xfrm>
            <a:off x="6345936"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Livraria Lello, à Porto</a:t>
            </a:r>
            <a:endParaRPr lang="en-US" sz="1600" dirty="0"/>
          </a:p>
        </p:txBody>
      </p:sp>
      <p:sp>
        <p:nvSpPr>
          <p:cNvPr id="15" name="Text 10"/>
          <p:cNvSpPr txBox="1"/>
          <p:nvPr/>
        </p:nvSpPr>
        <p:spPr>
          <a:xfrm>
            <a:off x="6345936"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Ouverte en 1906, avec son escalier rouge et ses boiseries sculptées, elle est souvent citée parmi les plus belles librairies du monde. Il faut parfois faire la queue pour y entrer !</a:t>
            </a:r>
            <a:endParaRPr lang="en-US" sz="11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luis/harry-potter.jpg">    </p:cNvPr>
          <p:cNvPicPr>
            <a:picLocks noChangeAspect="1"/>
          </p:cNvPicPr>
          <p:nvPr/>
        </p:nvPicPr>
        <p:blipFill>
          <a:blip r:embed="rId4"/>
          <a:srcRect l="0" r="0" t="0" b="0"/>
          <a:stretch/>
        </p:blipFill>
        <p:spPr>
          <a:xfrm>
            <a:off x="8970264" y="1600200"/>
            <a:ext cx="2624328" cy="1828800"/>
          </a:xfrm>
          <a:prstGeom prst="rect">
            <a:avLst/>
          </a:prstGeom>
        </p:spPr>
      </p:pic>
      <p:sp>
        <p:nvSpPr>
          <p:cNvPr id="18" name="Text 12"/>
          <p:cNvSpPr txBox="1"/>
          <p:nvPr/>
        </p:nvSpPr>
        <p:spPr>
          <a:xfrm>
            <a:off x="9153144"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Et Harry Potter ?</a:t>
            </a:r>
            <a:endParaRPr lang="en-US" sz="1600" dirty="0"/>
          </a:p>
        </p:txBody>
      </p:sp>
      <p:sp>
        <p:nvSpPr>
          <p:cNvPr id="19" name="Text 13"/>
          <p:cNvSpPr txBox="1"/>
          <p:nvPr/>
        </p:nvSpPr>
        <p:spPr>
          <a:xfrm>
            <a:off x="9153144"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J.K. Rowling a vécu à Porto au début des années 1990 : elle y enseignait l'anglais et écrivait déjà Harry Potter. On dit que les capes des étudiants ont inspiré les robes de Poudlard, et Lello sa bibliothèque… mais Rowling affirme n'être jamais entrée chez Lello !</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À TABLE !</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cuisine simple et généreuse</a:t>
            </a:r>
            <a:endParaRPr lang="en-US" sz="3400" dirty="0"/>
          </a:p>
        </p:txBody>
      </p:sp>
      <p:pic>
        <p:nvPicPr>
          <p:cNvPr id="4" name="Image 0" descr="/home/user/Portugal-Website/images/photos/f-bacalhau.jpg">    </p:cNvPr>
          <p:cNvPicPr>
            <a:picLocks noChangeAspect="1"/>
          </p:cNvPicPr>
          <p:nvPr/>
        </p:nvPicPr>
        <p:blipFill>
          <a:blip r:embed="rId1"/>
          <a:srcRect l="0" r="0" t="0" b="0"/>
          <a:stretch/>
        </p:blipFill>
        <p:spPr>
          <a:xfrm>
            <a:off x="548640" y="1600200"/>
            <a:ext cx="1737360" cy="1691640"/>
          </a:xfrm>
          <a:prstGeom prst="rect">
            <a:avLst/>
          </a:prstGeom>
        </p:spPr>
      </p:pic>
      <p:sp>
        <p:nvSpPr>
          <p:cNvPr id="5" name="Text 2"/>
          <p:cNvSpPr txBox="1"/>
          <p:nvPr/>
        </p:nvSpPr>
        <p:spPr>
          <a:xfrm>
            <a:off x="548640"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Bacalhau</a:t>
            </a:r>
            <a:endParaRPr lang="en-US" sz="1400" dirty="0"/>
          </a:p>
        </p:txBody>
      </p:sp>
      <p:pic>
        <p:nvPicPr>
          <p:cNvPr id="6" name="Image 1" descr="/home/user/Portugal-Website/images/photos/f-nata.jpg">    </p:cNvPr>
          <p:cNvPicPr>
            <a:picLocks noChangeAspect="1"/>
          </p:cNvPicPr>
          <p:nvPr/>
        </p:nvPicPr>
        <p:blipFill>
          <a:blip r:embed="rId2"/>
          <a:srcRect l="0" r="0" t="0" b="0"/>
          <a:stretch/>
        </p:blipFill>
        <p:spPr>
          <a:xfrm>
            <a:off x="2414016" y="1600200"/>
            <a:ext cx="1737360" cy="1691640"/>
          </a:xfrm>
          <a:prstGeom prst="rect">
            <a:avLst/>
          </a:prstGeom>
        </p:spPr>
      </p:pic>
      <p:sp>
        <p:nvSpPr>
          <p:cNvPr id="7" name="Text 3"/>
          <p:cNvSpPr txBox="1"/>
          <p:nvPr/>
        </p:nvSpPr>
        <p:spPr>
          <a:xfrm>
            <a:off x="2414016"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Pastel de nata</a:t>
            </a:r>
            <a:endParaRPr lang="en-US" sz="1400" dirty="0"/>
          </a:p>
        </p:txBody>
      </p:sp>
      <p:pic>
        <p:nvPicPr>
          <p:cNvPr id="8" name="Image 2" descr="/home/user/Portugal-Website/images/photos/f-francesinha.jpg">    </p:cNvPr>
          <p:cNvPicPr>
            <a:picLocks noChangeAspect="1"/>
          </p:cNvPicPr>
          <p:nvPr/>
        </p:nvPicPr>
        <p:blipFill>
          <a:blip r:embed="rId3"/>
          <a:srcRect l="0" r="0" t="0" b="0"/>
          <a:stretch/>
        </p:blipFill>
        <p:spPr>
          <a:xfrm>
            <a:off x="4279392" y="1600200"/>
            <a:ext cx="1737360" cy="1691640"/>
          </a:xfrm>
          <a:prstGeom prst="rect">
            <a:avLst/>
          </a:prstGeom>
        </p:spPr>
      </p:pic>
      <p:sp>
        <p:nvSpPr>
          <p:cNvPr id="9" name="Text 4"/>
          <p:cNvSpPr txBox="1"/>
          <p:nvPr/>
        </p:nvSpPr>
        <p:spPr>
          <a:xfrm>
            <a:off x="4279392"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Francesinha</a:t>
            </a:r>
            <a:endParaRPr lang="en-US" sz="1400" dirty="0"/>
          </a:p>
        </p:txBody>
      </p:sp>
      <p:pic>
        <p:nvPicPr>
          <p:cNvPr id="10" name="Image 3" descr="/home/user/Portugal-Website/images/photos/f-sardinhas.jpg">    </p:cNvPr>
          <p:cNvPicPr>
            <a:picLocks noChangeAspect="1"/>
          </p:cNvPicPr>
          <p:nvPr/>
        </p:nvPicPr>
        <p:blipFill>
          <a:blip r:embed="rId4"/>
          <a:srcRect l="0" r="0" t="0" b="0"/>
          <a:stretch/>
        </p:blipFill>
        <p:spPr>
          <a:xfrm>
            <a:off x="6144768" y="1600200"/>
            <a:ext cx="1737360" cy="1691640"/>
          </a:xfrm>
          <a:prstGeom prst="rect">
            <a:avLst/>
          </a:prstGeom>
        </p:spPr>
      </p:pic>
      <p:sp>
        <p:nvSpPr>
          <p:cNvPr id="11" name="Text 5"/>
          <p:cNvSpPr txBox="1"/>
          <p:nvPr/>
        </p:nvSpPr>
        <p:spPr>
          <a:xfrm>
            <a:off x="6144768"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Sardinhas assadas</a:t>
            </a:r>
            <a:endParaRPr lang="en-US" sz="1400" dirty="0"/>
          </a:p>
        </p:txBody>
      </p:sp>
      <p:pic>
        <p:nvPicPr>
          <p:cNvPr id="12" name="Image 4" descr="/home/user/Portugal-Website/images/photos/f-caldo.jpg">    </p:cNvPr>
          <p:cNvPicPr>
            <a:picLocks noChangeAspect="1"/>
          </p:cNvPicPr>
          <p:nvPr/>
        </p:nvPicPr>
        <p:blipFill>
          <a:blip r:embed="rId5"/>
          <a:srcRect l="0" r="0" t="0" b="0"/>
          <a:stretch/>
        </p:blipFill>
        <p:spPr>
          <a:xfrm>
            <a:off x="8010144" y="1600200"/>
            <a:ext cx="1737360" cy="1691640"/>
          </a:xfrm>
          <a:prstGeom prst="rect">
            <a:avLst/>
          </a:prstGeom>
        </p:spPr>
      </p:pic>
      <p:sp>
        <p:nvSpPr>
          <p:cNvPr id="13" name="Text 6"/>
          <p:cNvSpPr txBox="1"/>
          <p:nvPr/>
        </p:nvSpPr>
        <p:spPr>
          <a:xfrm>
            <a:off x="8010144"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Caldo verde</a:t>
            </a:r>
            <a:endParaRPr lang="en-US" sz="1400" dirty="0"/>
          </a:p>
        </p:txBody>
      </p:sp>
      <p:pic>
        <p:nvPicPr>
          <p:cNvPr id="14" name="Image 5" descr="/home/user/Portugal-Website/images/photos/f-leitao.jpg">    </p:cNvPr>
          <p:cNvPicPr>
            <a:picLocks noChangeAspect="1"/>
          </p:cNvPicPr>
          <p:nvPr/>
        </p:nvPicPr>
        <p:blipFill>
          <a:blip r:embed="rId6"/>
          <a:srcRect l="0" r="0" t="0" b="0"/>
          <a:stretch/>
        </p:blipFill>
        <p:spPr>
          <a:xfrm>
            <a:off x="9875520" y="1600200"/>
            <a:ext cx="1737360" cy="1691640"/>
          </a:xfrm>
          <a:prstGeom prst="rect">
            <a:avLst/>
          </a:prstGeom>
        </p:spPr>
      </p:pic>
      <p:sp>
        <p:nvSpPr>
          <p:cNvPr id="15" name="Text 7"/>
          <p:cNvSpPr txBox="1"/>
          <p:nvPr/>
        </p:nvSpPr>
        <p:spPr>
          <a:xfrm>
            <a:off x="9875520"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Leitão da Bairrada</a:t>
            </a:r>
            <a:endParaRPr lang="en-US" sz="1400" dirty="0"/>
          </a:p>
        </p:txBody>
      </p:sp>
      <p:pic>
        <p:nvPicPr>
          <p:cNvPr id="16" name="Image 6" descr="/home/user/Portugal-Website/images/photos/f-polvo.jpg">    </p:cNvPr>
          <p:cNvPicPr>
            <a:picLocks noChangeAspect="1"/>
          </p:cNvPicPr>
          <p:nvPr/>
        </p:nvPicPr>
        <p:blipFill>
          <a:blip r:embed="rId7"/>
          <a:srcRect l="0" r="0" t="0" b="0"/>
          <a:stretch/>
        </p:blipFill>
        <p:spPr>
          <a:xfrm>
            <a:off x="548640" y="3931920"/>
            <a:ext cx="1737360" cy="1691640"/>
          </a:xfrm>
          <a:prstGeom prst="rect">
            <a:avLst/>
          </a:prstGeom>
        </p:spPr>
      </p:pic>
      <p:sp>
        <p:nvSpPr>
          <p:cNvPr id="17" name="Text 8"/>
          <p:cNvSpPr txBox="1"/>
          <p:nvPr/>
        </p:nvSpPr>
        <p:spPr>
          <a:xfrm>
            <a:off x="548640"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Polvo à lagareiro</a:t>
            </a:r>
            <a:endParaRPr lang="en-US" sz="1400" dirty="0"/>
          </a:p>
        </p:txBody>
      </p:sp>
      <p:pic>
        <p:nvPicPr>
          <p:cNvPr id="18" name="Image 7" descr="/home/user/Portugal-Website/images/photos/f-cataplana.jpg">    </p:cNvPr>
          <p:cNvPicPr>
            <a:picLocks noChangeAspect="1"/>
          </p:cNvPicPr>
          <p:nvPr/>
        </p:nvPicPr>
        <p:blipFill>
          <a:blip r:embed="rId8"/>
          <a:srcRect l="0" r="0" t="0" b="0"/>
          <a:stretch/>
        </p:blipFill>
        <p:spPr>
          <a:xfrm>
            <a:off x="2414016" y="3931920"/>
            <a:ext cx="1737360" cy="1691640"/>
          </a:xfrm>
          <a:prstGeom prst="rect">
            <a:avLst/>
          </a:prstGeom>
        </p:spPr>
      </p:pic>
      <p:sp>
        <p:nvSpPr>
          <p:cNvPr id="19" name="Text 9"/>
          <p:cNvSpPr txBox="1"/>
          <p:nvPr/>
        </p:nvSpPr>
        <p:spPr>
          <a:xfrm>
            <a:off x="2414016"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Cataplana</a:t>
            </a:r>
            <a:endParaRPr lang="en-US" sz="1400" dirty="0"/>
          </a:p>
        </p:txBody>
      </p:sp>
      <p:pic>
        <p:nvPicPr>
          <p:cNvPr id="20" name="Image 8" descr="/home/user/Portugal-Website/images/photos/f-bifana.jpg">    </p:cNvPr>
          <p:cNvPicPr>
            <a:picLocks noChangeAspect="1"/>
          </p:cNvPicPr>
          <p:nvPr/>
        </p:nvPicPr>
        <p:blipFill>
          <a:blip r:embed="rId9"/>
          <a:srcRect l="0" r="0" t="0" b="0"/>
          <a:stretch/>
        </p:blipFill>
        <p:spPr>
          <a:xfrm>
            <a:off x="4279392" y="3931920"/>
            <a:ext cx="1737360" cy="1691640"/>
          </a:xfrm>
          <a:prstGeom prst="rect">
            <a:avLst/>
          </a:prstGeom>
        </p:spPr>
      </p:pic>
      <p:sp>
        <p:nvSpPr>
          <p:cNvPr id="21" name="Text 10"/>
          <p:cNvSpPr txBox="1"/>
          <p:nvPr/>
        </p:nvSpPr>
        <p:spPr>
          <a:xfrm>
            <a:off x="4279392"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Bifana</a:t>
            </a:r>
            <a:endParaRPr lang="en-US" sz="1400" dirty="0"/>
          </a:p>
        </p:txBody>
      </p:sp>
      <p:pic>
        <p:nvPicPr>
          <p:cNvPr id="22" name="Image 9" descr="/home/user/Portugal-Website/images/photos/f-queijo.jpg">    </p:cNvPr>
          <p:cNvPicPr>
            <a:picLocks noChangeAspect="1"/>
          </p:cNvPicPr>
          <p:nvPr/>
        </p:nvPicPr>
        <p:blipFill>
          <a:blip r:embed="rId10"/>
          <a:srcRect l="0" r="0" t="0" b="0"/>
          <a:stretch/>
        </p:blipFill>
        <p:spPr>
          <a:xfrm>
            <a:off x="6144768" y="3931920"/>
            <a:ext cx="1737360" cy="1691640"/>
          </a:xfrm>
          <a:prstGeom prst="rect">
            <a:avLst/>
          </a:prstGeom>
        </p:spPr>
      </p:pic>
      <p:sp>
        <p:nvSpPr>
          <p:cNvPr id="23" name="Text 11"/>
          <p:cNvSpPr txBox="1"/>
          <p:nvPr/>
        </p:nvSpPr>
        <p:spPr>
          <a:xfrm>
            <a:off x="6144768"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Queijo da Serra</a:t>
            </a:r>
            <a:endParaRPr lang="en-US" sz="1400" dirty="0"/>
          </a:p>
        </p:txBody>
      </p:sp>
      <p:pic>
        <p:nvPicPr>
          <p:cNvPr id="24" name="Image 10" descr="/home/user/Portugal-Website/images/photos/f-alheira.jpg">    </p:cNvPr>
          <p:cNvPicPr>
            <a:picLocks noChangeAspect="1"/>
          </p:cNvPicPr>
          <p:nvPr/>
        </p:nvPicPr>
        <p:blipFill>
          <a:blip r:embed="rId11"/>
          <a:srcRect l="0" r="0" t="0" b="0"/>
          <a:stretch/>
        </p:blipFill>
        <p:spPr>
          <a:xfrm>
            <a:off x="8010144" y="3931920"/>
            <a:ext cx="1737360" cy="1691640"/>
          </a:xfrm>
          <a:prstGeom prst="rect">
            <a:avLst/>
          </a:prstGeom>
        </p:spPr>
      </p:pic>
      <p:sp>
        <p:nvSpPr>
          <p:cNvPr id="25" name="Text 12"/>
          <p:cNvSpPr txBox="1"/>
          <p:nvPr/>
        </p:nvSpPr>
        <p:spPr>
          <a:xfrm>
            <a:off x="8010144"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Alheira</a:t>
            </a:r>
            <a:endParaRPr lang="en-US" sz="1400" dirty="0"/>
          </a:p>
        </p:txBody>
      </p:sp>
      <p:pic>
        <p:nvPicPr>
          <p:cNvPr id="26" name="Image 11" descr="/home/user/Portugal-Website/images/photos/f-ovos.jpg">    </p:cNvPr>
          <p:cNvPicPr>
            <a:picLocks noChangeAspect="1"/>
          </p:cNvPicPr>
          <p:nvPr/>
        </p:nvPicPr>
        <p:blipFill>
          <a:blip r:embed="rId12"/>
          <a:srcRect l="0" r="0" t="0" b="0"/>
          <a:stretch/>
        </p:blipFill>
        <p:spPr>
          <a:xfrm>
            <a:off x="9875520" y="3931920"/>
            <a:ext cx="1737360" cy="1691640"/>
          </a:xfrm>
          <a:prstGeom prst="rect">
            <a:avLst/>
          </a:prstGeom>
        </p:spPr>
      </p:pic>
      <p:sp>
        <p:nvSpPr>
          <p:cNvPr id="27" name="Text 13"/>
          <p:cNvSpPr txBox="1"/>
          <p:nvPr/>
        </p:nvSpPr>
        <p:spPr>
          <a:xfrm>
            <a:off x="9875520"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Ovos moles</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UNE INFLUENCE MONDIALE</a:t>
            </a:r>
            <a:endParaRPr lang="en-US" sz="1200" dirty="0"/>
          </a:p>
        </p:txBody>
      </p:sp>
      <p:sp>
        <p:nvSpPr>
          <p:cNvPr id="3" name="Text 1"/>
          <p:cNvSpPr txBox="1"/>
          <p:nvPr/>
        </p:nvSpPr>
        <p:spPr>
          <a:xfrm>
            <a:off x="548640" y="685800"/>
            <a:ext cx="685800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Portugal a changé la cuisine du monde</a:t>
            </a:r>
            <a:endParaRPr lang="en-US" sz="2600" dirty="0"/>
          </a:p>
        </p:txBody>
      </p:sp>
      <p:pic>
        <p:nvPicPr>
          <p:cNvPr id="4" name="Image 0" descr="/home/user/Portugal-Website/images/photos/x-tempura.jpg">    </p:cNvPr>
          <p:cNvPicPr>
            <a:picLocks noChangeAspect="1"/>
          </p:cNvPicPr>
          <p:nvPr/>
        </p:nvPicPr>
        <p:blipFill>
          <a:blip r:embed="rId1"/>
          <a:srcRect l="0" r="0" t="0" b="0"/>
          <a:stretch/>
        </p:blipFill>
        <p:spPr>
          <a:xfrm>
            <a:off x="548640" y="1600200"/>
            <a:ext cx="1051560" cy="822960"/>
          </a:xfrm>
          <a:prstGeom prst="rect">
            <a:avLst/>
          </a:prstGeom>
        </p:spPr>
      </p:pic>
      <p:sp>
        <p:nvSpPr>
          <p:cNvPr id="5" name="Text 2"/>
          <p:cNvSpPr txBox="1"/>
          <p:nvPr/>
        </p:nvSpPr>
        <p:spPr>
          <a:xfrm>
            <a:off x="1737360" y="1600200"/>
            <a:ext cx="1645920" cy="411480"/>
          </a:xfrm>
          <a:prstGeom prst="rect">
            <a:avLst/>
          </a:prstGeom>
          <a:noFill/>
          <a:ln/>
        </p:spPr>
        <p:txBody>
          <a:bodyPr wrap="square" lIns="0" tIns="0" rIns="0" bIns="0" rtlCol="0" anchor="t"/>
          <a:lstStyle/>
          <a:p>
            <a:pPr indent="0" marL="0">
              <a:buNone/>
            </a:pPr>
            <a:r>
              <a:rPr lang="en-US" sz="1800" b="1" i="1" dirty="0">
                <a:solidFill>
                  <a:srgbClr val="174A3A"/>
                </a:solidFill>
                <a:latin typeface="Cambria" pitchFamily="34" charset="0"/>
                <a:ea typeface="Cambria" pitchFamily="34" charset="-122"/>
                <a:cs typeface="Cambria" pitchFamily="34" charset="-120"/>
              </a:rPr>
              <a:t>Tempura</a:t>
            </a:r>
            <a:endParaRPr lang="en-US" sz="1800" dirty="0"/>
          </a:p>
        </p:txBody>
      </p:sp>
      <p:sp>
        <p:nvSpPr>
          <p:cNvPr id="6" name="Text 3"/>
          <p:cNvSpPr txBox="1"/>
          <p:nvPr/>
        </p:nvSpPr>
        <p:spPr>
          <a:xfrm>
            <a:off x="1737360" y="2011680"/>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JAPON</a:t>
            </a:r>
            <a:endParaRPr lang="en-US" sz="900" dirty="0"/>
          </a:p>
        </p:txBody>
      </p:sp>
      <p:sp>
        <p:nvSpPr>
          <p:cNvPr id="7" name="Text 4"/>
          <p:cNvSpPr txBox="1"/>
          <p:nvPr/>
        </p:nvSpPr>
        <p:spPr>
          <a:xfrm>
            <a:off x="3429000" y="1600200"/>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Les missionnaires portugais mangeaient du poisson et des légumes frits pendant les jours de jeûne des « Quatre-Temps » (têmporas) : une origine probable de la tempura.</a:t>
            </a:r>
            <a:endParaRPr lang="en-US" sz="1150" dirty="0"/>
          </a:p>
        </p:txBody>
      </p:sp>
      <p:pic>
        <p:nvPicPr>
          <p:cNvPr id="8" name="Image 1" descr="/home/user/Portugal-Website/images/photos/x-vindaloo.jpg">    </p:cNvPr>
          <p:cNvPicPr>
            <a:picLocks noChangeAspect="1"/>
          </p:cNvPicPr>
          <p:nvPr/>
        </p:nvPicPr>
        <p:blipFill>
          <a:blip r:embed="rId2"/>
          <a:srcRect l="0" r="0" t="0" b="0"/>
          <a:stretch/>
        </p:blipFill>
        <p:spPr>
          <a:xfrm>
            <a:off x="548640" y="2532888"/>
            <a:ext cx="1051560" cy="822960"/>
          </a:xfrm>
          <a:prstGeom prst="rect">
            <a:avLst/>
          </a:prstGeom>
        </p:spPr>
      </p:pic>
      <p:sp>
        <p:nvSpPr>
          <p:cNvPr id="9" name="Text 5"/>
          <p:cNvSpPr txBox="1"/>
          <p:nvPr/>
        </p:nvSpPr>
        <p:spPr>
          <a:xfrm>
            <a:off x="1737360" y="2532888"/>
            <a:ext cx="1645920" cy="411480"/>
          </a:xfrm>
          <a:prstGeom prst="rect">
            <a:avLst/>
          </a:prstGeom>
          <a:noFill/>
          <a:ln/>
        </p:spPr>
        <p:txBody>
          <a:bodyPr wrap="square" lIns="0" tIns="0" rIns="0" bIns="0" rtlCol="0" anchor="t"/>
          <a:lstStyle/>
          <a:p>
            <a:pPr indent="0" marL="0">
              <a:buNone/>
            </a:pPr>
            <a:r>
              <a:rPr lang="en-US" sz="1800" b="1" i="1" dirty="0">
                <a:solidFill>
                  <a:srgbClr val="A83232"/>
                </a:solidFill>
                <a:latin typeface="Cambria" pitchFamily="34" charset="0"/>
                <a:ea typeface="Cambria" pitchFamily="34" charset="-122"/>
                <a:cs typeface="Cambria" pitchFamily="34" charset="-120"/>
              </a:rPr>
              <a:t>Vindaloo</a:t>
            </a:r>
            <a:endParaRPr lang="en-US" sz="1800" dirty="0"/>
          </a:p>
        </p:txBody>
      </p:sp>
      <p:sp>
        <p:nvSpPr>
          <p:cNvPr id="10" name="Text 6"/>
          <p:cNvSpPr txBox="1"/>
          <p:nvPr/>
        </p:nvSpPr>
        <p:spPr>
          <a:xfrm>
            <a:off x="1737360" y="2944368"/>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INDE</a:t>
            </a:r>
            <a:endParaRPr lang="en-US" sz="900" dirty="0"/>
          </a:p>
        </p:txBody>
      </p:sp>
      <p:sp>
        <p:nvSpPr>
          <p:cNvPr id="11" name="Text 7"/>
          <p:cNvSpPr txBox="1"/>
          <p:nvPr/>
        </p:nvSpPr>
        <p:spPr>
          <a:xfrm>
            <a:off x="3429000" y="2532888"/>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Ce curry de Goa tire son nom de la « carne de vinha d'alhos », une viande marinée au vin et à l'ail apportée par les Portugais.</a:t>
            </a:r>
            <a:endParaRPr lang="en-US" sz="1150" dirty="0"/>
          </a:p>
        </p:txBody>
      </p:sp>
      <p:pic>
        <p:nvPicPr>
          <p:cNvPr id="12" name="Image 2" descr="/home/user/Portugal-Website/images/photos/x-piri.jpg">    </p:cNvPr>
          <p:cNvPicPr>
            <a:picLocks noChangeAspect="1"/>
          </p:cNvPicPr>
          <p:nvPr/>
        </p:nvPicPr>
        <p:blipFill>
          <a:blip r:embed="rId3"/>
          <a:srcRect l="0" r="0" t="0" b="0"/>
          <a:stretch/>
        </p:blipFill>
        <p:spPr>
          <a:xfrm>
            <a:off x="548640" y="3465576"/>
            <a:ext cx="1051560" cy="822960"/>
          </a:xfrm>
          <a:prstGeom prst="rect">
            <a:avLst/>
          </a:prstGeom>
        </p:spPr>
      </p:pic>
      <p:sp>
        <p:nvSpPr>
          <p:cNvPr id="13" name="Text 8"/>
          <p:cNvSpPr txBox="1"/>
          <p:nvPr/>
        </p:nvSpPr>
        <p:spPr>
          <a:xfrm>
            <a:off x="1737360" y="3465576"/>
            <a:ext cx="1645920" cy="411480"/>
          </a:xfrm>
          <a:prstGeom prst="rect">
            <a:avLst/>
          </a:prstGeom>
          <a:noFill/>
          <a:ln/>
        </p:spPr>
        <p:txBody>
          <a:bodyPr wrap="square" lIns="0" tIns="0" rIns="0" bIns="0" rtlCol="0" anchor="t"/>
          <a:lstStyle/>
          <a:p>
            <a:pPr indent="0" marL="0">
              <a:buNone/>
            </a:pPr>
            <a:r>
              <a:rPr lang="en-US" sz="1800" b="1" i="1" dirty="0">
                <a:solidFill>
                  <a:srgbClr val="1E4F8F"/>
                </a:solidFill>
                <a:latin typeface="Cambria" pitchFamily="34" charset="0"/>
                <a:ea typeface="Cambria" pitchFamily="34" charset="-122"/>
                <a:cs typeface="Cambria" pitchFamily="34" charset="-120"/>
              </a:rPr>
              <a:t>Piri-piri</a:t>
            </a:r>
            <a:endParaRPr lang="en-US" sz="1800" dirty="0"/>
          </a:p>
        </p:txBody>
      </p:sp>
      <p:sp>
        <p:nvSpPr>
          <p:cNvPr id="14" name="Text 9"/>
          <p:cNvSpPr txBox="1"/>
          <p:nvPr/>
        </p:nvSpPr>
        <p:spPr>
          <a:xfrm>
            <a:off x="1737360" y="3877056"/>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ASIE &amp; AFRIQUE</a:t>
            </a:r>
            <a:endParaRPr lang="en-US" sz="900" dirty="0"/>
          </a:p>
        </p:txBody>
      </p:sp>
      <p:sp>
        <p:nvSpPr>
          <p:cNvPr id="15" name="Text 10"/>
          <p:cNvSpPr txBox="1"/>
          <p:nvPr/>
        </p:nvSpPr>
        <p:spPr>
          <a:xfrm>
            <a:off x="3429000" y="3465576"/>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Les navigateurs portugais ont diffusé le piment venu d'Amérique, jusqu'en Inde et en Thaïlande.</a:t>
            </a:r>
            <a:endParaRPr lang="en-US" sz="1150" dirty="0"/>
          </a:p>
        </p:txBody>
      </p:sp>
      <p:pic>
        <p:nvPicPr>
          <p:cNvPr id="16" name="Image 3" descr="/home/user/Portugal-Website/images/photos/x-kasutera.jpg">    </p:cNvPr>
          <p:cNvPicPr>
            <a:picLocks noChangeAspect="1"/>
          </p:cNvPicPr>
          <p:nvPr/>
        </p:nvPicPr>
        <p:blipFill>
          <a:blip r:embed="rId4"/>
          <a:srcRect l="0" r="0" t="0" b="0"/>
          <a:stretch/>
        </p:blipFill>
        <p:spPr>
          <a:xfrm>
            <a:off x="548640" y="4398264"/>
            <a:ext cx="1051560" cy="822960"/>
          </a:xfrm>
          <a:prstGeom prst="rect">
            <a:avLst/>
          </a:prstGeom>
        </p:spPr>
      </p:pic>
      <p:sp>
        <p:nvSpPr>
          <p:cNvPr id="17" name="Text 11"/>
          <p:cNvSpPr txBox="1"/>
          <p:nvPr/>
        </p:nvSpPr>
        <p:spPr>
          <a:xfrm>
            <a:off x="1737360" y="4398264"/>
            <a:ext cx="1645920" cy="411480"/>
          </a:xfrm>
          <a:prstGeom prst="rect">
            <a:avLst/>
          </a:prstGeom>
          <a:noFill/>
          <a:ln/>
        </p:spPr>
        <p:txBody>
          <a:bodyPr wrap="square" lIns="0" tIns="0" rIns="0" bIns="0" rtlCol="0" anchor="t"/>
          <a:lstStyle/>
          <a:p>
            <a:pPr indent="0" marL="0">
              <a:buNone/>
            </a:pPr>
            <a:r>
              <a:rPr lang="en-US" sz="1800" b="1" i="1" dirty="0">
                <a:solidFill>
                  <a:srgbClr val="B8955A"/>
                </a:solidFill>
                <a:latin typeface="Cambria" pitchFamily="34" charset="0"/>
                <a:ea typeface="Cambria" pitchFamily="34" charset="-122"/>
                <a:cs typeface="Cambria" pitchFamily="34" charset="-120"/>
              </a:rPr>
              <a:t>Kasutera</a:t>
            </a:r>
            <a:endParaRPr lang="en-US" sz="1800" dirty="0"/>
          </a:p>
        </p:txBody>
      </p:sp>
      <p:sp>
        <p:nvSpPr>
          <p:cNvPr id="18" name="Text 12"/>
          <p:cNvSpPr txBox="1"/>
          <p:nvPr/>
        </p:nvSpPr>
        <p:spPr>
          <a:xfrm>
            <a:off x="1737360" y="4809744"/>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JAPON</a:t>
            </a:r>
            <a:endParaRPr lang="en-US" sz="900" dirty="0"/>
          </a:p>
        </p:txBody>
      </p:sp>
      <p:sp>
        <p:nvSpPr>
          <p:cNvPr id="19" name="Text 13"/>
          <p:cNvSpPr txBox="1"/>
          <p:nvPr/>
        </p:nvSpPr>
        <p:spPr>
          <a:xfrm>
            <a:off x="3429000" y="4398264"/>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Ce gâteau japonais vient du « pão de Castela », le gâteau de Castille apporté par les Portugais à Nagasaki.</a:t>
            </a:r>
            <a:endParaRPr lang="en-US" sz="1150" dirty="0"/>
          </a:p>
        </p:txBody>
      </p:sp>
      <p:pic>
        <p:nvPicPr>
          <p:cNvPr id="20" name="Image 4" descr="/home/user/Portugal-Website/images/photos/x-marmelada.jpg">    </p:cNvPr>
          <p:cNvPicPr>
            <a:picLocks noChangeAspect="1"/>
          </p:cNvPicPr>
          <p:nvPr/>
        </p:nvPicPr>
        <p:blipFill>
          <a:blip r:embed="rId5"/>
          <a:srcRect l="0" r="0" t="0" b="0"/>
          <a:stretch/>
        </p:blipFill>
        <p:spPr>
          <a:xfrm>
            <a:off x="548640" y="5330952"/>
            <a:ext cx="1051560" cy="822960"/>
          </a:xfrm>
          <a:prstGeom prst="rect">
            <a:avLst/>
          </a:prstGeom>
        </p:spPr>
      </p:pic>
      <p:sp>
        <p:nvSpPr>
          <p:cNvPr id="21" name="Text 14"/>
          <p:cNvSpPr txBox="1"/>
          <p:nvPr/>
        </p:nvSpPr>
        <p:spPr>
          <a:xfrm>
            <a:off x="1737360" y="5330952"/>
            <a:ext cx="1645920" cy="411480"/>
          </a:xfrm>
          <a:prstGeom prst="rect">
            <a:avLst/>
          </a:prstGeom>
          <a:noFill/>
          <a:ln/>
        </p:spPr>
        <p:txBody>
          <a:bodyPr wrap="square" lIns="0" tIns="0" rIns="0" bIns="0" rtlCol="0" anchor="t"/>
          <a:lstStyle/>
          <a:p>
            <a:pPr indent="0" marL="0">
              <a:buNone/>
            </a:pPr>
            <a:r>
              <a:rPr lang="en-US" sz="1800" b="1" i="1" dirty="0">
                <a:solidFill>
                  <a:srgbClr val="174A3A"/>
                </a:solidFill>
                <a:latin typeface="Cambria" pitchFamily="34" charset="0"/>
                <a:ea typeface="Cambria" pitchFamily="34" charset="-122"/>
                <a:cs typeface="Cambria" pitchFamily="34" charset="-120"/>
              </a:rPr>
              <a:t>Marmelada</a:t>
            </a:r>
            <a:endParaRPr lang="en-US" sz="1800" dirty="0"/>
          </a:p>
        </p:txBody>
      </p:sp>
      <p:sp>
        <p:nvSpPr>
          <p:cNvPr id="22" name="Text 15"/>
          <p:cNvSpPr txBox="1"/>
          <p:nvPr/>
        </p:nvSpPr>
        <p:spPr>
          <a:xfrm>
            <a:off x="1737360" y="5742432"/>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EUROPE</a:t>
            </a:r>
            <a:endParaRPr lang="en-US" sz="900" dirty="0"/>
          </a:p>
        </p:txBody>
      </p:sp>
      <p:sp>
        <p:nvSpPr>
          <p:cNvPr id="23" name="Text 16"/>
          <p:cNvSpPr txBox="1"/>
          <p:nvPr/>
        </p:nvSpPr>
        <p:spPr>
          <a:xfrm>
            <a:off x="3429000" y="5330952"/>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Le mot « marmelade » vient du portugais « marmelada », une pâte de coings.</a:t>
            </a:r>
            <a:endParaRPr lang="en-US" sz="1150" dirty="0"/>
          </a:p>
        </p:txBody>
      </p:sp>
      <p:sp>
        <p:nvSpPr>
          <p:cNvPr id="24" name="Shape 17"/>
          <p:cNvSpPr/>
          <p:nvPr/>
        </p:nvSpPr>
        <p:spPr>
          <a:xfrm>
            <a:off x="7680960" y="548640"/>
            <a:ext cx="3959352" cy="5669280"/>
          </a:xfrm>
          <a:prstGeom prst="roundRect">
            <a:avLst>
              <a:gd name="adj" fmla="val 1848"/>
            </a:avLst>
          </a:prstGeom>
          <a:solidFill>
            <a:srgbClr val="5E2230"/>
          </a:solidFill>
          <a:ln w="12700">
            <a:solidFill>
              <a:srgbClr val="5E2230"/>
            </a:solidFill>
            <a:prstDash val="solid"/>
          </a:ln>
          <a:effectLst>
            <a:outerShdw sx="100000" sy="100000" kx="0" ky="0" algn="bl" rotWithShape="0" blurRad="101600" dist="38100" dir="5400000">
              <a:srgbClr val="000000">
                <a:alpha val="18000"/>
              </a:srgbClr>
            </a:outerShdw>
          </a:effectLst>
        </p:spPr>
      </p:sp>
      <p:sp>
        <p:nvSpPr>
          <p:cNvPr id="25" name="Text 18"/>
          <p:cNvSpPr txBox="1"/>
          <p:nvPr/>
        </p:nvSpPr>
        <p:spPr>
          <a:xfrm>
            <a:off x="7955280" y="777240"/>
            <a:ext cx="3474720" cy="27432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LES VINS</a:t>
            </a:r>
            <a:endParaRPr lang="en-US" sz="1200" dirty="0"/>
          </a:p>
        </p:txBody>
      </p:sp>
      <p:pic>
        <p:nvPicPr>
          <p:cNvPr id="26" name="Image 5" descr="/home/user/Portugal-Website/images/photos/x-porto-wine.jpg">    </p:cNvPr>
          <p:cNvPicPr>
            <a:picLocks noChangeAspect="1"/>
          </p:cNvPicPr>
          <p:nvPr/>
        </p:nvPicPr>
        <p:blipFill>
          <a:blip r:embed="rId6"/>
          <a:srcRect l="0" r="0" t="0" b="0"/>
          <a:stretch/>
        </p:blipFill>
        <p:spPr>
          <a:xfrm>
            <a:off x="7955280" y="1234440"/>
            <a:ext cx="1188720" cy="1371600"/>
          </a:xfrm>
          <a:prstGeom prst="rect">
            <a:avLst/>
          </a:prstGeom>
        </p:spPr>
      </p:pic>
      <p:sp>
        <p:nvSpPr>
          <p:cNvPr id="27" name="Text 19"/>
          <p:cNvSpPr txBox="1"/>
          <p:nvPr/>
        </p:nvSpPr>
        <p:spPr>
          <a:xfrm>
            <a:off x="9281160" y="1188720"/>
            <a:ext cx="2286000" cy="457200"/>
          </a:xfrm>
          <a:prstGeom prst="rect">
            <a:avLst/>
          </a:prstGeom>
          <a:noFill/>
          <a:ln/>
        </p:spPr>
        <p:txBody>
          <a:bodyPr wrap="square" lIns="0" tIns="0" rIns="0" bIns="0" rtlCol="0" anchor="t"/>
          <a:lstStyle/>
          <a:p>
            <a:pPr indent="0" marL="0">
              <a:buNone/>
            </a:pPr>
            <a:r>
              <a:rPr lang="en-US" sz="1900" b="1" i="1" dirty="0">
                <a:solidFill>
                  <a:srgbClr val="FFFFFF"/>
                </a:solidFill>
                <a:latin typeface="Cambria" pitchFamily="34" charset="0"/>
                <a:ea typeface="Cambria" pitchFamily="34" charset="-122"/>
                <a:cs typeface="Cambria" pitchFamily="34" charset="-120"/>
              </a:rPr>
              <a:t>Vinho do Porto</a:t>
            </a:r>
            <a:endParaRPr lang="en-US" sz="1900" dirty="0"/>
          </a:p>
        </p:txBody>
      </p:sp>
      <p:sp>
        <p:nvSpPr>
          <p:cNvPr id="28" name="Text 20"/>
          <p:cNvSpPr txBox="1"/>
          <p:nvPr/>
        </p:nvSpPr>
        <p:spPr>
          <a:xfrm>
            <a:off x="9281160" y="1645920"/>
            <a:ext cx="2240280" cy="1051560"/>
          </a:xfrm>
          <a:prstGeom prst="rect">
            <a:avLst/>
          </a:prstGeom>
          <a:noFill/>
          <a:ln/>
        </p:spPr>
        <p:txBody>
          <a:bodyPr wrap="square" lIns="0" tIns="0" rIns="0" bIns="0" rtlCol="0" anchor="t">
            <a:normAutofit/>
          </a:bodyPr>
          <a:lstStyle/>
          <a:p>
            <a:pPr indent="0" marL="0">
              <a:buNone/>
            </a:pPr>
            <a:r>
              <a:rPr lang="en-US" sz="1100" dirty="0">
                <a:solidFill>
                  <a:srgbClr val="F1E4E7"/>
                </a:solidFill>
                <a:latin typeface="Calibri" pitchFamily="34" charset="0"/>
                <a:ea typeface="Calibri" pitchFamily="34" charset="-122"/>
                <a:cs typeface="Calibri" pitchFamily="34" charset="-120"/>
              </a:rPr>
              <a:t>Vin doux de la vallée du Douro, l'une des plus anciennes régions viticoles délimitées au monde (1756).</a:t>
            </a:r>
            <a:endParaRPr lang="en-US" sz="1100" dirty="0"/>
          </a:p>
        </p:txBody>
      </p:sp>
      <p:pic>
        <p:nvPicPr>
          <p:cNvPr id="29" name="Image 6" descr="/home/user/Portugal-Website/images/photos/x-vverde.jpg">    </p:cNvPr>
          <p:cNvPicPr>
            <a:picLocks noChangeAspect="1"/>
          </p:cNvPicPr>
          <p:nvPr/>
        </p:nvPicPr>
        <p:blipFill>
          <a:blip r:embed="rId7"/>
          <a:srcRect l="0" r="0" t="0" b="0"/>
          <a:stretch/>
        </p:blipFill>
        <p:spPr>
          <a:xfrm>
            <a:off x="7955280" y="2880360"/>
            <a:ext cx="1188720" cy="1371600"/>
          </a:xfrm>
          <a:prstGeom prst="rect">
            <a:avLst/>
          </a:prstGeom>
        </p:spPr>
      </p:pic>
      <p:sp>
        <p:nvSpPr>
          <p:cNvPr id="30" name="Text 21"/>
          <p:cNvSpPr txBox="1"/>
          <p:nvPr/>
        </p:nvSpPr>
        <p:spPr>
          <a:xfrm>
            <a:off x="9281160" y="2834640"/>
            <a:ext cx="2286000" cy="457200"/>
          </a:xfrm>
          <a:prstGeom prst="rect">
            <a:avLst/>
          </a:prstGeom>
          <a:noFill/>
          <a:ln/>
        </p:spPr>
        <p:txBody>
          <a:bodyPr wrap="square" lIns="0" tIns="0" rIns="0" bIns="0" rtlCol="0" anchor="t"/>
          <a:lstStyle/>
          <a:p>
            <a:pPr indent="0" marL="0">
              <a:buNone/>
            </a:pPr>
            <a:r>
              <a:rPr lang="en-US" sz="1900" b="1" i="1" dirty="0">
                <a:solidFill>
                  <a:srgbClr val="FFFFFF"/>
                </a:solidFill>
                <a:latin typeface="Cambria" pitchFamily="34" charset="0"/>
                <a:ea typeface="Cambria" pitchFamily="34" charset="-122"/>
                <a:cs typeface="Cambria" pitchFamily="34" charset="-120"/>
              </a:rPr>
              <a:t>Vinho verde</a:t>
            </a:r>
            <a:endParaRPr lang="en-US" sz="1900" dirty="0"/>
          </a:p>
        </p:txBody>
      </p:sp>
      <p:sp>
        <p:nvSpPr>
          <p:cNvPr id="31" name="Text 22"/>
          <p:cNvSpPr txBox="1"/>
          <p:nvPr/>
        </p:nvSpPr>
        <p:spPr>
          <a:xfrm>
            <a:off x="9281160" y="3291840"/>
            <a:ext cx="2240280" cy="1051560"/>
          </a:xfrm>
          <a:prstGeom prst="rect">
            <a:avLst/>
          </a:prstGeom>
          <a:noFill/>
          <a:ln/>
        </p:spPr>
        <p:txBody>
          <a:bodyPr wrap="square" lIns="0" tIns="0" rIns="0" bIns="0" rtlCol="0" anchor="t">
            <a:normAutofit/>
          </a:bodyPr>
          <a:lstStyle/>
          <a:p>
            <a:pPr indent="0" marL="0">
              <a:buNone/>
            </a:pPr>
            <a:r>
              <a:rPr lang="en-US" sz="1100" dirty="0">
                <a:solidFill>
                  <a:srgbClr val="F1E4E7"/>
                </a:solidFill>
                <a:latin typeface="Calibri" pitchFamily="34" charset="0"/>
                <a:ea typeface="Calibri" pitchFamily="34" charset="-122"/>
                <a:cs typeface="Calibri" pitchFamily="34" charset="-120"/>
              </a:rPr>
              <a:t>Vin jeune et frais du Minho, au nord du pays.</a:t>
            </a:r>
            <a:endParaRPr lang="en-US" sz="1100" dirty="0"/>
          </a:p>
        </p:txBody>
      </p:sp>
      <p:pic>
        <p:nvPicPr>
          <p:cNvPr id="32" name="Image 7" descr="/home/user/Portugal-Website/images/photos/x-dao.jpg">    </p:cNvPr>
          <p:cNvPicPr>
            <a:picLocks noChangeAspect="1"/>
          </p:cNvPicPr>
          <p:nvPr/>
        </p:nvPicPr>
        <p:blipFill>
          <a:blip r:embed="rId8"/>
          <a:srcRect l="0" r="0" t="0" b="0"/>
          <a:stretch/>
        </p:blipFill>
        <p:spPr>
          <a:xfrm>
            <a:off x="7955280" y="4526280"/>
            <a:ext cx="1188720" cy="1371600"/>
          </a:xfrm>
          <a:prstGeom prst="rect">
            <a:avLst/>
          </a:prstGeom>
        </p:spPr>
      </p:pic>
      <p:sp>
        <p:nvSpPr>
          <p:cNvPr id="33" name="Text 23"/>
          <p:cNvSpPr txBox="1"/>
          <p:nvPr/>
        </p:nvSpPr>
        <p:spPr>
          <a:xfrm>
            <a:off x="9281160" y="4480560"/>
            <a:ext cx="2286000" cy="457200"/>
          </a:xfrm>
          <a:prstGeom prst="rect">
            <a:avLst/>
          </a:prstGeom>
          <a:noFill/>
          <a:ln/>
        </p:spPr>
        <p:txBody>
          <a:bodyPr wrap="square" lIns="0" tIns="0" rIns="0" bIns="0" rtlCol="0" anchor="t"/>
          <a:lstStyle/>
          <a:p>
            <a:pPr indent="0" marL="0">
              <a:buNone/>
            </a:pPr>
            <a:r>
              <a:rPr lang="en-US" sz="1900" b="1" i="1" dirty="0">
                <a:solidFill>
                  <a:srgbClr val="FFFFFF"/>
                </a:solidFill>
                <a:latin typeface="Cambria" pitchFamily="34" charset="0"/>
                <a:ea typeface="Cambria" pitchFamily="34" charset="-122"/>
                <a:cs typeface="Cambria" pitchFamily="34" charset="-120"/>
              </a:rPr>
              <a:t>Dão</a:t>
            </a:r>
            <a:endParaRPr lang="en-US" sz="1900" dirty="0"/>
          </a:p>
        </p:txBody>
      </p:sp>
      <p:sp>
        <p:nvSpPr>
          <p:cNvPr id="34" name="Text 24"/>
          <p:cNvSpPr txBox="1"/>
          <p:nvPr/>
        </p:nvSpPr>
        <p:spPr>
          <a:xfrm>
            <a:off x="9281160" y="4937760"/>
            <a:ext cx="2240280" cy="1051560"/>
          </a:xfrm>
          <a:prstGeom prst="rect">
            <a:avLst/>
          </a:prstGeom>
          <a:noFill/>
          <a:ln/>
        </p:spPr>
        <p:txBody>
          <a:bodyPr wrap="square" lIns="0" tIns="0" rIns="0" bIns="0" rtlCol="0" anchor="t">
            <a:normAutofit/>
          </a:bodyPr>
          <a:lstStyle/>
          <a:p>
            <a:pPr indent="0" marL="0">
              <a:buNone/>
            </a:pPr>
            <a:r>
              <a:rPr lang="en-US" sz="1100" dirty="0">
                <a:solidFill>
                  <a:srgbClr val="F1E4E7"/>
                </a:solidFill>
                <a:latin typeface="Calibri" pitchFamily="34" charset="0"/>
                <a:ea typeface="Calibri" pitchFamily="34" charset="-122"/>
                <a:cs typeface="Calibri" pitchFamily="34" charset="-120"/>
              </a:rPr>
              <a:t>Les vins rouges de la région de Viseu, ma région d'origine.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FÊTES &amp; TRADITIONS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Juin, le mois de la fête</a:t>
            </a:r>
            <a:endParaRPr lang="en-US" sz="3400" dirty="0"/>
          </a:p>
        </p:txBody>
      </p:sp>
      <p:pic>
        <p:nvPicPr>
          <p:cNvPr id="4" name="Image 0" descr="/home/user/Portugal-Website/images/photos/c-diaportugal.jpg">    </p:cNvPr>
          <p:cNvPicPr>
            <a:picLocks noChangeAspect="1"/>
          </p:cNvPicPr>
          <p:nvPr/>
        </p:nvPicPr>
        <p:blipFill>
          <a:blip r:embed="rId1"/>
          <a:srcRect l="0" r="0" t="0" b="0"/>
          <a:stretch/>
        </p:blipFill>
        <p:spPr>
          <a:xfrm>
            <a:off x="548640" y="1600200"/>
            <a:ext cx="3566160" cy="2468880"/>
          </a:xfrm>
          <a:prstGeom prst="rect">
            <a:avLst/>
          </a:prstGeom>
        </p:spPr>
      </p:pic>
      <p:sp>
        <p:nvSpPr>
          <p:cNvPr id="5" name="Text 2"/>
          <p:cNvSpPr txBox="1"/>
          <p:nvPr/>
        </p:nvSpPr>
        <p:spPr>
          <a:xfrm>
            <a:off x="54864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10 juin</a:t>
            </a:r>
            <a:endParaRPr lang="en-US" sz="2800" dirty="0"/>
          </a:p>
        </p:txBody>
      </p:sp>
      <p:sp>
        <p:nvSpPr>
          <p:cNvPr id="6" name="Text 3"/>
          <p:cNvSpPr txBox="1"/>
          <p:nvPr/>
        </p:nvSpPr>
        <p:spPr>
          <a:xfrm>
            <a:off x="54864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DIA DE PORTUGAL</a:t>
            </a:r>
            <a:endParaRPr lang="en-US" sz="1200" dirty="0"/>
          </a:p>
        </p:txBody>
      </p:sp>
      <p:sp>
        <p:nvSpPr>
          <p:cNvPr id="7" name="Text 4"/>
          <p:cNvSpPr txBox="1"/>
          <p:nvPr/>
        </p:nvSpPr>
        <p:spPr>
          <a:xfrm>
            <a:off x="54864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Fête nationale, en l'honneur de Camões et des communautés portugaises dans le monde.</a:t>
            </a:r>
            <a:endParaRPr lang="en-US" sz="1400" dirty="0"/>
          </a:p>
        </p:txBody>
      </p:sp>
      <p:pic>
        <p:nvPicPr>
          <p:cNvPr id="8" name="Image 1" descr="/home/user/Portugal-Website/images/photos/c-santoantonio.jpg">    </p:cNvPr>
          <p:cNvPicPr>
            <a:picLocks noChangeAspect="1"/>
          </p:cNvPicPr>
          <p:nvPr/>
        </p:nvPicPr>
        <p:blipFill>
          <a:blip r:embed="rId2"/>
          <a:srcRect l="0" r="0" t="0" b="0"/>
          <a:stretch/>
        </p:blipFill>
        <p:spPr>
          <a:xfrm>
            <a:off x="4297680" y="1600200"/>
            <a:ext cx="3566160" cy="2468880"/>
          </a:xfrm>
          <a:prstGeom prst="rect">
            <a:avLst/>
          </a:prstGeom>
        </p:spPr>
      </p:pic>
      <p:sp>
        <p:nvSpPr>
          <p:cNvPr id="9" name="Text 5"/>
          <p:cNvSpPr txBox="1"/>
          <p:nvPr/>
        </p:nvSpPr>
        <p:spPr>
          <a:xfrm>
            <a:off x="429768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13 juin</a:t>
            </a:r>
            <a:endParaRPr lang="en-US" sz="2800" dirty="0"/>
          </a:p>
        </p:txBody>
      </p:sp>
      <p:sp>
        <p:nvSpPr>
          <p:cNvPr id="10" name="Text 6"/>
          <p:cNvSpPr txBox="1"/>
          <p:nvPr/>
        </p:nvSpPr>
        <p:spPr>
          <a:xfrm>
            <a:off x="429768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SANTO ANTÓNIO</a:t>
            </a:r>
            <a:endParaRPr lang="en-US" sz="1200" dirty="0"/>
          </a:p>
        </p:txBody>
      </p:sp>
      <p:sp>
        <p:nvSpPr>
          <p:cNvPr id="11" name="Text 7"/>
          <p:cNvSpPr txBox="1"/>
          <p:nvPr/>
        </p:nvSpPr>
        <p:spPr>
          <a:xfrm>
            <a:off x="429768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Lisbonne fête saint Antoine : sardines grillées, musique et marches populaires dans les quartiers.</a:t>
            </a:r>
            <a:endParaRPr lang="en-US" sz="1400" dirty="0"/>
          </a:p>
        </p:txBody>
      </p:sp>
      <p:pic>
        <p:nvPicPr>
          <p:cNvPr id="12" name="Image 2" descr="/home/user/Portugal-Website/images/photos/c-saojoao.jpg">    </p:cNvPr>
          <p:cNvPicPr>
            <a:picLocks noChangeAspect="1"/>
          </p:cNvPicPr>
          <p:nvPr/>
        </p:nvPicPr>
        <p:blipFill>
          <a:blip r:embed="rId3"/>
          <a:srcRect l="0" r="0" t="0" b="0"/>
          <a:stretch/>
        </p:blipFill>
        <p:spPr>
          <a:xfrm>
            <a:off x="8046720" y="1600200"/>
            <a:ext cx="3566160" cy="2468880"/>
          </a:xfrm>
          <a:prstGeom prst="rect">
            <a:avLst/>
          </a:prstGeom>
        </p:spPr>
      </p:pic>
      <p:sp>
        <p:nvSpPr>
          <p:cNvPr id="13" name="Text 8"/>
          <p:cNvSpPr txBox="1"/>
          <p:nvPr/>
        </p:nvSpPr>
        <p:spPr>
          <a:xfrm>
            <a:off x="804672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23–24 juin</a:t>
            </a:r>
            <a:endParaRPr lang="en-US" sz="2800" dirty="0"/>
          </a:p>
        </p:txBody>
      </p:sp>
      <p:sp>
        <p:nvSpPr>
          <p:cNvPr id="14" name="Text 9"/>
          <p:cNvSpPr txBox="1"/>
          <p:nvPr/>
        </p:nvSpPr>
        <p:spPr>
          <a:xfrm>
            <a:off x="804672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SÃO JOÃO</a:t>
            </a:r>
            <a:endParaRPr lang="en-US" sz="1200" dirty="0"/>
          </a:p>
        </p:txBody>
      </p:sp>
      <p:sp>
        <p:nvSpPr>
          <p:cNvPr id="15" name="Text 10"/>
          <p:cNvSpPr txBox="1"/>
          <p:nvPr/>
        </p:nvSpPr>
        <p:spPr>
          <a:xfrm>
            <a:off x="804672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À Porto, toute la ville sort dans la rue, avec des petits marteaux en plastique et des feux d'artifice.</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Image 0" descr="/home/user/Portugal-Website/images/photos/hero-spor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05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Sport</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Une passion nationale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Le football fait vibrer tout le pays, mais le Portugal brille aussi sur les vagues, sur roulettes et sur la piste.</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Image 0" descr="/home/user/Portugal-Website/images/photos/s-ronaldo.jpg">    </p:cNvPr>
          <p:cNvPicPr>
            <a:picLocks noChangeAspect="1"/>
          </p:cNvPicPr>
          <p:nvPr/>
        </p:nvPicPr>
        <p:blipFill>
          <a:blip r:embed="rId1"/>
          <a:srcRect l="0" r="0" t="0" b="0"/>
          <a:stretch/>
        </p:blipFill>
        <p:spPr>
          <a:xfrm>
            <a:off x="0" y="0"/>
            <a:ext cx="4206240" cy="6858000"/>
          </a:xfrm>
          <a:prstGeom prst="rect">
            <a:avLst/>
          </a:prstGeom>
        </p:spPr>
      </p:pic>
      <p:sp>
        <p:nvSpPr>
          <p:cNvPr id="3" name="Text 0"/>
          <p:cNvSpPr txBox="1"/>
          <p:nvPr/>
        </p:nvSpPr>
        <p:spPr>
          <a:xfrm>
            <a:off x="4663440" y="411480"/>
            <a:ext cx="6400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 FOOTBALL</a:t>
            </a:r>
            <a:endParaRPr lang="en-US" sz="1200" dirty="0"/>
          </a:p>
        </p:txBody>
      </p:sp>
      <p:sp>
        <p:nvSpPr>
          <p:cNvPr id="4" name="Text 1"/>
          <p:cNvSpPr txBox="1"/>
          <p:nvPr/>
        </p:nvSpPr>
        <p:spPr>
          <a:xfrm>
            <a:off x="4663440" y="685800"/>
            <a:ext cx="694944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roi des sports</a:t>
            </a:r>
            <a:endParaRPr lang="en-US" sz="3400" dirty="0"/>
          </a:p>
        </p:txBody>
      </p:sp>
      <p:sp>
        <p:nvSpPr>
          <p:cNvPr id="5" name="Shape 2"/>
          <p:cNvSpPr/>
          <p:nvPr/>
        </p:nvSpPr>
        <p:spPr>
          <a:xfrm>
            <a:off x="4663440" y="1554480"/>
            <a:ext cx="6976872" cy="2148840"/>
          </a:xfrm>
          <a:prstGeom prst="roundRect">
            <a:avLst>
              <a:gd name="adj" fmla="val 3404"/>
            </a:avLst>
          </a:prstGeom>
          <a:solidFill>
            <a:srgbClr val="174A3A"/>
          </a:solidFill>
          <a:ln w="12700">
            <a:solidFill>
              <a:srgbClr val="174A3A"/>
            </a:solidFill>
            <a:prstDash val="solid"/>
          </a:ln>
          <a:effectLst>
            <a:outerShdw sx="100000" sy="100000" kx="0" ky="0" algn="bl" rotWithShape="0" blurRad="101600" dist="38100" dir="5400000">
              <a:srgbClr val="000000">
                <a:alpha val="18000"/>
              </a:srgbClr>
            </a:outerShdw>
          </a:effectLst>
        </p:spPr>
      </p:sp>
      <p:sp>
        <p:nvSpPr>
          <p:cNvPr id="6" name="Text 3"/>
          <p:cNvSpPr txBox="1"/>
          <p:nvPr/>
        </p:nvSpPr>
        <p:spPr>
          <a:xfrm>
            <a:off x="4937760" y="1737360"/>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2016</a:t>
            </a:r>
            <a:endParaRPr lang="en-US" sz="2600" dirty="0"/>
          </a:p>
        </p:txBody>
      </p:sp>
      <p:sp>
        <p:nvSpPr>
          <p:cNvPr id="7" name="Text 4"/>
          <p:cNvSpPr txBox="1"/>
          <p:nvPr/>
        </p:nvSpPr>
        <p:spPr>
          <a:xfrm>
            <a:off x="6126480" y="1783080"/>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Champion d'Europe — finale 1-0 contre la France, à Saint-Denis</a:t>
            </a:r>
            <a:endParaRPr lang="en-US" sz="1500" dirty="0"/>
          </a:p>
        </p:txBody>
      </p:sp>
      <p:sp>
        <p:nvSpPr>
          <p:cNvPr id="8" name="Text 5"/>
          <p:cNvSpPr txBox="1"/>
          <p:nvPr/>
        </p:nvSpPr>
        <p:spPr>
          <a:xfrm>
            <a:off x="4937760" y="2359152"/>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2019</a:t>
            </a:r>
            <a:endParaRPr lang="en-US" sz="2600" dirty="0"/>
          </a:p>
        </p:txBody>
      </p:sp>
      <p:sp>
        <p:nvSpPr>
          <p:cNvPr id="9" name="Text 6"/>
          <p:cNvSpPr txBox="1"/>
          <p:nvPr/>
        </p:nvSpPr>
        <p:spPr>
          <a:xfrm>
            <a:off x="6126480" y="2404872"/>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Vainqueur de la 1re Ligue des nations</a:t>
            </a:r>
            <a:endParaRPr lang="en-US" sz="1500" dirty="0"/>
          </a:p>
        </p:txBody>
      </p:sp>
      <p:sp>
        <p:nvSpPr>
          <p:cNvPr id="10" name="Text 7"/>
          <p:cNvSpPr txBox="1"/>
          <p:nvPr/>
        </p:nvSpPr>
        <p:spPr>
          <a:xfrm>
            <a:off x="4937760" y="2980944"/>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2025</a:t>
            </a:r>
            <a:endParaRPr lang="en-US" sz="2600" dirty="0"/>
          </a:p>
        </p:txBody>
      </p:sp>
      <p:sp>
        <p:nvSpPr>
          <p:cNvPr id="11" name="Text 8"/>
          <p:cNvSpPr txBox="1"/>
          <p:nvPr/>
        </p:nvSpPr>
        <p:spPr>
          <a:xfrm>
            <a:off x="6126480" y="3026664"/>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Vainqueur de la Ligue des nations, face à l'Espagne</a:t>
            </a:r>
            <a:endParaRPr lang="en-US" sz="1500" dirty="0"/>
          </a:p>
        </p:txBody>
      </p:sp>
      <p:sp>
        <p:nvSpPr>
          <p:cNvPr id="12" name="Text 9"/>
          <p:cNvSpPr txBox="1"/>
          <p:nvPr/>
        </p:nvSpPr>
        <p:spPr>
          <a:xfrm>
            <a:off x="4663440" y="3931920"/>
            <a:ext cx="6949440" cy="457200"/>
          </a:xfrm>
          <a:prstGeom prst="rect">
            <a:avLst/>
          </a:prstGeom>
          <a:noFill/>
          <a:ln/>
        </p:spPr>
        <p:txBody>
          <a:bodyPr wrap="square" lIns="0" tIns="0" rIns="0" bIns="0" rtlCol="0" anchor="t"/>
          <a:lstStyle/>
          <a:p>
            <a:pPr indent="0" marL="0">
              <a:buNone/>
            </a:pPr>
            <a:r>
              <a:rPr lang="en-US" sz="2200" b="1" dirty="0">
                <a:solidFill>
                  <a:srgbClr val="17211D"/>
                </a:solidFill>
                <a:latin typeface="Cambria" pitchFamily="34" charset="0"/>
                <a:ea typeface="Cambria" pitchFamily="34" charset="-122"/>
                <a:cs typeface="Cambria" pitchFamily="34" charset="-120"/>
              </a:rPr>
              <a:t>Cristiano Ronaldo</a:t>
            </a:r>
            <a:endParaRPr lang="en-US" sz="2200" dirty="0"/>
          </a:p>
        </p:txBody>
      </p:sp>
      <p:sp>
        <p:nvSpPr>
          <p:cNvPr id="13" name="Text 10"/>
          <p:cNvSpPr txBox="1"/>
          <p:nvPr/>
        </p:nvSpPr>
        <p:spPr>
          <a:xfrm>
            <a:off x="4663440" y="4389120"/>
            <a:ext cx="6949440" cy="6858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Né à Funchal (Madère) en 1985. Cinq Ballons d'or et meilleur buteur de l'histoire des sélections nationales.</a:t>
            </a:r>
            <a:endParaRPr lang="en-US" sz="1500" dirty="0"/>
          </a:p>
        </p:txBody>
      </p:sp>
      <p:sp>
        <p:nvSpPr>
          <p:cNvPr id="14" name="Text 11"/>
          <p:cNvSpPr txBox="1"/>
          <p:nvPr/>
        </p:nvSpPr>
        <p:spPr>
          <a:xfrm>
            <a:off x="4663440" y="5120640"/>
            <a:ext cx="6949440" cy="1097280"/>
          </a:xfrm>
          <a:prstGeom prst="rect">
            <a:avLst/>
          </a:prstGeom>
          <a:noFill/>
          <a:ln/>
        </p:spPr>
        <p:txBody>
          <a:bodyPr wrap="square" lIns="0" tIns="0" rIns="0" bIns="0" rtlCol="0" anchor="t"/>
          <a:lstStyle/>
          <a:p>
            <a:pPr indent="0" marL="0">
              <a:buNone/>
            </a:pPr>
            <a:r>
              <a:rPr lang="en-US" sz="1400" dirty="0">
                <a:solidFill>
                  <a:srgbClr val="4A524E"/>
                </a:solidFill>
                <a:latin typeface="Calibri" pitchFamily="34" charset="0"/>
                <a:ea typeface="Calibri" pitchFamily="34" charset="-122"/>
                <a:cs typeface="Calibri" pitchFamily="34" charset="-120"/>
              </a:rPr>
              <a:t>Eusébio, Luís Figo (Ballon d'or 2000) et l'entraîneur José Mourinho ont aussi marqué l'histoire du football. Benfica et Sporting (Lisbonne), FC Porto : trois clubs qui divisent les familles… dans la bonne humeur !</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AU-DELÀ DU FOOTBALL</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D'autres fiertés sportives</a:t>
            </a:r>
            <a:endParaRPr lang="en-US" sz="3400" dirty="0"/>
          </a:p>
        </p:txBody>
      </p:sp>
      <p:pic>
        <p:nvPicPr>
          <p:cNvPr id="4" name="Image 0" descr="/home/user/Portugal-Website/images/photos/hero-sport-card.jpg">    </p:cNvPr>
          <p:cNvPicPr>
            <a:picLocks noChangeAspect="1"/>
          </p:cNvPicPr>
          <p:nvPr/>
        </p:nvPicPr>
        <p:blipFill>
          <a:blip r:embed="rId1"/>
          <a:srcRect l="0" r="0" t="0" b="0"/>
          <a:stretch/>
        </p:blipFill>
        <p:spPr>
          <a:xfrm>
            <a:off x="548640" y="1600200"/>
            <a:ext cx="5486400" cy="3291840"/>
          </a:xfrm>
          <a:prstGeom prst="rect">
            <a:avLst/>
          </a:prstGeom>
        </p:spPr>
      </p:pic>
      <p:sp>
        <p:nvSpPr>
          <p:cNvPr id="5" name="Text 2"/>
          <p:cNvSpPr txBox="1"/>
          <p:nvPr/>
        </p:nvSpPr>
        <p:spPr>
          <a:xfrm>
            <a:off x="548640" y="5029200"/>
            <a:ext cx="5486400" cy="411480"/>
          </a:xfrm>
          <a:prstGeom prst="rect">
            <a:avLst/>
          </a:prstGeom>
          <a:noFill/>
          <a:ln/>
        </p:spPr>
        <p:txBody>
          <a:bodyPr wrap="square" lIns="0" tIns="0" rIns="0" bIns="0" rtlCol="0" anchor="t"/>
          <a:lstStyle/>
          <a:p>
            <a:pPr indent="0" marL="0">
              <a:buNone/>
            </a:pPr>
            <a:r>
              <a:rPr lang="en-US" sz="2000" b="1" dirty="0">
                <a:solidFill>
                  <a:srgbClr val="1E4F8F"/>
                </a:solidFill>
                <a:latin typeface="Cambria" pitchFamily="34" charset="0"/>
                <a:ea typeface="Cambria" pitchFamily="34" charset="-122"/>
                <a:cs typeface="Cambria" pitchFamily="34" charset="-120"/>
              </a:rPr>
              <a:t>Surf à Nazaré</a:t>
            </a:r>
            <a:endParaRPr lang="en-US" sz="2000" dirty="0"/>
          </a:p>
        </p:txBody>
      </p:sp>
      <p:sp>
        <p:nvSpPr>
          <p:cNvPr id="6" name="Text 3"/>
          <p:cNvSpPr txBox="1"/>
          <p:nvPr/>
        </p:nvSpPr>
        <p:spPr>
          <a:xfrm>
            <a:off x="548640" y="5440680"/>
            <a:ext cx="365760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Chaque hiver, les meilleurs surfeurs du monde viennent affronter les vagues de Praia do Norte, parmi les plus grandes jamais surfées.</a:t>
            </a:r>
            <a:endParaRPr lang="en-US" sz="1300" dirty="0"/>
          </a:p>
        </p:txBody>
      </p:sp>
      <p:sp>
        <p:nvSpPr>
          <p:cNvPr id="7" name="Shape 4"/>
          <p:cNvSpPr/>
          <p:nvPr/>
        </p:nvSpPr>
        <p:spPr>
          <a:xfrm>
            <a:off x="4297680" y="5532120"/>
            <a:ext cx="1737360" cy="457200"/>
          </a:xfrm>
          <a:prstGeom prst="roundRect">
            <a:avLst>
              <a:gd name="adj" fmla="val 50000"/>
            </a:avLst>
          </a:prstGeom>
          <a:solidFill>
            <a:srgbClr val="1E4F8F"/>
          </a:solidFill>
          <a:ln w="12700">
            <a:solidFill>
              <a:srgbClr val="1E4F8F"/>
            </a:solidFill>
            <a:prstDash val="solid"/>
          </a:ln>
        </p:spPr>
      </p:sp>
      <p:sp>
        <p:nvSpPr>
          <p:cNvPr id="8" name="Text 5"/>
          <p:cNvSpPr txBox="1"/>
          <p:nvPr/>
        </p:nvSpPr>
        <p:spPr>
          <a:xfrm>
            <a:off x="4297680" y="5532120"/>
            <a:ext cx="173736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Vidéo Nazaré</a:t>
            </a:r>
            <a:endParaRPr lang="en-US" sz="1400" dirty="0"/>
          </a:p>
        </p:txBody>
      </p:sp>
      <p:sp>
        <p:nvSpPr>
          <p:cNvPr id="9" name="Shape 6"/>
          <p:cNvSpPr/>
          <p:nvPr/>
        </p:nvSpPr>
        <p:spPr>
          <a:xfrm>
            <a:off x="6355080" y="1600200"/>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pic>
        <p:nvPicPr>
          <p:cNvPr id="10" name="Image 1" descr="/home/user/Portugal-Website/images/photos/s-hockey.jpg">    </p:cNvPr>
          <p:cNvPicPr>
            <a:picLocks noChangeAspect="1"/>
          </p:cNvPicPr>
          <p:nvPr/>
        </p:nvPicPr>
        <p:blipFill>
          <a:blip r:embed="rId3"/>
          <a:srcRect l="0" r="0" t="0" b="0"/>
          <a:stretch/>
        </p:blipFill>
        <p:spPr>
          <a:xfrm>
            <a:off x="6355080" y="1600200"/>
            <a:ext cx="1645920" cy="1417320"/>
          </a:xfrm>
          <a:prstGeom prst="rect">
            <a:avLst/>
          </a:prstGeom>
        </p:spPr>
      </p:pic>
      <p:sp>
        <p:nvSpPr>
          <p:cNvPr id="11" name="Text 7"/>
          <p:cNvSpPr txBox="1"/>
          <p:nvPr/>
        </p:nvSpPr>
        <p:spPr>
          <a:xfrm>
            <a:off x="8183880" y="1737360"/>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Rink-hockey</a:t>
            </a:r>
            <a:endParaRPr lang="en-US" sz="1800" dirty="0"/>
          </a:p>
        </p:txBody>
      </p:sp>
      <p:sp>
        <p:nvSpPr>
          <p:cNvPr id="12" name="Text 8"/>
          <p:cNvSpPr txBox="1"/>
          <p:nvPr/>
        </p:nvSpPr>
        <p:spPr>
          <a:xfrm>
            <a:off x="8183880" y="2148840"/>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L'une des plus grandes nations du hockey sur patins à roulettes, avec plus de 15 titres de champion du monde.</a:t>
            </a:r>
            <a:endParaRPr lang="en-US" sz="1300" dirty="0"/>
          </a:p>
        </p:txBody>
      </p:sp>
      <p:sp>
        <p:nvSpPr>
          <p:cNvPr id="13" name="Shape 9"/>
          <p:cNvSpPr/>
          <p:nvPr/>
        </p:nvSpPr>
        <p:spPr>
          <a:xfrm>
            <a:off x="6355080" y="3172968"/>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Shape 10"/>
          <p:cNvSpPr/>
          <p:nvPr/>
        </p:nvSpPr>
        <p:spPr>
          <a:xfrm>
            <a:off x="6949440" y="3648456"/>
            <a:ext cx="457200" cy="457200"/>
          </a:xfrm>
          <a:prstGeom prst="ellipse">
            <a:avLst/>
          </a:prstGeom>
          <a:solidFill>
            <a:srgbClr val="1E4F8F"/>
          </a:solidFill>
          <a:ln w="12700">
            <a:solidFill>
              <a:srgbClr val="1E4F8F"/>
            </a:solidFill>
            <a:prstDash val="solid"/>
          </a:ln>
        </p:spPr>
      </p:sp>
      <p:sp>
        <p:nvSpPr>
          <p:cNvPr id="15" name="Text 11"/>
          <p:cNvSpPr txBox="1"/>
          <p:nvPr/>
        </p:nvSpPr>
        <p:spPr>
          <a:xfrm>
            <a:off x="8183880" y="3310128"/>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Athlétisme</a:t>
            </a:r>
            <a:endParaRPr lang="en-US" sz="1800" dirty="0"/>
          </a:p>
        </p:txBody>
      </p:sp>
      <p:sp>
        <p:nvSpPr>
          <p:cNvPr id="16" name="Text 12"/>
          <p:cNvSpPr txBox="1"/>
          <p:nvPr/>
        </p:nvSpPr>
        <p:spPr>
          <a:xfrm>
            <a:off x="8183880" y="3721608"/>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Carlos Lopes (1984) et Rosa Mota (1988) ont remporté l'or olympique au marathon.</a:t>
            </a:r>
            <a:endParaRPr lang="en-US" sz="1300" dirty="0"/>
          </a:p>
        </p:txBody>
      </p:sp>
      <p:sp>
        <p:nvSpPr>
          <p:cNvPr id="17" name="Shape 13"/>
          <p:cNvSpPr/>
          <p:nvPr/>
        </p:nvSpPr>
        <p:spPr>
          <a:xfrm>
            <a:off x="6355080" y="4745736"/>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8" name="Shape 14"/>
          <p:cNvSpPr/>
          <p:nvPr/>
        </p:nvSpPr>
        <p:spPr>
          <a:xfrm>
            <a:off x="6949440" y="5221224"/>
            <a:ext cx="457200" cy="457200"/>
          </a:xfrm>
          <a:prstGeom prst="ellipse">
            <a:avLst/>
          </a:prstGeom>
          <a:solidFill>
            <a:srgbClr val="B8955A"/>
          </a:solidFill>
          <a:ln w="12700">
            <a:solidFill>
              <a:srgbClr val="B8955A"/>
            </a:solidFill>
            <a:prstDash val="solid"/>
          </a:ln>
        </p:spPr>
      </p:sp>
      <p:sp>
        <p:nvSpPr>
          <p:cNvPr id="19" name="Text 15"/>
          <p:cNvSpPr txBox="1"/>
          <p:nvPr/>
        </p:nvSpPr>
        <p:spPr>
          <a:xfrm>
            <a:off x="8183880" y="4882896"/>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Futsal</a:t>
            </a:r>
            <a:endParaRPr lang="en-US" sz="1800" dirty="0"/>
          </a:p>
        </p:txBody>
      </p:sp>
      <p:sp>
        <p:nvSpPr>
          <p:cNvPr id="20" name="Text 16"/>
          <p:cNvSpPr txBox="1"/>
          <p:nvPr/>
        </p:nvSpPr>
        <p:spPr>
          <a:xfrm>
            <a:off x="8183880" y="5294376"/>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Champion du monde en 2021, champion d'Europe en 2018 et 2022, finaliste en 2026.</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Image 0" descr="/home/user/Portugal-Website/images/luis/lopes-mot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0" y="6108192"/>
            <a:ext cx="5760720" cy="384048"/>
          </a:xfrm>
          <a:prstGeom prst="rect">
            <a:avLst/>
          </a:prstGeom>
          <a:solidFill>
            <a:srgbClr val="000000">
              <a:alpha val="55000"/>
            </a:srgbClr>
          </a:solidFill>
          <a:ln w="12700">
            <a:solidFill>
              <a:srgbClr val="000000">
                <a:alpha val="0"/>
              </a:srgbClr>
            </a:solidFill>
            <a:prstDash val="solid"/>
          </a:ln>
        </p:spPr>
      </p:sp>
      <p:sp>
        <p:nvSpPr>
          <p:cNvPr id="4" name="Text 1"/>
          <p:cNvSpPr txBox="1"/>
          <p:nvPr/>
        </p:nvSpPr>
        <p:spPr>
          <a:xfrm>
            <a:off x="109728" y="614476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Rosa Mota et Carlos Lopes lors d'une course populaire à Faro.</a:t>
            </a:r>
            <a:endParaRPr lang="en-US" sz="1100" dirty="0"/>
          </a:p>
        </p:txBody>
      </p:sp>
      <p:sp>
        <p:nvSpPr>
          <p:cNvPr id="5" name="Text 2"/>
          <p:cNvSpPr txBox="1"/>
          <p:nvPr/>
        </p:nvSpPr>
        <p:spPr>
          <a:xfrm>
            <a:off x="6217920" y="548640"/>
            <a:ext cx="539496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ATHLÉTISME</a:t>
            </a:r>
            <a:endParaRPr lang="en-US" sz="1200" dirty="0"/>
          </a:p>
        </p:txBody>
      </p:sp>
      <p:sp>
        <p:nvSpPr>
          <p:cNvPr id="6" name="Text 3"/>
          <p:cNvSpPr txBox="1"/>
          <p:nvPr/>
        </p:nvSpPr>
        <p:spPr>
          <a:xfrm>
            <a:off x="6217920" y="868680"/>
            <a:ext cx="5394960" cy="731520"/>
          </a:xfrm>
          <a:prstGeom prst="rect">
            <a:avLst/>
          </a:prstGeom>
          <a:noFill/>
          <a:ln/>
        </p:spPr>
        <p:txBody>
          <a:bodyPr wrap="square" lIns="0" tIns="0" rIns="0" bIns="0" rtlCol="0" anchor="t"/>
          <a:lstStyle/>
          <a:p>
            <a:pPr indent="0" marL="0">
              <a:buNone/>
            </a:pPr>
            <a:r>
              <a:rPr lang="en-US" sz="3200" b="1" dirty="0">
                <a:solidFill>
                  <a:srgbClr val="174A3A"/>
                </a:solidFill>
                <a:latin typeface="Cambria" pitchFamily="34" charset="0"/>
                <a:ea typeface="Cambria" pitchFamily="34" charset="-122"/>
                <a:cs typeface="Cambria" pitchFamily="34" charset="-120"/>
              </a:rPr>
              <a:t>Les rois du marathon</a:t>
            </a:r>
            <a:endParaRPr lang="en-US" sz="3200" dirty="0"/>
          </a:p>
        </p:txBody>
      </p:sp>
      <p:sp>
        <p:nvSpPr>
          <p:cNvPr id="7" name="Text 4"/>
          <p:cNvSpPr txBox="1"/>
          <p:nvPr/>
        </p:nvSpPr>
        <p:spPr>
          <a:xfrm>
            <a:off x="6217920" y="1737360"/>
            <a:ext cx="5394960" cy="411480"/>
          </a:xfrm>
          <a:prstGeom prst="rect">
            <a:avLst/>
          </a:prstGeom>
          <a:noFill/>
          <a:ln/>
        </p:spPr>
        <p:txBody>
          <a:bodyPr wrap="square" lIns="0" tIns="0" rIns="0" bIns="0" rtlCol="0" anchor="t"/>
          <a:lstStyle/>
          <a:p>
            <a:pPr indent="0" marL="0">
              <a:buNone/>
            </a:pPr>
            <a:r>
              <a:rPr lang="en-US" sz="1900" b="1" dirty="0">
                <a:solidFill>
                  <a:srgbClr val="1E4F8F"/>
                </a:solidFill>
                <a:latin typeface="Cambria" pitchFamily="34" charset="0"/>
                <a:ea typeface="Cambria" pitchFamily="34" charset="-122"/>
                <a:cs typeface="Cambria" pitchFamily="34" charset="-120"/>
              </a:rPr>
              <a:t>Carlos Lopes</a:t>
            </a:r>
            <a:endParaRPr lang="en-US" sz="1900" dirty="0"/>
          </a:p>
        </p:txBody>
      </p:sp>
      <p:sp>
        <p:nvSpPr>
          <p:cNvPr id="8" name="Text 5"/>
          <p:cNvSpPr txBox="1"/>
          <p:nvPr/>
        </p:nvSpPr>
        <p:spPr>
          <a:xfrm>
            <a:off x="6217920" y="2148840"/>
            <a:ext cx="539496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Champion olympique du marathon à Los Angeles en 1984, à 37 ans, puis record du monde en 2 h 07 min 12 s à Rotterdam en 1985. Il a aussi été trois fois champion du monde de cross-country.</a:t>
            </a:r>
            <a:endParaRPr lang="en-US" sz="1300" dirty="0"/>
          </a:p>
        </p:txBody>
      </p:sp>
      <p:sp>
        <p:nvSpPr>
          <p:cNvPr id="9" name="Text 6"/>
          <p:cNvSpPr txBox="1"/>
          <p:nvPr/>
        </p:nvSpPr>
        <p:spPr>
          <a:xfrm>
            <a:off x="6217920" y="3429000"/>
            <a:ext cx="5394960" cy="411480"/>
          </a:xfrm>
          <a:prstGeom prst="rect">
            <a:avLst/>
          </a:prstGeom>
          <a:noFill/>
          <a:ln/>
        </p:spPr>
        <p:txBody>
          <a:bodyPr wrap="square" lIns="0" tIns="0" rIns="0" bIns="0" rtlCol="0" anchor="t"/>
          <a:lstStyle/>
          <a:p>
            <a:pPr indent="0" marL="0">
              <a:buNone/>
            </a:pPr>
            <a:r>
              <a:rPr lang="en-US" sz="1900" b="1" dirty="0">
                <a:solidFill>
                  <a:srgbClr val="1E4F8F"/>
                </a:solidFill>
                <a:latin typeface="Cambria" pitchFamily="34" charset="0"/>
                <a:ea typeface="Cambria" pitchFamily="34" charset="-122"/>
                <a:cs typeface="Cambria" pitchFamily="34" charset="-120"/>
              </a:rPr>
              <a:t>Rosa Mota</a:t>
            </a:r>
            <a:endParaRPr lang="en-US" sz="1900" dirty="0"/>
          </a:p>
        </p:txBody>
      </p:sp>
      <p:sp>
        <p:nvSpPr>
          <p:cNvPr id="10" name="Text 7"/>
          <p:cNvSpPr txBox="1"/>
          <p:nvPr/>
        </p:nvSpPr>
        <p:spPr>
          <a:xfrm>
            <a:off x="6217920" y="3840480"/>
            <a:ext cx="539496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Bronze en 1984, puis championne olympique du marathon à Séoul en 1988 : la première Portugaise sacrée aux Jeux. Championne du monde en 1987 et trois fois championne d'Europe.</a:t>
            </a:r>
            <a:endParaRPr lang="en-US" sz="1300" dirty="0"/>
          </a:p>
        </p:txBody>
      </p:sp>
      <p:sp>
        <p:nvSpPr>
          <p:cNvPr id="11" name="Text 8"/>
          <p:cNvSpPr txBox="1"/>
          <p:nvPr/>
        </p:nvSpPr>
        <p:spPr>
          <a:xfrm>
            <a:off x="6217920" y="5257800"/>
            <a:ext cx="173736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1984</a:t>
            </a:r>
            <a:endParaRPr lang="en-US" sz="3600" dirty="0"/>
          </a:p>
        </p:txBody>
      </p:sp>
      <p:sp>
        <p:nvSpPr>
          <p:cNvPr id="12" name="Text 9"/>
          <p:cNvSpPr txBox="1"/>
          <p:nvPr/>
        </p:nvSpPr>
        <p:spPr>
          <a:xfrm>
            <a:off x="6217920" y="594360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OR — C. LOPES</a:t>
            </a:r>
            <a:endParaRPr lang="en-US" sz="1300" dirty="0"/>
          </a:p>
        </p:txBody>
      </p:sp>
      <p:sp>
        <p:nvSpPr>
          <p:cNvPr id="13" name="Text 10"/>
          <p:cNvSpPr txBox="1"/>
          <p:nvPr/>
        </p:nvSpPr>
        <p:spPr>
          <a:xfrm>
            <a:off x="8046720" y="5257800"/>
            <a:ext cx="173736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1988</a:t>
            </a:r>
            <a:endParaRPr lang="en-US" sz="3600" dirty="0"/>
          </a:p>
        </p:txBody>
      </p:sp>
      <p:sp>
        <p:nvSpPr>
          <p:cNvPr id="14" name="Text 11"/>
          <p:cNvSpPr txBox="1"/>
          <p:nvPr/>
        </p:nvSpPr>
        <p:spPr>
          <a:xfrm>
            <a:off x="8046720" y="594360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OR — R. MOTA</a:t>
            </a:r>
            <a:endParaRPr lang="en-US" sz="1300" dirty="0"/>
          </a:p>
        </p:txBody>
      </p:sp>
      <p:sp>
        <p:nvSpPr>
          <p:cNvPr id="15" name="Text 12"/>
          <p:cNvSpPr txBox="1"/>
          <p:nvPr/>
        </p:nvSpPr>
        <p:spPr>
          <a:xfrm>
            <a:off x="9875520" y="5257800"/>
            <a:ext cx="17373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2:07:12</a:t>
            </a:r>
            <a:endParaRPr lang="en-US" sz="3600" dirty="0"/>
          </a:p>
        </p:txBody>
      </p:sp>
      <p:sp>
        <p:nvSpPr>
          <p:cNvPr id="16" name="Text 13"/>
          <p:cNvSpPr txBox="1"/>
          <p:nvPr/>
        </p:nvSpPr>
        <p:spPr>
          <a:xfrm>
            <a:off x="9875520" y="594360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RECORD DU MONDE (1985)</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F2A4F"/>
        </a:solidFill>
      </p:bgPr>
    </p:bg>
    <p:spTree>
      <p:nvGrpSpPr>
        <p:cNvPr id="1" name=""/>
        <p:cNvGrpSpPr/>
        <p:nvPr/>
      </p:nvGrpSpPr>
      <p:grpSpPr>
        <a:xfrm>
          <a:off x="0" y="0"/>
          <a:ext cx="0" cy="0"/>
          <a:chOff x="0" y="0"/>
          <a:chExt cx="0" cy="0"/>
        </a:xfrm>
      </p:grpSpPr>
      <p:pic>
        <p:nvPicPr>
          <p:cNvPr id="2" name="Image 0" descr="/home/user/Portugal-Website/images/photos/s-rbar.jpg">    </p:cNvPr>
          <p:cNvPicPr>
            <a:picLocks noChangeAspect="1"/>
          </p:cNvPicPr>
          <p:nvPr/>
        </p:nvPicPr>
        <p:blipFill>
          <a:blip r:embed="rId1"/>
          <a:srcRect l="0" r="0" t="0" b="0"/>
          <a:stretch/>
        </p:blipFill>
        <p:spPr>
          <a:xfrm>
            <a:off x="0" y="0"/>
            <a:ext cx="6583680" cy="6858000"/>
          </a:xfrm>
          <a:prstGeom prst="rect">
            <a:avLst/>
          </a:prstGeom>
        </p:spPr>
      </p:pic>
      <p:sp>
        <p:nvSpPr>
          <p:cNvPr id="3" name="Text 0"/>
          <p:cNvSpPr txBox="1"/>
          <p:nvPr/>
        </p:nvSpPr>
        <p:spPr>
          <a:xfrm>
            <a:off x="7040880" y="1005840"/>
            <a:ext cx="4754880" cy="36576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PORTO &amp; GAIA, AU-DESSUS DU DOURO</a:t>
            </a:r>
            <a:endParaRPr lang="en-US" sz="1200" dirty="0"/>
          </a:p>
        </p:txBody>
      </p:sp>
      <p:sp>
        <p:nvSpPr>
          <p:cNvPr id="4" name="Text 1"/>
          <p:cNvSpPr txBox="1"/>
          <p:nvPr/>
        </p:nvSpPr>
        <p:spPr>
          <a:xfrm>
            <a:off x="7040880" y="1371600"/>
            <a:ext cx="4846320" cy="731520"/>
          </a:xfrm>
          <a:prstGeom prst="rect">
            <a:avLst/>
          </a:prstGeom>
          <a:noFill/>
          <a:ln/>
        </p:spPr>
        <p:txBody>
          <a:bodyPr wrap="square" lIns="0" tIns="0" rIns="0" bIns="0" rtlCol="0" anchor="t"/>
          <a:lstStyle/>
          <a:p>
            <a:pPr indent="0" marL="0">
              <a:buNone/>
            </a:pPr>
            <a:r>
              <a:rPr lang="en-US" sz="3600" b="1" i="1" dirty="0">
                <a:solidFill>
                  <a:srgbClr val="FFFFFF"/>
                </a:solidFill>
                <a:latin typeface="Calibri" pitchFamily="34" charset="0"/>
                <a:ea typeface="Calibri" pitchFamily="34" charset="-122"/>
                <a:cs typeface="Calibri" pitchFamily="34" charset="-120"/>
              </a:rPr>
              <a:t>RED BULL AIR RACE</a:t>
            </a:r>
            <a:endParaRPr lang="en-US" sz="3600" dirty="0"/>
          </a:p>
        </p:txBody>
      </p:sp>
      <p:sp>
        <p:nvSpPr>
          <p:cNvPr id="5" name="Text 2"/>
          <p:cNvSpPr txBox="1"/>
          <p:nvPr/>
        </p:nvSpPr>
        <p:spPr>
          <a:xfrm>
            <a:off x="7040880" y="2240280"/>
            <a:ext cx="4663440" cy="23774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En 2007, la course d'avions la plus rapide du monde arrive à Porto : les pilotes slaloment entre des pylônes gonflables à quelques mètres au-dessus du Douro, sous le pont Dom Luís. Environ 600 000 spectateurs envahissent les deux rives dès la première édition, puis près d'un million en 2008 : un record pour la compétition.</a:t>
            </a:r>
            <a:endParaRPr lang="en-US" sz="1500" dirty="0"/>
          </a:p>
        </p:txBody>
      </p:sp>
      <p:sp>
        <p:nvSpPr>
          <p:cNvPr id="6" name="Text 3"/>
          <p:cNvSpPr txBox="1"/>
          <p:nvPr/>
        </p:nvSpPr>
        <p:spPr>
          <a:xfrm>
            <a:off x="7040880" y="4754880"/>
            <a:ext cx="210312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2007</a:t>
            </a:r>
            <a:endParaRPr lang="en-US" sz="3600" dirty="0"/>
          </a:p>
        </p:txBody>
      </p:sp>
      <p:sp>
        <p:nvSpPr>
          <p:cNvPr id="7" name="Text 4"/>
          <p:cNvSpPr txBox="1"/>
          <p:nvPr/>
        </p:nvSpPr>
        <p:spPr>
          <a:xfrm>
            <a:off x="7040880" y="5440680"/>
            <a:ext cx="210312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PREMIÈRE COURSE À PORTO</a:t>
            </a:r>
            <a:endParaRPr lang="en-US" sz="1300" dirty="0"/>
          </a:p>
        </p:txBody>
      </p:sp>
      <p:sp>
        <p:nvSpPr>
          <p:cNvPr id="8" name="Text 5"/>
          <p:cNvSpPr txBox="1"/>
          <p:nvPr/>
        </p:nvSpPr>
        <p:spPr>
          <a:xfrm>
            <a:off x="9235440" y="4754880"/>
            <a:ext cx="256032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1 000 000</a:t>
            </a:r>
            <a:endParaRPr lang="en-US" sz="3600" dirty="0"/>
          </a:p>
        </p:txBody>
      </p:sp>
      <p:sp>
        <p:nvSpPr>
          <p:cNvPr id="9" name="Text 6"/>
          <p:cNvSpPr txBox="1"/>
          <p:nvPr/>
        </p:nvSpPr>
        <p:spPr>
          <a:xfrm>
            <a:off x="9235440" y="5440680"/>
            <a:ext cx="256032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SPECTATEURS EN 2008 (RECORD)</a:t>
            </a:r>
            <a:endParaRPr lang="en-US" sz="1300" dirty="0"/>
          </a:p>
        </p:txBody>
      </p:sp>
      <p:sp>
        <p:nvSpPr>
          <p:cNvPr id="10" name="Text 7"/>
          <p:cNvSpPr txBox="1"/>
          <p:nvPr/>
        </p:nvSpPr>
        <p:spPr>
          <a:xfrm>
            <a:off x="274320" y="6446520"/>
            <a:ext cx="6035040" cy="274320"/>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Un avion de course au-dessus du Douro, face à Porto (édition 2017).</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home/user/Portugal-Website/images/photos/hero-reg.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06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Régions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Du Minho à l'Algarve, jusqu'au milieu de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Cinq régions sur le continent et deux archipels autonomes : sept visages d'un même pays.</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SEPT RÉGIONS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 voyage du nord au sud</a:t>
            </a:r>
            <a:endParaRPr lang="en-US" sz="3400" dirty="0"/>
          </a:p>
        </p:txBody>
      </p:sp>
      <p:pic>
        <p:nvPicPr>
          <p:cNvPr id="4" name="Image 0" descr="/home/user/Portugal-Website/images/photos/r-porto.jpg">    </p:cNvPr>
          <p:cNvPicPr>
            <a:picLocks noChangeAspect="1"/>
          </p:cNvPicPr>
          <p:nvPr/>
        </p:nvPicPr>
        <p:blipFill>
          <a:blip r:embed="rId1"/>
          <a:srcRect l="0" r="0" t="0" b="0"/>
          <a:stretch/>
        </p:blipFill>
        <p:spPr>
          <a:xfrm>
            <a:off x="548640" y="1600200"/>
            <a:ext cx="2624328" cy="1554480"/>
          </a:xfrm>
          <a:prstGeom prst="rect">
            <a:avLst/>
          </a:prstGeom>
        </p:spPr>
      </p:pic>
      <p:sp>
        <p:nvSpPr>
          <p:cNvPr id="5" name="Text 2"/>
          <p:cNvSpPr txBox="1"/>
          <p:nvPr/>
        </p:nvSpPr>
        <p:spPr>
          <a:xfrm>
            <a:off x="548640"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Nord</a:t>
            </a:r>
            <a:endParaRPr lang="en-US" sz="1800" dirty="0"/>
          </a:p>
        </p:txBody>
      </p:sp>
      <p:sp>
        <p:nvSpPr>
          <p:cNvPr id="6" name="Text 3"/>
          <p:cNvSpPr txBox="1"/>
          <p:nvPr/>
        </p:nvSpPr>
        <p:spPr>
          <a:xfrm>
            <a:off x="548640"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Porto · Braga · Guimarães</a:t>
            </a:r>
            <a:endParaRPr lang="en-US" sz="1200" dirty="0"/>
          </a:p>
        </p:txBody>
      </p:sp>
      <p:pic>
        <p:nvPicPr>
          <p:cNvPr id="7" name="Image 1" descr="/home/user/Portugal-Website/images/photos/r-coimbra.jpg">    </p:cNvPr>
          <p:cNvPicPr>
            <a:picLocks noChangeAspect="1"/>
          </p:cNvPicPr>
          <p:nvPr/>
        </p:nvPicPr>
        <p:blipFill>
          <a:blip r:embed="rId2"/>
          <a:srcRect l="0" r="0" t="0" b="0"/>
          <a:stretch/>
        </p:blipFill>
        <p:spPr>
          <a:xfrm>
            <a:off x="3355848" y="1600200"/>
            <a:ext cx="2624328" cy="1554480"/>
          </a:xfrm>
          <a:prstGeom prst="rect">
            <a:avLst/>
          </a:prstGeom>
        </p:spPr>
      </p:pic>
      <p:sp>
        <p:nvSpPr>
          <p:cNvPr id="8" name="Text 4"/>
          <p:cNvSpPr txBox="1"/>
          <p:nvPr/>
        </p:nvSpPr>
        <p:spPr>
          <a:xfrm>
            <a:off x="3355848" y="3227832"/>
            <a:ext cx="2624328" cy="365760"/>
          </a:xfrm>
          <a:prstGeom prst="rect">
            <a:avLst/>
          </a:prstGeom>
          <a:noFill/>
          <a:ln/>
        </p:spPr>
        <p:txBody>
          <a:bodyPr wrap="square" lIns="0" tIns="0" rIns="0" bIns="0" rtlCol="0" anchor="t"/>
          <a:lstStyle/>
          <a:p>
            <a:pPr indent="0" marL="0">
              <a:buNone/>
            </a:pPr>
            <a:r>
              <a:rPr lang="en-US" sz="1800" b="1" dirty="0">
                <a:solidFill>
                  <a:srgbClr val="A83232"/>
                </a:solidFill>
                <a:latin typeface="Cambria" pitchFamily="34" charset="0"/>
                <a:ea typeface="Cambria" pitchFamily="34" charset="-122"/>
                <a:cs typeface="Cambria" pitchFamily="34" charset="-120"/>
              </a:rPr>
              <a:t>Le Centre</a:t>
            </a:r>
            <a:endParaRPr lang="en-US" sz="1800" dirty="0"/>
          </a:p>
        </p:txBody>
      </p:sp>
      <p:sp>
        <p:nvSpPr>
          <p:cNvPr id="9" name="Text 5"/>
          <p:cNvSpPr txBox="1"/>
          <p:nvPr/>
        </p:nvSpPr>
        <p:spPr>
          <a:xfrm>
            <a:off x="3355848"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Coimbra · Aveiro · Viseu ★</a:t>
            </a:r>
            <a:endParaRPr lang="en-US" sz="1200" dirty="0"/>
          </a:p>
        </p:txBody>
      </p:sp>
      <p:pic>
        <p:nvPicPr>
          <p:cNvPr id="10" name="Image 2" descr="/home/user/Portugal-Website/images/photos/r-lisboa.jpg">    </p:cNvPr>
          <p:cNvPicPr>
            <a:picLocks noChangeAspect="1"/>
          </p:cNvPicPr>
          <p:nvPr/>
        </p:nvPicPr>
        <p:blipFill>
          <a:blip r:embed="rId3"/>
          <a:srcRect l="0" r="0" t="0" b="0"/>
          <a:stretch/>
        </p:blipFill>
        <p:spPr>
          <a:xfrm>
            <a:off x="6163056" y="1600200"/>
            <a:ext cx="2624328" cy="1554480"/>
          </a:xfrm>
          <a:prstGeom prst="rect">
            <a:avLst/>
          </a:prstGeom>
        </p:spPr>
      </p:pic>
      <p:sp>
        <p:nvSpPr>
          <p:cNvPr id="11" name="Text 6"/>
          <p:cNvSpPr txBox="1"/>
          <p:nvPr/>
        </p:nvSpPr>
        <p:spPr>
          <a:xfrm>
            <a:off x="6163056"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Lisbonne</a:t>
            </a:r>
            <a:endParaRPr lang="en-US" sz="1800" dirty="0"/>
          </a:p>
        </p:txBody>
      </p:sp>
      <p:sp>
        <p:nvSpPr>
          <p:cNvPr id="12" name="Text 7"/>
          <p:cNvSpPr txBox="1"/>
          <p:nvPr/>
        </p:nvSpPr>
        <p:spPr>
          <a:xfrm>
            <a:off x="6163056"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Lisboa · Sintra · Cascais</a:t>
            </a:r>
            <a:endParaRPr lang="en-US" sz="1200" dirty="0"/>
          </a:p>
        </p:txBody>
      </p:sp>
      <p:pic>
        <p:nvPicPr>
          <p:cNvPr id="13" name="Image 3" descr="/home/user/Portugal-Website/images/photos/r-evora.jpg">    </p:cNvPr>
          <p:cNvPicPr>
            <a:picLocks noChangeAspect="1"/>
          </p:cNvPicPr>
          <p:nvPr/>
        </p:nvPicPr>
        <p:blipFill>
          <a:blip r:embed="rId4"/>
          <a:srcRect l="0" r="0" t="0" b="0"/>
          <a:stretch/>
        </p:blipFill>
        <p:spPr>
          <a:xfrm>
            <a:off x="8970264" y="1600200"/>
            <a:ext cx="2624328" cy="1554480"/>
          </a:xfrm>
          <a:prstGeom prst="rect">
            <a:avLst/>
          </a:prstGeom>
        </p:spPr>
      </p:pic>
      <p:sp>
        <p:nvSpPr>
          <p:cNvPr id="14" name="Text 8"/>
          <p:cNvSpPr txBox="1"/>
          <p:nvPr/>
        </p:nvSpPr>
        <p:spPr>
          <a:xfrm>
            <a:off x="8970264"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L'Alentejo</a:t>
            </a:r>
            <a:endParaRPr lang="en-US" sz="1800" dirty="0"/>
          </a:p>
        </p:txBody>
      </p:sp>
      <p:sp>
        <p:nvSpPr>
          <p:cNvPr id="15" name="Text 9"/>
          <p:cNvSpPr txBox="1"/>
          <p:nvPr/>
        </p:nvSpPr>
        <p:spPr>
          <a:xfrm>
            <a:off x="8970264"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Évora · Beja</a:t>
            </a:r>
            <a:endParaRPr lang="en-US" sz="1200" dirty="0"/>
          </a:p>
        </p:txBody>
      </p:sp>
      <p:pic>
        <p:nvPicPr>
          <p:cNvPr id="16" name="Image 4" descr="/home/user/Portugal-Website/images/photos/r-algarve.jpg">    </p:cNvPr>
          <p:cNvPicPr>
            <a:picLocks noChangeAspect="1"/>
          </p:cNvPicPr>
          <p:nvPr/>
        </p:nvPicPr>
        <p:blipFill>
          <a:blip r:embed="rId5"/>
          <a:srcRect l="0" r="0" t="0" b="0"/>
          <a:stretch/>
        </p:blipFill>
        <p:spPr>
          <a:xfrm>
            <a:off x="1947672" y="3977640"/>
            <a:ext cx="2624328" cy="1554480"/>
          </a:xfrm>
          <a:prstGeom prst="rect">
            <a:avLst/>
          </a:prstGeom>
        </p:spPr>
      </p:pic>
      <p:sp>
        <p:nvSpPr>
          <p:cNvPr id="17" name="Text 10"/>
          <p:cNvSpPr txBox="1"/>
          <p:nvPr/>
        </p:nvSpPr>
        <p:spPr>
          <a:xfrm>
            <a:off x="1947672"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L'Algarve</a:t>
            </a:r>
            <a:endParaRPr lang="en-US" sz="1800" dirty="0"/>
          </a:p>
        </p:txBody>
      </p:sp>
      <p:sp>
        <p:nvSpPr>
          <p:cNvPr id="18" name="Text 11"/>
          <p:cNvSpPr txBox="1"/>
          <p:nvPr/>
        </p:nvSpPr>
        <p:spPr>
          <a:xfrm>
            <a:off x="1947672"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Faro · Lagos</a:t>
            </a:r>
            <a:endParaRPr lang="en-US" sz="1200" dirty="0"/>
          </a:p>
        </p:txBody>
      </p:sp>
      <p:pic>
        <p:nvPicPr>
          <p:cNvPr id="19" name="Image 5" descr="/home/user/Portugal-Website/images/photos/r-acores.jpg">    </p:cNvPr>
          <p:cNvPicPr>
            <a:picLocks noChangeAspect="1"/>
          </p:cNvPicPr>
          <p:nvPr/>
        </p:nvPicPr>
        <p:blipFill>
          <a:blip r:embed="rId6"/>
          <a:srcRect l="0" r="0" t="0" b="0"/>
          <a:stretch/>
        </p:blipFill>
        <p:spPr>
          <a:xfrm>
            <a:off x="4754880" y="3977640"/>
            <a:ext cx="2624328" cy="1554480"/>
          </a:xfrm>
          <a:prstGeom prst="rect">
            <a:avLst/>
          </a:prstGeom>
        </p:spPr>
      </p:pic>
      <p:sp>
        <p:nvSpPr>
          <p:cNvPr id="20" name="Text 12"/>
          <p:cNvSpPr txBox="1"/>
          <p:nvPr/>
        </p:nvSpPr>
        <p:spPr>
          <a:xfrm>
            <a:off x="4754880"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Les Açores</a:t>
            </a:r>
            <a:endParaRPr lang="en-US" sz="1800" dirty="0"/>
          </a:p>
        </p:txBody>
      </p:sp>
      <p:sp>
        <p:nvSpPr>
          <p:cNvPr id="21" name="Text 13"/>
          <p:cNvSpPr txBox="1"/>
          <p:nvPr/>
        </p:nvSpPr>
        <p:spPr>
          <a:xfrm>
            <a:off x="4754880"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Ponta Delgada</a:t>
            </a:r>
            <a:endParaRPr lang="en-US" sz="1200" dirty="0"/>
          </a:p>
        </p:txBody>
      </p:sp>
      <p:pic>
        <p:nvPicPr>
          <p:cNvPr id="22" name="Image 6" descr="/home/user/Portugal-Website/images/photos/r-madeira.jpg">    </p:cNvPr>
          <p:cNvPicPr>
            <a:picLocks noChangeAspect="1"/>
          </p:cNvPicPr>
          <p:nvPr/>
        </p:nvPicPr>
        <p:blipFill>
          <a:blip r:embed="rId7"/>
          <a:srcRect l="0" r="0" t="0" b="0"/>
          <a:stretch/>
        </p:blipFill>
        <p:spPr>
          <a:xfrm>
            <a:off x="7562088" y="3977640"/>
            <a:ext cx="2624328" cy="1554480"/>
          </a:xfrm>
          <a:prstGeom prst="rect">
            <a:avLst/>
          </a:prstGeom>
        </p:spPr>
      </p:pic>
      <p:sp>
        <p:nvSpPr>
          <p:cNvPr id="23" name="Text 14"/>
          <p:cNvSpPr txBox="1"/>
          <p:nvPr/>
        </p:nvSpPr>
        <p:spPr>
          <a:xfrm>
            <a:off x="7562088"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Madère</a:t>
            </a:r>
            <a:endParaRPr lang="en-US" sz="1800" dirty="0"/>
          </a:p>
        </p:txBody>
      </p:sp>
      <p:sp>
        <p:nvSpPr>
          <p:cNvPr id="24" name="Text 15"/>
          <p:cNvSpPr txBox="1"/>
          <p:nvPr/>
        </p:nvSpPr>
        <p:spPr>
          <a:xfrm>
            <a:off x="7562088"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Funchal</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Image 0" descr="/home/user/Portugal-Website/images/luis/caramulo-vue.jpg">    </p:cNvPr>
          <p:cNvPicPr>
            <a:picLocks noChangeAspect="1"/>
          </p:cNvPicPr>
          <p:nvPr/>
        </p:nvPicPr>
        <p:blipFill>
          <a:blip r:embed="rId1"/>
          <a:srcRect l="0" r="0" t="0" b="0"/>
          <a:stretch/>
        </p:blipFill>
        <p:spPr>
          <a:xfrm>
            <a:off x="6675120" y="548640"/>
            <a:ext cx="4965192" cy="3566160"/>
          </a:xfrm>
          <a:prstGeom prst="rect">
            <a:avLst/>
          </a:prstGeom>
        </p:spPr>
      </p:pic>
      <p:pic>
        <p:nvPicPr>
          <p:cNvPr id="3" name="Image 1" descr="/home/user/Portugal-Website/images/photos/r-caramulo2.jpg">    </p:cNvPr>
          <p:cNvPicPr>
            <a:picLocks noChangeAspect="1"/>
          </p:cNvPicPr>
          <p:nvPr/>
        </p:nvPicPr>
        <p:blipFill>
          <a:blip r:embed="rId2"/>
          <a:srcRect l="0" r="0" t="0" b="0"/>
          <a:stretch/>
        </p:blipFill>
        <p:spPr>
          <a:xfrm>
            <a:off x="6675120" y="4251960"/>
            <a:ext cx="2395728" cy="1965960"/>
          </a:xfrm>
          <a:prstGeom prst="rect">
            <a:avLst/>
          </a:prstGeom>
        </p:spPr>
      </p:pic>
      <p:sp>
        <p:nvSpPr>
          <p:cNvPr id="4" name="Shape 0"/>
          <p:cNvSpPr/>
          <p:nvPr/>
        </p:nvSpPr>
        <p:spPr>
          <a:xfrm>
            <a:off x="9235440" y="4251960"/>
            <a:ext cx="2404872" cy="1965960"/>
          </a:xfrm>
          <a:prstGeom prst="roundRect">
            <a:avLst>
              <a:gd name="adj" fmla="val 3721"/>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5" name="Text 1"/>
          <p:cNvSpPr txBox="1"/>
          <p:nvPr/>
        </p:nvSpPr>
        <p:spPr>
          <a:xfrm>
            <a:off x="9372600" y="4434840"/>
            <a:ext cx="2194560" cy="548640"/>
          </a:xfrm>
          <a:prstGeom prst="rect">
            <a:avLst/>
          </a:prstGeom>
          <a:noFill/>
          <a:ln/>
        </p:spPr>
        <p:txBody>
          <a:bodyPr wrap="square" lIns="0" tIns="0" rIns="0" bIns="0" rtlCol="0" anchor="t"/>
          <a:lstStyle/>
          <a:p>
            <a:pPr indent="0" marL="0">
              <a:buNone/>
            </a:pPr>
            <a:r>
              <a:rPr lang="en-US" sz="2800" b="1" dirty="0">
                <a:solidFill>
                  <a:srgbClr val="1E4F8F"/>
                </a:solidFill>
                <a:latin typeface="Cambria" pitchFamily="34" charset="0"/>
                <a:ea typeface="Cambria" pitchFamily="34" charset="-122"/>
                <a:cs typeface="Cambria" pitchFamily="34" charset="-120"/>
              </a:rPr>
              <a:t>1 076 m</a:t>
            </a:r>
            <a:endParaRPr lang="en-US" sz="2800" dirty="0"/>
          </a:p>
        </p:txBody>
      </p:sp>
      <p:sp>
        <p:nvSpPr>
          <p:cNvPr id="6" name="Text 2"/>
          <p:cNvSpPr txBox="1"/>
          <p:nvPr/>
        </p:nvSpPr>
        <p:spPr>
          <a:xfrm>
            <a:off x="9372600" y="5029200"/>
            <a:ext cx="2148840" cy="100584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Altitude du Caramulinho, le sommet de la serra</a:t>
            </a:r>
            <a:endParaRPr lang="en-US" sz="1200" dirty="0"/>
          </a:p>
        </p:txBody>
      </p:sp>
      <p:sp>
        <p:nvSpPr>
          <p:cNvPr id="7" name="Text 3"/>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ZOOM SUR CHEZ MOI</a:t>
            </a:r>
            <a:endParaRPr lang="en-US" sz="1200" dirty="0"/>
          </a:p>
        </p:txBody>
      </p:sp>
      <p:sp>
        <p:nvSpPr>
          <p:cNvPr id="8" name="Text 4"/>
          <p:cNvSpPr txBox="1"/>
          <p:nvPr/>
        </p:nvSpPr>
        <p:spPr>
          <a:xfrm>
            <a:off x="548640" y="685800"/>
            <a:ext cx="585216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Caramulo, la montagne de l'air pur</a:t>
            </a:r>
            <a:endParaRPr lang="en-US" sz="2600" dirty="0"/>
          </a:p>
        </p:txBody>
      </p:sp>
      <p:sp>
        <p:nvSpPr>
          <p:cNvPr id="9" name="Text 5"/>
          <p:cNvSpPr txBox="1"/>
          <p:nvPr/>
        </p:nvSpPr>
        <p:spPr>
          <a:xfrm>
            <a:off x="548640" y="1600200"/>
            <a:ext cx="5760720" cy="27432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En 1921, le docteur Jerónimo de Lacerda fonde à Caramulo une station sanatoriale, qui comptera jusqu'à une vingtaine de sanatoriums : on venait de tout le pays soigner la tuberculose grâce à l'air pur de la montagne. Plus tard, ses fils créent le Musée du Caramulo, qui réunit une collection d'art — de l'Égypte ancienne à Picasso — et une magnifique collection de voitures et de motos anciennes.</a:t>
            </a:r>
            <a:endParaRPr lang="en-US" sz="1600" dirty="0"/>
          </a:p>
        </p:txBody>
      </p:sp>
      <p:sp>
        <p:nvSpPr>
          <p:cNvPr id="10" name="Text 6"/>
          <p:cNvSpPr txBox="1"/>
          <p:nvPr/>
        </p:nvSpPr>
        <p:spPr>
          <a:xfrm>
            <a:off x="548640" y="4572000"/>
            <a:ext cx="274320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1921</a:t>
            </a:r>
            <a:endParaRPr lang="en-US" sz="3600" dirty="0"/>
          </a:p>
        </p:txBody>
      </p:sp>
      <p:sp>
        <p:nvSpPr>
          <p:cNvPr id="11" name="Text 7"/>
          <p:cNvSpPr txBox="1"/>
          <p:nvPr/>
        </p:nvSpPr>
        <p:spPr>
          <a:xfrm>
            <a:off x="548640" y="5257800"/>
            <a:ext cx="274320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Création de la station sanatoriale (une vingtaine de sanatoriums)</a:t>
            </a:r>
            <a:endParaRPr lang="en-US" sz="1300" dirty="0"/>
          </a:p>
        </p:txBody>
      </p:sp>
      <p:sp>
        <p:nvSpPr>
          <p:cNvPr id="12" name="Text 8"/>
          <p:cNvSpPr txBox="1"/>
          <p:nvPr/>
        </p:nvSpPr>
        <p:spPr>
          <a:xfrm>
            <a:off x="3474720" y="4572000"/>
            <a:ext cx="274320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1953</a:t>
            </a:r>
            <a:endParaRPr lang="en-US" sz="3600" dirty="0"/>
          </a:p>
        </p:txBody>
      </p:sp>
      <p:sp>
        <p:nvSpPr>
          <p:cNvPr id="13" name="Text 9"/>
          <p:cNvSpPr txBox="1"/>
          <p:nvPr/>
        </p:nvSpPr>
        <p:spPr>
          <a:xfrm>
            <a:off x="3474720" y="5257800"/>
            <a:ext cx="274320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Fondation du Musée du Caramulo</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Image 0" descr="/home/user/Portugal-Website/images/luis/motorfestival.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7132320" cy="6858000"/>
          </a:xfrm>
          <a:prstGeom prst="rect">
            <a:avLst/>
          </a:prstGeom>
          <a:solidFill>
            <a:srgbClr val="1E0808">
              <a:alpha val="80000"/>
            </a:srgbClr>
          </a:solidFill>
          <a:ln w="12700">
            <a:solidFill>
              <a:srgbClr val="1E0808">
                <a:alpha val="0"/>
              </a:srgbClr>
            </a:solidFill>
            <a:prstDash val="solid"/>
          </a:ln>
        </p:spPr>
      </p:sp>
      <p:sp>
        <p:nvSpPr>
          <p:cNvPr id="4" name="Text 1"/>
          <p:cNvSpPr txBox="1"/>
          <p:nvPr/>
        </p:nvSpPr>
        <p:spPr>
          <a:xfrm>
            <a:off x="731520" y="822960"/>
            <a:ext cx="5943600" cy="36576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CHAQUE SEPTEMBRE À CARAMULO</a:t>
            </a:r>
            <a:endParaRPr lang="en-US" sz="1200" dirty="0"/>
          </a:p>
        </p:txBody>
      </p:sp>
      <p:sp>
        <p:nvSpPr>
          <p:cNvPr id="5" name="Text 2"/>
          <p:cNvSpPr txBox="1"/>
          <p:nvPr/>
        </p:nvSpPr>
        <p:spPr>
          <a:xfrm>
            <a:off x="731520" y="1188720"/>
            <a:ext cx="6217920" cy="1188720"/>
          </a:xfrm>
          <a:prstGeom prst="rect">
            <a:avLst/>
          </a:prstGeom>
          <a:noFill/>
          <a:ln/>
        </p:spPr>
        <p:txBody>
          <a:bodyPr wrap="square" lIns="0" tIns="0" rIns="0" bIns="0" rtlCol="0" anchor="t"/>
          <a:lstStyle/>
          <a:p>
            <a:pPr indent="0" marL="0">
              <a:buNone/>
            </a:pPr>
            <a:r>
              <a:rPr lang="en-US" sz="4000" b="1" i="1" dirty="0">
                <a:solidFill>
                  <a:srgbClr val="FFFFFF"/>
                </a:solidFill>
                <a:latin typeface="Calibri" pitchFamily="34" charset="0"/>
                <a:ea typeface="Calibri" pitchFamily="34" charset="-122"/>
                <a:cs typeface="Calibri" pitchFamily="34" charset="-120"/>
              </a:rPr>
              <a:t>CARAMULO MOTORFESTIVAL</a:t>
            </a:r>
            <a:endParaRPr lang="en-US" sz="4000" dirty="0"/>
          </a:p>
        </p:txBody>
      </p:sp>
      <p:sp>
        <p:nvSpPr>
          <p:cNvPr id="6" name="Text 3"/>
          <p:cNvSpPr txBox="1"/>
          <p:nvPr/>
        </p:nvSpPr>
        <p:spPr>
          <a:xfrm>
            <a:off x="731520" y="2468880"/>
            <a:ext cx="5943600" cy="219456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Chaque année début septembre, Caramulo devient la capitale portugaise du moteur. Organisé par le Musée du Caramulo, le Caramulo Motorfestival est la plus grande fête automobile du Portugal : la Rampa Histórica, une course de côte de voitures anciennes et de compétition sur les routes de la serra, des défilés, des expositions et même un air show. L'entrée est libre ! En 2026, plus de 60 000 personnes sont venues à Caramulo.</a:t>
            </a:r>
            <a:endParaRPr lang="en-US" sz="1500" dirty="0"/>
          </a:p>
        </p:txBody>
      </p:sp>
      <p:sp>
        <p:nvSpPr>
          <p:cNvPr id="7" name="Text 4"/>
          <p:cNvSpPr txBox="1"/>
          <p:nvPr/>
        </p:nvSpPr>
        <p:spPr>
          <a:xfrm>
            <a:off x="73152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60 000+</a:t>
            </a:r>
            <a:endParaRPr lang="en-US" sz="3600" dirty="0"/>
          </a:p>
        </p:txBody>
      </p:sp>
      <p:sp>
        <p:nvSpPr>
          <p:cNvPr id="8" name="Text 5"/>
          <p:cNvSpPr txBox="1"/>
          <p:nvPr/>
        </p:nvSpPr>
        <p:spPr>
          <a:xfrm>
            <a:off x="73152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VISITEURS EN 2026</a:t>
            </a:r>
            <a:endParaRPr lang="en-US" sz="1300" dirty="0"/>
          </a:p>
        </p:txBody>
      </p:sp>
      <p:sp>
        <p:nvSpPr>
          <p:cNvPr id="9" name="Text 6"/>
          <p:cNvSpPr txBox="1"/>
          <p:nvPr/>
        </p:nvSpPr>
        <p:spPr>
          <a:xfrm>
            <a:off x="274320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3</a:t>
            </a:r>
            <a:endParaRPr lang="en-US" sz="3600" dirty="0"/>
          </a:p>
        </p:txBody>
      </p:sp>
      <p:sp>
        <p:nvSpPr>
          <p:cNvPr id="10" name="Text 7"/>
          <p:cNvSpPr txBox="1"/>
          <p:nvPr/>
        </p:nvSpPr>
        <p:spPr>
          <a:xfrm>
            <a:off x="274320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JOURS DE FÊTE</a:t>
            </a:r>
            <a:endParaRPr lang="en-US" sz="1300" dirty="0"/>
          </a:p>
        </p:txBody>
      </p:sp>
      <p:sp>
        <p:nvSpPr>
          <p:cNvPr id="11" name="Text 8"/>
          <p:cNvSpPr txBox="1"/>
          <p:nvPr/>
        </p:nvSpPr>
        <p:spPr>
          <a:xfrm>
            <a:off x="475488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180+</a:t>
            </a:r>
            <a:endParaRPr lang="en-US" sz="3600" dirty="0"/>
          </a:p>
        </p:txBody>
      </p:sp>
      <p:sp>
        <p:nvSpPr>
          <p:cNvPr id="12" name="Text 9"/>
          <p:cNvSpPr txBox="1"/>
          <p:nvPr/>
        </p:nvSpPr>
        <p:spPr>
          <a:xfrm>
            <a:off x="475488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VOITURES SUR LA RAMPA HISTÓRICA (RECORD)</a:t>
            </a:r>
            <a:endParaRPr lang="en-US" sz="1300" dirty="0"/>
          </a:p>
        </p:txBody>
      </p:sp>
      <p:sp>
        <p:nvSpPr>
          <p:cNvPr id="13" name="Shape 10"/>
          <p:cNvSpPr/>
          <p:nvPr/>
        </p:nvSpPr>
        <p:spPr>
          <a:xfrm>
            <a:off x="731520" y="5989320"/>
            <a:ext cx="2560320" cy="457200"/>
          </a:xfrm>
          <a:prstGeom prst="roundRect">
            <a:avLst>
              <a:gd name="adj" fmla="val 50000"/>
            </a:avLst>
          </a:prstGeom>
          <a:solidFill>
            <a:srgbClr val="A83232"/>
          </a:solidFill>
          <a:ln w="12700">
            <a:solidFill>
              <a:srgbClr val="A83232"/>
            </a:solidFill>
            <a:prstDash val="solid"/>
          </a:ln>
        </p:spPr>
      </p:sp>
      <p:sp>
        <p:nvSpPr>
          <p:cNvPr id="14" name="Text 11"/>
          <p:cNvSpPr txBox="1"/>
          <p:nvPr/>
        </p:nvSpPr>
        <p:spPr>
          <a:xfrm>
            <a:off x="731520" y="5989320"/>
            <a:ext cx="256032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Image 0" descr="/home/user/Portugal-Website/images/photos/smf-castle.jpg">    </p:cNvPr>
          <p:cNvPicPr>
            <a:picLocks noChangeAspect="1"/>
          </p:cNvPicPr>
          <p:nvPr/>
        </p:nvPicPr>
        <p:blipFill>
          <a:blip r:embed="rId1"/>
          <a:srcRect l="0" r="0" t="0" b="0"/>
          <a:stretch/>
        </p:blipFill>
        <p:spPr>
          <a:xfrm>
            <a:off x="0" y="0"/>
            <a:ext cx="5669280" cy="6858000"/>
          </a:xfrm>
          <a:prstGeom prst="rect">
            <a:avLst/>
          </a:prstGeom>
        </p:spPr>
      </p:pic>
      <p:sp>
        <p:nvSpPr>
          <p:cNvPr id="3" name="Text 0"/>
          <p:cNvSpPr txBox="1"/>
          <p:nvPr/>
        </p:nvSpPr>
        <p:spPr>
          <a:xfrm>
            <a:off x="6172200" y="548640"/>
            <a:ext cx="5486400" cy="45720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SANTA MARIA DA FEIRA — LÀ OÙ J'AI VÉCU</a:t>
            </a:r>
            <a:endParaRPr lang="en-US" sz="1200" dirty="0"/>
          </a:p>
        </p:txBody>
      </p:sp>
      <p:sp>
        <p:nvSpPr>
          <p:cNvPr id="4" name="Text 1"/>
          <p:cNvSpPr txBox="1"/>
          <p:nvPr/>
        </p:nvSpPr>
        <p:spPr>
          <a:xfrm>
            <a:off x="6172200" y="960120"/>
            <a:ext cx="5486400" cy="822960"/>
          </a:xfrm>
          <a:prstGeom prst="rect">
            <a:avLst/>
          </a:prstGeom>
          <a:noFill/>
          <a:ln/>
        </p:spPr>
        <p:txBody>
          <a:bodyPr wrap="square" lIns="0" tIns="0" rIns="0" bIns="0" rtlCol="0" anchor="t"/>
          <a:lstStyle/>
          <a:p>
            <a:pPr indent="0" marL="0">
              <a:buNone/>
            </a:pPr>
            <a:r>
              <a:rPr lang="en-US" sz="2400" b="1" dirty="0">
                <a:solidFill>
                  <a:srgbClr val="174A3A"/>
                </a:solidFill>
                <a:latin typeface="Cambria" pitchFamily="34" charset="0"/>
                <a:ea typeface="Cambria" pitchFamily="34" charset="-122"/>
                <a:cs typeface="Cambria" pitchFamily="34" charset="-120"/>
              </a:rPr>
              <a:t>Une ville de château et de chevaliers</a:t>
            </a:r>
            <a:endParaRPr lang="en-US" sz="2400" dirty="0"/>
          </a:p>
        </p:txBody>
      </p:sp>
      <p:sp>
        <p:nvSpPr>
          <p:cNvPr id="5" name="Text 2"/>
          <p:cNvSpPr txBox="1"/>
          <p:nvPr/>
        </p:nvSpPr>
        <p:spPr>
          <a:xfrm>
            <a:off x="6172200" y="1828800"/>
            <a:ext cx="5486400" cy="11430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Avant de partir pour la Suisse, j'ai vécu à Santa Maria da Feira, à une trentaine de kilomètres au sud de Porto. La ville est dominée par l'un des plus beaux châteaux médiévaux du Portugal.</a:t>
            </a:r>
            <a:endParaRPr lang="en-US" sz="1500" dirty="0"/>
          </a:p>
        </p:txBody>
      </p:sp>
      <p:sp>
        <p:nvSpPr>
          <p:cNvPr id="6" name="Text 3"/>
          <p:cNvSpPr txBox="1"/>
          <p:nvPr/>
        </p:nvSpPr>
        <p:spPr>
          <a:xfrm>
            <a:off x="6172200" y="3017520"/>
            <a:ext cx="5486400" cy="457200"/>
          </a:xfrm>
          <a:prstGeom prst="rect">
            <a:avLst/>
          </a:prstGeom>
          <a:noFill/>
          <a:ln/>
        </p:spPr>
        <p:txBody>
          <a:bodyPr wrap="square" lIns="0" tIns="0" rIns="0" bIns="0" rtlCol="0" anchor="t"/>
          <a:lstStyle/>
          <a:p>
            <a:pPr indent="0" marL="0">
              <a:buNone/>
            </a:pPr>
            <a:r>
              <a:rPr lang="en-US" sz="2200" b="1" dirty="0">
                <a:solidFill>
                  <a:srgbClr val="1E4F8F"/>
                </a:solidFill>
                <a:latin typeface="Cambria" pitchFamily="34" charset="0"/>
                <a:ea typeface="Cambria" pitchFamily="34" charset="-122"/>
                <a:cs typeface="Cambria" pitchFamily="34" charset="-120"/>
              </a:rPr>
              <a:t>Viagem Medieval</a:t>
            </a:r>
            <a:endParaRPr lang="en-US" sz="2200" dirty="0"/>
          </a:p>
        </p:txBody>
      </p:sp>
      <p:sp>
        <p:nvSpPr>
          <p:cNvPr id="7" name="Text 4"/>
          <p:cNvSpPr txBox="1"/>
          <p:nvPr/>
        </p:nvSpPr>
        <p:spPr>
          <a:xfrm>
            <a:off x="6172200" y="3474720"/>
            <a:ext cx="5486400" cy="12801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Chaque été depuis 1996, toute la ville remonte le temps pendant une douzaine de jours : tournois de chevaliers, spectacles, musique, fauconnerie et marchés d'époque. C'est la plus grande reconstitution médiévale de la péninsule Ibérique, avec des centaines de milliers de visiteurs.</a:t>
            </a:r>
            <a:endParaRPr lang="en-US" sz="1400" dirty="0"/>
          </a:p>
        </p:txBody>
      </p:sp>
      <p:sp>
        <p:nvSpPr>
          <p:cNvPr id="8" name="Text 5"/>
          <p:cNvSpPr txBox="1"/>
          <p:nvPr/>
        </p:nvSpPr>
        <p:spPr>
          <a:xfrm>
            <a:off x="6172200" y="4754880"/>
            <a:ext cx="173736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650 000</a:t>
            </a:r>
            <a:endParaRPr lang="en-US" sz="3600" dirty="0"/>
          </a:p>
        </p:txBody>
      </p:sp>
      <p:sp>
        <p:nvSpPr>
          <p:cNvPr id="9" name="Text 6"/>
          <p:cNvSpPr txBox="1"/>
          <p:nvPr/>
        </p:nvSpPr>
        <p:spPr>
          <a:xfrm>
            <a:off x="61722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VISITEURS EN 2025</a:t>
            </a:r>
            <a:endParaRPr lang="en-US" sz="1300" dirty="0"/>
          </a:p>
        </p:txBody>
      </p:sp>
      <p:sp>
        <p:nvSpPr>
          <p:cNvPr id="10" name="Text 7"/>
          <p:cNvSpPr txBox="1"/>
          <p:nvPr/>
        </p:nvSpPr>
        <p:spPr>
          <a:xfrm>
            <a:off x="8001000" y="4754880"/>
            <a:ext cx="173736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12</a:t>
            </a:r>
            <a:endParaRPr lang="en-US" sz="3600" dirty="0"/>
          </a:p>
        </p:txBody>
      </p:sp>
      <p:sp>
        <p:nvSpPr>
          <p:cNvPr id="11" name="Text 8"/>
          <p:cNvSpPr txBox="1"/>
          <p:nvPr/>
        </p:nvSpPr>
        <p:spPr>
          <a:xfrm>
            <a:off x="80010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JOURS DE FÊTE</a:t>
            </a:r>
            <a:endParaRPr lang="en-US" sz="1300" dirty="0"/>
          </a:p>
        </p:txBody>
      </p:sp>
      <p:sp>
        <p:nvSpPr>
          <p:cNvPr id="12" name="Text 9"/>
          <p:cNvSpPr txBox="1"/>
          <p:nvPr/>
        </p:nvSpPr>
        <p:spPr>
          <a:xfrm>
            <a:off x="9829800" y="4754880"/>
            <a:ext cx="17373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1996</a:t>
            </a:r>
            <a:endParaRPr lang="en-US" sz="3600" dirty="0"/>
          </a:p>
        </p:txBody>
      </p:sp>
      <p:sp>
        <p:nvSpPr>
          <p:cNvPr id="13" name="Text 10"/>
          <p:cNvSpPr txBox="1"/>
          <p:nvPr/>
        </p:nvSpPr>
        <p:spPr>
          <a:xfrm>
            <a:off x="98298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PREMIÈRE ÉDITION</a:t>
            </a:r>
            <a:endParaRPr lang="en-US" sz="1300" dirty="0"/>
          </a:p>
        </p:txBody>
      </p:sp>
      <p:sp>
        <p:nvSpPr>
          <p:cNvPr id="14" name="Shape 11"/>
          <p:cNvSpPr/>
          <p:nvPr/>
        </p:nvSpPr>
        <p:spPr>
          <a:xfrm>
            <a:off x="6172200" y="5897880"/>
            <a:ext cx="2560320" cy="457200"/>
          </a:xfrm>
          <a:prstGeom prst="roundRect">
            <a:avLst>
              <a:gd name="adj" fmla="val 50000"/>
            </a:avLst>
          </a:prstGeom>
          <a:solidFill>
            <a:srgbClr val="A83232"/>
          </a:solidFill>
          <a:ln w="12700">
            <a:solidFill>
              <a:srgbClr val="A83232"/>
            </a:solidFill>
            <a:prstDash val="solid"/>
          </a:ln>
        </p:spPr>
      </p:sp>
      <p:sp>
        <p:nvSpPr>
          <p:cNvPr id="15" name="Text 12"/>
          <p:cNvSpPr txBox="1"/>
          <p:nvPr/>
        </p:nvSpPr>
        <p:spPr>
          <a:xfrm>
            <a:off x="6172200" y="5897880"/>
            <a:ext cx="256032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Image 0" descr="/home/user/Portugal-Website/images/photos/hero-merv.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07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Merveilles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Les trésors du Portugal, du nord au sud</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Vignobles, monastères, palais, ponts et lacs : faites défiler la page et suivez la carte.</a:t>
            </a:r>
            <a:endParaRPr lang="en-US" sz="15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tmp/claude-0/-home-user-Portugal-Website/75cb938f-c0b0-5bfa-87a7-b5b5dc4ddeb0/scratchpad/ppt/map.png">    </p:cNvPr>
          <p:cNvPicPr>
            <a:picLocks noChangeAspect="1"/>
          </p:cNvPicPr>
          <p:nvPr/>
        </p:nvPicPr>
        <p:blipFill>
          <a:blip r:embed="rId1"/>
          <a:stretch>
            <a:fillRect/>
          </a:stretch>
        </p:blipFill>
        <p:spPr>
          <a:xfrm>
            <a:off x="548640" y="411480"/>
            <a:ext cx="2651760" cy="5733288"/>
          </a:xfrm>
          <a:prstGeom prst="rect">
            <a:avLst/>
          </a:prstGeom>
        </p:spPr>
      </p:pic>
      <p:sp>
        <p:nvSpPr>
          <p:cNvPr id="3" name="Text 0"/>
          <p:cNvSpPr txBox="1"/>
          <p:nvPr/>
        </p:nvSpPr>
        <p:spPr>
          <a:xfrm>
            <a:off x="3657600" y="411480"/>
            <a:ext cx="77724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 VOYAGE SUR LA CARTE</a:t>
            </a:r>
            <a:endParaRPr lang="en-US" sz="1200" dirty="0"/>
          </a:p>
        </p:txBody>
      </p:sp>
      <p:sp>
        <p:nvSpPr>
          <p:cNvPr id="4" name="Text 1"/>
          <p:cNvSpPr txBox="1"/>
          <p:nvPr/>
        </p:nvSpPr>
        <p:spPr>
          <a:xfrm>
            <a:off x="3657600" y="685800"/>
            <a:ext cx="79552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Dix merveilles à découvrir</a:t>
            </a:r>
            <a:endParaRPr lang="en-US" sz="3400" dirty="0"/>
          </a:p>
        </p:txBody>
      </p:sp>
      <p:sp>
        <p:nvSpPr>
          <p:cNvPr id="5" name="Shape 2"/>
          <p:cNvSpPr/>
          <p:nvPr/>
        </p:nvSpPr>
        <p:spPr>
          <a:xfrm>
            <a:off x="3657600" y="1600200"/>
            <a:ext cx="457200" cy="457200"/>
          </a:xfrm>
          <a:prstGeom prst="ellipse">
            <a:avLst/>
          </a:prstGeom>
          <a:solidFill>
            <a:srgbClr val="A83232"/>
          </a:solidFill>
          <a:ln w="12700">
            <a:solidFill>
              <a:srgbClr val="A83232"/>
            </a:solidFill>
            <a:prstDash val="solid"/>
          </a:ln>
        </p:spPr>
      </p:sp>
      <p:sp>
        <p:nvSpPr>
          <p:cNvPr id="6" name="Text 3"/>
          <p:cNvSpPr txBox="1"/>
          <p:nvPr/>
        </p:nvSpPr>
        <p:spPr>
          <a:xfrm>
            <a:off x="365760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4297680" y="161848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La vallée du Douro</a:t>
            </a:r>
            <a:endParaRPr lang="en-US" sz="1500" dirty="0"/>
          </a:p>
        </p:txBody>
      </p:sp>
      <p:sp>
        <p:nvSpPr>
          <p:cNvPr id="8" name="Text 5"/>
          <p:cNvSpPr txBox="1"/>
          <p:nvPr/>
        </p:nvSpPr>
        <p:spPr>
          <a:xfrm>
            <a:off x="4297680" y="202082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NORD · ALTO DOURO</a:t>
            </a:r>
            <a:endParaRPr lang="en-US" sz="950" dirty="0"/>
          </a:p>
        </p:txBody>
      </p:sp>
      <p:sp>
        <p:nvSpPr>
          <p:cNvPr id="9" name="Shape 6"/>
          <p:cNvSpPr/>
          <p:nvPr/>
        </p:nvSpPr>
        <p:spPr>
          <a:xfrm>
            <a:off x="3657600" y="2423160"/>
            <a:ext cx="457200" cy="457200"/>
          </a:xfrm>
          <a:prstGeom prst="ellipse">
            <a:avLst/>
          </a:prstGeom>
          <a:solidFill>
            <a:srgbClr val="1E4F8F"/>
          </a:solidFill>
          <a:ln w="12700">
            <a:solidFill>
              <a:srgbClr val="1E4F8F"/>
            </a:solidFill>
            <a:prstDash val="solid"/>
          </a:ln>
        </p:spPr>
      </p:sp>
      <p:sp>
        <p:nvSpPr>
          <p:cNvPr id="10" name="Text 7"/>
          <p:cNvSpPr txBox="1"/>
          <p:nvPr/>
        </p:nvSpPr>
        <p:spPr>
          <a:xfrm>
            <a:off x="3657600" y="24231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1" name="Text 8"/>
          <p:cNvSpPr txBox="1"/>
          <p:nvPr/>
        </p:nvSpPr>
        <p:spPr>
          <a:xfrm>
            <a:off x="4297680" y="244144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Porto et le pont Dom Luís I</a:t>
            </a:r>
            <a:endParaRPr lang="en-US" sz="1500" dirty="0"/>
          </a:p>
        </p:txBody>
      </p:sp>
      <p:sp>
        <p:nvSpPr>
          <p:cNvPr id="12" name="Text 9"/>
          <p:cNvSpPr txBox="1"/>
          <p:nvPr/>
        </p:nvSpPr>
        <p:spPr>
          <a:xfrm>
            <a:off x="4297680" y="284378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NORD · PORTO</a:t>
            </a:r>
            <a:endParaRPr lang="en-US" sz="950" dirty="0"/>
          </a:p>
        </p:txBody>
      </p:sp>
      <p:sp>
        <p:nvSpPr>
          <p:cNvPr id="13" name="Shape 10"/>
          <p:cNvSpPr/>
          <p:nvPr/>
        </p:nvSpPr>
        <p:spPr>
          <a:xfrm>
            <a:off x="3657600" y="3246120"/>
            <a:ext cx="457200" cy="457200"/>
          </a:xfrm>
          <a:prstGeom prst="ellipse">
            <a:avLst/>
          </a:prstGeom>
          <a:solidFill>
            <a:srgbClr val="A83232"/>
          </a:solidFill>
          <a:ln w="12700">
            <a:solidFill>
              <a:srgbClr val="A83232"/>
            </a:solidFill>
            <a:prstDash val="solid"/>
          </a:ln>
        </p:spPr>
      </p:sp>
      <p:sp>
        <p:nvSpPr>
          <p:cNvPr id="14" name="Text 11"/>
          <p:cNvSpPr txBox="1"/>
          <p:nvPr/>
        </p:nvSpPr>
        <p:spPr>
          <a:xfrm>
            <a:off x="3657600" y="3246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5" name="Text 12"/>
          <p:cNvSpPr txBox="1"/>
          <p:nvPr/>
        </p:nvSpPr>
        <p:spPr>
          <a:xfrm>
            <a:off x="4297680" y="326440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Aveiro, la « Venise du Portugal »</a:t>
            </a:r>
            <a:endParaRPr lang="en-US" sz="1500" dirty="0"/>
          </a:p>
        </p:txBody>
      </p:sp>
      <p:sp>
        <p:nvSpPr>
          <p:cNvPr id="16" name="Text 13"/>
          <p:cNvSpPr txBox="1"/>
          <p:nvPr/>
        </p:nvSpPr>
        <p:spPr>
          <a:xfrm>
            <a:off x="4297680" y="366674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CENTRE · RIA DE AVEIRO</a:t>
            </a:r>
            <a:endParaRPr lang="en-US" sz="950" dirty="0"/>
          </a:p>
        </p:txBody>
      </p:sp>
      <p:sp>
        <p:nvSpPr>
          <p:cNvPr id="17" name="Shape 14"/>
          <p:cNvSpPr/>
          <p:nvPr/>
        </p:nvSpPr>
        <p:spPr>
          <a:xfrm>
            <a:off x="3657600" y="4069080"/>
            <a:ext cx="457200" cy="457200"/>
          </a:xfrm>
          <a:prstGeom prst="ellipse">
            <a:avLst/>
          </a:prstGeom>
          <a:solidFill>
            <a:srgbClr val="1E4F8F"/>
          </a:solidFill>
          <a:ln w="12700">
            <a:solidFill>
              <a:srgbClr val="1E4F8F"/>
            </a:solidFill>
            <a:prstDash val="solid"/>
          </a:ln>
        </p:spPr>
      </p:sp>
      <p:sp>
        <p:nvSpPr>
          <p:cNvPr id="18" name="Text 15"/>
          <p:cNvSpPr txBox="1"/>
          <p:nvPr/>
        </p:nvSpPr>
        <p:spPr>
          <a:xfrm>
            <a:off x="3657600" y="40690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9" name="Text 16"/>
          <p:cNvSpPr txBox="1"/>
          <p:nvPr/>
        </p:nvSpPr>
        <p:spPr>
          <a:xfrm>
            <a:off x="4297680" y="408736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monastère de Batalha</a:t>
            </a:r>
            <a:endParaRPr lang="en-US" sz="1500" dirty="0"/>
          </a:p>
        </p:txBody>
      </p:sp>
      <p:sp>
        <p:nvSpPr>
          <p:cNvPr id="20" name="Text 17"/>
          <p:cNvSpPr txBox="1"/>
          <p:nvPr/>
        </p:nvSpPr>
        <p:spPr>
          <a:xfrm>
            <a:off x="4297680" y="448970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CENTRE · LEIRIA</a:t>
            </a:r>
            <a:endParaRPr lang="en-US" sz="950" dirty="0"/>
          </a:p>
        </p:txBody>
      </p:sp>
      <p:sp>
        <p:nvSpPr>
          <p:cNvPr id="21" name="Shape 18"/>
          <p:cNvSpPr/>
          <p:nvPr/>
        </p:nvSpPr>
        <p:spPr>
          <a:xfrm>
            <a:off x="3657600" y="4892040"/>
            <a:ext cx="457200" cy="457200"/>
          </a:xfrm>
          <a:prstGeom prst="ellipse">
            <a:avLst/>
          </a:prstGeom>
          <a:solidFill>
            <a:srgbClr val="A83232"/>
          </a:solidFill>
          <a:ln w="12700">
            <a:solidFill>
              <a:srgbClr val="A83232"/>
            </a:solidFill>
            <a:prstDash val="solid"/>
          </a:ln>
        </p:spPr>
      </p:sp>
      <p:sp>
        <p:nvSpPr>
          <p:cNvPr id="22" name="Text 19"/>
          <p:cNvSpPr txBox="1"/>
          <p:nvPr/>
        </p:nvSpPr>
        <p:spPr>
          <a:xfrm>
            <a:off x="3657600" y="4892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3" name="Text 20"/>
          <p:cNvSpPr txBox="1"/>
          <p:nvPr/>
        </p:nvSpPr>
        <p:spPr>
          <a:xfrm>
            <a:off x="4297680" y="491032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palais de la Pena, Sintra</a:t>
            </a:r>
            <a:endParaRPr lang="en-US" sz="1500" dirty="0"/>
          </a:p>
        </p:txBody>
      </p:sp>
      <p:sp>
        <p:nvSpPr>
          <p:cNvPr id="24" name="Text 21"/>
          <p:cNvSpPr txBox="1"/>
          <p:nvPr/>
        </p:nvSpPr>
        <p:spPr>
          <a:xfrm>
            <a:off x="4297680" y="531266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SERRA DE SINTRA</a:t>
            </a:r>
            <a:endParaRPr lang="en-US" sz="950" dirty="0"/>
          </a:p>
        </p:txBody>
      </p:sp>
      <p:sp>
        <p:nvSpPr>
          <p:cNvPr id="25" name="Shape 22"/>
          <p:cNvSpPr/>
          <p:nvPr/>
        </p:nvSpPr>
        <p:spPr>
          <a:xfrm>
            <a:off x="7680960" y="1600200"/>
            <a:ext cx="457200" cy="457200"/>
          </a:xfrm>
          <a:prstGeom prst="ellipse">
            <a:avLst/>
          </a:prstGeom>
          <a:solidFill>
            <a:srgbClr val="1E4F8F"/>
          </a:solidFill>
          <a:ln w="12700">
            <a:solidFill>
              <a:srgbClr val="1E4F8F"/>
            </a:solidFill>
            <a:prstDash val="solid"/>
          </a:ln>
        </p:spPr>
      </p:sp>
      <p:sp>
        <p:nvSpPr>
          <p:cNvPr id="26" name="Text 23"/>
          <p:cNvSpPr txBox="1"/>
          <p:nvPr/>
        </p:nvSpPr>
        <p:spPr>
          <a:xfrm>
            <a:off x="768096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7" name="Text 24"/>
          <p:cNvSpPr txBox="1"/>
          <p:nvPr/>
        </p:nvSpPr>
        <p:spPr>
          <a:xfrm>
            <a:off x="8321040" y="161848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La tour de Belém</a:t>
            </a:r>
            <a:endParaRPr lang="en-US" sz="1500" dirty="0"/>
          </a:p>
        </p:txBody>
      </p:sp>
      <p:sp>
        <p:nvSpPr>
          <p:cNvPr id="28" name="Text 25"/>
          <p:cNvSpPr txBox="1"/>
          <p:nvPr/>
        </p:nvSpPr>
        <p:spPr>
          <a:xfrm>
            <a:off x="8321040" y="202082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BELÉM</a:t>
            </a:r>
            <a:endParaRPr lang="en-US" sz="950" dirty="0"/>
          </a:p>
        </p:txBody>
      </p:sp>
      <p:sp>
        <p:nvSpPr>
          <p:cNvPr id="29" name="Shape 26"/>
          <p:cNvSpPr/>
          <p:nvPr/>
        </p:nvSpPr>
        <p:spPr>
          <a:xfrm>
            <a:off x="7680960" y="2423160"/>
            <a:ext cx="457200" cy="457200"/>
          </a:xfrm>
          <a:prstGeom prst="ellipse">
            <a:avLst/>
          </a:prstGeom>
          <a:solidFill>
            <a:srgbClr val="A83232"/>
          </a:solidFill>
          <a:ln w="12700">
            <a:solidFill>
              <a:srgbClr val="A83232"/>
            </a:solidFill>
            <a:prstDash val="solid"/>
          </a:ln>
        </p:spPr>
      </p:sp>
      <p:sp>
        <p:nvSpPr>
          <p:cNvPr id="30" name="Text 27"/>
          <p:cNvSpPr txBox="1"/>
          <p:nvPr/>
        </p:nvSpPr>
        <p:spPr>
          <a:xfrm>
            <a:off x="7680960" y="24231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31" name="Text 28"/>
          <p:cNvSpPr txBox="1"/>
          <p:nvPr/>
        </p:nvSpPr>
        <p:spPr>
          <a:xfrm>
            <a:off x="8321040" y="244144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monastère des Hiéronymites</a:t>
            </a:r>
            <a:endParaRPr lang="en-US" sz="1500" dirty="0"/>
          </a:p>
        </p:txBody>
      </p:sp>
      <p:sp>
        <p:nvSpPr>
          <p:cNvPr id="32" name="Text 29"/>
          <p:cNvSpPr txBox="1"/>
          <p:nvPr/>
        </p:nvSpPr>
        <p:spPr>
          <a:xfrm>
            <a:off x="8321040" y="284378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BELÉM</a:t>
            </a:r>
            <a:endParaRPr lang="en-US" sz="950" dirty="0"/>
          </a:p>
        </p:txBody>
      </p:sp>
      <p:sp>
        <p:nvSpPr>
          <p:cNvPr id="33" name="Shape 30"/>
          <p:cNvSpPr/>
          <p:nvPr/>
        </p:nvSpPr>
        <p:spPr>
          <a:xfrm>
            <a:off x="7680960" y="3246120"/>
            <a:ext cx="457200" cy="457200"/>
          </a:xfrm>
          <a:prstGeom prst="ellipse">
            <a:avLst/>
          </a:prstGeom>
          <a:solidFill>
            <a:srgbClr val="1E4F8F"/>
          </a:solidFill>
          <a:ln w="12700">
            <a:solidFill>
              <a:srgbClr val="1E4F8F"/>
            </a:solidFill>
            <a:prstDash val="solid"/>
          </a:ln>
        </p:spPr>
      </p:sp>
      <p:sp>
        <p:nvSpPr>
          <p:cNvPr id="34" name="Text 31"/>
          <p:cNvSpPr txBox="1"/>
          <p:nvPr/>
        </p:nvSpPr>
        <p:spPr>
          <a:xfrm>
            <a:off x="7680960" y="3246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35" name="Text 32"/>
          <p:cNvSpPr txBox="1"/>
          <p:nvPr/>
        </p:nvSpPr>
        <p:spPr>
          <a:xfrm>
            <a:off x="8321040" y="326440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pont Vasco de Gama et l'Expo 98</a:t>
            </a:r>
            <a:endParaRPr lang="en-US" sz="1500" dirty="0"/>
          </a:p>
        </p:txBody>
      </p:sp>
      <p:sp>
        <p:nvSpPr>
          <p:cNvPr id="36" name="Text 33"/>
          <p:cNvSpPr txBox="1"/>
          <p:nvPr/>
        </p:nvSpPr>
        <p:spPr>
          <a:xfrm>
            <a:off x="8321040" y="366674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PARQUE DAS NAÇÕES</a:t>
            </a:r>
            <a:endParaRPr lang="en-US" sz="950" dirty="0"/>
          </a:p>
        </p:txBody>
      </p:sp>
      <p:sp>
        <p:nvSpPr>
          <p:cNvPr id="37" name="Shape 34"/>
          <p:cNvSpPr/>
          <p:nvPr/>
        </p:nvSpPr>
        <p:spPr>
          <a:xfrm>
            <a:off x="7680960" y="4069080"/>
            <a:ext cx="457200" cy="457200"/>
          </a:xfrm>
          <a:prstGeom prst="ellipse">
            <a:avLst/>
          </a:prstGeom>
          <a:solidFill>
            <a:srgbClr val="A83232"/>
          </a:solidFill>
          <a:ln w="12700">
            <a:solidFill>
              <a:srgbClr val="A83232"/>
            </a:solidFill>
            <a:prstDash val="solid"/>
          </a:ln>
        </p:spPr>
      </p:sp>
      <p:sp>
        <p:nvSpPr>
          <p:cNvPr id="38" name="Text 35"/>
          <p:cNvSpPr txBox="1"/>
          <p:nvPr/>
        </p:nvSpPr>
        <p:spPr>
          <a:xfrm>
            <a:off x="7680960" y="40690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39" name="Text 36"/>
          <p:cNvSpPr txBox="1"/>
          <p:nvPr/>
        </p:nvSpPr>
        <p:spPr>
          <a:xfrm>
            <a:off x="8321040" y="408736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lac d'Alqueva</a:t>
            </a:r>
            <a:endParaRPr lang="en-US" sz="1500" dirty="0"/>
          </a:p>
        </p:txBody>
      </p:sp>
      <p:sp>
        <p:nvSpPr>
          <p:cNvPr id="40" name="Text 37"/>
          <p:cNvSpPr txBox="1"/>
          <p:nvPr/>
        </p:nvSpPr>
        <p:spPr>
          <a:xfrm>
            <a:off x="8321040" y="448970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ALENTEJO · FLEUVE GUADIANA</a:t>
            </a:r>
            <a:endParaRPr lang="en-US" sz="950" dirty="0"/>
          </a:p>
        </p:txBody>
      </p:sp>
      <p:sp>
        <p:nvSpPr>
          <p:cNvPr id="41" name="Shape 38"/>
          <p:cNvSpPr/>
          <p:nvPr/>
        </p:nvSpPr>
        <p:spPr>
          <a:xfrm>
            <a:off x="7680960" y="4892040"/>
            <a:ext cx="457200" cy="457200"/>
          </a:xfrm>
          <a:prstGeom prst="ellipse">
            <a:avLst/>
          </a:prstGeom>
          <a:solidFill>
            <a:srgbClr val="1E4F8F"/>
          </a:solidFill>
          <a:ln w="12700">
            <a:solidFill>
              <a:srgbClr val="1E4F8F"/>
            </a:solidFill>
            <a:prstDash val="solid"/>
          </a:ln>
        </p:spPr>
      </p:sp>
      <p:sp>
        <p:nvSpPr>
          <p:cNvPr id="42" name="Text 39"/>
          <p:cNvSpPr txBox="1"/>
          <p:nvPr/>
        </p:nvSpPr>
        <p:spPr>
          <a:xfrm>
            <a:off x="7680960" y="4892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10</a:t>
            </a:r>
            <a:endParaRPr lang="en-US" sz="1400" dirty="0"/>
          </a:p>
        </p:txBody>
      </p:sp>
      <p:sp>
        <p:nvSpPr>
          <p:cNvPr id="43" name="Text 40"/>
          <p:cNvSpPr txBox="1"/>
          <p:nvPr/>
        </p:nvSpPr>
        <p:spPr>
          <a:xfrm>
            <a:off x="8321040" y="491032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La grotte de Benagil</a:t>
            </a:r>
            <a:endParaRPr lang="en-US" sz="1500" dirty="0"/>
          </a:p>
        </p:txBody>
      </p:sp>
      <p:sp>
        <p:nvSpPr>
          <p:cNvPr id="44" name="Text 41"/>
          <p:cNvSpPr txBox="1"/>
          <p:nvPr/>
        </p:nvSpPr>
        <p:spPr>
          <a:xfrm>
            <a:off x="8321040" y="531266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ALGARVE · LAGOA</a:t>
            </a:r>
            <a:endParaRPr lang="en-US" sz="950" dirty="0"/>
          </a:p>
        </p:txBody>
      </p:sp>
      <p:sp>
        <p:nvSpPr>
          <p:cNvPr id="45" name="Shape 42"/>
          <p:cNvSpPr/>
          <p:nvPr/>
        </p:nvSpPr>
        <p:spPr>
          <a:xfrm>
            <a:off x="3703320" y="5916168"/>
            <a:ext cx="457200" cy="0"/>
          </a:xfrm>
          <a:prstGeom prst="line">
            <a:avLst/>
          </a:prstGeom>
          <a:noFill/>
          <a:ln w="38100">
            <a:solidFill>
              <a:srgbClr val="C8102E"/>
            </a:solidFill>
            <a:prstDash val="dash"/>
          </a:ln>
        </p:spPr>
      </p:sp>
      <p:sp>
        <p:nvSpPr>
          <p:cNvPr id="46" name="Text 43"/>
          <p:cNvSpPr txBox="1"/>
          <p:nvPr/>
        </p:nvSpPr>
        <p:spPr>
          <a:xfrm>
            <a:off x="4297680" y="5760720"/>
            <a:ext cx="7315200" cy="320040"/>
          </a:xfrm>
          <a:prstGeom prst="rect">
            <a:avLst/>
          </a:prstGeom>
          <a:noFill/>
          <a:ln/>
        </p:spPr>
        <p:txBody>
          <a:bodyPr wrap="square" lIns="0" tIns="0" rIns="0" bIns="0" rtlCol="0" anchor="t"/>
          <a:lstStyle/>
          <a:p>
            <a:pPr indent="0" marL="0">
              <a:buNone/>
            </a:pPr>
            <a:r>
              <a:rPr lang="en-US" sz="1200" b="1" dirty="0">
                <a:solidFill>
                  <a:srgbClr val="C8102E"/>
                </a:solidFill>
                <a:latin typeface="Calibri" pitchFamily="34" charset="0"/>
                <a:ea typeface="Calibri" pitchFamily="34" charset="-122"/>
                <a:cs typeface="Calibri" pitchFamily="34" charset="-120"/>
              </a:rPr>
              <a:t>N222 — « Meilleure route du monde à conduire » (étude Avis, 2015)</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Image 0" descr="/home/user/Portugal-Website/images/photos/w-douro.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365760" y="6035040"/>
            <a:ext cx="3291840" cy="457200"/>
          </a:xfrm>
          <a:prstGeom prst="roundRect">
            <a:avLst>
              <a:gd name="adj" fmla="val 50000"/>
            </a:avLst>
          </a:prstGeom>
          <a:solidFill>
            <a:srgbClr val="A83232"/>
          </a:solidFill>
          <a:ln w="12700">
            <a:solidFill>
              <a:srgbClr val="A83232"/>
            </a:solidFill>
            <a:prstDash val="solid"/>
          </a:ln>
        </p:spPr>
      </p:sp>
      <p:sp>
        <p:nvSpPr>
          <p:cNvPr id="4" name="Text 1"/>
          <p:cNvSpPr txBox="1"/>
          <p:nvPr/>
        </p:nvSpPr>
        <p:spPr>
          <a:xfrm>
            <a:off x="365760" y="6035040"/>
            <a:ext cx="329184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 du Douro</a:t>
            </a:r>
            <a:endParaRPr lang="en-US" sz="1400" dirty="0"/>
          </a:p>
        </p:txBody>
      </p:sp>
      <p:sp>
        <p:nvSpPr>
          <p:cNvPr id="5"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6"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NORD · ALTO DOURO</a:t>
            </a:r>
            <a:endParaRPr lang="en-US" sz="1100" dirty="0"/>
          </a:p>
        </p:txBody>
      </p:sp>
      <p:sp>
        <p:nvSpPr>
          <p:cNvPr id="8"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vallée du Douro</a:t>
            </a:r>
            <a:endParaRPr lang="en-US" sz="2600" dirty="0"/>
          </a:p>
        </p:txBody>
      </p:sp>
      <p:sp>
        <p:nvSpPr>
          <p:cNvPr id="9"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Pendant des siècles, les hommes ont taillé à la main des terrasses dans les collines de schiste pour y planter la vigne. C'est ici que naît le célèbre vin de Porto, transporté autrefois jusqu'à Porto sur les bateaux rabelos.</a:t>
            </a:r>
            <a:endParaRPr lang="en-US" sz="1400" dirty="0"/>
          </a:p>
        </p:txBody>
      </p:sp>
      <p:sp>
        <p:nvSpPr>
          <p:cNvPr id="10"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2001</a:t>
            </a:r>
            <a:endParaRPr lang="en-US" sz="1300" dirty="0"/>
          </a:p>
        </p:txBody>
      </p:sp>
      <p:sp>
        <p:nvSpPr>
          <p:cNvPr id="12"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Région viticole délimitée dès 1756, l'une des plus anciennes du monde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home/user/Portugal-Website/images/photos/x-dluis.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x-caves.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En face, à Gaia, le vin de Porto vieillit dans les caves, comme autrefois quand il descendait le Douro sur les bateaux rabelos.</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NORD · PORTO</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Porto et le pont Dom Luís I</a:t>
            </a:r>
            <a:endParaRPr lang="en-US" sz="2600" dirty="0"/>
          </a:p>
        </p:txBody>
      </p:sp>
      <p:sp>
        <p:nvSpPr>
          <p:cNvPr id="10"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Inauguré en 1886, le pont Dom Luís I relie Porto à Vila Nova de Gaia par une arche de fer de 172 m. Il a été conçu par Théophile Seyrig, ancien associé de Gustave Eiffel. À ses pieds, les maisons colorées de la Ribeira se reflètent dans le Douro.</a:t>
            </a:r>
            <a:endParaRPr lang="en-US" sz="1400" dirty="0"/>
          </a:p>
        </p:txBody>
      </p:sp>
      <p:sp>
        <p:nvSpPr>
          <p:cNvPr id="11"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Deux tabliers : le métro en haut, les voitures en bas</a:t>
            </a:r>
            <a:endParaRPr lang="en-US" sz="1300" dirty="0"/>
          </a:p>
        </p:txBody>
      </p:sp>
      <p:sp>
        <p:nvSpPr>
          <p:cNvPr id="13"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Centre historique classé à l'UNESCO en 1996</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home/user/Portugal-Website/images/photos/w-aveiro.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luis/salinas-aveiro.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Les salines d'Aveiro</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CENTRE · RIA DE AVEIRO</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Aveiro, la « Venise du Portugal »</a:t>
            </a:r>
            <a:endParaRPr lang="en-US" sz="2600" dirty="0"/>
          </a:p>
        </p:txBody>
      </p:sp>
      <p:sp>
        <p:nvSpPr>
          <p:cNvPr id="10"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Ses canaux sont parcourus par les moliceiros, des bateaux colorés qui servaient autrefois à récolter le moliço, une algue utilisée comme engrais. Autour de la ville, les salines produisent depuis des siècles un sel marin récolté à la main.</a:t>
            </a:r>
            <a:endParaRPr lang="en-US" sz="1400" dirty="0"/>
          </a:p>
        </p:txBody>
      </p:sp>
      <p:sp>
        <p:nvSpPr>
          <p:cNvPr id="11"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Environ 2 600 hectares de salines dans la Ria</a:t>
            </a:r>
            <a:endParaRPr lang="en-US" sz="1300" dirty="0"/>
          </a:p>
        </p:txBody>
      </p:sp>
      <p:sp>
        <p:nvSpPr>
          <p:cNvPr id="13"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La fleur de sel : la fine couche de sel récoltée à la surface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home/user/Portugal-Website/images/photos/w-batalh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CENTRE · LEIRIA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monastère de Batalha</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Le roi Jean Ier le fait construire à partir de 1386 pour remercier la Vierge de la victoire d'Aljubarrota contre la Castille (1385), qui sauve l'indépendance du Portugal. Il y repose avec son épouse anglaise, Philippa de Lancastre, et leur fils, Henri le Navigateur.</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Plus d'un siècle de travaux, du gothique au manuélin</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home/user/Portugal-Website/images/photos/w-pen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SERRA DE SINTRA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palais de la Pena, Sintra</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Perché au sommet de la serra, ce palais aux couleurs vives a été construit au XIXe siècle pour le roi Ferdinand II. Avec ses jardins, ses châteaux et ses forêts, Sintra ressemble à un conte de fées.</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Paysage culturel de Sintra : UNESCO depuis 1995</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Chef-d'œuvre du romantisme en Europe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Image 0" descr="/home/user/Portugal-Website/images/photos/hero-hist.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BELÉM</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tour de Belém</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Construite de 1514 à 1519 sur le Tage, elle protégeait l'entrée de Lisbonne et saluait les navigateurs qui partaient vers l'Afrique, l'Inde et le Brésil. C'est l'un des symboles de l'époque des Découvertes.</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Chef-d'œuvre du style manuélin</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Image 0" descr="/home/user/Portugal-Website/images/photos/w-jeronimos.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BELÉM</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monastère des Hiéronymites</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Commandé par le roi Manuel Ier au début du XVIe siècle et financé grâce au commerce des épices, il célèbre le voyage de Vasco de Gama. On y trouve les tombeaux de Vasco de Gama et du poète Luís de Camões. Et c'est de ses moines que vient la recette du pastel de nata !</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Tombeaux de Vasco de Gama et de Camões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home/user/Portugal-Website/images/photos/w-vgama.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w-oceanario.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L'Oceanário de Lisbonne</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PARQUE DAS NAÇÕES</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pont Vasco de Gama et l'Expo 98</a:t>
            </a:r>
            <a:endParaRPr lang="en-US" sz="2600" dirty="0"/>
          </a:p>
        </p:txBody>
      </p:sp>
      <p:sp>
        <p:nvSpPr>
          <p:cNvPr id="10" name="Text 6"/>
          <p:cNvSpPr txBox="1"/>
          <p:nvPr/>
        </p:nvSpPr>
        <p:spPr>
          <a:xfrm>
            <a:off x="6217920" y="1691640"/>
            <a:ext cx="5440680" cy="17373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Inauguré le 29 mars 1998 pour l'Exposition universelle, 500 ans après l'arrivée de Vasco de Gama en Inde, ce pont à haubans traverse l'estuaire du Tage. L'Expo 98, sur le thème « Les océans, un patrimoine pour le futur », a accueilli plus de 10 millions de visiteurs et a transformé tout un quartier de Lisbonne.</a:t>
            </a:r>
            <a:endParaRPr lang="en-US" sz="1400" dirty="0"/>
          </a:p>
        </p:txBody>
      </p:sp>
      <p:sp>
        <p:nvSpPr>
          <p:cNvPr id="11" name="Shape 7"/>
          <p:cNvSpPr/>
          <p:nvPr/>
        </p:nvSpPr>
        <p:spPr>
          <a:xfrm>
            <a:off x="6217920" y="352044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52044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17,2 km de long, dont 12,3 km au-dessus de l'eau</a:t>
            </a:r>
            <a:endParaRPr lang="en-US" sz="1300" dirty="0"/>
          </a:p>
        </p:txBody>
      </p:sp>
      <p:sp>
        <p:nvSpPr>
          <p:cNvPr id="13" name="Shape 9"/>
          <p:cNvSpPr/>
          <p:nvPr/>
        </p:nvSpPr>
        <p:spPr>
          <a:xfrm>
            <a:off x="6217920" y="414223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14223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Le plus long pont d'Europe à son ouverture</a:t>
            </a:r>
            <a:endParaRPr lang="en-US" sz="1300" dirty="0"/>
          </a:p>
        </p:txBody>
      </p:sp>
      <p:sp>
        <p:nvSpPr>
          <p:cNvPr id="15" name="Text 11"/>
          <p:cNvSpPr txBox="1"/>
          <p:nvPr/>
        </p:nvSpPr>
        <p:spPr>
          <a:xfrm>
            <a:off x="6217920" y="4809744"/>
            <a:ext cx="5440680" cy="10058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L'Oceanário de Lisbonne — Construit pour l'Expo 98, c'est l'un des plus grands aquariums d'Europe, avec un bassin central de 5 millions de litres. Les voyageurs de TripAdvisor l'ont élu meilleur aquarium du monde en 2015, 2017 et 2018.</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Image 0" descr="/home/user/Portugal-Website/images/photos/w-alquev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ALENTEJO · FLEUVE GUADIANA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lac d'Alqueva</a:t>
            </a:r>
            <a:endParaRPr lang="en-US" sz="2600" dirty="0"/>
          </a:p>
        </p:txBody>
      </p:sp>
      <p:sp>
        <p:nvSpPr>
          <p:cNvPr id="7" name="Text 4"/>
          <p:cNvSpPr txBox="1"/>
          <p:nvPr/>
        </p:nvSpPr>
        <p:spPr>
          <a:xfrm>
            <a:off x="6217920" y="1691640"/>
            <a:ext cx="5440680" cy="141732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Créé par le barrage d'Alqueva sur le Guadiana et rempli en 2010, c'est le plus grand lac artificiel d'Europe occidentale. Il irrigue l'Alentejo, produit de l'électricité et offre un ciel parmi les plus étoilés d'Europe.</a:t>
            </a:r>
            <a:endParaRPr lang="en-US" sz="1400" dirty="0"/>
          </a:p>
        </p:txBody>
      </p:sp>
      <p:sp>
        <p:nvSpPr>
          <p:cNvPr id="8" name="Shape 5"/>
          <p:cNvSpPr/>
          <p:nvPr/>
        </p:nvSpPr>
        <p:spPr>
          <a:xfrm>
            <a:off x="6217920" y="320040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9" name="Text 6"/>
          <p:cNvSpPr txBox="1"/>
          <p:nvPr/>
        </p:nvSpPr>
        <p:spPr>
          <a:xfrm>
            <a:off x="6400800" y="320040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Environ 250 km² de surface</a:t>
            </a:r>
            <a:endParaRPr lang="en-US" sz="1300" dirty="0"/>
          </a:p>
        </p:txBody>
      </p:sp>
      <p:sp>
        <p:nvSpPr>
          <p:cNvPr id="10" name="Shape 7"/>
          <p:cNvSpPr/>
          <p:nvPr/>
        </p:nvSpPr>
        <p:spPr>
          <a:xfrm>
            <a:off x="6217920" y="382219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82219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Plus de 1 100 km de rives : plus que toute la côte du Portugal continental !</a:t>
            </a:r>
            <a:endParaRPr lang="en-US" sz="1300" dirty="0"/>
          </a:p>
        </p:txBody>
      </p:sp>
      <p:sp>
        <p:nvSpPr>
          <p:cNvPr id="12" name="Text 9"/>
          <p:cNvSpPr txBox="1"/>
          <p:nvPr/>
        </p:nvSpPr>
        <p:spPr>
          <a:xfrm>
            <a:off x="6217920" y="4535424"/>
            <a:ext cx="1463040" cy="384048"/>
          </a:xfrm>
          <a:prstGeom prst="rect">
            <a:avLst/>
          </a:prstGeom>
          <a:noFill/>
          <a:ln/>
        </p:spPr>
        <p:txBody>
          <a:bodyPr wrap="square" lIns="0" tIns="0" rIns="0" bIns="0" rtlCol="0" anchor="ctr"/>
          <a:lstStyle/>
          <a:p>
            <a:pPr indent="0" marL="0">
              <a:buNone/>
            </a:pPr>
            <a:r>
              <a:rPr lang="en-US" sz="1200" b="1" dirty="0">
                <a:solidFill>
                  <a:srgbClr val="17211D"/>
                </a:solidFill>
                <a:latin typeface="Calibri" pitchFamily="34" charset="0"/>
                <a:ea typeface="Calibri" pitchFamily="34" charset="-122"/>
                <a:cs typeface="Calibri" pitchFamily="34" charset="-120"/>
              </a:rPr>
              <a:t>Lac d'Alqueva</a:t>
            </a:r>
            <a:endParaRPr lang="en-US" sz="1200" dirty="0"/>
          </a:p>
        </p:txBody>
      </p:sp>
      <p:sp>
        <p:nvSpPr>
          <p:cNvPr id="13" name="Shape 10"/>
          <p:cNvSpPr/>
          <p:nvPr/>
        </p:nvSpPr>
        <p:spPr>
          <a:xfrm>
            <a:off x="7680960" y="4581144"/>
            <a:ext cx="3853282" cy="292608"/>
          </a:xfrm>
          <a:prstGeom prst="roundRect">
            <a:avLst>
              <a:gd name="adj" fmla="val 50000"/>
            </a:avLst>
          </a:prstGeom>
          <a:solidFill>
            <a:srgbClr val="3BB3A0"/>
          </a:solidFill>
          <a:ln w="12700">
            <a:solidFill>
              <a:srgbClr val="3BB3A0"/>
            </a:solidFill>
            <a:prstDash val="solid"/>
          </a:ln>
        </p:spPr>
      </p:sp>
      <p:sp>
        <p:nvSpPr>
          <p:cNvPr id="14" name="Text 11"/>
          <p:cNvSpPr txBox="1"/>
          <p:nvPr/>
        </p:nvSpPr>
        <p:spPr>
          <a:xfrm>
            <a:off x="11612880" y="4535424"/>
            <a:ext cx="914400" cy="384048"/>
          </a:xfrm>
          <a:prstGeom prst="rect">
            <a:avLst/>
          </a:prstGeom>
          <a:noFill/>
          <a:ln/>
        </p:spPr>
        <p:txBody>
          <a:bodyPr wrap="square" lIns="0" tIns="0" rIns="0" bIns="0" rtlCol="0" anchor="ctr"/>
          <a:lstStyle/>
          <a:p>
            <a:pPr indent="0" marL="0">
              <a:buNone/>
            </a:pPr>
            <a:r>
              <a:rPr lang="en-US" sz="1200" b="1" dirty="0">
                <a:solidFill>
                  <a:srgbClr val="1E4F8F"/>
                </a:solidFill>
                <a:latin typeface="Calibri" pitchFamily="34" charset="0"/>
                <a:ea typeface="Calibri" pitchFamily="34" charset="-122"/>
                <a:cs typeface="Calibri" pitchFamily="34" charset="-120"/>
              </a:rPr>
              <a:t>83 km</a:t>
            </a:r>
            <a:endParaRPr lang="en-US" sz="1200" dirty="0"/>
          </a:p>
        </p:txBody>
      </p:sp>
      <p:sp>
        <p:nvSpPr>
          <p:cNvPr id="15" name="Text 12"/>
          <p:cNvSpPr txBox="1"/>
          <p:nvPr/>
        </p:nvSpPr>
        <p:spPr>
          <a:xfrm>
            <a:off x="6217920" y="5102352"/>
            <a:ext cx="1463040" cy="384048"/>
          </a:xfrm>
          <a:prstGeom prst="rect">
            <a:avLst/>
          </a:prstGeom>
          <a:noFill/>
          <a:ln/>
        </p:spPr>
        <p:txBody>
          <a:bodyPr wrap="square" lIns="0" tIns="0" rIns="0" bIns="0" rtlCol="0" anchor="ctr"/>
          <a:lstStyle/>
          <a:p>
            <a:pPr indent="0" marL="0">
              <a:buNone/>
            </a:pPr>
            <a:r>
              <a:rPr lang="en-US" sz="1200" b="1" dirty="0">
                <a:solidFill>
                  <a:srgbClr val="17211D"/>
                </a:solidFill>
                <a:latin typeface="Calibri" pitchFamily="34" charset="0"/>
                <a:ea typeface="Calibri" pitchFamily="34" charset="-122"/>
                <a:cs typeface="Calibri" pitchFamily="34" charset="-120"/>
              </a:rPr>
              <a:t>Lac Léman</a:t>
            </a:r>
            <a:endParaRPr lang="en-US" sz="1200" dirty="0"/>
          </a:p>
        </p:txBody>
      </p:sp>
      <p:sp>
        <p:nvSpPr>
          <p:cNvPr id="16" name="Shape 13"/>
          <p:cNvSpPr/>
          <p:nvPr/>
        </p:nvSpPr>
        <p:spPr>
          <a:xfrm>
            <a:off x="7680960" y="5148072"/>
            <a:ext cx="3389031" cy="292608"/>
          </a:xfrm>
          <a:prstGeom prst="roundRect">
            <a:avLst>
              <a:gd name="adj" fmla="val 50000"/>
            </a:avLst>
          </a:prstGeom>
          <a:solidFill>
            <a:srgbClr val="2B6CB8"/>
          </a:solidFill>
          <a:ln w="12700">
            <a:solidFill>
              <a:srgbClr val="2B6CB8"/>
            </a:solidFill>
            <a:prstDash val="solid"/>
          </a:ln>
        </p:spPr>
      </p:sp>
      <p:sp>
        <p:nvSpPr>
          <p:cNvPr id="17" name="Text 14"/>
          <p:cNvSpPr txBox="1"/>
          <p:nvPr/>
        </p:nvSpPr>
        <p:spPr>
          <a:xfrm>
            <a:off x="11139155" y="5102352"/>
            <a:ext cx="914400" cy="384048"/>
          </a:xfrm>
          <a:prstGeom prst="rect">
            <a:avLst/>
          </a:prstGeom>
          <a:noFill/>
          <a:ln/>
        </p:spPr>
        <p:txBody>
          <a:bodyPr wrap="square" lIns="0" tIns="0" rIns="0" bIns="0" rtlCol="0" anchor="ctr"/>
          <a:lstStyle/>
          <a:p>
            <a:pPr indent="0" marL="0">
              <a:buNone/>
            </a:pPr>
            <a:r>
              <a:rPr lang="en-US" sz="1200" b="1" dirty="0">
                <a:solidFill>
                  <a:srgbClr val="1E4F8F"/>
                </a:solidFill>
                <a:latin typeface="Calibri" pitchFamily="34" charset="0"/>
                <a:ea typeface="Calibri" pitchFamily="34" charset="-122"/>
                <a:cs typeface="Calibri" pitchFamily="34" charset="-120"/>
              </a:rPr>
              <a:t>73 km</a:t>
            </a:r>
            <a:endParaRPr lang="en-US" sz="1200" dirty="0"/>
          </a:p>
        </p:txBody>
      </p:sp>
      <p:sp>
        <p:nvSpPr>
          <p:cNvPr id="18" name="Text 15"/>
          <p:cNvSpPr txBox="1"/>
          <p:nvPr/>
        </p:nvSpPr>
        <p:spPr>
          <a:xfrm>
            <a:off x="6217920" y="5724144"/>
            <a:ext cx="5440680" cy="914400"/>
          </a:xfrm>
          <a:prstGeom prst="rect">
            <a:avLst/>
          </a:prstGeom>
          <a:noFill/>
          <a:ln/>
        </p:spPr>
        <p:txBody>
          <a:bodyPr wrap="square" lIns="0" tIns="0" rIns="0" bIns="0" rtlCol="0" anchor="t"/>
          <a:lstStyle/>
          <a:p>
            <a:pPr indent="0" marL="0">
              <a:buNone/>
            </a:pPr>
            <a:r>
              <a:rPr lang="en-US" sz="1150" i="1" dirty="0">
                <a:solidFill>
                  <a:srgbClr val="4A524E"/>
                </a:solidFill>
                <a:latin typeface="Calibri" pitchFamily="34" charset="0"/>
                <a:ea typeface="Calibri" pitchFamily="34" charset="-122"/>
                <a:cs typeface="Calibri" pitchFamily="34" charset="-120"/>
              </a:rPr>
              <a:t>En longueur, Alqueva gagne : environ 83 km d'un bout à l'autre, contre 73 km pour le Léman. Mais en surface, le Léman reste environ 2,3 fois plus grand, car Alqueva est un lac étroit et ramifié qui épouse les vallées du Guadiana. Dessins à l'échelle.</a:t>
            </a:r>
            <a:endParaRPr lang="en-US" sz="11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home/user/Portugal-Website/images/luis/benagil.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10</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ALGARVE · LAGOA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grotte de Benagil</a:t>
            </a:r>
            <a:endParaRPr lang="en-US" sz="2600" dirty="0"/>
          </a:p>
        </p:txBody>
      </p:sp>
      <p:sp>
        <p:nvSpPr>
          <p:cNvPr id="7" name="Text 4"/>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Creusée par la mer dans les falaises dorées de l'Algarve, cette grotte possède une ouverture dans son plafond : « l'œil », par où entre la lumière du soleil. On ne peut l'atteindre que par la mer, en bateau ou en kayak.</a:t>
            </a:r>
            <a:endParaRPr lang="en-US" sz="1400" dirty="0"/>
          </a:p>
        </p:txBody>
      </p:sp>
      <p:sp>
        <p:nvSpPr>
          <p:cNvPr id="8" name="Shape 5"/>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9" name="Text 6"/>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Accessible uniquement par la mer</a:t>
            </a:r>
            <a:endParaRPr lang="en-US" sz="1300" dirty="0"/>
          </a:p>
        </p:txBody>
      </p:sp>
      <p:sp>
        <p:nvSpPr>
          <p:cNvPr id="10" name="Shape 7"/>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Parmi les grottes marines les plus célèbres du monde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Image 0" descr="/home/user/Portugal-Website/images/photos/z-n222.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z-n222b.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6217920" y="502920"/>
            <a:ext cx="1005840" cy="457200"/>
          </a:xfrm>
          <a:prstGeom prst="roundRect">
            <a:avLst>
              <a:gd name="adj" fmla="val 50000"/>
            </a:avLst>
          </a:prstGeom>
          <a:solidFill>
            <a:srgbClr val="C8102E"/>
          </a:solidFill>
          <a:ln w="12700">
            <a:solidFill>
              <a:srgbClr val="C8102E"/>
            </a:solidFill>
            <a:prstDash val="solid"/>
          </a:ln>
        </p:spPr>
      </p:sp>
      <p:sp>
        <p:nvSpPr>
          <p:cNvPr id="5" name="Text 1"/>
          <p:cNvSpPr txBox="1"/>
          <p:nvPr/>
        </p:nvSpPr>
        <p:spPr>
          <a:xfrm>
            <a:off x="6217920" y="502920"/>
            <a:ext cx="100584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N222</a:t>
            </a:r>
            <a:endParaRPr lang="en-US" sz="1400" dirty="0"/>
          </a:p>
        </p:txBody>
      </p:sp>
      <p:sp>
        <p:nvSpPr>
          <p:cNvPr id="6" name="Text 2"/>
          <p:cNvSpPr txBox="1"/>
          <p:nvPr/>
        </p:nvSpPr>
        <p:spPr>
          <a:xfrm>
            <a:off x="7406640" y="502920"/>
            <a:ext cx="425196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DOURO · DE GAIA À ALMENDRA</a:t>
            </a:r>
            <a:endParaRPr lang="en-US" sz="1100" dirty="0"/>
          </a:p>
        </p:txBody>
      </p:sp>
      <p:sp>
        <p:nvSpPr>
          <p:cNvPr id="7" name="Text 3"/>
          <p:cNvSpPr txBox="1"/>
          <p:nvPr/>
        </p:nvSpPr>
        <p:spPr>
          <a:xfrm>
            <a:off x="7406640" y="749808"/>
            <a:ext cx="4251960" cy="64008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route N222</a:t>
            </a:r>
            <a:endParaRPr lang="en-US" sz="2600" dirty="0"/>
          </a:p>
        </p:txBody>
      </p:sp>
      <p:sp>
        <p:nvSpPr>
          <p:cNvPr id="8" name="Text 4"/>
          <p:cNvSpPr txBox="1"/>
          <p:nvPr/>
        </p:nvSpPr>
        <p:spPr>
          <a:xfrm>
            <a:off x="6217920" y="1600200"/>
            <a:ext cx="5440680" cy="237744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La route nationale 222 longe le Douro sur environ 226 km, de Vila Nova de Gaia jusqu'à Almendra, près de Vila Nova de Foz Côa. Son tronçon le plus célèbre, entre Peso da Régua et Pinhão, serpente au bord du fleuve, au milieu des vignobles en terrasses. En 2015, une étude du loueur de voitures Avis l'a classée meilleure route du monde à conduire.</a:t>
            </a:r>
            <a:endParaRPr lang="en-US" sz="1400" dirty="0"/>
          </a:p>
        </p:txBody>
      </p:sp>
      <p:sp>
        <p:nvSpPr>
          <p:cNvPr id="9" name="Shape 5"/>
          <p:cNvSpPr/>
          <p:nvPr/>
        </p:nvSpPr>
        <p:spPr>
          <a:xfrm>
            <a:off x="6217920" y="40690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0" name="Text 6"/>
          <p:cNvSpPr txBox="1"/>
          <p:nvPr/>
        </p:nvSpPr>
        <p:spPr>
          <a:xfrm>
            <a:off x="6400800" y="4069080"/>
            <a:ext cx="5166360" cy="502920"/>
          </a:xfrm>
          <a:prstGeom prst="rect">
            <a:avLst/>
          </a:prstGeom>
          <a:noFill/>
          <a:ln/>
        </p:spPr>
        <p:txBody>
          <a:bodyPr wrap="square" lIns="0" tIns="0" rIns="0" bIns="0" rtlCol="0" anchor="ctr"/>
          <a:lstStyle/>
          <a:p>
            <a:pPr indent="0" marL="0">
              <a:buNone/>
            </a:pPr>
            <a:r>
              <a:rPr lang="en-US" sz="1250" b="1" dirty="0">
                <a:solidFill>
                  <a:srgbClr val="17211D"/>
                </a:solidFill>
                <a:latin typeface="Calibri" pitchFamily="34" charset="0"/>
                <a:ea typeface="Calibri" pitchFamily="34" charset="-122"/>
                <a:cs typeface="Calibri" pitchFamily="34" charset="-120"/>
              </a:rPr>
              <a:t>27 km et 93 virages entre Régua et Pinhão</a:t>
            </a:r>
            <a:endParaRPr lang="en-US" sz="1250" dirty="0"/>
          </a:p>
        </p:txBody>
      </p:sp>
      <p:sp>
        <p:nvSpPr>
          <p:cNvPr id="11" name="Shape 7"/>
          <p:cNvSpPr/>
          <p:nvPr/>
        </p:nvSpPr>
        <p:spPr>
          <a:xfrm>
            <a:off x="6217920" y="46908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4690872"/>
            <a:ext cx="5166360" cy="502920"/>
          </a:xfrm>
          <a:prstGeom prst="rect">
            <a:avLst/>
          </a:prstGeom>
          <a:noFill/>
          <a:ln/>
        </p:spPr>
        <p:txBody>
          <a:bodyPr wrap="square" lIns="0" tIns="0" rIns="0" bIns="0" rtlCol="0" anchor="ctr"/>
          <a:lstStyle/>
          <a:p>
            <a:pPr indent="0" marL="0">
              <a:buNone/>
            </a:pPr>
            <a:r>
              <a:rPr lang="en-US" sz="1250" b="1" dirty="0">
                <a:solidFill>
                  <a:srgbClr val="17211D"/>
                </a:solidFill>
                <a:latin typeface="Calibri" pitchFamily="34" charset="0"/>
                <a:ea typeface="Calibri" pitchFamily="34" charset="-122"/>
                <a:cs typeface="Calibri" pitchFamily="34" charset="-120"/>
              </a:rPr>
              <a:t>« Meilleure route du monde à conduire » (étude Avis, 2015)</a:t>
            </a:r>
            <a:endParaRPr lang="en-US" sz="1250" dirty="0"/>
          </a:p>
        </p:txBody>
      </p:sp>
      <p:sp>
        <p:nvSpPr>
          <p:cNvPr id="13" name="Shape 9"/>
          <p:cNvSpPr/>
          <p:nvPr/>
        </p:nvSpPr>
        <p:spPr>
          <a:xfrm>
            <a:off x="6217920" y="5312664"/>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5312664"/>
            <a:ext cx="5166360" cy="502920"/>
          </a:xfrm>
          <a:prstGeom prst="rect">
            <a:avLst/>
          </a:prstGeom>
          <a:noFill/>
          <a:ln/>
        </p:spPr>
        <p:txBody>
          <a:bodyPr wrap="square" lIns="0" tIns="0" rIns="0" bIns="0" rtlCol="0" anchor="ctr"/>
          <a:lstStyle/>
          <a:p>
            <a:pPr indent="0" marL="0">
              <a:buNone/>
            </a:pPr>
            <a:r>
              <a:rPr lang="en-US" sz="1250" b="1" dirty="0">
                <a:solidFill>
                  <a:srgbClr val="17211D"/>
                </a:solidFill>
                <a:latin typeface="Calibri" pitchFamily="34" charset="0"/>
                <a:ea typeface="Calibri" pitchFamily="34" charset="-122"/>
                <a:cs typeface="Calibri" pitchFamily="34" charset="-120"/>
              </a:rPr>
              <a:t>Au cœur du Haut-Douro viticole, classé à l'UNESCO en 2001</a:t>
            </a:r>
            <a:endParaRPr lang="en-US" sz="12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Image 0" descr="/home/user/Portugal-Website/images/photos/hero-concl.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08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Conclusion</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Ce que le Portugal représente pour moi</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 voyage à travers un pays… et à travers mon histoire.</a:t>
            </a:r>
            <a:endParaRPr lang="en-US"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MON HISTOIRE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 Caramulo au bord du Léman</a:t>
            </a:r>
            <a:endParaRPr lang="en-US" sz="3400" dirty="0"/>
          </a:p>
        </p:txBody>
      </p:sp>
      <p:sp>
        <p:nvSpPr>
          <p:cNvPr id="4" name="Shape 2"/>
          <p:cNvSpPr/>
          <p:nvPr/>
        </p:nvSpPr>
        <p:spPr>
          <a:xfrm>
            <a:off x="777240" y="1828800"/>
            <a:ext cx="10607040" cy="0"/>
          </a:xfrm>
          <a:prstGeom prst="line">
            <a:avLst/>
          </a:prstGeom>
          <a:noFill/>
          <a:ln w="25400">
            <a:solidFill>
              <a:srgbClr val="C9CFCB"/>
            </a:solidFill>
            <a:prstDash val="solid"/>
          </a:ln>
        </p:spPr>
      </p:sp>
      <p:sp>
        <p:nvSpPr>
          <p:cNvPr id="5" name="Shape 3"/>
          <p:cNvSpPr/>
          <p:nvPr/>
        </p:nvSpPr>
        <p:spPr>
          <a:xfrm>
            <a:off x="548640" y="1600200"/>
            <a:ext cx="457200" cy="457200"/>
          </a:xfrm>
          <a:prstGeom prst="ellipse">
            <a:avLst/>
          </a:prstGeom>
          <a:solidFill>
            <a:srgbClr val="174A3A"/>
          </a:solidFill>
          <a:ln w="12700">
            <a:solidFill>
              <a:srgbClr val="174A3A"/>
            </a:solidFill>
            <a:prstDash val="solid"/>
          </a:ln>
        </p:spPr>
      </p:sp>
      <p:sp>
        <p:nvSpPr>
          <p:cNvPr id="6" name="Text 4"/>
          <p:cNvSpPr txBox="1"/>
          <p:nvPr/>
        </p:nvSpPr>
        <p:spPr>
          <a:xfrm>
            <a:off x="54864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01</a:t>
            </a:r>
            <a:endParaRPr lang="en-US" sz="1400" dirty="0"/>
          </a:p>
        </p:txBody>
      </p:sp>
      <p:sp>
        <p:nvSpPr>
          <p:cNvPr id="7" name="Text 5"/>
          <p:cNvSpPr txBox="1"/>
          <p:nvPr/>
        </p:nvSpPr>
        <p:spPr>
          <a:xfrm>
            <a:off x="548640"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Les origines</a:t>
            </a:r>
            <a:endParaRPr lang="en-US" sz="1700" dirty="0"/>
          </a:p>
        </p:txBody>
      </p:sp>
      <p:sp>
        <p:nvSpPr>
          <p:cNvPr id="8" name="Text 6"/>
          <p:cNvSpPr txBox="1"/>
          <p:nvPr/>
        </p:nvSpPr>
        <p:spPr>
          <a:xfrm>
            <a:off x="548640"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grandis à Caramulo, dans la montagne près de Viseu, au centre du Portugal.</a:t>
            </a:r>
            <a:endParaRPr lang="en-US" sz="1200" dirty="0"/>
          </a:p>
        </p:txBody>
      </p:sp>
      <p:sp>
        <p:nvSpPr>
          <p:cNvPr id="9" name="Shape 7"/>
          <p:cNvSpPr/>
          <p:nvPr/>
        </p:nvSpPr>
        <p:spPr>
          <a:xfrm>
            <a:off x="2414016" y="1600200"/>
            <a:ext cx="457200" cy="457200"/>
          </a:xfrm>
          <a:prstGeom prst="ellipse">
            <a:avLst/>
          </a:prstGeom>
          <a:solidFill>
            <a:srgbClr val="A83232"/>
          </a:solidFill>
          <a:ln w="12700">
            <a:solidFill>
              <a:srgbClr val="A83232"/>
            </a:solidFill>
            <a:prstDash val="solid"/>
          </a:ln>
        </p:spPr>
      </p:sp>
      <p:sp>
        <p:nvSpPr>
          <p:cNvPr id="10" name="Text 8"/>
          <p:cNvSpPr txBox="1"/>
          <p:nvPr/>
        </p:nvSpPr>
        <p:spPr>
          <a:xfrm>
            <a:off x="2414016"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02</a:t>
            </a:r>
            <a:endParaRPr lang="en-US" sz="1400" dirty="0"/>
          </a:p>
        </p:txBody>
      </p:sp>
      <p:sp>
        <p:nvSpPr>
          <p:cNvPr id="11" name="Text 9"/>
          <p:cNvSpPr txBox="1"/>
          <p:nvPr/>
        </p:nvSpPr>
        <p:spPr>
          <a:xfrm>
            <a:off x="2414016"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Santa Maria da Feira</a:t>
            </a:r>
            <a:endParaRPr lang="en-US" sz="1700" dirty="0"/>
          </a:p>
        </p:txBody>
      </p:sp>
      <p:sp>
        <p:nvSpPr>
          <p:cNvPr id="12" name="Text 10"/>
          <p:cNvSpPr txBox="1"/>
          <p:nvPr/>
        </p:nvSpPr>
        <p:spPr>
          <a:xfrm>
            <a:off x="2414016"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Avant la Suisse, je vis à Santa Maria da Feira, la ville du château et de la Viagem Medieval.</a:t>
            </a:r>
            <a:endParaRPr lang="en-US" sz="1200" dirty="0"/>
          </a:p>
        </p:txBody>
      </p:sp>
      <p:sp>
        <p:nvSpPr>
          <p:cNvPr id="13" name="Shape 11"/>
          <p:cNvSpPr/>
          <p:nvPr/>
        </p:nvSpPr>
        <p:spPr>
          <a:xfrm>
            <a:off x="4279392" y="160020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4279392"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03</a:t>
            </a:r>
            <a:endParaRPr lang="en-US" sz="1400" dirty="0"/>
          </a:p>
        </p:txBody>
      </p:sp>
      <p:sp>
        <p:nvSpPr>
          <p:cNvPr id="15" name="Text 13"/>
          <p:cNvSpPr txBox="1"/>
          <p:nvPr/>
        </p:nvSpPr>
        <p:spPr>
          <a:xfrm>
            <a:off x="4279392"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Mai 2013</a:t>
            </a:r>
            <a:endParaRPr lang="en-US" sz="1700" dirty="0"/>
          </a:p>
        </p:txBody>
      </p:sp>
      <p:sp>
        <p:nvSpPr>
          <p:cNvPr id="16" name="Text 14"/>
          <p:cNvSpPr txBox="1"/>
          <p:nvPr/>
        </p:nvSpPr>
        <p:spPr>
          <a:xfrm>
            <a:off x="4279392"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J'arrive à Villeneuve et je commence à travailler pour Securitas, chez Nestlé à Lausanne.</a:t>
            </a:r>
            <a:endParaRPr lang="en-US" sz="1200" dirty="0"/>
          </a:p>
        </p:txBody>
      </p:sp>
      <p:sp>
        <p:nvSpPr>
          <p:cNvPr id="17" name="Shape 15"/>
          <p:cNvSpPr/>
          <p:nvPr/>
        </p:nvSpPr>
        <p:spPr>
          <a:xfrm>
            <a:off x="6144768" y="1600200"/>
            <a:ext cx="457200" cy="457200"/>
          </a:xfrm>
          <a:prstGeom prst="ellipse">
            <a:avLst/>
          </a:prstGeom>
          <a:solidFill>
            <a:srgbClr val="B8955A"/>
          </a:solidFill>
          <a:ln w="12700">
            <a:solidFill>
              <a:srgbClr val="B8955A"/>
            </a:solidFill>
            <a:prstDash val="solid"/>
          </a:ln>
        </p:spPr>
      </p:sp>
      <p:sp>
        <p:nvSpPr>
          <p:cNvPr id="18" name="Text 16"/>
          <p:cNvSpPr txBox="1"/>
          <p:nvPr/>
        </p:nvSpPr>
        <p:spPr>
          <a:xfrm>
            <a:off x="6144768"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04</a:t>
            </a:r>
            <a:endParaRPr lang="en-US" sz="1400" dirty="0"/>
          </a:p>
        </p:txBody>
      </p:sp>
      <p:sp>
        <p:nvSpPr>
          <p:cNvPr id="19" name="Text 17"/>
          <p:cNvSpPr txBox="1"/>
          <p:nvPr/>
        </p:nvSpPr>
        <p:spPr>
          <a:xfrm>
            <a:off x="6144768"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Octobre 2013</a:t>
            </a:r>
            <a:endParaRPr lang="en-US" sz="1700" dirty="0"/>
          </a:p>
        </p:txBody>
      </p:sp>
      <p:sp>
        <p:nvSpPr>
          <p:cNvPr id="20" name="Text 18"/>
          <p:cNvSpPr txBox="1"/>
          <p:nvPr/>
        </p:nvSpPr>
        <p:spPr>
          <a:xfrm>
            <a:off x="6144768"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m'installe à Vouvry, en Valais, entre le lac et les montagnes.</a:t>
            </a:r>
            <a:endParaRPr lang="en-US" sz="1200" dirty="0"/>
          </a:p>
        </p:txBody>
      </p:sp>
      <p:sp>
        <p:nvSpPr>
          <p:cNvPr id="21" name="Shape 19"/>
          <p:cNvSpPr/>
          <p:nvPr/>
        </p:nvSpPr>
        <p:spPr>
          <a:xfrm>
            <a:off x="8010144" y="1600200"/>
            <a:ext cx="457200" cy="457200"/>
          </a:xfrm>
          <a:prstGeom prst="ellipse">
            <a:avLst/>
          </a:prstGeom>
          <a:solidFill>
            <a:srgbClr val="174A3A"/>
          </a:solidFill>
          <a:ln w="12700">
            <a:solidFill>
              <a:srgbClr val="174A3A"/>
            </a:solidFill>
            <a:prstDash val="solid"/>
          </a:ln>
        </p:spPr>
      </p:sp>
      <p:sp>
        <p:nvSpPr>
          <p:cNvPr id="22" name="Text 20"/>
          <p:cNvSpPr txBox="1"/>
          <p:nvPr/>
        </p:nvSpPr>
        <p:spPr>
          <a:xfrm>
            <a:off x="8010144"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05</a:t>
            </a:r>
            <a:endParaRPr lang="en-US" sz="1400" dirty="0"/>
          </a:p>
        </p:txBody>
      </p:sp>
      <p:sp>
        <p:nvSpPr>
          <p:cNvPr id="23" name="Text 21"/>
          <p:cNvSpPr txBox="1"/>
          <p:nvPr/>
        </p:nvSpPr>
        <p:spPr>
          <a:xfrm>
            <a:off x="8010144"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Décembre 2014</a:t>
            </a:r>
            <a:endParaRPr lang="en-US" sz="1700" dirty="0"/>
          </a:p>
        </p:txBody>
      </p:sp>
      <p:sp>
        <p:nvSpPr>
          <p:cNvPr id="24" name="Text 22"/>
          <p:cNvSpPr txBox="1"/>
          <p:nvPr/>
        </p:nvSpPr>
        <p:spPr>
          <a:xfrm>
            <a:off x="8010144"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suis invité à rejoindre l'équipe du centre de sécurité de Nestlé, au siège international à Vevey, où je suis responsable d'objet.</a:t>
            </a:r>
            <a:endParaRPr lang="en-US" sz="1200" dirty="0"/>
          </a:p>
        </p:txBody>
      </p:sp>
      <p:sp>
        <p:nvSpPr>
          <p:cNvPr id="25" name="Shape 23"/>
          <p:cNvSpPr/>
          <p:nvPr/>
        </p:nvSpPr>
        <p:spPr>
          <a:xfrm>
            <a:off x="9875520" y="1600200"/>
            <a:ext cx="457200" cy="457200"/>
          </a:xfrm>
          <a:prstGeom prst="ellipse">
            <a:avLst/>
          </a:prstGeom>
          <a:solidFill>
            <a:srgbClr val="A83232"/>
          </a:solidFill>
          <a:ln w="12700">
            <a:solidFill>
              <a:srgbClr val="A83232"/>
            </a:solidFill>
            <a:prstDash val="solid"/>
          </a:ln>
        </p:spPr>
      </p:sp>
      <p:sp>
        <p:nvSpPr>
          <p:cNvPr id="26" name="Text 24"/>
          <p:cNvSpPr txBox="1"/>
          <p:nvPr/>
        </p:nvSpPr>
        <p:spPr>
          <a:xfrm>
            <a:off x="987552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06</a:t>
            </a:r>
            <a:endParaRPr lang="en-US" sz="1400" dirty="0"/>
          </a:p>
        </p:txBody>
      </p:sp>
      <p:sp>
        <p:nvSpPr>
          <p:cNvPr id="27" name="Text 25"/>
          <p:cNvSpPr txBox="1"/>
          <p:nvPr/>
        </p:nvSpPr>
        <p:spPr>
          <a:xfrm>
            <a:off x="9875520"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Aujourd'hui</a:t>
            </a:r>
            <a:endParaRPr lang="en-US" sz="1700" dirty="0"/>
          </a:p>
        </p:txBody>
      </p:sp>
      <p:sp>
        <p:nvSpPr>
          <p:cNvPr id="28" name="Text 26"/>
          <p:cNvSpPr txBox="1"/>
          <p:nvPr/>
        </p:nvSpPr>
        <p:spPr>
          <a:xfrm>
            <a:off x="9875520"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Plus de 13 ans en Suisse, et le Portugal toujours dans le cœur.</a:t>
            </a:r>
            <a:endParaRPr lang="en-US" sz="1200" dirty="0"/>
          </a:p>
        </p:txBody>
      </p:sp>
      <p:pic>
        <p:nvPicPr>
          <p:cNvPr id="29" name="Image 0" descr="/home/user/Portugal-Website/images/luis/caramulo-vue.jpg">    </p:cNvPr>
          <p:cNvPicPr>
            <a:picLocks noChangeAspect="1"/>
          </p:cNvPicPr>
          <p:nvPr/>
        </p:nvPicPr>
        <p:blipFill>
          <a:blip r:embed="rId1"/>
          <a:srcRect l="0" r="0" t="0" b="0"/>
          <a:stretch/>
        </p:blipFill>
        <p:spPr>
          <a:xfrm>
            <a:off x="548640" y="4617720"/>
            <a:ext cx="3566160" cy="1600200"/>
          </a:xfrm>
          <a:prstGeom prst="rect">
            <a:avLst/>
          </a:prstGeom>
        </p:spPr>
      </p:pic>
      <p:sp>
        <p:nvSpPr>
          <p:cNvPr id="30" name="Shape 27"/>
          <p:cNvSpPr/>
          <p:nvPr/>
        </p:nvSpPr>
        <p:spPr>
          <a:xfrm>
            <a:off x="548640" y="5833872"/>
            <a:ext cx="3566160" cy="384048"/>
          </a:xfrm>
          <a:prstGeom prst="rect">
            <a:avLst/>
          </a:prstGeom>
          <a:solidFill>
            <a:srgbClr val="000000">
              <a:alpha val="55000"/>
            </a:srgbClr>
          </a:solidFill>
          <a:ln w="12700">
            <a:solidFill>
              <a:srgbClr val="000000">
                <a:alpha val="0"/>
              </a:srgbClr>
            </a:solidFill>
            <a:prstDash val="solid"/>
          </a:ln>
        </p:spPr>
      </p:sp>
      <p:sp>
        <p:nvSpPr>
          <p:cNvPr id="31" name="Text 28"/>
          <p:cNvSpPr txBox="1"/>
          <p:nvPr/>
        </p:nvSpPr>
        <p:spPr>
          <a:xfrm>
            <a:off x="65836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Caramulo, mes racines</a:t>
            </a:r>
            <a:endParaRPr lang="en-US" sz="1100" dirty="0"/>
          </a:p>
        </p:txBody>
      </p:sp>
      <p:pic>
        <p:nvPicPr>
          <p:cNvPr id="32" name="Image 1" descr="/home/user/Portugal-Website/images/photos/smf-castle2.jpg">    </p:cNvPr>
          <p:cNvPicPr>
            <a:picLocks noChangeAspect="1"/>
          </p:cNvPicPr>
          <p:nvPr/>
        </p:nvPicPr>
        <p:blipFill>
          <a:blip r:embed="rId2"/>
          <a:srcRect l="0" r="0" t="0" b="0"/>
          <a:stretch/>
        </p:blipFill>
        <p:spPr>
          <a:xfrm>
            <a:off x="4297680" y="4617720"/>
            <a:ext cx="3566160" cy="1600200"/>
          </a:xfrm>
          <a:prstGeom prst="rect">
            <a:avLst/>
          </a:prstGeom>
        </p:spPr>
      </p:pic>
      <p:sp>
        <p:nvSpPr>
          <p:cNvPr id="33" name="Shape 29"/>
          <p:cNvSpPr/>
          <p:nvPr/>
        </p:nvSpPr>
        <p:spPr>
          <a:xfrm>
            <a:off x="4297680" y="5833872"/>
            <a:ext cx="3566160" cy="384048"/>
          </a:xfrm>
          <a:prstGeom prst="rect">
            <a:avLst/>
          </a:prstGeom>
          <a:solidFill>
            <a:srgbClr val="000000">
              <a:alpha val="55000"/>
            </a:srgbClr>
          </a:solidFill>
          <a:ln w="12700">
            <a:solidFill>
              <a:srgbClr val="000000">
                <a:alpha val="0"/>
              </a:srgbClr>
            </a:solidFill>
            <a:prstDash val="solid"/>
          </a:ln>
        </p:spPr>
      </p:sp>
      <p:sp>
        <p:nvSpPr>
          <p:cNvPr id="34" name="Text 30"/>
          <p:cNvSpPr txBox="1"/>
          <p:nvPr/>
        </p:nvSpPr>
        <p:spPr>
          <a:xfrm>
            <a:off x="440740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Santa Maria da Feira</a:t>
            </a:r>
            <a:endParaRPr lang="en-US" sz="1100" dirty="0"/>
          </a:p>
        </p:txBody>
      </p:sp>
      <p:pic>
        <p:nvPicPr>
          <p:cNvPr id="35" name="Image 2" descr="/home/user/Portugal-Website/images/luis/lac.jpg">    </p:cNvPr>
          <p:cNvPicPr>
            <a:picLocks noChangeAspect="1"/>
          </p:cNvPicPr>
          <p:nvPr/>
        </p:nvPicPr>
        <p:blipFill>
          <a:blip r:embed="rId3"/>
          <a:srcRect l="0" r="0" t="0" b="0"/>
          <a:stretch/>
        </p:blipFill>
        <p:spPr>
          <a:xfrm>
            <a:off x="8046720" y="4617720"/>
            <a:ext cx="3566160" cy="1600200"/>
          </a:xfrm>
          <a:prstGeom prst="rect">
            <a:avLst/>
          </a:prstGeom>
        </p:spPr>
      </p:pic>
      <p:sp>
        <p:nvSpPr>
          <p:cNvPr id="36" name="Shape 31"/>
          <p:cNvSpPr/>
          <p:nvPr/>
        </p:nvSpPr>
        <p:spPr>
          <a:xfrm>
            <a:off x="8046720" y="5833872"/>
            <a:ext cx="3566160" cy="384048"/>
          </a:xfrm>
          <a:prstGeom prst="rect">
            <a:avLst/>
          </a:prstGeom>
          <a:solidFill>
            <a:srgbClr val="000000">
              <a:alpha val="55000"/>
            </a:srgbClr>
          </a:solidFill>
          <a:ln w="12700">
            <a:solidFill>
              <a:srgbClr val="000000">
                <a:alpha val="0"/>
              </a:srgbClr>
            </a:solidFill>
            <a:prstDash val="solid"/>
          </a:ln>
        </p:spPr>
      </p:sp>
      <p:sp>
        <p:nvSpPr>
          <p:cNvPr id="37" name="Text 32"/>
          <p:cNvSpPr txBox="1"/>
          <p:nvPr/>
        </p:nvSpPr>
        <p:spPr>
          <a:xfrm>
            <a:off x="815644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Le Léman, ma vie en Suisse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MES PASSIONS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vie active, toujours en mouvement</a:t>
            </a:r>
            <a:endParaRPr lang="en-US" sz="3400" dirty="0"/>
          </a:p>
        </p:txBody>
      </p:sp>
      <p:pic>
        <p:nvPicPr>
          <p:cNvPr id="4" name="Image 0" descr="/home/user/Portugal-Website/images/luis/moto-alpes.jpg">    </p:cNvPr>
          <p:cNvPicPr>
            <a:picLocks noChangeAspect="1"/>
          </p:cNvPicPr>
          <p:nvPr/>
        </p:nvPicPr>
        <p:blipFill>
          <a:blip r:embed="rId1"/>
          <a:srcRect l="0" r="0" t="0" b="0"/>
          <a:stretch/>
        </p:blipFill>
        <p:spPr>
          <a:xfrm>
            <a:off x="548640" y="1554480"/>
            <a:ext cx="1737360" cy="2194560"/>
          </a:xfrm>
          <a:prstGeom prst="rect">
            <a:avLst/>
          </a:prstGeom>
        </p:spPr>
      </p:pic>
      <p:sp>
        <p:nvSpPr>
          <p:cNvPr id="5" name="Text 2"/>
          <p:cNvSpPr txBox="1"/>
          <p:nvPr/>
        </p:nvSpPr>
        <p:spPr>
          <a:xfrm>
            <a:off x="242316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moto</a:t>
            </a:r>
            <a:endParaRPr lang="en-US" sz="1600" dirty="0"/>
          </a:p>
        </p:txBody>
      </p:sp>
      <p:sp>
        <p:nvSpPr>
          <p:cNvPr id="6" name="Text 3"/>
          <p:cNvSpPr txBox="1"/>
          <p:nvPr/>
        </p:nvSpPr>
        <p:spPr>
          <a:xfrm>
            <a:off x="242316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Ma grande passion. Je roule en Suisse, dans le nord de l'Italie, en France et en Allemagne, à la recherche des plus belles routes de montagne.</a:t>
            </a:r>
            <a:endParaRPr lang="en-US" sz="1100" dirty="0"/>
          </a:p>
        </p:txBody>
      </p:sp>
      <p:pic>
        <p:nvPicPr>
          <p:cNvPr id="7" name="Image 1" descr="/home/user/Portugal-Website/images/luis/moto-garage.jpg">    </p:cNvPr>
          <p:cNvPicPr>
            <a:picLocks noChangeAspect="1"/>
          </p:cNvPicPr>
          <p:nvPr/>
        </p:nvPicPr>
        <p:blipFill>
          <a:blip r:embed="rId2"/>
          <a:srcRect l="0" r="0" t="0" b="0"/>
          <a:stretch/>
        </p:blipFill>
        <p:spPr>
          <a:xfrm>
            <a:off x="4297680" y="1554480"/>
            <a:ext cx="1737360" cy="2194560"/>
          </a:xfrm>
          <a:prstGeom prst="rect">
            <a:avLst/>
          </a:prstGeom>
        </p:spPr>
      </p:pic>
      <p:sp>
        <p:nvSpPr>
          <p:cNvPr id="8" name="Text 4"/>
          <p:cNvSpPr txBox="1"/>
          <p:nvPr/>
        </p:nvSpPr>
        <p:spPr>
          <a:xfrm>
            <a:off x="617220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mécanique</a:t>
            </a:r>
            <a:endParaRPr lang="en-US" sz="1600" dirty="0"/>
          </a:p>
        </p:txBody>
      </p:sp>
      <p:sp>
        <p:nvSpPr>
          <p:cNvPr id="9" name="Text 5"/>
          <p:cNvSpPr txBox="1"/>
          <p:nvPr/>
        </p:nvSpPr>
        <p:spPr>
          <a:xfrm>
            <a:off x="617220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J'adore modifier ma moto et la réparer moi-même : chaque détail compte !</a:t>
            </a:r>
            <a:endParaRPr lang="en-US" sz="1100" dirty="0"/>
          </a:p>
        </p:txBody>
      </p:sp>
      <p:pic>
        <p:nvPicPr>
          <p:cNvPr id="10" name="Image 2" descr="/home/user/Portugal-Website/images/luis/parapente.jpg">    </p:cNvPr>
          <p:cNvPicPr>
            <a:picLocks noChangeAspect="1"/>
          </p:cNvPicPr>
          <p:nvPr/>
        </p:nvPicPr>
        <p:blipFill>
          <a:blip r:embed="rId3"/>
          <a:srcRect l="0" r="0" t="0" b="0"/>
          <a:stretch/>
        </p:blipFill>
        <p:spPr>
          <a:xfrm>
            <a:off x="8046720" y="1554480"/>
            <a:ext cx="1737360" cy="2194560"/>
          </a:xfrm>
          <a:prstGeom prst="rect">
            <a:avLst/>
          </a:prstGeom>
        </p:spPr>
      </p:pic>
      <p:sp>
        <p:nvSpPr>
          <p:cNvPr id="11" name="Text 6"/>
          <p:cNvSpPr txBox="1"/>
          <p:nvPr/>
        </p:nvSpPr>
        <p:spPr>
          <a:xfrm>
            <a:off x="992124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parapente</a:t>
            </a:r>
            <a:endParaRPr lang="en-US" sz="1600" dirty="0"/>
          </a:p>
        </p:txBody>
      </p:sp>
      <p:sp>
        <p:nvSpPr>
          <p:cNvPr id="12" name="Text 7"/>
          <p:cNvSpPr txBox="1"/>
          <p:nvPr/>
        </p:nvSpPr>
        <p:spPr>
          <a:xfrm>
            <a:off x="992124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Récemment, j'ai volé en parapente au-dessus du lac Léman. Une vue inoubliable !</a:t>
            </a:r>
            <a:endParaRPr lang="en-US" sz="1100" dirty="0"/>
          </a:p>
        </p:txBody>
      </p:sp>
      <p:pic>
        <p:nvPicPr>
          <p:cNvPr id="13" name="Image 3" descr="/home/user/Portugal-Website/images/luis/st-ursanne-affiche.jpg">    </p:cNvPr>
          <p:cNvPicPr>
            <a:picLocks noChangeAspect="1"/>
          </p:cNvPicPr>
          <p:nvPr/>
        </p:nvPicPr>
        <p:blipFill>
          <a:blip r:embed="rId4"/>
          <a:srcRect l="0" r="0" t="0" b="0"/>
          <a:stretch/>
        </p:blipFill>
        <p:spPr>
          <a:xfrm>
            <a:off x="548640" y="3931920"/>
            <a:ext cx="1737360" cy="2194560"/>
          </a:xfrm>
          <a:prstGeom prst="rect">
            <a:avLst/>
          </a:prstGeom>
        </p:spPr>
      </p:pic>
      <p:sp>
        <p:nvSpPr>
          <p:cNvPr id="14" name="Text 8"/>
          <p:cNvSpPr txBox="1"/>
          <p:nvPr/>
        </p:nvSpPr>
        <p:spPr>
          <a:xfrm>
            <a:off x="242316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sorties</a:t>
            </a:r>
            <a:endParaRPr lang="en-US" sz="1600" dirty="0"/>
          </a:p>
        </p:txBody>
      </p:sp>
      <p:sp>
        <p:nvSpPr>
          <p:cNvPr id="15" name="Text 9"/>
          <p:cNvSpPr txBox="1"/>
          <p:nvPr/>
        </p:nvSpPr>
        <p:spPr>
          <a:xfrm>
            <a:off x="242316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Découvrir de nouveaux endroits, comme le Jura, où je suis allé voir la course de côte automobile de Saint-Ursanne.</a:t>
            </a:r>
            <a:endParaRPr lang="en-US" sz="1100" dirty="0"/>
          </a:p>
        </p:txBody>
      </p:sp>
      <p:pic>
        <p:nvPicPr>
          <p:cNvPr id="16" name="Image 4" descr="/home/user/Portugal-Website/images/luis/lac.jpg">    </p:cNvPr>
          <p:cNvPicPr>
            <a:picLocks noChangeAspect="1"/>
          </p:cNvPicPr>
          <p:nvPr/>
        </p:nvPicPr>
        <p:blipFill>
          <a:blip r:embed="rId5"/>
          <a:srcRect l="0" r="0" t="0" b="0"/>
          <a:stretch/>
        </p:blipFill>
        <p:spPr>
          <a:xfrm>
            <a:off x="4297680" y="3931920"/>
            <a:ext cx="1737360" cy="2194560"/>
          </a:xfrm>
          <a:prstGeom prst="rect">
            <a:avLst/>
          </a:prstGeom>
        </p:spPr>
      </p:pic>
      <p:sp>
        <p:nvSpPr>
          <p:cNvPr id="17" name="Text 10"/>
          <p:cNvSpPr txBox="1"/>
          <p:nvPr/>
        </p:nvSpPr>
        <p:spPr>
          <a:xfrm>
            <a:off x="617220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lac Léman</a:t>
            </a:r>
            <a:endParaRPr lang="en-US" sz="1600" dirty="0"/>
          </a:p>
        </p:txBody>
      </p:sp>
      <p:sp>
        <p:nvSpPr>
          <p:cNvPr id="18" name="Text 11"/>
          <p:cNvSpPr txBox="1"/>
          <p:nvPr/>
        </p:nvSpPr>
        <p:spPr>
          <a:xfrm>
            <a:off x="617220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L'été, on profite du lac : kayak, baignade et détente.</a:t>
            </a:r>
            <a:endParaRPr lang="en-US" sz="1100" dirty="0"/>
          </a:p>
        </p:txBody>
      </p:sp>
      <p:pic>
        <p:nvPicPr>
          <p:cNvPr id="19" name="Image 5" descr="/home/user/Portugal-Website/images/luis/tanay.jpg">    </p:cNvPr>
          <p:cNvPicPr>
            <a:picLocks noChangeAspect="1"/>
          </p:cNvPicPr>
          <p:nvPr/>
        </p:nvPicPr>
        <p:blipFill>
          <a:blip r:embed="rId6"/>
          <a:srcRect l="0" r="0" t="0" b="0"/>
          <a:stretch/>
        </p:blipFill>
        <p:spPr>
          <a:xfrm>
            <a:off x="8046720" y="3931920"/>
            <a:ext cx="1737360" cy="2194560"/>
          </a:xfrm>
          <a:prstGeom prst="rect">
            <a:avLst/>
          </a:prstGeom>
        </p:spPr>
      </p:pic>
      <p:sp>
        <p:nvSpPr>
          <p:cNvPr id="20" name="Text 12"/>
          <p:cNvSpPr txBox="1"/>
          <p:nvPr/>
        </p:nvSpPr>
        <p:spPr>
          <a:xfrm>
            <a:off x="992124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Marcher et se balader</a:t>
            </a:r>
            <a:endParaRPr lang="en-US" sz="1600" dirty="0"/>
          </a:p>
        </p:txBody>
      </p:sp>
      <p:sp>
        <p:nvSpPr>
          <p:cNvPr id="21" name="Text 13"/>
          <p:cNvSpPr txBox="1"/>
          <p:nvPr/>
        </p:nvSpPr>
        <p:spPr>
          <a:xfrm>
            <a:off x="992124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Randonnées et balades — « passear », comme on dit au Portugal —, par exemple jusqu'au lac de Tanay, au-dessus de Vouvry.</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EN FAMILLE</a:t>
            </a:r>
            <a:endParaRPr lang="en-US" sz="1200" dirty="0"/>
          </a:p>
        </p:txBody>
      </p:sp>
      <p:sp>
        <p:nvSpPr>
          <p:cNvPr id="3" name="Text 1"/>
          <p:cNvSpPr txBox="1"/>
          <p:nvPr/>
        </p:nvSpPr>
        <p:spPr>
          <a:xfrm>
            <a:off x="548640" y="685800"/>
            <a:ext cx="45720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plus important</a:t>
            </a:r>
            <a:endParaRPr lang="en-US" sz="3400" dirty="0"/>
          </a:p>
        </p:txBody>
      </p:sp>
      <p:sp>
        <p:nvSpPr>
          <p:cNvPr id="4" name="Text 2"/>
          <p:cNvSpPr txBox="1"/>
          <p:nvPr/>
        </p:nvSpPr>
        <p:spPr>
          <a:xfrm>
            <a:off x="548640" y="1554480"/>
            <a:ext cx="3931920" cy="146304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Ma famille, ici en Suisse et au Portugal, c'est ce que j'ai de plus précieux. Les grandes réunions de famille sont toujours une fête.</a:t>
            </a:r>
            <a:endParaRPr lang="en-US" sz="1600" dirty="0"/>
          </a:p>
        </p:txBody>
      </p:sp>
      <p:pic>
        <p:nvPicPr>
          <p:cNvPr id="5" name="Image 0" descr="/home/user/Portugal-Website/images/luis/famille-portugal.jpg">    </p:cNvPr>
          <p:cNvPicPr>
            <a:picLocks noChangeAspect="1"/>
          </p:cNvPicPr>
          <p:nvPr/>
        </p:nvPicPr>
        <p:blipFill>
          <a:blip r:embed="rId1"/>
          <a:srcRect l="0" r="0" t="0" b="0"/>
          <a:stretch/>
        </p:blipFill>
        <p:spPr>
          <a:xfrm>
            <a:off x="4754880" y="548640"/>
            <a:ext cx="6885432" cy="3749040"/>
          </a:xfrm>
          <a:prstGeom prst="rect">
            <a:avLst/>
          </a:prstGeom>
        </p:spPr>
      </p:pic>
      <p:pic>
        <p:nvPicPr>
          <p:cNvPr id="6" name="Image 1" descr="/home/user/Portugal-Website/images/luis/famille-diner.jpg">    </p:cNvPr>
          <p:cNvPicPr>
            <a:picLocks noChangeAspect="1"/>
          </p:cNvPicPr>
          <p:nvPr/>
        </p:nvPicPr>
        <p:blipFill>
          <a:blip r:embed="rId2"/>
          <a:srcRect l="0" r="0" t="0" b="0"/>
          <a:stretch/>
        </p:blipFill>
        <p:spPr>
          <a:xfrm>
            <a:off x="4754880" y="4434840"/>
            <a:ext cx="2203704" cy="1783080"/>
          </a:xfrm>
          <a:prstGeom prst="rect">
            <a:avLst/>
          </a:prstGeom>
        </p:spPr>
      </p:pic>
      <p:pic>
        <p:nvPicPr>
          <p:cNvPr id="7" name="Image 2" descr="/home/user/Portugal-Website/images/luis/famille-diner2.jpg">    </p:cNvPr>
          <p:cNvPicPr>
            <a:picLocks noChangeAspect="1"/>
          </p:cNvPicPr>
          <p:nvPr/>
        </p:nvPicPr>
        <p:blipFill>
          <a:blip r:embed="rId3"/>
          <a:srcRect l="0" r="0" t="0" b="0"/>
          <a:stretch/>
        </p:blipFill>
        <p:spPr>
          <a:xfrm>
            <a:off x="7095744" y="4434840"/>
            <a:ext cx="2203704" cy="1783080"/>
          </a:xfrm>
          <a:prstGeom prst="rect">
            <a:avLst/>
          </a:prstGeom>
        </p:spPr>
      </p:pic>
      <p:pic>
        <p:nvPicPr>
          <p:cNvPr id="8" name="Image 3" descr="/home/user/Portugal-Website/images/luis/famille.jpg">    </p:cNvPr>
          <p:cNvPicPr>
            <a:picLocks noChangeAspect="1"/>
          </p:cNvPicPr>
          <p:nvPr/>
        </p:nvPicPr>
        <p:blipFill>
          <a:blip r:embed="rId4"/>
          <a:srcRect l="0" r="0" t="0" b="0"/>
          <a:stretch/>
        </p:blipFill>
        <p:spPr>
          <a:xfrm>
            <a:off x="9436608" y="4434840"/>
            <a:ext cx="2203704" cy="1783080"/>
          </a:xfrm>
          <a:prstGeom prst="rect">
            <a:avLst/>
          </a:prstGeom>
        </p:spPr>
      </p:pic>
      <p:pic>
        <p:nvPicPr>
          <p:cNvPr id="9" name="Image 4" descr="/home/user/Portugal-Website/images/luis.jpg">    </p:cNvPr>
          <p:cNvPicPr>
            <a:picLocks noChangeAspect="1"/>
          </p:cNvPicPr>
          <p:nvPr/>
        </p:nvPicPr>
        <p:blipFill>
          <a:blip r:embed="rId5"/>
          <a:srcRect l="0" r="0" t="0" b="0"/>
          <a:stretch/>
        </p:blipFill>
        <p:spPr>
          <a:xfrm>
            <a:off x="548640" y="3200400"/>
            <a:ext cx="2011680" cy="3017520"/>
          </a:xfrm>
          <a:prstGeom prst="rect">
            <a:avLst/>
          </a:prstGeom>
        </p:spPr>
      </p:pic>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POUR MOI, LE PORTUGAL, C'EST…</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Ce que le Portugal représente pour moi</a:t>
            </a:r>
            <a:endParaRPr lang="en-US" sz="3400" dirty="0"/>
          </a:p>
        </p:txBody>
      </p:sp>
      <p:sp>
        <p:nvSpPr>
          <p:cNvPr id="4" name="Shape 2"/>
          <p:cNvSpPr/>
          <p:nvPr/>
        </p:nvSpPr>
        <p:spPr>
          <a:xfrm>
            <a:off x="54864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2103120" y="2148840"/>
            <a:ext cx="457200" cy="457200"/>
          </a:xfrm>
          <a:prstGeom prst="ellipse">
            <a:avLst/>
          </a:prstGeom>
          <a:solidFill>
            <a:srgbClr val="174A3A"/>
          </a:solidFill>
          <a:ln w="12700">
            <a:solidFill>
              <a:srgbClr val="174A3A"/>
            </a:solidFill>
            <a:prstDash val="solid"/>
          </a:ln>
        </p:spPr>
      </p:sp>
      <p:sp>
        <p:nvSpPr>
          <p:cNvPr id="6" name="Text 4"/>
          <p:cNvSpPr txBox="1"/>
          <p:nvPr/>
        </p:nvSpPr>
        <p:spPr>
          <a:xfrm>
            <a:off x="822960" y="2834640"/>
            <a:ext cx="3017520" cy="548640"/>
          </a:xfrm>
          <a:prstGeom prst="rect">
            <a:avLst/>
          </a:prstGeom>
          <a:noFill/>
          <a:ln/>
        </p:spPr>
        <p:txBody>
          <a:bodyPr wrap="square" lIns="0" tIns="0" rIns="0" bIns="0" rtlCol="0" anchor="t"/>
          <a:lstStyle/>
          <a:p>
            <a:pPr algn="ctr" indent="0" marL="0">
              <a:buNone/>
            </a:pPr>
            <a:r>
              <a:rPr lang="en-US" sz="2600" b="1" dirty="0">
                <a:solidFill>
                  <a:srgbClr val="174A3A"/>
                </a:solidFill>
                <a:latin typeface="Cambria" pitchFamily="34" charset="0"/>
                <a:ea typeface="Cambria" pitchFamily="34" charset="-122"/>
                <a:cs typeface="Cambria" pitchFamily="34" charset="-120"/>
              </a:rPr>
              <a:t>Mes racines</a:t>
            </a:r>
            <a:endParaRPr lang="en-US" sz="2600" dirty="0"/>
          </a:p>
        </p:txBody>
      </p:sp>
      <p:sp>
        <p:nvSpPr>
          <p:cNvPr id="7" name="Text 5"/>
          <p:cNvSpPr txBox="1"/>
          <p:nvPr/>
        </p:nvSpPr>
        <p:spPr>
          <a:xfrm>
            <a:off x="82296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Caramulo, ma famille, l'air de la montagne et les repas du dimanche. C'est là que tout a commencé.</a:t>
            </a:r>
            <a:endParaRPr lang="en-US" sz="1600" dirty="0"/>
          </a:p>
        </p:txBody>
      </p:sp>
      <p:sp>
        <p:nvSpPr>
          <p:cNvPr id="8" name="Shape 6"/>
          <p:cNvSpPr/>
          <p:nvPr/>
        </p:nvSpPr>
        <p:spPr>
          <a:xfrm>
            <a:off x="429768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9" name="Shape 7"/>
          <p:cNvSpPr/>
          <p:nvPr/>
        </p:nvSpPr>
        <p:spPr>
          <a:xfrm>
            <a:off x="5852160" y="2148840"/>
            <a:ext cx="457200" cy="457200"/>
          </a:xfrm>
          <a:prstGeom prst="ellipse">
            <a:avLst/>
          </a:prstGeom>
          <a:solidFill>
            <a:srgbClr val="A83232"/>
          </a:solidFill>
          <a:ln w="12700">
            <a:solidFill>
              <a:srgbClr val="A83232"/>
            </a:solidFill>
            <a:prstDash val="solid"/>
          </a:ln>
        </p:spPr>
      </p:sp>
      <p:sp>
        <p:nvSpPr>
          <p:cNvPr id="10" name="Text 8"/>
          <p:cNvSpPr txBox="1"/>
          <p:nvPr/>
        </p:nvSpPr>
        <p:spPr>
          <a:xfrm>
            <a:off x="4572000" y="2834640"/>
            <a:ext cx="3017520" cy="548640"/>
          </a:xfrm>
          <a:prstGeom prst="rect">
            <a:avLst/>
          </a:prstGeom>
          <a:noFill/>
          <a:ln/>
        </p:spPr>
        <p:txBody>
          <a:bodyPr wrap="square" lIns="0" tIns="0" rIns="0" bIns="0" rtlCol="0" anchor="t"/>
          <a:lstStyle/>
          <a:p>
            <a:pPr algn="ctr" indent="0" marL="0">
              <a:buNone/>
            </a:pPr>
            <a:r>
              <a:rPr lang="en-US" sz="2600" b="1" dirty="0">
                <a:solidFill>
                  <a:srgbClr val="A83232"/>
                </a:solidFill>
                <a:latin typeface="Cambria" pitchFamily="34" charset="0"/>
                <a:ea typeface="Cambria" pitchFamily="34" charset="-122"/>
                <a:cs typeface="Cambria" pitchFamily="34" charset="-120"/>
              </a:rPr>
              <a:t>Mes valeurs</a:t>
            </a:r>
            <a:endParaRPr lang="en-US" sz="2600" dirty="0"/>
          </a:p>
        </p:txBody>
      </p:sp>
      <p:sp>
        <p:nvSpPr>
          <p:cNvPr id="11" name="Text 9"/>
          <p:cNvSpPr txBox="1"/>
          <p:nvPr/>
        </p:nvSpPr>
        <p:spPr>
          <a:xfrm>
            <a:off x="457200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travail, le respect, la solidarité et le sens de l'accueil, que j'emporte partout avec moi.</a:t>
            </a:r>
            <a:endParaRPr lang="en-US" sz="1600" dirty="0"/>
          </a:p>
        </p:txBody>
      </p:sp>
      <p:sp>
        <p:nvSpPr>
          <p:cNvPr id="12" name="Shape 10"/>
          <p:cNvSpPr/>
          <p:nvPr/>
        </p:nvSpPr>
        <p:spPr>
          <a:xfrm>
            <a:off x="804672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3" name="Shape 11"/>
          <p:cNvSpPr/>
          <p:nvPr/>
        </p:nvSpPr>
        <p:spPr>
          <a:xfrm>
            <a:off x="9601200" y="214884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8321040" y="2834640"/>
            <a:ext cx="3017520" cy="548640"/>
          </a:xfrm>
          <a:prstGeom prst="rect">
            <a:avLst/>
          </a:prstGeom>
          <a:noFill/>
          <a:ln/>
        </p:spPr>
        <p:txBody>
          <a:bodyPr wrap="square" lIns="0" tIns="0" rIns="0" bIns="0" rtlCol="0" anchor="t"/>
          <a:lstStyle/>
          <a:p>
            <a:pPr algn="ctr" indent="0" marL="0">
              <a:buNone/>
            </a:pPr>
            <a:r>
              <a:rPr lang="en-US" sz="2600" b="1" dirty="0">
                <a:solidFill>
                  <a:srgbClr val="1E4F8F"/>
                </a:solidFill>
                <a:latin typeface="Cambria" pitchFamily="34" charset="0"/>
                <a:ea typeface="Cambria" pitchFamily="34" charset="-122"/>
                <a:cs typeface="Cambria" pitchFamily="34" charset="-120"/>
              </a:rPr>
              <a:t>Un pont</a:t>
            </a:r>
            <a:endParaRPr lang="en-US" sz="2600" dirty="0"/>
          </a:p>
        </p:txBody>
      </p:sp>
      <p:sp>
        <p:nvSpPr>
          <p:cNvPr id="15" name="Text 13"/>
          <p:cNvSpPr txBox="1"/>
          <p:nvPr/>
        </p:nvSpPr>
        <p:spPr>
          <a:xfrm>
            <a:off x="832104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Entre le Portugal et la Suisse, entre hier et demain. Fier d'être Portugais, heureux de vivre en Suisse.</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REMERCIEMENTS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 grand merci !</a:t>
            </a:r>
            <a:endParaRPr lang="en-US" sz="3400" dirty="0"/>
          </a:p>
        </p:txBody>
      </p:sp>
      <p:sp>
        <p:nvSpPr>
          <p:cNvPr id="4" name="Text 2"/>
          <p:cNvSpPr txBox="1"/>
          <p:nvPr/>
        </p:nvSpPr>
        <p:spPr>
          <a:xfrm>
            <a:off x="548640" y="1371600"/>
            <a:ext cx="10972800" cy="45720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Cette présentation a aussi un goût de Portugal grâce à deux commerces portugais de la région.</a:t>
            </a:r>
            <a:endParaRPr lang="en-US" sz="1500" dirty="0"/>
          </a:p>
        </p:txBody>
      </p:sp>
      <p:sp>
        <p:nvSpPr>
          <p:cNvPr id="5" name="Shape 3"/>
          <p:cNvSpPr/>
          <p:nvPr/>
        </p:nvSpPr>
        <p:spPr>
          <a:xfrm>
            <a:off x="548640" y="1965960"/>
            <a:ext cx="5394960" cy="4251960"/>
          </a:xfrm>
          <a:prstGeom prst="roundRect">
            <a:avLst>
              <a:gd name="adj" fmla="val 1720"/>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6" name="Image 0" descr="/home/user/Portugal-Website/images/luis/europeixe.jpg">    </p:cNvPr>
          <p:cNvPicPr>
            <a:picLocks noChangeAspect="1"/>
          </p:cNvPicPr>
          <p:nvPr/>
        </p:nvPicPr>
        <p:blipFill>
          <a:blip r:embed="rId1"/>
          <a:srcRect l="0" r="0" t="0" b="0"/>
          <a:stretch/>
        </p:blipFill>
        <p:spPr>
          <a:xfrm>
            <a:off x="548640" y="1965960"/>
            <a:ext cx="5394960" cy="2194560"/>
          </a:xfrm>
          <a:prstGeom prst="rect">
            <a:avLst/>
          </a:prstGeom>
        </p:spPr>
      </p:pic>
      <p:sp>
        <p:nvSpPr>
          <p:cNvPr id="7" name="Text 4"/>
          <p:cNvSpPr txBox="1"/>
          <p:nvPr/>
        </p:nvSpPr>
        <p:spPr>
          <a:xfrm>
            <a:off x="777240" y="4251960"/>
            <a:ext cx="4937760" cy="457200"/>
          </a:xfrm>
          <a:prstGeom prst="rect">
            <a:avLst/>
          </a:prstGeom>
          <a:noFill/>
          <a:ln/>
        </p:spPr>
        <p:txBody>
          <a:bodyPr wrap="square" lIns="0" tIns="0" rIns="0" bIns="0" rtlCol="0" anchor="t"/>
          <a:lstStyle/>
          <a:p>
            <a:pPr indent="0" marL="0">
              <a:buNone/>
            </a:pPr>
            <a:r>
              <a:rPr lang="en-US" sz="2400" b="1" dirty="0">
                <a:solidFill>
                  <a:srgbClr val="174A3A"/>
                </a:solidFill>
                <a:latin typeface="Cambria" pitchFamily="34" charset="0"/>
                <a:ea typeface="Cambria" pitchFamily="34" charset="-122"/>
                <a:cs typeface="Cambria" pitchFamily="34" charset="-120"/>
              </a:rPr>
              <a:t>Europeixe</a:t>
            </a:r>
            <a:endParaRPr lang="en-US" sz="2400" dirty="0"/>
          </a:p>
        </p:txBody>
      </p:sp>
      <p:sp>
        <p:nvSpPr>
          <p:cNvPr id="8" name="Text 5"/>
          <p:cNvSpPr txBox="1"/>
          <p:nvPr/>
        </p:nvSpPr>
        <p:spPr>
          <a:xfrm>
            <a:off x="777240" y="4709160"/>
            <a:ext cx="4937760" cy="274320"/>
          </a:xfrm>
          <a:prstGeom prst="rect">
            <a:avLst/>
          </a:prstGeom>
          <a:noFill/>
          <a:ln/>
        </p:spPr>
        <p:txBody>
          <a:bodyPr wrap="square" lIns="0" tIns="0" rIns="0" bIns="0" rtlCol="0" anchor="t"/>
          <a:lstStyle/>
          <a:p>
            <a:pPr indent="0" marL="0">
              <a:buNone/>
            </a:pPr>
            <a:r>
              <a:rPr lang="en-US" sz="1000" b="1" spc="200" kern="0" dirty="0">
                <a:solidFill>
                  <a:srgbClr val="1E4F8F"/>
                </a:solidFill>
                <a:latin typeface="Calibri" pitchFamily="34" charset="0"/>
                <a:ea typeface="Calibri" pitchFamily="34" charset="-122"/>
                <a:cs typeface="Calibri" pitchFamily="34" charset="-120"/>
              </a:rPr>
              <a:t>MAGASIN PORTUGAIS · AIGLE</a:t>
            </a:r>
            <a:endParaRPr lang="en-US" sz="1000" dirty="0"/>
          </a:p>
        </p:txBody>
      </p:sp>
      <p:sp>
        <p:nvSpPr>
          <p:cNvPr id="9" name="Text 6"/>
          <p:cNvSpPr txBox="1"/>
          <p:nvPr/>
        </p:nvSpPr>
        <p:spPr>
          <a:xfrm>
            <a:off x="777240" y="4983480"/>
            <a:ext cx="4937760" cy="822960"/>
          </a:xfrm>
          <a:prstGeom prst="rect">
            <a:avLst/>
          </a:prstGeom>
          <a:noFill/>
          <a:ln/>
        </p:spPr>
        <p:txBody>
          <a:bodyPr wrap="square" lIns="0" tIns="0" rIns="0" bIns="0" rtlCol="0" anchor="t"/>
          <a:lstStyle/>
          <a:p>
            <a:pPr indent="0" marL="0">
              <a:buNone/>
            </a:pPr>
            <a:r>
              <a:rPr lang="en-US" sz="1250" dirty="0">
                <a:solidFill>
                  <a:srgbClr val="17211D"/>
                </a:solidFill>
                <a:latin typeface="Calibri" pitchFamily="34" charset="0"/>
                <a:ea typeface="Calibri" pitchFamily="34" charset="-122"/>
                <a:cs typeface="Calibri" pitchFamily="34" charset="-120"/>
              </a:rPr>
              <a:t>Épicerie et produits portugais. Europeixe a généreusement offert les produits que vous pouvez goûter aujourd'hui. Muito obrigado !</a:t>
            </a:r>
            <a:endParaRPr lang="en-US" sz="1250" dirty="0"/>
          </a:p>
        </p:txBody>
      </p:sp>
      <p:sp>
        <p:nvSpPr>
          <p:cNvPr id="10" name="Text 7"/>
          <p:cNvSpPr txBox="1"/>
          <p:nvPr/>
        </p:nvSpPr>
        <p:spPr>
          <a:xfrm>
            <a:off x="777240" y="5806440"/>
            <a:ext cx="4937760" cy="320040"/>
          </a:xfrm>
          <a:prstGeom prst="rect">
            <a:avLst/>
          </a:prstGeom>
          <a:noFill/>
          <a:ln/>
        </p:spPr>
        <p:txBody>
          <a:bodyPr wrap="square" lIns="0" tIns="0" rIns="0" bIns="0" rtlCol="0" anchor="ctr"/>
          <a:lstStyle/>
          <a:p>
            <a:pPr indent="0" marL="0">
              <a:buNone/>
            </a:pPr>
            <a:r>
              <a:rPr lang="en-US" sz="1200" b="1" u="sng" dirty="0">
                <a:solidFill>
                  <a:srgbClr val="A8323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loja-europeixe.ch  →</a:t>
            </a:r>
            <a:endParaRPr lang="en-US" sz="1200" dirty="0"/>
          </a:p>
        </p:txBody>
      </p:sp>
      <p:sp>
        <p:nvSpPr>
          <p:cNvPr id="11" name="Shape 8"/>
          <p:cNvSpPr/>
          <p:nvPr/>
        </p:nvSpPr>
        <p:spPr>
          <a:xfrm>
            <a:off x="6217920" y="1965960"/>
            <a:ext cx="5394960" cy="4251960"/>
          </a:xfrm>
          <a:prstGeom prst="roundRect">
            <a:avLst>
              <a:gd name="adj" fmla="val 1720"/>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2" name="Image 1" descr="/home/user/Portugal-Website/images/luis/nortejo-vitrine.jpg">    </p:cNvPr>
          <p:cNvPicPr>
            <a:picLocks noChangeAspect="1"/>
          </p:cNvPicPr>
          <p:nvPr/>
        </p:nvPicPr>
        <p:blipFill>
          <a:blip r:embed="rId3"/>
          <a:srcRect l="0" r="0" t="0" b="0"/>
          <a:stretch/>
        </p:blipFill>
        <p:spPr>
          <a:xfrm>
            <a:off x="6217920" y="1965960"/>
            <a:ext cx="5394960" cy="2194560"/>
          </a:xfrm>
          <a:prstGeom prst="rect">
            <a:avLst/>
          </a:prstGeom>
        </p:spPr>
      </p:pic>
      <p:sp>
        <p:nvSpPr>
          <p:cNvPr id="13" name="Text 9"/>
          <p:cNvSpPr txBox="1"/>
          <p:nvPr/>
        </p:nvSpPr>
        <p:spPr>
          <a:xfrm>
            <a:off x="6446520" y="4251960"/>
            <a:ext cx="4937760" cy="457200"/>
          </a:xfrm>
          <a:prstGeom prst="rect">
            <a:avLst/>
          </a:prstGeom>
          <a:noFill/>
          <a:ln/>
        </p:spPr>
        <p:txBody>
          <a:bodyPr wrap="square" lIns="0" tIns="0" rIns="0" bIns="0" rtlCol="0" anchor="t"/>
          <a:lstStyle/>
          <a:p>
            <a:pPr indent="0" marL="0">
              <a:buNone/>
            </a:pPr>
            <a:r>
              <a:rPr lang="en-US" sz="2400" b="1" dirty="0">
                <a:solidFill>
                  <a:srgbClr val="174A3A"/>
                </a:solidFill>
                <a:latin typeface="Cambria" pitchFamily="34" charset="0"/>
                <a:ea typeface="Cambria" pitchFamily="34" charset="-122"/>
                <a:cs typeface="Cambria" pitchFamily="34" charset="-120"/>
              </a:rPr>
              <a:t>Nortejo</a:t>
            </a:r>
            <a:endParaRPr lang="en-US" sz="2400" dirty="0"/>
          </a:p>
        </p:txBody>
      </p:sp>
      <p:sp>
        <p:nvSpPr>
          <p:cNvPr id="14" name="Text 10"/>
          <p:cNvSpPr txBox="1"/>
          <p:nvPr/>
        </p:nvSpPr>
        <p:spPr>
          <a:xfrm>
            <a:off x="6446520" y="4709160"/>
            <a:ext cx="4937760" cy="274320"/>
          </a:xfrm>
          <a:prstGeom prst="rect">
            <a:avLst/>
          </a:prstGeom>
          <a:noFill/>
          <a:ln/>
        </p:spPr>
        <p:txBody>
          <a:bodyPr wrap="square" lIns="0" tIns="0" rIns="0" bIns="0" rtlCol="0" anchor="t"/>
          <a:lstStyle/>
          <a:p>
            <a:pPr indent="0" marL="0">
              <a:buNone/>
            </a:pPr>
            <a:r>
              <a:rPr lang="en-US" sz="1000" b="1" spc="200" kern="0" dirty="0">
                <a:solidFill>
                  <a:srgbClr val="1E4F8F"/>
                </a:solidFill>
                <a:latin typeface="Calibri" pitchFamily="34" charset="0"/>
                <a:ea typeface="Calibri" pitchFamily="34" charset="-122"/>
                <a:cs typeface="Calibri" pitchFamily="34" charset="-120"/>
              </a:rPr>
              <a:t>PÂTISSERIE PORTUGAISE</a:t>
            </a:r>
            <a:endParaRPr lang="en-US" sz="1000" dirty="0"/>
          </a:p>
        </p:txBody>
      </p:sp>
      <p:sp>
        <p:nvSpPr>
          <p:cNvPr id="15" name="Text 11"/>
          <p:cNvSpPr txBox="1"/>
          <p:nvPr/>
        </p:nvSpPr>
        <p:spPr>
          <a:xfrm>
            <a:off x="6446520" y="4983480"/>
            <a:ext cx="4937760" cy="822960"/>
          </a:xfrm>
          <a:prstGeom prst="rect">
            <a:avLst/>
          </a:prstGeom>
          <a:noFill/>
          <a:ln/>
        </p:spPr>
        <p:txBody>
          <a:bodyPr wrap="square" lIns="0" tIns="0" rIns="0" bIns="0" rtlCol="0" anchor="t"/>
          <a:lstStyle/>
          <a:p>
            <a:pPr indent="0" marL="0">
              <a:buNone/>
            </a:pPr>
            <a:r>
              <a:rPr lang="en-US" sz="1250" dirty="0">
                <a:solidFill>
                  <a:srgbClr val="17211D"/>
                </a:solidFill>
                <a:latin typeface="Calibri" pitchFamily="34" charset="0"/>
                <a:ea typeface="Calibri" pitchFamily="34" charset="-122"/>
                <a:cs typeface="Calibri" pitchFamily="34" charset="-120"/>
              </a:rPr>
              <a:t>Les douceurs portugaises servies aujourd'hui viennent de la pâtisserie Nortejo : pastéis de nata et autres gourmandises. Obrigado !</a:t>
            </a:r>
            <a:endParaRPr lang="en-US" sz="1250" dirty="0"/>
          </a:p>
        </p:txBody>
      </p:sp>
      <p:sp>
        <p:nvSpPr>
          <p:cNvPr id="16" name="Text 12"/>
          <p:cNvSpPr txBox="1"/>
          <p:nvPr/>
        </p:nvSpPr>
        <p:spPr>
          <a:xfrm>
            <a:off x="6446520" y="5806440"/>
            <a:ext cx="4937760" cy="320040"/>
          </a:xfrm>
          <a:prstGeom prst="rect">
            <a:avLst/>
          </a:prstGeom>
          <a:noFill/>
          <a:ln/>
        </p:spPr>
        <p:txBody>
          <a:bodyPr wrap="square" lIns="0" tIns="0" rIns="0" bIns="0" rtlCol="0" anchor="ctr"/>
          <a:lstStyle/>
          <a:p>
            <a:pPr indent="0" marL="0">
              <a:buNone/>
            </a:pPr>
            <a:r>
              <a:rPr lang="en-US" sz="1200" b="1" u="sng" dirty="0">
                <a:solidFill>
                  <a:srgbClr val="A83232"/>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Voir sur Google  →</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0" y="1828800"/>
            <a:ext cx="12191695" cy="1645920"/>
          </a:xfrm>
          <a:prstGeom prst="rect">
            <a:avLst/>
          </a:prstGeom>
          <a:noFill/>
          <a:ln/>
        </p:spPr>
        <p:txBody>
          <a:bodyPr wrap="square" lIns="0" tIns="0" rIns="0" bIns="0" rtlCol="0" anchor="t"/>
          <a:lstStyle/>
          <a:p>
            <a:pPr algn="ctr" indent="0" marL="0">
              <a:buNone/>
            </a:pPr>
            <a:r>
              <a:rPr lang="en-US" sz="9600" b="1" i="1" dirty="0">
                <a:solidFill>
                  <a:srgbClr val="F2C14E"/>
                </a:solidFill>
                <a:latin typeface="Cambria" pitchFamily="34" charset="0"/>
                <a:ea typeface="Cambria" pitchFamily="34" charset="-122"/>
                <a:cs typeface="Cambria" pitchFamily="34" charset="-120"/>
              </a:rPr>
              <a:t>Obrigado!</a:t>
            </a:r>
            <a:endParaRPr lang="en-US" sz="9600" dirty="0"/>
          </a:p>
        </p:txBody>
      </p:sp>
      <p:sp>
        <p:nvSpPr>
          <p:cNvPr id="3" name="Text 1"/>
          <p:cNvSpPr txBox="1"/>
          <p:nvPr/>
        </p:nvSpPr>
        <p:spPr>
          <a:xfrm>
            <a:off x="0" y="3566160"/>
            <a:ext cx="12191695" cy="548640"/>
          </a:xfrm>
          <a:prstGeom prst="rect">
            <a:avLst/>
          </a:prstGeom>
          <a:noFill/>
          <a:ln/>
        </p:spPr>
        <p:txBody>
          <a:bodyPr wrap="square" lIns="0" tIns="0" rIns="0" bIns="0" rtlCol="0" anchor="t"/>
          <a:lstStyle/>
          <a:p>
            <a:pPr algn="ctr" indent="0" marL="0">
              <a:buNone/>
            </a:pPr>
            <a:r>
              <a:rPr lang="en-US" sz="2400" dirty="0">
                <a:solidFill>
                  <a:srgbClr val="FFFFFF"/>
                </a:solidFill>
                <a:latin typeface="Calibri" pitchFamily="34" charset="0"/>
                <a:ea typeface="Calibri" pitchFamily="34" charset="-122"/>
                <a:cs typeface="Calibri" pitchFamily="34" charset="-120"/>
              </a:rPr>
              <a:t>Merci de votre attention.</a:t>
            </a:r>
            <a:endParaRPr lang="en-US" sz="2400" dirty="0"/>
          </a:p>
        </p:txBody>
      </p:sp>
      <p:sp>
        <p:nvSpPr>
          <p:cNvPr id="4" name="Text 2"/>
          <p:cNvSpPr txBox="1"/>
          <p:nvPr/>
        </p:nvSpPr>
        <p:spPr>
          <a:xfrm>
            <a:off x="0" y="4206240"/>
            <a:ext cx="12191695" cy="640080"/>
          </a:xfrm>
          <a:prstGeom prst="rect">
            <a:avLst/>
          </a:prstGeom>
          <a:noFill/>
          <a:ln/>
        </p:spPr>
        <p:txBody>
          <a:bodyPr wrap="square" lIns="0" tIns="0" rIns="0" bIns="0" rtlCol="0" anchor="t"/>
          <a:lstStyle/>
          <a:p>
            <a:pPr algn="ctr" indent="0" marL="0">
              <a:buNone/>
            </a:pPr>
            <a:r>
              <a:rPr lang="en-US" sz="3000" i="1" dirty="0">
                <a:solidFill>
                  <a:srgbClr val="FFFFFF"/>
                </a:solidFill>
                <a:latin typeface="Cambria" pitchFamily="34" charset="0"/>
                <a:ea typeface="Cambria" pitchFamily="34" charset="-122"/>
                <a:cs typeface="Cambria" pitchFamily="34" charset="-120"/>
              </a:rPr>
              <a:t>Des questions ?</a:t>
            </a:r>
            <a:endParaRPr lang="en-US" sz="3000" dirty="0"/>
          </a:p>
        </p:txBody>
      </p:sp>
      <p:pic>
        <p:nvPicPr>
          <p:cNvPr id="5" name="Image 0" descr="/home/user/Portugal-Website/images/flag-pt.jpg">    </p:cNvPr>
          <p:cNvPicPr>
            <a:picLocks noChangeAspect="1"/>
          </p:cNvPicPr>
          <p:nvPr/>
        </p:nvPicPr>
        <p:blipFill>
          <a:blip r:embed="rId1"/>
          <a:srcRect l="0" r="0" t="0" b="0"/>
          <a:stretch/>
        </p:blipFill>
        <p:spPr>
          <a:xfrm>
            <a:off x="5358384" y="5212080"/>
            <a:ext cx="640080" cy="640080"/>
          </a:xfrm>
          <a:prstGeom prst="ellipse">
            <a:avLst/>
          </a:prstGeom>
        </p:spPr>
      </p:pic>
      <p:pic>
        <p:nvPicPr>
          <p:cNvPr id="6" name="Image 1" descr="/home/user/Portugal-Website/images/flag-ch.jpg">    </p:cNvPr>
          <p:cNvPicPr>
            <a:picLocks noChangeAspect="1"/>
          </p:cNvPicPr>
          <p:nvPr/>
        </p:nvPicPr>
        <p:blipFill>
          <a:blip r:embed="rId2"/>
          <a:srcRect l="0" r="0" t="0" b="0"/>
          <a:stretch/>
        </p:blipFill>
        <p:spPr>
          <a:xfrm>
            <a:off x="6190488" y="5212080"/>
            <a:ext cx="640080" cy="640080"/>
          </a:xfrm>
          <a:prstGeom prst="ellipse">
            <a:avLst/>
          </a:prstGeom>
        </p:spPr>
      </p:pic>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(1)</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CH.VS.Zermatt Sunnegga Grindjisee Matterhorn 903 — NOTE: This image is a pano,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Azulejo facade of the Capela das Almas in Porto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Belem - Padrao dos Descobrimentos — Ingo Mehling,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ArT of opEN doors project - Travessa das Torres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Cloister of the Jerónimos Monastery in Belém, Li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Lisboa-Pessoa-A Brasileira-1 — Nol Aders, CC BY 2.5</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Marchas Populares de Lisboa (4) — Béria Lima de Rodríguez,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Festa de Sao Joao (Porto) — Hugo Cadavez from Portugal,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 BRASILEIRA DO CHIADO — VDT2021,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Cork Trees Ubrique — Wavering,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Fatima BW 2018-10-07 17-40-47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Branca wind farm, Graciosa Island, Azores,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Alheira Portuguese dish (2) — Dolon Prova,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Bacalhau a bras en Mil Estorias (52214548936) — JJ Merelo,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Delicious Bifana Sandwich, As Bifana do Afonso ( — Sonse,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Caldo verde — Mateus Hidalgo, CC BY-SA 2.5 br</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Seafood Cataplana at World Heritage Cuisine Summ — Satdeep Gill, CC BY-SA 4.0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Francesinha encaixados porto portugal — Ih8connecticut, CC0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Leitão à Bairrada — Adriao, CC BY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Pasteis de nata (Lissabon 2016) (26069956686) — Paul Arps from The Netherl,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Ovos Moles Peixinho — Luísa Paulos,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Polvo a lagareiro — Exilexi,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Queijo Serra da Estrela DOP - Marca de caseína — Hipersyl, CC0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Grilled Sardines 5.50€ Marisqueira O Varino Naza — Yusuke Kawasaki from Tokyo,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Lago verde, isla de San Miguel, Azores, Portugal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Köppen climate types of Iberia — Adam Peterson,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PSL - Cliffs and sea stacks at Ponta de São Lour — Josep M. Gracia,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Peneda-Geres NP from Tibo Lookout (2)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da Estrela- Brumas Matinais — Sara Bento Photography,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Rede Natura 2000 - Sítio do Cabeção - 05 — Joao 1968,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Volcanic cliffs of Capelinhos, Faial Island, 201 — Josep M. Gracia,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Cabo da Roca at sunset, Portugal — Aurelia Teslaru,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Porto April 2019-5 — Alvesgaspar,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da Marinha (2012-09-27), by Klugschnacker  — Klugschnacker, CC BY-SA 3.0</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(2)</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Lisbon Torre de Belém BW 2018-10-03 16-33-21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Dämmerung am Rio Douro — Wurminister,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Assembleia da República (Portugal) Palácio de Sã — Jose Manuel,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Palácio Nacional da Pena, Sintra, Portugal, 2025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Terraced vineyards in the douro valley — Rosino,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Vistas de Lisboa desde el Mirador de Santa Luzia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do Norte,Nazaré -21 (50656467151) — Luis Ascenso from Lisbon,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do Norte beach - High waves - Nazaré - Por — Luis Ascenso from Lisbon,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Portuguese flag on the "Netos de José Augusto" w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de Guimaraes (1)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Descobrimentos e explorações portuguesesV2 — Descobrimentos_e_exploraçõ,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Jacob Huysmans - Queen Catherine of Braganza as  — Jacob Huysmans,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Casamento João I e Filipa Lencastre — ,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Desfile 25 de Abril 2024 em Lisboa 9 — Anita Braga,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Palácio de Belém - Lisboa - Portugal (5284626059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Lisbon Praça do Comércio BW 2018-10-08 17-42-58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 São Bento Palace (39785046844) — Matthew Black from London,, CC BY-SA 2.0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Tribunal Constitucional Portugal — Cruks,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Igreja do Carmo (Porto) 2 — T meltzer,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Ponta da Piedade, Lagos (20680152686) — Paul Wilkinson from London,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Monasterio de los Jerónimos, Lisboa, Portugal, 2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do Caramulo - Portugal (6929735785)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Vistas de Lisboa desde el Mirador de Santa Luzia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Pico Volcano — The Cosmonaut,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Benagil Cave (10) — Joseolgon,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do Caramulo - Portugal (4261555151)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Museu do Caramulo - Portugal (4684593349)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Coimbra BW 2018-10-06 10-11-56 — Berthold Werner,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Portugal Vallée du Douro (8121915978) — peuplier from Switzerland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Roman Temple Evora Portugal 01 — Norbert Nagel,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de Santa Luzia, Lisbon, 2025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do Pico do Arieiro - Madeira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Rabelo boats and Ribeira seen from Cais de Gaia,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Eusebio statue 2010 — Erik Cleves Kristensen, CC BY 2.0</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(3)</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Seleção Portuguesa de Hóquei em Patins - 01 — Carlos Delgado,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LuzLissabon — Massimo Catarinella, CC BY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Red Bull Air Race Oporto 2017 - 28 — Harpagornis,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Argentine - Portugal - Cristiano Ronaldo — Ludovic Péron,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da Feira ou Castelo de Santa Maria da Fe — António Amen,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St. Maria Feira (1) — Jorge Lobo,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1755 Lisbon earthquake — Unknown authorUnknown auth,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Cantino planisphere (1502) — anonymous Portuguese (1502,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Restos de la Catedral de San Pablo, Macao, 2013-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Aristides de Sousa Mendes, 1940 — Unknown photographer,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Nanban Scene – Arrival of the Portuguese in Japa — Jorge Patrão,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António de Oliveira Salazar portrait (by Manuel  — Manuel Alves de San Payo,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Albufeira do Alqueva - Portugal (48347214211)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Canal in Aveiro 19 — John Samuel,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Batalha September 2021-2 — Alvesgaspar,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Břeh naproti Pinhão (Alijó, Portugalsko) 001 — Petr Adam Dohnálek, CC BY-SA 3.0 cz</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 - Parque das Nações - 20170814 - 02 - — Mathieu Kappler, CC BY-SA 4.0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Mosteiro dos Jerónimos - Lisboa - Portugal (3438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Oceanário de Lisboa (53870803219) — Jorge Franganillo,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Sintra Portugal Palácio da Pena-01 — CEphoto, Uwe Aranas,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2025-08-03 Salinas de Aveiro — Alexkom000,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Vasco da Gama Bridge seen from Parque das Nações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Aerial view of Lagoa do Fogo, São Miguel Island,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Estátua de Dom Afonso Henriques junto ao Estádio — V.B.Speranza,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da Falésia" (5514757750) — PortoBay Hotels &amp; Resorts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Cave do Vinho do Porto 03 — Peter from Wellesley,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Dao red wine — Agne27,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Ponte de Dom Luís I and Ribeira, Porto (54795128 — Dale Cruse - 10M views fro,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Nagasaki kasutera 129349331 5d6c87fd4f o d — Flickr user: Kanko* from N,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do Pico do Arieiro - Madeira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Ponta de São Lourenço, Madeira, Portugal, 2019-0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Dulce de Membrillo — Javier Lastras from España,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Olival ao Pôr do Sol — AndréMiranda77,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Fernando Pessoa 1912 — Unknown authorUnknown auth, Public domain</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(4)</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Capsicum frutescens, Burdwan, West Bengal, India — Joydeep,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Cerdos ibéricos close-up — comakut from Marbella, Spa,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 wine — Jon Sullivan,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2009 Red Bull Air Race in Porto (3811807428) — Felipe Ortega,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2009 Red Bull Air Race in Porto (3811803830) — Felipe Ortega,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Tempura 01 — Yaco*,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Vindaloo goa — The original uploader was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Minho Vinho Verde Vineyards — alexandra vale,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Universidade de Coimbra (53561582378) — xiquinhosilva,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N222 - from Peso da Régua to Pinhão (27810875276 — pedrik,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2025 - 4 jours à Porto et… (54513608057) — bDom - artiste - www.bdom., CC BY 2.0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65</a:t>
            </a:fld>
            <a:endParaRPr lang="en-US"/>
          </a:p>
        </p:txBody>
      </p:sp>
    </p:spTree>
  </p:cSld>
  <p:clrMapOvr>
    <a:masterClrMapping/>
  </p:clrMapOvr>
</p:sld>
</file>

<file path=ppt/theme/theme1.xml><?xml version="1.0" encoding="utf-8"?>
<a:theme xmlns:a="http://schemas.openxmlformats.org/drawingml/2006/main" name="Portugal">
  <a:themeElements>
    <a:clrScheme name="Portugal">
      <a:dk1>
        <a:srgbClr val="17211D"/>
      </a:dk1>
      <a:lt1>
        <a:srgbClr val="FFFFFF"/>
      </a:lt1>
      <a:dk2>
        <a:srgbClr val="174A3A"/>
      </a:dk2>
      <a:lt2>
        <a:srgbClr val="F1F4F2"/>
      </a:lt2>
      <a:accent1>
        <a:srgbClr val="174A3A"/>
      </a:accent1>
      <a:accent2>
        <a:srgbClr val="A83232"/>
      </a:accent2>
      <a:accent3>
        <a:srgbClr val="B8955A"/>
      </a:accent3>
      <a:accent4>
        <a:srgbClr val="1E4F8F"/>
      </a:accent4>
      <a:accent5>
        <a:srgbClr val="5E2230"/>
      </a:accent5>
      <a:accent6>
        <a:srgbClr val="7FA88F"/>
      </a:accent6>
      <a:hlink>
        <a:srgbClr val="1E4F8F"/>
      </a:hlink>
      <a:folHlink>
        <a:srgbClr val="5E2230"/>
      </a:folHlink>
    </a:clrScheme>
    <a:fontScheme name="Portug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Portugal — Une présentation</dc:title>
  <dc:subject>PptxGenJS Presentation</dc:subject>
  <dc:creator>Luís Marques</dc:creator>
  <cp:lastModifiedBy>Luís Marques</cp:lastModifiedBy>
  <cp:revision>1</cp:revision>
  <dcterms:created xsi:type="dcterms:W3CDTF">2026-10-24T22:08:14Z</dcterms:created>
  <dcterms:modified xsi:type="dcterms:W3CDTF">2026-10-24T22:08:14Z</dcterms:modified>
</cp:coreProperties>
</file>